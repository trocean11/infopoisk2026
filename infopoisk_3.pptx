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25" y="65913"/>
            <a:ext cx="2593340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9637" y="2281237"/>
            <a:ext cx="10372725" cy="3608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natasha.github.io/navec/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2825" y="4028588"/>
            <a:ext cx="20580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 err="1">
                <a:solidFill>
                  <a:srgbClr val="595959"/>
                </a:solidFill>
                <a:latin typeface="Roboto"/>
                <a:cs typeface="Roboto"/>
              </a:rPr>
              <a:t>Лекция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lang="en-US" sz="1400" spc="-55" dirty="0">
                <a:solidFill>
                  <a:srgbClr val="595959"/>
                </a:solidFill>
                <a:latin typeface="Roboto"/>
                <a:cs typeface="Roboto"/>
              </a:rPr>
              <a:t>3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Векторизация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z="7000" spc="-30" dirty="0">
                <a:solidFill>
                  <a:srgbClr val="4285F4"/>
                </a:solidFill>
              </a:rPr>
              <a:t>И</a:t>
            </a:r>
            <a:r>
              <a:rPr sz="7000" spc="-30" dirty="0">
                <a:solidFill>
                  <a:srgbClr val="EA4335"/>
                </a:solidFill>
              </a:rPr>
              <a:t>н</a:t>
            </a:r>
            <a:r>
              <a:rPr sz="7000" spc="-30" dirty="0">
                <a:solidFill>
                  <a:srgbClr val="FABB05"/>
                </a:solidFill>
              </a:rPr>
              <a:t>ф</a:t>
            </a:r>
            <a:r>
              <a:rPr sz="7000" spc="-30" dirty="0">
                <a:solidFill>
                  <a:srgbClr val="34A853"/>
                </a:solidFill>
              </a:rPr>
              <a:t>о</a:t>
            </a:r>
            <a:r>
              <a:rPr sz="7000" spc="-30" dirty="0">
                <a:solidFill>
                  <a:srgbClr val="4285F4"/>
                </a:solidFill>
              </a:rPr>
              <a:t>р</a:t>
            </a:r>
            <a:r>
              <a:rPr sz="7000" spc="-30" dirty="0">
                <a:solidFill>
                  <a:srgbClr val="EA4335"/>
                </a:solidFill>
              </a:rPr>
              <a:t>м</a:t>
            </a:r>
            <a:r>
              <a:rPr sz="7000" spc="-30" dirty="0">
                <a:solidFill>
                  <a:srgbClr val="FABB05"/>
                </a:solidFill>
              </a:rPr>
              <a:t>а</a:t>
            </a:r>
            <a:r>
              <a:rPr sz="7000" spc="-30" dirty="0">
                <a:solidFill>
                  <a:srgbClr val="34A853"/>
                </a:solidFill>
              </a:rPr>
              <a:t>ц</a:t>
            </a:r>
            <a:r>
              <a:rPr sz="7000" spc="-30" dirty="0">
                <a:solidFill>
                  <a:srgbClr val="4285F4"/>
                </a:solidFill>
              </a:rPr>
              <a:t>и</a:t>
            </a:r>
            <a:r>
              <a:rPr sz="7000" spc="-30" dirty="0">
                <a:solidFill>
                  <a:srgbClr val="EA4335"/>
                </a:solidFill>
              </a:rPr>
              <a:t>о</a:t>
            </a:r>
            <a:r>
              <a:rPr sz="7000" spc="-30" dirty="0">
                <a:solidFill>
                  <a:srgbClr val="FABB05"/>
                </a:solidFill>
              </a:rPr>
              <a:t>н</a:t>
            </a:r>
            <a:r>
              <a:rPr sz="7000" spc="-30" dirty="0">
                <a:solidFill>
                  <a:srgbClr val="34A853"/>
                </a:solidFill>
              </a:rPr>
              <a:t>н</a:t>
            </a:r>
            <a:r>
              <a:rPr sz="7000" spc="-30" dirty="0">
                <a:solidFill>
                  <a:srgbClr val="4285F4"/>
                </a:solidFill>
              </a:rPr>
              <a:t>ы</a:t>
            </a:r>
            <a:r>
              <a:rPr sz="7000" spc="-30" dirty="0">
                <a:solidFill>
                  <a:srgbClr val="EA4335"/>
                </a:solidFill>
              </a:rPr>
              <a:t>й </a:t>
            </a:r>
            <a:r>
              <a:rPr sz="7000" spc="-10" dirty="0">
                <a:solidFill>
                  <a:srgbClr val="FABB05"/>
                </a:solidFill>
              </a:rPr>
              <a:t>п</a:t>
            </a:r>
            <a:r>
              <a:rPr sz="7000" spc="-10" dirty="0">
                <a:solidFill>
                  <a:srgbClr val="34A853"/>
                </a:solidFill>
              </a:rPr>
              <a:t>о</a:t>
            </a:r>
            <a:r>
              <a:rPr sz="7000" spc="-10" dirty="0">
                <a:solidFill>
                  <a:srgbClr val="4285F4"/>
                </a:solidFill>
              </a:rPr>
              <a:t>и</a:t>
            </a:r>
            <a:r>
              <a:rPr sz="7000" spc="-10" dirty="0">
                <a:solidFill>
                  <a:srgbClr val="EA4335"/>
                </a:solidFill>
              </a:rPr>
              <a:t>с</a:t>
            </a:r>
            <a:r>
              <a:rPr sz="7000" spc="-10" dirty="0">
                <a:solidFill>
                  <a:srgbClr val="FABB05"/>
                </a:solidFill>
              </a:rPr>
              <a:t>к</a:t>
            </a:r>
            <a:endParaRPr sz="7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49745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latin typeface="Microsoft Sans Serif"/>
                <a:cs typeface="Microsoft Sans Serif"/>
              </a:rPr>
              <a:t>Последовательность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625" y="2074805"/>
            <a:ext cx="2209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действий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87720" y="2678210"/>
            <a:ext cx="7616825" cy="3410585"/>
            <a:chOff x="2287720" y="2678210"/>
            <a:chExt cx="7616825" cy="34105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7720" y="2902050"/>
              <a:ext cx="7616553" cy="31863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41399" y="3123024"/>
              <a:ext cx="1751964" cy="876300"/>
            </a:xfrm>
            <a:custGeom>
              <a:avLst/>
              <a:gdLst/>
              <a:ahLst/>
              <a:cxnLst/>
              <a:rect l="l" t="t" r="r" b="b"/>
              <a:pathLst>
                <a:path w="1751964" h="876300">
                  <a:moveTo>
                    <a:pt x="0" y="145952"/>
                  </a:moveTo>
                  <a:lnTo>
                    <a:pt x="7440" y="99820"/>
                  </a:lnTo>
                  <a:lnTo>
                    <a:pt x="28160" y="59754"/>
                  </a:lnTo>
                  <a:lnTo>
                    <a:pt x="59754" y="28160"/>
                  </a:lnTo>
                  <a:lnTo>
                    <a:pt x="99820" y="7440"/>
                  </a:lnTo>
                  <a:lnTo>
                    <a:pt x="145952" y="0"/>
                  </a:lnTo>
                  <a:lnTo>
                    <a:pt x="1605447" y="0"/>
                  </a:lnTo>
                  <a:lnTo>
                    <a:pt x="1661300" y="11110"/>
                  </a:lnTo>
                  <a:lnTo>
                    <a:pt x="1708651" y="42748"/>
                  </a:lnTo>
                  <a:lnTo>
                    <a:pt x="1740290" y="90099"/>
                  </a:lnTo>
                  <a:lnTo>
                    <a:pt x="1751399" y="145952"/>
                  </a:lnTo>
                  <a:lnTo>
                    <a:pt x="1751399" y="729747"/>
                  </a:lnTo>
                  <a:lnTo>
                    <a:pt x="1743959" y="775879"/>
                  </a:lnTo>
                  <a:lnTo>
                    <a:pt x="1723239" y="815945"/>
                  </a:lnTo>
                  <a:lnTo>
                    <a:pt x="1691645" y="847539"/>
                  </a:lnTo>
                  <a:lnTo>
                    <a:pt x="1651579" y="868259"/>
                  </a:lnTo>
                  <a:lnTo>
                    <a:pt x="1605447" y="875699"/>
                  </a:lnTo>
                  <a:lnTo>
                    <a:pt x="145952" y="875699"/>
                  </a:lnTo>
                  <a:lnTo>
                    <a:pt x="99820" y="868259"/>
                  </a:lnTo>
                  <a:lnTo>
                    <a:pt x="59754" y="847539"/>
                  </a:lnTo>
                  <a:lnTo>
                    <a:pt x="28160" y="815945"/>
                  </a:lnTo>
                  <a:lnTo>
                    <a:pt x="7440" y="775879"/>
                  </a:lnTo>
                  <a:lnTo>
                    <a:pt x="0" y="729747"/>
                  </a:lnTo>
                  <a:lnTo>
                    <a:pt x="0" y="145952"/>
                  </a:lnTo>
                  <a:close/>
                </a:path>
              </a:pathLst>
            </a:custGeom>
            <a:ln w="38099">
              <a:solidFill>
                <a:srgbClr val="EA43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94038" y="2682973"/>
              <a:ext cx="267970" cy="306070"/>
            </a:xfrm>
            <a:custGeom>
              <a:avLst/>
              <a:gdLst/>
              <a:ahLst/>
              <a:cxnLst/>
              <a:rect l="l" t="t" r="r" b="b"/>
              <a:pathLst>
                <a:path w="267970" h="306069">
                  <a:moveTo>
                    <a:pt x="21613" y="305624"/>
                  </a:moveTo>
                  <a:lnTo>
                    <a:pt x="0" y="158314"/>
                  </a:lnTo>
                  <a:lnTo>
                    <a:pt x="42224" y="189739"/>
                  </a:lnTo>
                  <a:lnTo>
                    <a:pt x="183388" y="0"/>
                  </a:lnTo>
                  <a:lnTo>
                    <a:pt x="267838" y="62849"/>
                  </a:lnTo>
                  <a:lnTo>
                    <a:pt x="126674" y="252589"/>
                  </a:lnTo>
                  <a:lnTo>
                    <a:pt x="168899" y="284014"/>
                  </a:lnTo>
                  <a:lnTo>
                    <a:pt x="21613" y="305624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94038" y="2682973"/>
              <a:ext cx="267970" cy="306070"/>
            </a:xfrm>
            <a:custGeom>
              <a:avLst/>
              <a:gdLst/>
              <a:ahLst/>
              <a:cxnLst/>
              <a:rect l="l" t="t" r="r" b="b"/>
              <a:pathLst>
                <a:path w="267970" h="306069">
                  <a:moveTo>
                    <a:pt x="0" y="158314"/>
                  </a:moveTo>
                  <a:lnTo>
                    <a:pt x="42224" y="189739"/>
                  </a:lnTo>
                  <a:lnTo>
                    <a:pt x="183388" y="0"/>
                  </a:lnTo>
                  <a:lnTo>
                    <a:pt x="267838" y="62849"/>
                  </a:lnTo>
                  <a:lnTo>
                    <a:pt x="126674" y="252589"/>
                  </a:lnTo>
                  <a:lnTo>
                    <a:pt x="168899" y="284014"/>
                  </a:lnTo>
                  <a:lnTo>
                    <a:pt x="21613" y="305624"/>
                  </a:lnTo>
                  <a:lnTo>
                    <a:pt x="0" y="15831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15750" y="2237923"/>
            <a:ext cx="33648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Roboto"/>
                <a:cs typeface="Roboto"/>
              </a:rPr>
              <a:t>Сегодня</a:t>
            </a:r>
            <a:r>
              <a:rPr sz="1900" spc="-60" dirty="0">
                <a:latin typeface="Roboto"/>
                <a:cs typeface="Roboto"/>
              </a:rPr>
              <a:t> </a:t>
            </a:r>
            <a:r>
              <a:rPr sz="1900" dirty="0">
                <a:latin typeface="Roboto"/>
                <a:cs typeface="Roboto"/>
              </a:rPr>
              <a:t>говорим</a:t>
            </a:r>
            <a:r>
              <a:rPr sz="1900" spc="-60" dirty="0">
                <a:latin typeface="Roboto"/>
                <a:cs typeface="Roboto"/>
              </a:rPr>
              <a:t> </a:t>
            </a:r>
            <a:r>
              <a:rPr sz="1900" dirty="0">
                <a:latin typeface="Roboto"/>
                <a:cs typeface="Roboto"/>
              </a:rPr>
              <a:t>вот</a:t>
            </a:r>
            <a:r>
              <a:rPr sz="1900" spc="-55" dirty="0">
                <a:latin typeface="Roboto"/>
                <a:cs typeface="Roboto"/>
              </a:rPr>
              <a:t> </a:t>
            </a:r>
            <a:r>
              <a:rPr sz="1900" dirty="0">
                <a:latin typeface="Roboto"/>
                <a:cs typeface="Roboto"/>
              </a:rPr>
              <a:t>об</a:t>
            </a:r>
            <a:r>
              <a:rPr sz="1900" spc="-60" dirty="0">
                <a:latin typeface="Roboto"/>
                <a:cs typeface="Roboto"/>
              </a:rPr>
              <a:t> </a:t>
            </a:r>
            <a:r>
              <a:rPr sz="1900" spc="-20" dirty="0">
                <a:latin typeface="Roboto"/>
                <a:cs typeface="Roboto"/>
              </a:rPr>
              <a:t>этом</a:t>
            </a:r>
            <a:endParaRPr sz="1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4430395" cy="370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С</a:t>
            </a:r>
            <a:r>
              <a:rPr sz="4000" spc="-9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чего</a:t>
            </a:r>
            <a:r>
              <a:rPr sz="4000" spc="-9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начинаем</a:t>
            </a:r>
            <a:r>
              <a:rPr sz="4000" spc="-10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010"/>
              </a:spcBef>
            </a:pPr>
            <a:r>
              <a:rPr sz="1800" dirty="0">
                <a:latin typeface="Roboto"/>
                <a:cs typeface="Roboto"/>
              </a:rPr>
              <a:t>У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нас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еще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корпус,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состоящий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из </a:t>
            </a:r>
            <a:r>
              <a:rPr sz="1800" dirty="0">
                <a:latin typeface="Roboto"/>
                <a:cs typeface="Roboto"/>
              </a:rPr>
              <a:t>нескольких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текстов:</a:t>
            </a:r>
            <a:endParaRPr sz="1800">
              <a:latin typeface="Roboto"/>
              <a:cs typeface="Roboto"/>
            </a:endParaRPr>
          </a:p>
          <a:p>
            <a:pPr marL="12700" marR="951865">
              <a:lnSpc>
                <a:spcPct val="146300"/>
              </a:lnSpc>
            </a:pPr>
            <a:r>
              <a:rPr sz="1800" i="1" spc="-20" dirty="0">
                <a:latin typeface="Roboto"/>
                <a:cs typeface="Roboto"/>
              </a:rPr>
              <a:t>doc_1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45" dirty="0">
                <a:latin typeface="Roboto"/>
                <a:cs typeface="Roboto"/>
              </a:rPr>
              <a:t>Буря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мглою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небо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кроет </a:t>
            </a:r>
            <a:r>
              <a:rPr sz="1800" i="1" spc="-20" dirty="0">
                <a:latin typeface="Roboto"/>
                <a:cs typeface="Roboto"/>
              </a:rPr>
              <a:t>doc_2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Вихри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снежные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крутя doc_3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35" dirty="0">
                <a:latin typeface="Roboto"/>
                <a:cs typeface="Roboto"/>
              </a:rPr>
              <a:t>То,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как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зверь,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она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30" dirty="0">
                <a:latin typeface="Roboto"/>
                <a:cs typeface="Roboto"/>
              </a:rPr>
              <a:t>завоет </a:t>
            </a:r>
            <a:r>
              <a:rPr sz="1800" i="1" spc="-20" dirty="0">
                <a:latin typeface="Roboto"/>
                <a:cs typeface="Roboto"/>
              </a:rPr>
              <a:t>doc_4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=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spc="-50" dirty="0">
                <a:latin typeface="Roboto"/>
                <a:cs typeface="Roboto"/>
              </a:rPr>
              <a:t>То</a:t>
            </a:r>
            <a:r>
              <a:rPr sz="1800" i="1" spc="-55" dirty="0">
                <a:latin typeface="Roboto"/>
                <a:cs typeface="Roboto"/>
              </a:rPr>
              <a:t> </a:t>
            </a:r>
            <a:r>
              <a:rPr sz="1800" i="1" spc="-35" dirty="0">
                <a:latin typeface="Roboto"/>
                <a:cs typeface="Roboto"/>
              </a:rPr>
              <a:t>заплачет,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как</a:t>
            </a:r>
            <a:r>
              <a:rPr sz="1800" i="1" spc="-6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дитя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И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прямой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него.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61574" y="3041960"/>
          <a:ext cx="4752340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9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Документ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Списко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0" dirty="0">
                          <a:latin typeface="Courier New"/>
                          <a:cs typeface="Courier New"/>
                        </a:rPr>
                        <a:t>слов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буря,</a:t>
                      </a:r>
                      <a:r>
                        <a:rPr sz="14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кроет,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мглою,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вихри,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крутя,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завоет,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зверь,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как,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она,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 то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дитя,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заплачет,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как,</a:t>
                      </a:r>
                      <a:r>
                        <a:rPr sz="14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5" dirty="0">
                          <a:latin typeface="Courier New"/>
                          <a:cs typeface="Courier New"/>
                        </a:rPr>
                        <a:t>то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44662" y="3853084"/>
          <a:ext cx="6764015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буря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мглою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кроет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вихри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крутя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97050" y="1465205"/>
            <a:ext cx="10414000" cy="486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Обратный</a:t>
            </a:r>
            <a:r>
              <a:rPr sz="4000" spc="-15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индекс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2155"/>
              </a:spcBef>
            </a:pPr>
            <a:r>
              <a:rPr sz="1800" dirty="0">
                <a:latin typeface="Roboto"/>
                <a:cs typeface="Roboto"/>
              </a:rPr>
              <a:t>Но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прямым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работать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так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удобно,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поэтому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будем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использовать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обратный.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Сначала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виде </a:t>
            </a:r>
            <a:r>
              <a:rPr sz="1800" spc="-10" dirty="0">
                <a:latin typeface="Roboto"/>
                <a:cs typeface="Roboto"/>
              </a:rPr>
              <a:t>словаря,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потом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виде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матрицы.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Обычно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хранят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еще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частоту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встречаемости,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нашем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случае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актуально.</a:t>
            </a:r>
            <a:endParaRPr sz="1800">
              <a:latin typeface="Roboto"/>
              <a:cs typeface="Roboto"/>
            </a:endParaRPr>
          </a:p>
          <a:p>
            <a:pPr marL="304800">
              <a:lnSpc>
                <a:spcPct val="100000"/>
              </a:lnSpc>
              <a:spcBef>
                <a:spcPts val="1155"/>
              </a:spcBef>
            </a:pPr>
            <a:r>
              <a:rPr sz="1400" spc="-50" dirty="0"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7620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"буря":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12192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"doc_1"</a:t>
            </a:r>
            <a:endParaRPr sz="1400">
              <a:latin typeface="Microsoft Sans Serif"/>
              <a:cs typeface="Microsoft Sans Serif"/>
            </a:endParaRPr>
          </a:p>
          <a:p>
            <a:pPr marL="7620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762000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"то":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1219200" marR="8527415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"doc_3", "doc_4"</a:t>
            </a:r>
            <a:endParaRPr sz="1400">
              <a:latin typeface="Microsoft Sans Serif"/>
              <a:cs typeface="Microsoft Sans Serif"/>
            </a:endParaRPr>
          </a:p>
          <a:p>
            <a:pPr marL="7620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762000">
              <a:lnSpc>
                <a:spcPct val="100000"/>
              </a:lnSpc>
            </a:pPr>
            <a:r>
              <a:rPr sz="1400" spc="-20" dirty="0">
                <a:latin typeface="Microsoft Sans Serif"/>
                <a:cs typeface="Microsoft Sans Serif"/>
              </a:rPr>
              <a:t>"как":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1219200" marR="8527415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"doc_3", "doc_4"</a:t>
            </a:r>
            <a:endParaRPr sz="1400">
              <a:latin typeface="Microsoft Sans Serif"/>
              <a:cs typeface="Microsoft Sans Serif"/>
            </a:endParaRPr>
          </a:p>
          <a:p>
            <a:pPr marL="7620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403225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...</a:t>
            </a:r>
            <a:endParaRPr sz="1400">
              <a:latin typeface="Microsoft Sans Serif"/>
              <a:cs typeface="Microsoft Sans Serif"/>
            </a:endParaRPr>
          </a:p>
          <a:p>
            <a:pPr marL="304800">
              <a:lnSpc>
                <a:spcPct val="100000"/>
              </a:lnSpc>
            </a:pPr>
            <a:r>
              <a:rPr sz="1400" spc="-50" dirty="0"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6906259" cy="442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Входные</a:t>
            </a:r>
            <a:r>
              <a:rPr sz="4000" spc="-26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данные</a:t>
            </a:r>
            <a:endParaRPr sz="4000">
              <a:latin typeface="Microsoft Sans Serif"/>
              <a:cs typeface="Microsoft Sans Serif"/>
            </a:endParaRPr>
          </a:p>
          <a:p>
            <a:pPr marL="69850">
              <a:lnSpc>
                <a:spcPct val="100000"/>
              </a:lnSpc>
              <a:spcBef>
                <a:spcPts val="2365"/>
              </a:spcBef>
            </a:pPr>
            <a:r>
              <a:rPr sz="1800" spc="-10" dirty="0">
                <a:latin typeface="Roboto"/>
                <a:cs typeface="Roboto"/>
              </a:rPr>
              <a:t>Корпус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=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{</a:t>
            </a:r>
            <a:endParaRPr sz="1800">
              <a:latin typeface="Roboto"/>
              <a:cs typeface="Roboto"/>
            </a:endParaRPr>
          </a:p>
          <a:p>
            <a:pPr marL="527050" marR="2936240">
              <a:lnSpc>
                <a:spcPct val="146300"/>
              </a:lnSpc>
            </a:pPr>
            <a:r>
              <a:rPr sz="1800" i="1" spc="-20" dirty="0">
                <a:latin typeface="Roboto"/>
                <a:cs typeface="Roboto"/>
              </a:rPr>
              <a:t>doc_1:</a:t>
            </a:r>
            <a:r>
              <a:rPr sz="1800" i="1" spc="-80" dirty="0">
                <a:latin typeface="Roboto"/>
                <a:cs typeface="Roboto"/>
              </a:rPr>
              <a:t> </a:t>
            </a:r>
            <a:r>
              <a:rPr sz="1800" i="1" spc="-45" dirty="0">
                <a:latin typeface="Roboto"/>
                <a:cs typeface="Roboto"/>
              </a:rPr>
              <a:t>Буря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мглою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небо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кроет, </a:t>
            </a:r>
            <a:r>
              <a:rPr sz="1800" i="1" dirty="0">
                <a:latin typeface="Roboto"/>
                <a:cs typeface="Roboto"/>
              </a:rPr>
              <a:t>doc_2:</a:t>
            </a:r>
            <a:r>
              <a:rPr sz="1800" i="1" spc="28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Вихри</a:t>
            </a:r>
            <a:r>
              <a:rPr sz="1800" i="1" spc="-80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снежные</a:t>
            </a:r>
            <a:r>
              <a:rPr sz="1800" i="1" spc="-85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крутя, </a:t>
            </a:r>
            <a:r>
              <a:rPr sz="1800" i="1" dirty="0">
                <a:latin typeface="Roboto"/>
                <a:cs typeface="Roboto"/>
              </a:rPr>
              <a:t>doc_3:</a:t>
            </a:r>
            <a:r>
              <a:rPr sz="1800" i="1" spc="280" dirty="0">
                <a:latin typeface="Roboto"/>
                <a:cs typeface="Roboto"/>
              </a:rPr>
              <a:t> </a:t>
            </a:r>
            <a:r>
              <a:rPr sz="1800" i="1" spc="-35" dirty="0">
                <a:latin typeface="Roboto"/>
                <a:cs typeface="Roboto"/>
              </a:rPr>
              <a:t>То,</a:t>
            </a:r>
            <a:r>
              <a:rPr sz="1800" i="1" spc="-7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как</a:t>
            </a:r>
            <a:r>
              <a:rPr sz="1800" i="1" spc="-85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зверь,</a:t>
            </a:r>
            <a:r>
              <a:rPr sz="1800" i="1" spc="-80" dirty="0">
                <a:latin typeface="Roboto"/>
                <a:cs typeface="Roboto"/>
              </a:rPr>
              <a:t> </a:t>
            </a:r>
            <a:r>
              <a:rPr sz="1800" i="1" dirty="0">
                <a:latin typeface="Roboto"/>
                <a:cs typeface="Roboto"/>
              </a:rPr>
              <a:t>она</a:t>
            </a:r>
            <a:r>
              <a:rPr sz="1800" i="1" spc="-85" dirty="0">
                <a:latin typeface="Roboto"/>
                <a:cs typeface="Roboto"/>
              </a:rPr>
              <a:t> </a:t>
            </a:r>
            <a:r>
              <a:rPr sz="1800" i="1" spc="-25" dirty="0">
                <a:latin typeface="Roboto"/>
                <a:cs typeface="Roboto"/>
              </a:rPr>
              <a:t>завоет, </a:t>
            </a:r>
            <a:r>
              <a:rPr sz="1800" i="1" dirty="0">
                <a:latin typeface="Roboto"/>
                <a:cs typeface="Roboto"/>
              </a:rPr>
              <a:t>doc_4:</a:t>
            </a:r>
            <a:r>
              <a:rPr sz="1800" i="1" spc="300" dirty="0">
                <a:latin typeface="Roboto"/>
                <a:cs typeface="Roboto"/>
              </a:rPr>
              <a:t> </a:t>
            </a:r>
            <a:r>
              <a:rPr sz="1800" i="1" spc="-50" dirty="0">
                <a:latin typeface="Roboto"/>
                <a:cs typeface="Roboto"/>
              </a:rPr>
              <a:t>То</a:t>
            </a:r>
            <a:r>
              <a:rPr sz="1800" i="1" spc="-65" dirty="0">
                <a:latin typeface="Roboto"/>
                <a:cs typeface="Roboto"/>
              </a:rPr>
              <a:t> </a:t>
            </a:r>
            <a:r>
              <a:rPr sz="1800" i="1" spc="-35" dirty="0">
                <a:latin typeface="Roboto"/>
                <a:cs typeface="Roboto"/>
              </a:rPr>
              <a:t>заплачет,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как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дитя</a:t>
            </a:r>
            <a:endParaRPr sz="180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i="1" spc="-50" dirty="0">
                <a:latin typeface="Roboto"/>
                <a:cs typeface="Roboto"/>
              </a:rPr>
              <a:t>}</a:t>
            </a:r>
            <a:endParaRPr sz="180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spc="-25" dirty="0">
                <a:latin typeface="Roboto"/>
                <a:cs typeface="Roboto"/>
              </a:rPr>
              <a:t>Запрос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=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"буря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заплачет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над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небом,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над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небом"</a:t>
            </a:r>
            <a:endParaRPr sz="1800">
              <a:latin typeface="Roboto"/>
              <a:cs typeface="Roboto"/>
            </a:endParaRPr>
          </a:p>
          <a:p>
            <a:pPr marL="69850" marR="5080">
              <a:lnSpc>
                <a:spcPct val="146300"/>
              </a:lnSpc>
            </a:pPr>
            <a:r>
              <a:rPr sz="1800" spc="-10" dirty="0">
                <a:latin typeface="Roboto"/>
                <a:cs typeface="Roboto"/>
              </a:rPr>
              <a:t>Метрика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=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количество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общих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запросе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документе </a:t>
            </a:r>
            <a:r>
              <a:rPr sz="1800" spc="-35" dirty="0">
                <a:latin typeface="Roboto"/>
                <a:cs typeface="Roboto"/>
              </a:rPr>
              <a:t>Задача: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найти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больше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подходящий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под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8175" y="1990905"/>
            <a:ext cx="2085339" cy="347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корпусу</a:t>
            </a:r>
            <a:r>
              <a:rPr sz="1400" spc="-10" dirty="0">
                <a:latin typeface="Roboto"/>
                <a:cs typeface="Roboto"/>
              </a:rPr>
              <a:t>: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400" spc="-50" dirty="0"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"буря":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"doc_1"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"то":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927100" marR="49149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"doc_3", "doc_4"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0" dirty="0">
                <a:latin typeface="Microsoft Sans Serif"/>
                <a:cs typeface="Microsoft Sans Serif"/>
              </a:rPr>
              <a:t>"как":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[</a:t>
            </a:r>
            <a:endParaRPr sz="1400">
              <a:latin typeface="Microsoft Sans Serif"/>
              <a:cs typeface="Microsoft Sans Serif"/>
            </a:endParaRPr>
          </a:p>
          <a:p>
            <a:pPr marL="927100" marR="49149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"doc_3", "doc_4"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],</a:t>
            </a:r>
            <a:endParaRPr sz="1400">
              <a:latin typeface="Microsoft Sans Serif"/>
              <a:cs typeface="Microsoft Sans Serif"/>
            </a:endParaRPr>
          </a:p>
          <a:p>
            <a:pPr marL="111125">
              <a:lnSpc>
                <a:spcPct val="100000"/>
              </a:lnSpc>
            </a:pPr>
            <a:r>
              <a:rPr sz="1400" spc="-25" dirty="0">
                <a:latin typeface="Microsoft Sans Serif"/>
                <a:cs typeface="Microsoft Sans Serif"/>
              </a:rPr>
              <a:t>...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8273415" cy="378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Microsoft Sans Serif"/>
                <a:cs typeface="Microsoft Sans Serif"/>
              </a:rPr>
              <a:t>Порядок</a:t>
            </a:r>
            <a:r>
              <a:rPr sz="4000" spc="-21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поиска</a:t>
            </a:r>
            <a:endParaRPr sz="4000">
              <a:latin typeface="Microsoft Sans Serif"/>
              <a:cs typeface="Microsoft Sans Serif"/>
            </a:endParaRPr>
          </a:p>
          <a:p>
            <a:pPr marL="69850" marR="5080">
              <a:lnSpc>
                <a:spcPct val="100000"/>
              </a:lnSpc>
              <a:spcBef>
                <a:spcPts val="2365"/>
              </a:spcBef>
            </a:pPr>
            <a:r>
              <a:rPr sz="1800" spc="-10" dirty="0">
                <a:latin typeface="Roboto"/>
                <a:cs typeface="Roboto"/>
              </a:rPr>
              <a:t>Что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нужно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получить: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каждого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нужно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подсчитать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степень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его </a:t>
            </a:r>
            <a:r>
              <a:rPr sz="1800" spc="-10" dirty="0">
                <a:latin typeface="Roboto"/>
                <a:cs typeface="Roboto"/>
              </a:rPr>
              <a:t>релевантности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запросу,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потом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отсортировать </a:t>
            </a:r>
            <a:r>
              <a:rPr sz="1800" spc="-25" dirty="0">
                <a:latin typeface="Roboto"/>
                <a:cs typeface="Roboto"/>
              </a:rPr>
              <a:t>документу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соответствии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с </a:t>
            </a:r>
            <a:r>
              <a:rPr sz="1800" spc="-10" dirty="0">
                <a:latin typeface="Roboto"/>
                <a:cs typeface="Roboto"/>
              </a:rPr>
              <a:t>полученными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значениями.</a:t>
            </a:r>
            <a:endParaRPr sz="180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этого: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Roboto"/>
                <a:cs typeface="Roboto"/>
              </a:rPr>
              <a:t>идем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документам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корпусе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10" dirty="0">
                <a:latin typeface="Roboto"/>
                <a:cs typeface="Roboto"/>
              </a:rPr>
              <a:t>считаем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метрику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пары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(запрос,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документ)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10" dirty="0">
                <a:latin typeface="Roboto"/>
                <a:cs typeface="Roboto"/>
              </a:rPr>
              <a:t>сохраняем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полученное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значение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30" dirty="0">
                <a:latin typeface="Roboto"/>
                <a:cs typeface="Roboto"/>
              </a:rPr>
              <a:t>сортируем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документы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значению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метрики</a:t>
            </a:r>
            <a:endParaRPr sz="180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здесь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проблема?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8808085" cy="446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0" dirty="0">
                <a:latin typeface="Microsoft Sans Serif"/>
                <a:cs typeface="Microsoft Sans Serif"/>
              </a:rPr>
              <a:t>Используем</a:t>
            </a:r>
            <a:r>
              <a:rPr sz="4000" spc="-22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преимущества</a:t>
            </a:r>
            <a:r>
              <a:rPr sz="4000" spc="-204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индекса</a:t>
            </a:r>
            <a:endParaRPr sz="4000">
              <a:latin typeface="Microsoft Sans Serif"/>
              <a:cs typeface="Microsoft Sans Serif"/>
            </a:endParaRPr>
          </a:p>
          <a:p>
            <a:pPr marL="69850" marR="44450">
              <a:lnSpc>
                <a:spcPct val="100000"/>
              </a:lnSpc>
              <a:spcBef>
                <a:spcPts val="2365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предыдущем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варианте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никак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учитывали</a:t>
            </a:r>
            <a:r>
              <a:rPr sz="1800" spc="-45" dirty="0">
                <a:latin typeface="Roboto"/>
                <a:cs typeface="Roboto"/>
              </a:rPr>
              <a:t> тот </a:t>
            </a:r>
            <a:r>
              <a:rPr sz="1800" spc="-80" dirty="0">
                <a:latin typeface="Roboto"/>
                <a:cs typeface="Roboto"/>
              </a:rPr>
              <a:t>факт,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есть обратный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которым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описанный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работает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очень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плохо).</a:t>
            </a:r>
            <a:endParaRPr sz="1800">
              <a:latin typeface="Roboto"/>
              <a:cs typeface="Roboto"/>
            </a:endParaRPr>
          </a:p>
          <a:p>
            <a:pPr marL="6985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реальной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ситуации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нас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тысячи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документов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сотни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тысяч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слов.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Хотим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мы </a:t>
            </a:r>
            <a:r>
              <a:rPr sz="1800" spc="-10" dirty="0">
                <a:latin typeface="Roboto"/>
                <a:cs typeface="Roboto"/>
              </a:rPr>
              <a:t>перебирать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все?</a:t>
            </a:r>
            <a:endParaRPr sz="180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Новый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алгоритм: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Roboto"/>
                <a:cs typeface="Roboto"/>
              </a:rPr>
              <a:t>идем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уникальным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словам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запросе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dirty="0">
                <a:latin typeface="Roboto"/>
                <a:cs typeface="Roboto"/>
              </a:rPr>
              <a:t>для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документов,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встретилось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слово,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плюсуем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метрику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35" dirty="0">
                <a:latin typeface="Roboto"/>
                <a:cs typeface="Roboto"/>
              </a:rPr>
              <a:t>финализируем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подсчет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(например,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нормализуем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ее)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10" dirty="0">
                <a:latin typeface="Roboto"/>
                <a:cs typeface="Roboto"/>
              </a:rPr>
              <a:t>сохраняем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полученное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значение</a:t>
            </a:r>
            <a:endParaRPr sz="180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30" dirty="0">
                <a:latin typeface="Roboto"/>
                <a:cs typeface="Roboto"/>
              </a:rPr>
              <a:t>сортируем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документы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значению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метрики</a:t>
            </a:r>
            <a:endParaRPr sz="180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Почему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такой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выгоднее?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0904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Microsoft Sans Serif"/>
                <a:cs typeface="Microsoft Sans Serif"/>
              </a:rPr>
              <a:t>Векторная</a:t>
            </a:r>
            <a:r>
              <a:rPr sz="4000" spc="-22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постановка</a:t>
            </a:r>
            <a:r>
              <a:rPr sz="4000" spc="-22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задачи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3912" y="2311524"/>
            <a:ext cx="9528832" cy="42416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5" name="object 5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2825" y="4008521"/>
            <a:ext cx="4662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Почему</a:t>
            </a:r>
            <a:r>
              <a:rPr sz="16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80" dirty="0">
                <a:solidFill>
                  <a:srgbClr val="595959"/>
                </a:solidFill>
                <a:latin typeface="Roboto"/>
                <a:cs typeface="Roboto"/>
              </a:rPr>
              <a:t>все-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таки</a:t>
            </a:r>
            <a:r>
              <a:rPr sz="16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лучше</a:t>
            </a:r>
            <a:r>
              <a:rPr sz="16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использовать</a:t>
            </a:r>
            <a:r>
              <a:rPr sz="16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матрицы?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9510395" cy="268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Почему</a:t>
            </a:r>
            <a:r>
              <a:rPr sz="4000" spc="-21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матрица</a:t>
            </a:r>
            <a:r>
              <a:rPr sz="4000" spc="-10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  <a:p>
            <a:pPr marL="69850">
              <a:lnSpc>
                <a:spcPct val="100000"/>
              </a:lnSpc>
              <a:spcBef>
                <a:spcPts val="2365"/>
              </a:spcBef>
            </a:pPr>
            <a:r>
              <a:rPr sz="1800" spc="-10" dirty="0">
                <a:latin typeface="Roboto"/>
                <a:cs typeface="Roboto"/>
              </a:rPr>
              <a:t>Это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даст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нам:</a:t>
            </a:r>
            <a:endParaRPr sz="1800">
              <a:latin typeface="Roboto"/>
              <a:cs typeface="Roboto"/>
            </a:endParaRPr>
          </a:p>
          <a:p>
            <a:pPr marL="527050" marR="508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527050" algn="l"/>
              </a:tabLst>
            </a:pPr>
            <a:r>
              <a:rPr sz="1800" dirty="0">
                <a:latin typeface="Roboto"/>
                <a:cs typeface="Roboto"/>
              </a:rPr>
              <a:t>более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простое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лаконичное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решение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счет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перехода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математике </a:t>
            </a:r>
            <a:r>
              <a:rPr sz="1800" spc="-25" dirty="0">
                <a:latin typeface="Roboto"/>
                <a:cs typeface="Roboto"/>
              </a:rPr>
              <a:t>(это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всегда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так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работает,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часто)</a:t>
            </a:r>
            <a:endParaRPr sz="1800">
              <a:latin typeface="Roboto"/>
              <a:cs typeface="Roboto"/>
            </a:endParaRPr>
          </a:p>
          <a:p>
            <a:pPr marL="69850" marR="180340" indent="457200">
              <a:lnSpc>
                <a:spcPct val="146300"/>
              </a:lnSpc>
              <a:buFont typeface="MS PGothic"/>
              <a:buChar char="❖"/>
              <a:tabLst>
                <a:tab pos="527050" algn="l"/>
              </a:tabLst>
            </a:pPr>
            <a:r>
              <a:rPr sz="1800" spc="-20" dirty="0">
                <a:latin typeface="Roboto"/>
                <a:cs typeface="Roboto"/>
              </a:rPr>
              <a:t>буст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скорости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много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раз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счет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скорости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операций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над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матрицами </a:t>
            </a:r>
            <a:r>
              <a:rPr sz="1800" dirty="0">
                <a:latin typeface="Roboto"/>
                <a:cs typeface="Roboto"/>
              </a:rPr>
              <a:t>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какой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85" dirty="0">
                <a:latin typeface="Roboto"/>
                <a:cs typeface="Roboto"/>
              </a:rPr>
              <a:t>все-</a:t>
            </a:r>
            <a:r>
              <a:rPr sz="1800" spc="-10" dirty="0">
                <a:latin typeface="Roboto"/>
                <a:cs typeface="Roboto"/>
              </a:rPr>
              <a:t>таки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индекс: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прямой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или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обратный?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25749" y="4421084"/>
          <a:ext cx="6764015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буря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мглою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кроет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вихри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крутя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968629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80" dirty="0">
                <a:latin typeface="Microsoft Sans Serif"/>
                <a:cs typeface="Microsoft Sans Serif"/>
              </a:rPr>
              <a:t>Легким</a:t>
            </a:r>
            <a:r>
              <a:rPr sz="4000" spc="-190" dirty="0">
                <a:latin typeface="Microsoft Sans Serif"/>
                <a:cs typeface="Microsoft Sans Serif"/>
              </a:rPr>
              <a:t> </a:t>
            </a:r>
            <a:r>
              <a:rPr sz="4000" spc="-20" dirty="0">
                <a:latin typeface="Microsoft Sans Serif"/>
                <a:cs typeface="Microsoft Sans Serif"/>
              </a:rPr>
              <a:t>движением</a:t>
            </a:r>
            <a:r>
              <a:rPr sz="4000" spc="-190" dirty="0">
                <a:latin typeface="Microsoft Sans Serif"/>
                <a:cs typeface="Microsoft Sans Serif"/>
              </a:rPr>
              <a:t> </a:t>
            </a:r>
            <a:r>
              <a:rPr sz="4000" spc="-275" dirty="0">
                <a:latin typeface="Microsoft Sans Serif"/>
                <a:cs typeface="Microsoft Sans Serif"/>
              </a:rPr>
              <a:t>руки</a:t>
            </a:r>
            <a:r>
              <a:rPr sz="4000" spc="-275" dirty="0">
                <a:latin typeface="Verdana"/>
                <a:cs typeface="Verdana"/>
              </a:rPr>
              <a:t>…</a:t>
            </a:r>
            <a:endParaRPr sz="4000">
              <a:latin typeface="Verdana"/>
              <a:cs typeface="Verdana"/>
            </a:endParaRPr>
          </a:p>
          <a:p>
            <a:pPr marL="69850" marR="5080">
              <a:lnSpc>
                <a:spcPct val="100000"/>
              </a:lnSpc>
              <a:spcBef>
                <a:spcPts val="2365"/>
              </a:spcBef>
            </a:pPr>
            <a:r>
              <a:rPr sz="1800" dirty="0">
                <a:latin typeface="Roboto"/>
                <a:cs typeface="Roboto"/>
              </a:rPr>
              <a:t>Прямой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индекс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превращается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обратный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наоборот.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Ведь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мы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говорим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матрице,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изменение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лишь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вопрос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транспонирования.</a:t>
            </a:r>
            <a:endParaRPr sz="1800">
              <a:latin typeface="Roboto"/>
              <a:cs typeface="Roboto"/>
            </a:endParaRPr>
          </a:p>
          <a:p>
            <a:pPr marL="69850" marR="63373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Еще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часто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говорят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document-</a:t>
            </a:r>
            <a:r>
              <a:rPr sz="1800" spc="-20" dirty="0">
                <a:latin typeface="Roboto"/>
                <a:cs typeface="Roboto"/>
              </a:rPr>
              <a:t>term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(DT)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term-</a:t>
            </a:r>
            <a:r>
              <a:rPr sz="1800" spc="-40" dirty="0">
                <a:latin typeface="Roboto"/>
                <a:cs typeface="Roboto"/>
              </a:rPr>
              <a:t>document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(TD)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матрицах,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первое </a:t>
            </a:r>
            <a:r>
              <a:rPr sz="1800" dirty="0">
                <a:latin typeface="Roboto"/>
                <a:cs typeface="Roboto"/>
              </a:rPr>
              <a:t>слово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обозначает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информацию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строках, </a:t>
            </a:r>
            <a:r>
              <a:rPr sz="1800" dirty="0">
                <a:latin typeface="Roboto"/>
                <a:cs typeface="Roboto"/>
              </a:rPr>
              <a:t>а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второе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столбцах.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25762" y="3969760"/>
          <a:ext cx="6764015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буря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мглою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кроет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вихри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крутя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5" name="object 5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2825" y="3884696"/>
            <a:ext cx="5607050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Почему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сравнение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матриц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и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словарей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в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питоне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не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совсем честное?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8419465" cy="243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Что</a:t>
            </a:r>
            <a:r>
              <a:rPr sz="4000" spc="-50" dirty="0">
                <a:latin typeface="Microsoft Sans Serif"/>
                <a:cs typeface="Microsoft Sans Serif"/>
              </a:rPr>
              <a:t> </a:t>
            </a:r>
            <a:r>
              <a:rPr sz="4000" spc="-55" dirty="0">
                <a:latin typeface="Microsoft Sans Serif"/>
                <a:cs typeface="Microsoft Sans Serif"/>
              </a:rPr>
              <a:t>может</a:t>
            </a:r>
            <a:r>
              <a:rPr sz="4000" spc="-4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быть</a:t>
            </a:r>
            <a:r>
              <a:rPr sz="4000" spc="-3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в</a:t>
            </a:r>
            <a:r>
              <a:rPr sz="4000" spc="-4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ячейках</a:t>
            </a:r>
            <a:r>
              <a:rPr sz="4000" spc="-10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  <a:p>
            <a:pPr marL="69850">
              <a:lnSpc>
                <a:spcPct val="100000"/>
              </a:lnSpc>
              <a:spcBef>
                <a:spcPts val="2365"/>
              </a:spcBef>
            </a:pPr>
            <a:r>
              <a:rPr sz="1800" spc="-20" dirty="0">
                <a:latin typeface="Roboto"/>
                <a:cs typeface="Roboto"/>
              </a:rPr>
              <a:t>Значения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элементов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матрицы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могут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быть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различными,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например:</a:t>
            </a:r>
            <a:endParaRPr sz="1800">
              <a:latin typeface="Roboto"/>
              <a:cs typeface="Roboto"/>
            </a:endParaRPr>
          </a:p>
          <a:p>
            <a:pPr marL="52705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527050" algn="l"/>
              </a:tabLst>
            </a:pPr>
            <a:r>
              <a:rPr sz="1800" dirty="0">
                <a:latin typeface="Roboto"/>
                <a:cs typeface="Roboto"/>
              </a:rPr>
              <a:t>бинарный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показатель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/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документе</a:t>
            </a:r>
            <a:endParaRPr sz="1800">
              <a:latin typeface="Roboto"/>
              <a:cs typeface="Roboto"/>
            </a:endParaRPr>
          </a:p>
          <a:p>
            <a:pPr marL="527050" indent="-457200">
              <a:lnSpc>
                <a:spcPct val="100000"/>
              </a:lnSpc>
              <a:buFont typeface="MS PGothic"/>
              <a:buChar char="❖"/>
              <a:tabLst>
                <a:tab pos="527050" algn="l"/>
              </a:tabLst>
            </a:pPr>
            <a:r>
              <a:rPr sz="1800" spc="-75" dirty="0">
                <a:latin typeface="Roboto"/>
                <a:cs typeface="Roboto"/>
              </a:rPr>
              <a:t>какой-</a:t>
            </a:r>
            <a:r>
              <a:rPr sz="1800" spc="-30" dirty="0">
                <a:latin typeface="Roboto"/>
                <a:cs typeface="Roboto"/>
              </a:rPr>
              <a:t>то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статистический</a:t>
            </a:r>
            <a:r>
              <a:rPr sz="1800" spc="-25" dirty="0">
                <a:latin typeface="Roboto"/>
                <a:cs typeface="Roboto"/>
              </a:rPr>
              <a:t> показатель,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например,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количество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документе</a:t>
            </a:r>
            <a:endParaRPr sz="1800">
              <a:latin typeface="Roboto"/>
              <a:cs typeface="Roboto"/>
            </a:endParaRPr>
          </a:p>
          <a:p>
            <a:pPr marL="527050" indent="-457200">
              <a:lnSpc>
                <a:spcPct val="100000"/>
              </a:lnSpc>
              <a:buFont typeface="MS PGothic"/>
              <a:buChar char="❖"/>
              <a:tabLst>
                <a:tab pos="527050" algn="l"/>
              </a:tabLst>
            </a:pPr>
            <a:r>
              <a:rPr sz="1800" spc="-80" dirty="0">
                <a:latin typeface="Roboto"/>
                <a:cs typeface="Roboto"/>
              </a:rPr>
              <a:t>TF-</a:t>
            </a:r>
            <a:r>
              <a:rPr sz="1800" spc="-50" dirty="0">
                <a:latin typeface="Roboto"/>
                <a:cs typeface="Roboto"/>
              </a:rPr>
              <a:t>IDF</a:t>
            </a:r>
            <a:r>
              <a:rPr sz="1800" spc="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или</a:t>
            </a:r>
            <a:r>
              <a:rPr sz="1800" spc="20" dirty="0">
                <a:latin typeface="Roboto"/>
                <a:cs typeface="Roboto"/>
              </a:rPr>
              <a:t> </a:t>
            </a:r>
            <a:r>
              <a:rPr sz="1800" spc="-95" dirty="0">
                <a:latin typeface="Roboto"/>
                <a:cs typeface="Roboto"/>
              </a:rPr>
              <a:t>BM-</a:t>
            </a:r>
            <a:r>
              <a:rPr sz="1800" spc="-25" dirty="0">
                <a:latin typeface="Roboto"/>
                <a:cs typeface="Roboto"/>
              </a:rPr>
              <a:t>25</a:t>
            </a:r>
            <a:endParaRPr sz="1800">
              <a:latin typeface="Roboto"/>
              <a:cs typeface="Roboto"/>
            </a:endParaRPr>
          </a:p>
          <a:p>
            <a:pPr marL="527050" indent="-457200">
              <a:lnSpc>
                <a:spcPct val="100000"/>
              </a:lnSpc>
              <a:buFont typeface="MS PGothic"/>
              <a:buChar char="❖"/>
              <a:tabLst>
                <a:tab pos="527050" algn="l"/>
              </a:tabLst>
            </a:pPr>
            <a:r>
              <a:rPr sz="1800" dirty="0">
                <a:latin typeface="Roboto"/>
                <a:cs typeface="Roboto"/>
              </a:rPr>
              <a:t>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другие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показатели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значимости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документе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25749" y="4177010"/>
          <a:ext cx="6764015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буря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мглою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Courier New"/>
                          <a:cs typeface="Courier New"/>
                        </a:rPr>
                        <a:t>небо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кроет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вихри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снежные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крутя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doc_4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5" name="object 5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2825" y="4008521"/>
            <a:ext cx="4454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А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здесь</a:t>
            </a:r>
            <a:r>
              <a:rPr sz="16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какая</a:t>
            </a:r>
            <a:r>
              <a:rPr sz="16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последовательность</a:t>
            </a:r>
            <a:r>
              <a:rPr sz="16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действий?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8778240" cy="378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Microsoft Sans Serif"/>
                <a:cs typeface="Microsoft Sans Serif"/>
              </a:rPr>
              <a:t>Порядок</a:t>
            </a:r>
            <a:r>
              <a:rPr sz="4000" spc="-12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поиска</a:t>
            </a:r>
            <a:r>
              <a:rPr sz="4000" spc="-114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с</a:t>
            </a:r>
            <a:r>
              <a:rPr sz="4000" spc="-12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матрицей</a:t>
            </a:r>
            <a:endParaRPr sz="4000" dirty="0">
              <a:latin typeface="Microsoft Sans Serif"/>
              <a:cs typeface="Microsoft Sans Serif"/>
            </a:endParaRPr>
          </a:p>
          <a:p>
            <a:pPr marL="69850" marR="500380">
              <a:lnSpc>
                <a:spcPct val="146300"/>
              </a:lnSpc>
              <a:spcBef>
                <a:spcPts val="1365"/>
              </a:spcBef>
            </a:pPr>
            <a:r>
              <a:rPr sz="1800" dirty="0">
                <a:latin typeface="Roboto"/>
                <a:cs typeface="Roboto"/>
              </a:rPr>
              <a:t>Нужно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же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самое: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оценка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релевантности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каждого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запросу.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этого:</a:t>
            </a:r>
            <a:endParaRPr sz="1800" dirty="0">
              <a:latin typeface="Roboto"/>
              <a:cs typeface="Roboto"/>
            </a:endParaRPr>
          </a:p>
          <a:p>
            <a:pPr marL="527050" marR="207645" indent="-41719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Roboto"/>
                <a:cs typeface="Roboto"/>
              </a:rPr>
              <a:t>превращаем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вектор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тем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же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способом,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что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документы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нашем </a:t>
            </a:r>
            <a:r>
              <a:rPr sz="1800" dirty="0" err="1">
                <a:latin typeface="Roboto"/>
                <a:cs typeface="Roboto"/>
              </a:rPr>
              <a:t>случае</a:t>
            </a:r>
            <a:r>
              <a:rPr sz="1800" spc="-10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lang="en-US" spc="-5" dirty="0">
                <a:latin typeface="Roboto"/>
                <a:cs typeface="Roboto"/>
              </a:rPr>
              <a:t>- </a:t>
            </a:r>
            <a:r>
              <a:rPr sz="1800" spc="-10" dirty="0" err="1">
                <a:latin typeface="Roboto"/>
                <a:cs typeface="Roboto"/>
              </a:rPr>
              <a:t>считаем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частоту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слов)</a:t>
            </a:r>
            <a:endParaRPr sz="1800" dirty="0">
              <a:latin typeface="Roboto"/>
              <a:cs typeface="Roboto"/>
            </a:endParaRPr>
          </a:p>
          <a:p>
            <a:pPr marL="527050" marR="5080" indent="-417195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dirty="0" err="1">
                <a:latin typeface="Roboto"/>
                <a:cs typeface="Roboto"/>
              </a:rPr>
              <a:t>умножаем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D</a:t>
            </a:r>
            <a:r>
              <a:rPr lang="en-US" sz="1800" dirty="0">
                <a:latin typeface="Roboto"/>
                <a:cs typeface="Roboto"/>
              </a:rPr>
              <a:t>T-</a:t>
            </a:r>
            <a:r>
              <a:rPr sz="1800" spc="-20" dirty="0" err="1">
                <a:latin typeface="Roboto"/>
                <a:cs typeface="Roboto"/>
              </a:rPr>
              <a:t>матрицу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вектор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запроса,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получаем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сразу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всех </a:t>
            </a:r>
            <a:r>
              <a:rPr sz="1800" spc="-10" dirty="0">
                <a:latin typeface="Roboto"/>
                <a:cs typeface="Roboto"/>
              </a:rPr>
              <a:t>документов</a:t>
            </a:r>
            <a:endParaRPr sz="1800" dirty="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10" dirty="0">
                <a:latin typeface="Roboto"/>
                <a:cs typeface="Roboto"/>
              </a:rPr>
              <a:t>сохраняем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полученное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значение</a:t>
            </a:r>
            <a:endParaRPr sz="1800" dirty="0">
              <a:latin typeface="Roboto"/>
              <a:cs typeface="Roboto"/>
            </a:endParaRPr>
          </a:p>
          <a:p>
            <a:pPr marL="527050" indent="-416559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spc="-30" dirty="0">
                <a:latin typeface="Roboto"/>
                <a:cs typeface="Roboto"/>
              </a:rPr>
              <a:t>сортируем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документы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значению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метрики</a:t>
            </a:r>
            <a:endParaRPr sz="1800" dirty="0">
              <a:latin typeface="Roboto"/>
              <a:cs typeface="Roboto"/>
            </a:endParaRPr>
          </a:p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здесь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может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быть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проблема?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636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Сравнение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1175" y="2829223"/>
            <a:ext cx="12071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Roboto"/>
                <a:cs typeface="Roboto"/>
              </a:rPr>
              <a:t>МАТРИЦА</a:t>
            </a:r>
            <a:endParaRPr sz="19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9012" y="2829223"/>
            <a:ext cx="11423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Roboto"/>
                <a:cs typeface="Roboto"/>
              </a:rPr>
              <a:t>СЛОВАРЬ</a:t>
            </a:r>
            <a:endParaRPr sz="1900">
              <a:latin typeface="Roboto"/>
              <a:cs typeface="Robot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144199" y="3251232"/>
          <a:ext cx="3265170" cy="1369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1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799909" y="3136001"/>
            <a:ext cx="5927725" cy="219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 marR="3717290" indent="-360045" algn="r">
              <a:lnSpc>
                <a:spcPct val="152500"/>
              </a:lnSpc>
              <a:spcBef>
                <a:spcPts val="100"/>
              </a:spcBef>
            </a:pPr>
            <a:r>
              <a:rPr sz="1800" spc="-20" dirty="0">
                <a:latin typeface="Roboto"/>
                <a:cs typeface="Roboto"/>
              </a:rPr>
              <a:t>Простота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обработки </a:t>
            </a:r>
            <a:r>
              <a:rPr sz="1800" spc="-10" dirty="0">
                <a:latin typeface="Roboto"/>
                <a:cs typeface="Roboto"/>
              </a:rPr>
              <a:t>Скорость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поиска Прозрачность</a:t>
            </a:r>
            <a:endParaRPr sz="1800">
              <a:latin typeface="Roboto"/>
              <a:cs typeface="Roboto"/>
            </a:endParaRPr>
          </a:p>
          <a:p>
            <a:pPr marR="3716654" algn="r">
              <a:lnSpc>
                <a:spcPct val="100000"/>
              </a:lnSpc>
            </a:pPr>
            <a:r>
              <a:rPr sz="1800" spc="-10" dirty="0">
                <a:latin typeface="Roboto"/>
                <a:cs typeface="Roboto"/>
              </a:rPr>
              <a:t>логики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800">
              <a:latin typeface="Roboto"/>
              <a:cs typeface="Roboto"/>
            </a:endParaRPr>
          </a:p>
          <a:p>
            <a:pPr marL="588010">
              <a:lnSpc>
                <a:spcPct val="100000"/>
              </a:lnSpc>
            </a:pPr>
            <a:r>
              <a:rPr sz="1800" spc="-10" dirty="0">
                <a:latin typeface="Roboto"/>
                <a:cs typeface="Roboto"/>
              </a:rPr>
              <a:t>Только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совсем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честная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табличка.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Почему?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1175" y="2372023"/>
            <a:ext cx="12071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Roboto"/>
                <a:cs typeface="Roboto"/>
              </a:rPr>
              <a:t>МАТРИЦА</a:t>
            </a:r>
            <a:endParaRPr sz="19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5625" y="1465205"/>
            <a:ext cx="6007100" cy="122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Сравнение</a:t>
            </a:r>
            <a:r>
              <a:rPr sz="4000" spc="-204" dirty="0">
                <a:latin typeface="Microsoft Sans Serif"/>
                <a:cs typeface="Microsoft Sans Serif"/>
              </a:rPr>
              <a:t> </a:t>
            </a:r>
            <a:r>
              <a:rPr sz="4000" spc="-20" dirty="0">
                <a:latin typeface="Verdana"/>
                <a:cs typeface="Verdana"/>
              </a:rPr>
              <a:t>(</a:t>
            </a:r>
            <a:r>
              <a:rPr sz="4000" spc="-20" dirty="0">
                <a:latin typeface="Microsoft Sans Serif"/>
                <a:cs typeface="Microsoft Sans Serif"/>
              </a:rPr>
              <a:t>если</a:t>
            </a:r>
            <a:r>
              <a:rPr sz="4000" spc="-204" dirty="0">
                <a:latin typeface="Microsoft Sans Serif"/>
                <a:cs typeface="Microsoft Sans Serif"/>
              </a:rPr>
              <a:t> </a:t>
            </a:r>
            <a:r>
              <a:rPr sz="4000" spc="-20" dirty="0">
                <a:latin typeface="Microsoft Sans Serif"/>
                <a:cs typeface="Microsoft Sans Serif"/>
              </a:rPr>
              <a:t>честно</a:t>
            </a:r>
            <a:r>
              <a:rPr sz="4000" spc="-20" dirty="0">
                <a:latin typeface="Verdana"/>
                <a:cs typeface="Verdana"/>
              </a:rPr>
              <a:t>)</a:t>
            </a:r>
            <a:endParaRPr sz="4000">
              <a:latin typeface="Verdana"/>
              <a:cs typeface="Verdana"/>
            </a:endParaRPr>
          </a:p>
          <a:p>
            <a:pPr marR="505459" algn="r">
              <a:lnSpc>
                <a:spcPct val="100000"/>
              </a:lnSpc>
              <a:spcBef>
                <a:spcPts val="2340"/>
              </a:spcBef>
            </a:pPr>
            <a:r>
              <a:rPr sz="1900" b="1" spc="-10" dirty="0">
                <a:latin typeface="Roboto"/>
                <a:cs typeface="Roboto"/>
              </a:rPr>
              <a:t>СЛОВАРЬ</a:t>
            </a:r>
            <a:endParaRPr sz="1900">
              <a:latin typeface="Roboto"/>
              <a:cs typeface="Roboto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144199" y="2794032"/>
          <a:ext cx="3265170" cy="228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1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Roboto"/>
                          <a:cs typeface="Roboto"/>
                        </a:rPr>
                        <a:t>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97058" y="2822943"/>
            <a:ext cx="9778365" cy="319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65165" algn="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Roboto"/>
                <a:cs typeface="Roboto"/>
              </a:rPr>
              <a:t>Простота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обработки</a:t>
            </a:r>
            <a:endParaRPr sz="1800">
              <a:latin typeface="Roboto"/>
              <a:cs typeface="Roboto"/>
            </a:endParaRPr>
          </a:p>
          <a:p>
            <a:pPr marL="1604010" marR="5766435" indent="570230" algn="r">
              <a:lnSpc>
                <a:spcPts val="3900"/>
              </a:lnSpc>
              <a:spcBef>
                <a:spcPts val="155"/>
              </a:spcBef>
            </a:pPr>
            <a:r>
              <a:rPr sz="1800" spc="-10" dirty="0">
                <a:latin typeface="Roboto"/>
                <a:cs typeface="Roboto"/>
              </a:rPr>
              <a:t>Скорость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поиска </a:t>
            </a:r>
            <a:r>
              <a:rPr sz="1800" spc="-25" dirty="0">
                <a:latin typeface="Roboto"/>
                <a:cs typeface="Roboto"/>
              </a:rPr>
              <a:t>Прозрачность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логики</a:t>
            </a:r>
            <a:endParaRPr sz="1800">
              <a:latin typeface="Roboto"/>
              <a:cs typeface="Roboto"/>
            </a:endParaRPr>
          </a:p>
          <a:p>
            <a:pPr marL="1668145" marR="5796915" indent="-64135" algn="r">
              <a:lnSpc>
                <a:spcPts val="3640"/>
              </a:lnSpc>
              <a:spcBef>
                <a:spcPts val="200"/>
              </a:spcBef>
            </a:pPr>
            <a:r>
              <a:rPr sz="1800" dirty="0">
                <a:latin typeface="Roboto"/>
                <a:cs typeface="Roboto"/>
              </a:rPr>
              <a:t>Разреженные</a:t>
            </a:r>
            <a:r>
              <a:rPr sz="1800" spc="-10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данные Человекочитаемость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вот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теперь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так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однозначно.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Вообще,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практике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чаще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используют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вариант матриц,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учтена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проблема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разреженными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данными: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sparse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матрицы.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51816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0" dirty="0">
                <a:latin typeface="Microsoft Sans Serif"/>
                <a:cs typeface="Microsoft Sans Serif"/>
              </a:rPr>
              <a:t>Промежуточное</a:t>
            </a:r>
            <a:r>
              <a:rPr sz="4000" spc="-17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итого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1927" y="2829731"/>
            <a:ext cx="712279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2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Наша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идея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умножение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матрицы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вектор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для </a:t>
            </a:r>
            <a:r>
              <a:rPr sz="1800" spc="-10" dirty="0">
                <a:latin typeface="Roboto"/>
                <a:cs typeface="Roboto"/>
              </a:rPr>
              <a:t>получения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близости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между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запросом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документами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корпуса</a:t>
            </a:r>
            <a:endParaRPr sz="1800">
              <a:latin typeface="Roboto"/>
              <a:cs typeface="Roboto"/>
            </a:endParaRPr>
          </a:p>
          <a:p>
            <a:pPr marL="12700" marR="619760">
              <a:lnSpc>
                <a:spcPct val="200000"/>
              </a:lnSpc>
            </a:pPr>
            <a:r>
              <a:rPr sz="1800" spc="-10" dirty="0">
                <a:latin typeface="Roboto"/>
                <a:cs typeface="Roboto"/>
              </a:rPr>
              <a:t>Матрица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проиндексированная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коллекция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документов </a:t>
            </a:r>
            <a:r>
              <a:rPr sz="1800" spc="-25" dirty="0">
                <a:latin typeface="Roboto"/>
                <a:cs typeface="Roboto"/>
              </a:rPr>
              <a:t>Вектор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проиндексированный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spc="-40" dirty="0">
                <a:latin typeface="Roboto"/>
                <a:cs typeface="Roboto"/>
              </a:rPr>
              <a:t>Результат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ранжированные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убыванию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релевантности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запросу документы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6203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latin typeface="Microsoft Sans Serif"/>
                <a:cs typeface="Microsoft Sans Serif"/>
              </a:rPr>
              <a:t>Векторизация</a:t>
            </a:r>
            <a:r>
              <a:rPr sz="4000" spc="-204" dirty="0">
                <a:latin typeface="Microsoft Sans Serif"/>
                <a:cs typeface="Microsoft Sans Serif"/>
              </a:rPr>
              <a:t> </a:t>
            </a:r>
            <a:r>
              <a:rPr sz="4000" spc="-20" dirty="0">
                <a:latin typeface="Microsoft Sans Serif"/>
                <a:cs typeface="Microsoft Sans Serif"/>
              </a:rPr>
              <a:t>документов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277" y="2556631"/>
            <a:ext cx="7131050" cy="3784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latin typeface="Roboto"/>
                <a:cs typeface="Roboto"/>
              </a:rPr>
              <a:t>Как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уже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было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сказано,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способов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множество:</a:t>
            </a:r>
            <a:endParaRPr sz="1800" dirty="0">
              <a:latin typeface="Roboto"/>
              <a:cs typeface="Roboto"/>
            </a:endParaRPr>
          </a:p>
          <a:p>
            <a:pPr marL="469900" marR="508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бинарное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кодирование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(есть/нет)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OneHotEncoder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(sklearn,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но </a:t>
            </a:r>
            <a:r>
              <a:rPr sz="1800" spc="-10" dirty="0">
                <a:latin typeface="Roboto"/>
                <a:cs typeface="Roboto"/>
              </a:rPr>
              <a:t>так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никто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делает)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20" dirty="0">
                <a:latin typeface="Roboto"/>
                <a:cs typeface="Roboto"/>
              </a:rPr>
              <a:t>кодирование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40" dirty="0" err="1">
                <a:latin typeface="Roboto"/>
                <a:cs typeface="Roboto"/>
              </a:rPr>
              <a:t>частоте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lang="en-US" spc="-5" dirty="0">
                <a:latin typeface="Roboto"/>
                <a:cs typeface="Roboto"/>
              </a:rPr>
              <a:t>-</a:t>
            </a:r>
            <a:r>
              <a:rPr lang="en-US" sz="1800" spc="-5" dirty="0">
                <a:latin typeface="Roboto"/>
                <a:cs typeface="Roboto"/>
              </a:rPr>
              <a:t> </a:t>
            </a:r>
            <a:r>
              <a:rPr sz="1800" spc="-20" dirty="0" err="1">
                <a:latin typeface="Roboto"/>
                <a:cs typeface="Roboto"/>
              </a:rPr>
              <a:t>CountVectorizer</a:t>
            </a:r>
            <a:r>
              <a:rPr sz="1800" spc="-10" dirty="0">
                <a:latin typeface="Roboto"/>
                <a:cs typeface="Roboto"/>
              </a:rPr>
              <a:t> (sklearn)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80" dirty="0">
                <a:latin typeface="Roboto"/>
                <a:cs typeface="Roboto"/>
              </a:rPr>
              <a:t>TF-</a:t>
            </a:r>
            <a:r>
              <a:rPr sz="1800" spc="-50" dirty="0">
                <a:latin typeface="Roboto"/>
                <a:cs typeface="Roboto"/>
              </a:rPr>
              <a:t>IDF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lang="en-US" spc="-320" dirty="0">
                <a:latin typeface="Roboto"/>
                <a:cs typeface="Roboto"/>
              </a:rPr>
              <a:t>--   </a:t>
            </a:r>
            <a:r>
              <a:rPr lang="en-US" sz="1800" spc="-20" dirty="0" err="1">
                <a:latin typeface="Roboto"/>
                <a:cs typeface="Roboto"/>
              </a:rPr>
              <a:t>T</a:t>
            </a:r>
            <a:r>
              <a:rPr sz="1800" spc="-20" dirty="0" err="1">
                <a:latin typeface="Roboto"/>
                <a:cs typeface="Roboto"/>
              </a:rPr>
              <a:t>fidfVectorizer</a:t>
            </a:r>
            <a:r>
              <a:rPr sz="180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(sklearn)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BM25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lang="en-US" spc="-320" dirty="0">
                <a:latin typeface="Roboto"/>
                <a:cs typeface="Roboto"/>
              </a:rPr>
              <a:t>-- </a:t>
            </a:r>
            <a:r>
              <a:rPr lang="en-US" sz="1800" spc="-5" dirty="0">
                <a:latin typeface="Roboto"/>
                <a:cs typeface="Roboto"/>
              </a:rPr>
              <a:t> </a:t>
            </a:r>
            <a:r>
              <a:rPr sz="1800" spc="-20" dirty="0" err="1">
                <a:latin typeface="Roboto"/>
                <a:cs typeface="Roboto"/>
              </a:rPr>
              <a:t>библиотека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rank-</a:t>
            </a:r>
            <a:r>
              <a:rPr sz="1800" spc="-20" dirty="0">
                <a:latin typeface="Roboto"/>
                <a:cs typeface="Roboto"/>
              </a:rPr>
              <a:t>bm25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word2vec</a:t>
            </a:r>
            <a:r>
              <a:rPr sz="1800" spc="-105" dirty="0">
                <a:latin typeface="Roboto"/>
                <a:cs typeface="Roboto"/>
              </a:rPr>
              <a:t> </a:t>
            </a:r>
            <a:r>
              <a:rPr lang="en-US" spc="-320" dirty="0">
                <a:latin typeface="Roboto"/>
                <a:cs typeface="Roboto"/>
              </a:rPr>
              <a:t>-- </a:t>
            </a:r>
            <a:r>
              <a:rPr lang="en-US" sz="1800" spc="-5" dirty="0">
                <a:latin typeface="Roboto"/>
                <a:cs typeface="Roboto"/>
              </a:rPr>
              <a:t> </a:t>
            </a:r>
            <a:r>
              <a:rPr sz="1800" dirty="0" err="1">
                <a:latin typeface="Roboto"/>
                <a:cs typeface="Roboto"/>
              </a:rPr>
              <a:t>gensim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(чаще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всего)</a:t>
            </a:r>
            <a:endParaRPr sz="1800" dirty="0">
              <a:latin typeface="Roboto"/>
              <a:cs typeface="Roboto"/>
            </a:endParaRPr>
          </a:p>
          <a:p>
            <a:pPr marL="469900" marR="445134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bert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(и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его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родственники)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lang="en-US" spc="-320" dirty="0">
                <a:latin typeface="Roboto"/>
                <a:cs typeface="Roboto"/>
              </a:rPr>
              <a:t>-- </a:t>
            </a:r>
            <a:r>
              <a:rPr lang="en-US" sz="1800" spc="-5" dirty="0">
                <a:latin typeface="Roboto"/>
                <a:cs typeface="Roboto"/>
              </a:rPr>
              <a:t> </a:t>
            </a:r>
            <a:r>
              <a:rPr sz="1800" spc="-25" dirty="0" err="1">
                <a:latin typeface="Roboto"/>
                <a:cs typeface="Roboto"/>
              </a:rPr>
              <a:t>pytorch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или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HuggingFace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(чаще всего)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и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тд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4037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Microsoft Sans Serif"/>
                <a:cs typeface="Microsoft Sans Serif"/>
              </a:rPr>
              <a:t>Вспомним</a:t>
            </a:r>
            <a:r>
              <a:rPr sz="4000" spc="-14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Verdana"/>
                <a:cs typeface="Verdana"/>
              </a:rPr>
              <a:t>Tf-</a:t>
            </a:r>
            <a:r>
              <a:rPr sz="4000" spc="-25" dirty="0">
                <a:latin typeface="Verdana"/>
                <a:cs typeface="Verdana"/>
              </a:rPr>
              <a:t>Idf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024" y="2765839"/>
            <a:ext cx="5556600" cy="12789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7050" y="3942855"/>
            <a:ext cx="3611879" cy="165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где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x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слово,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y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документ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общая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идея?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Какие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части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означают?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Почему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логарифм?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95924" y="2756324"/>
            <a:ext cx="2510155" cy="2002155"/>
            <a:chOff x="7795924" y="2756324"/>
            <a:chExt cx="2510155" cy="20021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5450" y="2765850"/>
              <a:ext cx="2490746" cy="19826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800687" y="2761087"/>
              <a:ext cx="2500630" cy="1992630"/>
            </a:xfrm>
            <a:custGeom>
              <a:avLst/>
              <a:gdLst/>
              <a:ahLst/>
              <a:cxnLst/>
              <a:rect l="l" t="t" r="r" b="b"/>
              <a:pathLst>
                <a:path w="2500629" h="1992629">
                  <a:moveTo>
                    <a:pt x="0" y="0"/>
                  </a:moveTo>
                  <a:lnTo>
                    <a:pt x="2500271" y="0"/>
                  </a:lnTo>
                  <a:lnTo>
                    <a:pt x="2500271" y="1992199"/>
                  </a:lnTo>
                  <a:lnTo>
                    <a:pt x="0" y="199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647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>
                <a:latin typeface="Microsoft Sans Serif"/>
                <a:cs typeface="Microsoft Sans Serif"/>
              </a:rPr>
              <a:t>Формула</a:t>
            </a:r>
            <a:r>
              <a:rPr sz="4000" spc="-215" dirty="0">
                <a:latin typeface="Microsoft Sans Serif"/>
                <a:cs typeface="Microsoft Sans Serif"/>
              </a:rPr>
              <a:t> </a:t>
            </a:r>
            <a:r>
              <a:rPr sz="4000" spc="-105" dirty="0">
                <a:latin typeface="Verdana"/>
                <a:cs typeface="Verdana"/>
              </a:rPr>
              <a:t>BM25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78862" y="2514250"/>
            <a:ext cx="9415145" cy="3766185"/>
            <a:chOff x="1278862" y="2514250"/>
            <a:chExt cx="9415145" cy="37661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062" y="2514250"/>
              <a:ext cx="7672663" cy="10286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83625" y="3745674"/>
              <a:ext cx="9405620" cy="2529840"/>
            </a:xfrm>
            <a:custGeom>
              <a:avLst/>
              <a:gdLst/>
              <a:ahLst/>
              <a:cxnLst/>
              <a:rect l="l" t="t" r="r" b="b"/>
              <a:pathLst>
                <a:path w="9405620" h="2529840">
                  <a:moveTo>
                    <a:pt x="0" y="0"/>
                  </a:moveTo>
                  <a:lnTo>
                    <a:pt x="9405299" y="0"/>
                  </a:lnTo>
                  <a:lnTo>
                    <a:pt x="9405299" y="2529599"/>
                  </a:lnTo>
                  <a:lnTo>
                    <a:pt x="0" y="25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56650" y="3682556"/>
            <a:ext cx="7269480" cy="2473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10" dirty="0">
                <a:latin typeface="Roboto"/>
                <a:cs typeface="Roboto"/>
              </a:rPr>
              <a:t>Объясним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каждую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компоненту: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n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количество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запросе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IDF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обратная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документная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частота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q_i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запроса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Query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TF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частота </a:t>
            </a:r>
            <a:r>
              <a:rPr sz="1800" dirty="0">
                <a:latin typeface="Roboto"/>
                <a:cs typeface="Roboto"/>
              </a:rPr>
              <a:t>слова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q_i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документе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Doc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k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магическая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константа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b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магическая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константа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l(d)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количество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документе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Doc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avgdl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константа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=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средняя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длина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корпусе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6199" y="3213874"/>
            <a:ext cx="4269740" cy="2401570"/>
          </a:xfrm>
          <a:custGeom>
            <a:avLst/>
            <a:gdLst/>
            <a:ahLst/>
            <a:cxnLst/>
            <a:rect l="l" t="t" r="r" b="b"/>
            <a:pathLst>
              <a:path w="4269740" h="2401570">
                <a:moveTo>
                  <a:pt x="0" y="0"/>
                </a:moveTo>
                <a:lnTo>
                  <a:pt x="4269600" y="0"/>
                </a:lnTo>
                <a:lnTo>
                  <a:pt x="4269600" y="2401199"/>
                </a:lnTo>
                <a:lnTo>
                  <a:pt x="0" y="2401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79225" y="3277756"/>
            <a:ext cx="410273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Не</a:t>
            </a:r>
            <a:r>
              <a:rPr sz="1800" b="1" spc="-5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зависит</a:t>
            </a:r>
            <a:r>
              <a:rPr sz="1800" b="1" spc="-5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от</a:t>
            </a:r>
            <a:r>
              <a:rPr sz="1800" b="1" spc="-50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запроса: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N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документов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корпусе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k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=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b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=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0.75</a:t>
            </a:r>
            <a:endParaRPr sz="1800">
              <a:latin typeface="Roboto"/>
              <a:cs typeface="Roboto"/>
            </a:endParaRPr>
          </a:p>
          <a:p>
            <a:pPr marL="469900" marR="358140" indent="-457200">
              <a:lnSpc>
                <a:spcPct val="100000"/>
              </a:lnSpc>
              <a:buFont typeface="MS PGothic"/>
              <a:buChar char="❖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l(d)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слов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0" dirty="0">
                <a:latin typeface="Roboto"/>
                <a:cs typeface="Roboto"/>
              </a:rPr>
              <a:t> документе </a:t>
            </a:r>
            <a:r>
              <a:rPr sz="1800" spc="-25" dirty="0">
                <a:latin typeface="Roboto"/>
                <a:cs typeface="Roboto"/>
              </a:rPr>
              <a:t>Doc</a:t>
            </a:r>
            <a:endParaRPr sz="1800">
              <a:latin typeface="Roboto"/>
              <a:cs typeface="Roboto"/>
            </a:endParaRPr>
          </a:p>
          <a:p>
            <a:pPr marL="469900" marR="5080" indent="-457200">
              <a:lnSpc>
                <a:spcPct val="100000"/>
              </a:lnSpc>
              <a:buFont typeface="MS PGothic"/>
              <a:buChar char="❖"/>
              <a:tabLst>
                <a:tab pos="469900" algn="l"/>
              </a:tabLst>
            </a:pPr>
            <a:r>
              <a:rPr sz="1800" spc="-10" dirty="0">
                <a:latin typeface="Roboto"/>
                <a:cs typeface="Roboto"/>
              </a:rPr>
              <a:t>avgdl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средняя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длина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документа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корпусе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16200" y="3213874"/>
            <a:ext cx="4269740" cy="2401570"/>
          </a:xfrm>
          <a:custGeom>
            <a:avLst/>
            <a:gdLst/>
            <a:ahLst/>
            <a:cxnLst/>
            <a:rect l="l" t="t" r="r" b="b"/>
            <a:pathLst>
              <a:path w="4269740" h="2401570">
                <a:moveTo>
                  <a:pt x="0" y="0"/>
                </a:moveTo>
                <a:lnTo>
                  <a:pt x="4269599" y="0"/>
                </a:lnTo>
                <a:lnTo>
                  <a:pt x="4269599" y="2401199"/>
                </a:lnTo>
                <a:lnTo>
                  <a:pt x="0" y="2401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89225" y="3277756"/>
            <a:ext cx="2202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Зависит</a:t>
            </a:r>
            <a:r>
              <a:rPr sz="1800" b="1" spc="-8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от</a:t>
            </a:r>
            <a:r>
              <a:rPr sz="1800" b="1" spc="-85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запроса: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9225" y="3552076"/>
            <a:ext cx="4054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TF(q_i,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Doc)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частота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q_i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Doc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n(q_i)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–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доков,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q_i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7050" y="1465205"/>
            <a:ext cx="9414510" cy="148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Части</a:t>
            </a:r>
            <a:r>
              <a:rPr sz="4000" spc="-7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формулы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2365"/>
              </a:spcBef>
            </a:pPr>
            <a:r>
              <a:rPr sz="1800" dirty="0">
                <a:latin typeface="Roboto"/>
                <a:cs typeface="Roboto"/>
              </a:rPr>
              <a:t>Все,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что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зависит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запроса,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нужно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посчитать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заранее.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Это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даст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более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оптимальное </a:t>
            </a:r>
            <a:r>
              <a:rPr sz="1800" dirty="0">
                <a:latin typeface="Roboto"/>
                <a:cs typeface="Roboto"/>
              </a:rPr>
              <a:t>время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исполнения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поиска.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9496425" cy="186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Verdana"/>
                <a:cs typeface="Verdana"/>
              </a:rPr>
              <a:t>Word2Vec</a:t>
            </a:r>
            <a:endParaRPr sz="4000">
              <a:latin typeface="Verdana"/>
              <a:cs typeface="Verdana"/>
            </a:endParaRPr>
          </a:p>
          <a:p>
            <a:pPr marL="60325">
              <a:lnSpc>
                <a:spcPct val="100000"/>
              </a:lnSpc>
              <a:spcBef>
                <a:spcPts val="2150"/>
              </a:spcBef>
            </a:pP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Учим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две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задачи</a:t>
            </a:r>
            <a:r>
              <a:rPr sz="1900" spc="-95" dirty="0">
                <a:solidFill>
                  <a:srgbClr val="2A2A2A"/>
                </a:solidFill>
                <a:latin typeface="Trebuchet MS"/>
                <a:cs typeface="Trebuchet MS"/>
              </a:rPr>
              <a:t>: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восстанавливать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контексту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Trebuchet MS"/>
                <a:cs typeface="Trebuchet MS"/>
              </a:rPr>
              <a:t>(CBOW)</a:t>
            </a:r>
            <a:r>
              <a:rPr sz="1900" spc="-13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контекст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слову</a:t>
            </a:r>
            <a:endParaRPr sz="1900">
              <a:latin typeface="Microsoft Sans Serif"/>
              <a:cs typeface="Microsoft Sans Serif"/>
            </a:endParaRPr>
          </a:p>
          <a:p>
            <a:pPr marL="60325">
              <a:lnSpc>
                <a:spcPct val="100000"/>
              </a:lnSpc>
              <a:spcBef>
                <a:spcPts val="345"/>
              </a:spcBef>
            </a:pP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(skipgram).</a:t>
            </a:r>
            <a:r>
              <a:rPr sz="1900" spc="-9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Плюс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negative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sampling.</a:t>
            </a:r>
            <a:endParaRPr sz="190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  <a:spcBef>
                <a:spcPts val="340"/>
              </a:spcBef>
            </a:pP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Какие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есть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минусы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у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word2vec?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475" y="3349550"/>
            <a:ext cx="6053049" cy="30771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10159365" cy="490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Чем</a:t>
            </a:r>
            <a:r>
              <a:rPr sz="4000" spc="-10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плох</a:t>
            </a:r>
            <a:r>
              <a:rPr sz="4000" spc="-10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Verdana"/>
                <a:cs typeface="Verdana"/>
              </a:rPr>
              <a:t>word2vec?</a:t>
            </a:r>
            <a:endParaRPr sz="4000">
              <a:latin typeface="Verdana"/>
              <a:cs typeface="Verdana"/>
            </a:endParaRPr>
          </a:p>
          <a:p>
            <a:pPr marL="516890" indent="-469265">
              <a:lnSpc>
                <a:spcPct val="100000"/>
              </a:lnSpc>
              <a:spcBef>
                <a:spcPts val="2150"/>
              </a:spcBef>
              <a:buFont typeface="MS PGothic"/>
              <a:buChar char="❖"/>
              <a:tabLst>
                <a:tab pos="516890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Плохо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понимает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разницу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между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синонимами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антонимами</a:t>
            </a:r>
            <a:endParaRPr sz="1900">
              <a:latin typeface="Microsoft Sans Serif"/>
              <a:cs typeface="Microsoft Sans Serif"/>
            </a:endParaRPr>
          </a:p>
          <a:p>
            <a:pPr marL="974725" marR="5080" lvl="1" indent="-469900">
              <a:lnSpc>
                <a:spcPct val="114999"/>
              </a:lnSpc>
              <a:buFont typeface="MS PGothic"/>
              <a:buChar char="➢"/>
              <a:tabLst>
                <a:tab pos="974725" algn="l"/>
              </a:tabLst>
            </a:pPr>
            <a:r>
              <a:rPr sz="1900" spc="-1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уже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видели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антонимы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часто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оказываются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ближайшими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друг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друга</a:t>
            </a:r>
            <a:r>
              <a:rPr sz="1900" spc="-95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плохо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общем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случае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Хотелось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бы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решить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эту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проблему</a:t>
            </a:r>
            <a:endParaRPr sz="1900">
              <a:latin typeface="Microsoft Sans Serif"/>
              <a:cs typeface="Microsoft Sans Serif"/>
            </a:endParaRPr>
          </a:p>
          <a:p>
            <a:pPr marL="516890" indent="-469265">
              <a:lnSpc>
                <a:spcPct val="100000"/>
              </a:lnSpc>
              <a:spcBef>
                <a:spcPts val="1345"/>
              </a:spcBef>
              <a:buFont typeface="MS PGothic"/>
              <a:buChar char="❖"/>
              <a:tabLst>
                <a:tab pos="516890" algn="l"/>
              </a:tabLst>
            </a:pP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Омонимы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один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тот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же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вектор</a:t>
            </a:r>
            <a:endParaRPr sz="1900">
              <a:latin typeface="Microsoft Sans Serif"/>
              <a:cs typeface="Microsoft Sans Serif"/>
            </a:endParaRPr>
          </a:p>
          <a:p>
            <a:pPr marL="974725" marR="160020" lvl="1" indent="-469900">
              <a:lnSpc>
                <a:spcPct val="114999"/>
              </a:lnSpc>
              <a:buFont typeface="MS PGothic"/>
              <a:buChar char="➢"/>
              <a:tabLst>
                <a:tab pos="974725" algn="l"/>
              </a:tabLst>
            </a:pP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у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word2vec</a:t>
            </a:r>
            <a:r>
              <a:rPr sz="1900" spc="-13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каждого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есть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всего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один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вектор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зАмок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и 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замОк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sz="1900" spc="-114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получим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одно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65" dirty="0">
                <a:solidFill>
                  <a:srgbClr val="2A2A2A"/>
                </a:solidFill>
                <a:latin typeface="Microsoft Sans Serif"/>
                <a:cs typeface="Microsoft Sans Serif"/>
              </a:rPr>
              <a:t>же</a:t>
            </a:r>
            <a:r>
              <a:rPr sz="1900" spc="-165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однозначно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неверно</a:t>
            </a:r>
            <a:endParaRPr sz="1900">
              <a:latin typeface="Microsoft Sans Serif"/>
              <a:cs typeface="Microsoft Sans Serif"/>
            </a:endParaRPr>
          </a:p>
          <a:p>
            <a:pPr marL="516890" indent="-469265">
              <a:lnSpc>
                <a:spcPct val="100000"/>
              </a:lnSpc>
              <a:spcBef>
                <a:spcPts val="1340"/>
              </a:spcBef>
              <a:buFont typeface="MS PGothic"/>
              <a:buChar char="❖"/>
              <a:tabLst>
                <a:tab pos="516890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учитывает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сочетаемость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</a:t>
            </a:r>
            <a:endParaRPr sz="1900">
              <a:latin typeface="Microsoft Sans Serif"/>
              <a:cs typeface="Microsoft Sans Serif"/>
            </a:endParaRPr>
          </a:p>
          <a:p>
            <a:pPr marL="974725" marR="517525" lvl="1" indent="-469900">
              <a:lnSpc>
                <a:spcPct val="114999"/>
              </a:lnSpc>
              <a:buFont typeface="MS PGothic"/>
              <a:buChar char="➢"/>
              <a:tabLst>
                <a:tab pos="97472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можем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учесть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смысл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контексте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из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чего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понимает 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идиомы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метафору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т</a:t>
            </a: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д</a:t>
            </a: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516890" indent="-469265">
              <a:lnSpc>
                <a:spcPct val="100000"/>
              </a:lnSpc>
              <a:spcBef>
                <a:spcPts val="1340"/>
              </a:spcBef>
              <a:buFont typeface="MS PGothic"/>
              <a:buChar char="❖"/>
              <a:tabLst>
                <a:tab pos="516890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умеет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работать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незнакомыми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словами</a:t>
            </a:r>
            <a:endParaRPr sz="1900">
              <a:latin typeface="Microsoft Sans Serif"/>
              <a:cs typeface="Microsoft Sans Serif"/>
            </a:endParaRPr>
          </a:p>
          <a:p>
            <a:pPr marL="974090" lvl="1" indent="-469265">
              <a:lnSpc>
                <a:spcPct val="100000"/>
              </a:lnSpc>
              <a:spcBef>
                <a:spcPts val="345"/>
              </a:spcBef>
              <a:buFont typeface="MS PGothic"/>
              <a:buChar char="➢"/>
              <a:tabLst>
                <a:tab pos="974090" algn="l"/>
              </a:tabLst>
            </a:pP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которые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отсутствуют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словаре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у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нас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просто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будет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вектора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2529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Что</a:t>
            </a:r>
            <a:r>
              <a:rPr sz="4000" spc="-105" dirty="0">
                <a:latin typeface="Microsoft Sans Serif"/>
                <a:cs typeface="Microsoft Sans Serif"/>
              </a:rPr>
              <a:t> </a:t>
            </a:r>
            <a:r>
              <a:rPr sz="4000" spc="-30" dirty="0">
                <a:latin typeface="Microsoft Sans Serif"/>
                <a:cs typeface="Microsoft Sans Serif"/>
              </a:rPr>
              <a:t>еще</a:t>
            </a:r>
            <a:r>
              <a:rPr sz="4000" spc="-30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599" y="2304738"/>
            <a:ext cx="5920740" cy="135763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использовать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близкие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2A2A2A"/>
                </a:solidFill>
                <a:latin typeface="Microsoft Sans Serif"/>
                <a:cs typeface="Microsoft Sans Serif"/>
              </a:rPr>
              <a:t>к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2A2A2A"/>
                </a:solidFill>
                <a:latin typeface="Trebuchet MS"/>
                <a:cs typeface="Trebuchet MS"/>
              </a:rPr>
              <a:t>word2vec:</a:t>
            </a:r>
            <a:endParaRPr sz="1900">
              <a:latin typeface="Trebuchet MS"/>
              <a:cs typeface="Trebuchet MS"/>
            </a:endParaRPr>
          </a:p>
          <a:p>
            <a:pPr marL="939165" lvl="1" indent="-469265">
              <a:lnSpc>
                <a:spcPct val="100000"/>
              </a:lnSpc>
              <a:spcBef>
                <a:spcPts val="345"/>
              </a:spcBef>
              <a:buFont typeface="MS PGothic"/>
              <a:buChar char="➢"/>
              <a:tabLst>
                <a:tab pos="9391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Navec</a:t>
            </a:r>
            <a:endParaRPr sz="1900">
              <a:latin typeface="Trebuchet MS"/>
              <a:cs typeface="Trebuchet MS"/>
            </a:endParaRPr>
          </a:p>
          <a:p>
            <a:pPr marL="939165" lvl="1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9391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FastText</a:t>
            </a:r>
            <a:endParaRPr sz="1900">
              <a:latin typeface="Trebuchet MS"/>
              <a:cs typeface="Trebuchet MS"/>
            </a:endParaRPr>
          </a:p>
          <a:p>
            <a:pPr marL="939165" lvl="1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9391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Glove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0599" y="3636714"/>
            <a:ext cx="266700" cy="69151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900" spc="-50" dirty="0">
                <a:solidFill>
                  <a:srgbClr val="2A2A2A"/>
                </a:solidFill>
                <a:latin typeface="MS PGothic"/>
                <a:cs typeface="MS PGothic"/>
              </a:rPr>
              <a:t>❖</a:t>
            </a:r>
            <a:endParaRPr sz="190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50" dirty="0">
                <a:solidFill>
                  <a:srgbClr val="2A2A2A"/>
                </a:solidFill>
                <a:latin typeface="MS PGothic"/>
                <a:cs typeface="MS PGothic"/>
              </a:rPr>
              <a:t>❖</a:t>
            </a:r>
            <a:endParaRPr sz="1900">
              <a:latin typeface="MS PGothic"/>
              <a:cs typeface="MS P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0450" y="3636714"/>
            <a:ext cx="3992245" cy="69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900" spc="80" dirty="0">
                <a:solidFill>
                  <a:srgbClr val="2A2A2A"/>
                </a:solidFill>
                <a:latin typeface="Trebuchet MS"/>
                <a:cs typeface="Trebuchet MS"/>
              </a:rPr>
              <a:t>RNN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Trebuchet MS"/>
                <a:cs typeface="Trebuchet MS"/>
              </a:rPr>
              <a:t>LSTM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95" dirty="0">
                <a:solidFill>
                  <a:srgbClr val="2A2A2A"/>
                </a:solidFill>
                <a:latin typeface="Trebuchet MS"/>
                <a:cs typeface="Trebuchet MS"/>
              </a:rPr>
              <a:t>: </a:t>
            </a:r>
            <a:r>
              <a:rPr sz="1900" dirty="0">
                <a:solidFill>
                  <a:srgbClr val="2A2A2A"/>
                </a:solidFill>
                <a:latin typeface="Trebuchet MS"/>
                <a:cs typeface="Trebuchet MS"/>
              </a:rPr>
              <a:t>ELMo</a:t>
            </a:r>
            <a:r>
              <a:rPr sz="1900" spc="-10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65" dirty="0">
                <a:solidFill>
                  <a:srgbClr val="2A2A2A"/>
                </a:solidFill>
                <a:latin typeface="Trebuchet MS"/>
                <a:cs typeface="Trebuchet MS"/>
              </a:rPr>
              <a:t>and</a:t>
            </a:r>
            <a:r>
              <a:rPr sz="1900" spc="-9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Trebuchet MS"/>
                <a:cs typeface="Trebuchet MS"/>
              </a:rPr>
              <a:t>others 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Transformers</a:t>
            </a:r>
            <a:r>
              <a:rPr sz="1900" spc="-8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: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7799" y="4302703"/>
            <a:ext cx="3483610" cy="10248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0"/>
              </a:spcBef>
              <a:buFont typeface="MS PGothic"/>
              <a:buChar char="➢"/>
              <a:tabLst>
                <a:tab pos="481965" algn="l"/>
              </a:tabLst>
            </a:pP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BERT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0"/>
              </a:spcBef>
              <a:buFont typeface="MS PGothic"/>
              <a:buChar char="➢"/>
              <a:tabLst>
                <a:tab pos="481965" algn="l"/>
              </a:tabLst>
            </a:pPr>
            <a:r>
              <a:rPr sz="1900" spc="-65" dirty="0">
                <a:solidFill>
                  <a:srgbClr val="2A2A2A"/>
                </a:solidFill>
                <a:latin typeface="Trebuchet MS"/>
                <a:cs typeface="Trebuchet MS"/>
              </a:rPr>
              <a:t>RoBERTa,</a:t>
            </a:r>
            <a:r>
              <a:rPr sz="1900" spc="-10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A2A2A"/>
                </a:solidFill>
                <a:latin typeface="Trebuchet MS"/>
                <a:cs typeface="Trebuchet MS"/>
              </a:rPr>
              <a:t>ALBERT,</a:t>
            </a:r>
            <a:r>
              <a:rPr sz="1900" spc="-10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Trebuchet MS"/>
                <a:cs typeface="Trebuchet MS"/>
              </a:rPr>
              <a:t>DistilBERT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➢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ELECTRA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10541000" cy="286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Verdana"/>
                <a:cs typeface="Verdana"/>
              </a:rPr>
              <a:t>GloVe</a:t>
            </a:r>
            <a:endParaRPr sz="4000">
              <a:latin typeface="Verdana"/>
              <a:cs typeface="Verdana"/>
            </a:endParaRPr>
          </a:p>
          <a:p>
            <a:pPr marL="517525" marR="5080" indent="-469900">
              <a:lnSpc>
                <a:spcPct val="114999"/>
              </a:lnSpc>
              <a:spcBef>
                <a:spcPts val="1810"/>
              </a:spcBef>
              <a:buFont typeface="MS PGothic"/>
              <a:buChar char="❖"/>
              <a:tabLst>
                <a:tab pos="517525" algn="l"/>
              </a:tabLst>
            </a:pP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Минимизируем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разницу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между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произведением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векторов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логарифмом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вероятности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их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совместного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появления</a:t>
            </a:r>
            <a:endParaRPr sz="1900">
              <a:latin typeface="Microsoft Sans Serif"/>
              <a:cs typeface="Microsoft Sans Serif"/>
            </a:endParaRPr>
          </a:p>
          <a:p>
            <a:pPr marL="516890" indent="-469265">
              <a:lnSpc>
                <a:spcPct val="100000"/>
              </a:lnSpc>
              <a:spcBef>
                <a:spcPts val="340"/>
              </a:spcBef>
              <a:buFont typeface="MS PGothic"/>
              <a:buChar char="❖"/>
              <a:tabLst>
                <a:tab pos="516890" algn="l"/>
              </a:tabLst>
            </a:pP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Учитываем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частоту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совместной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встречаемости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напрямую</a:t>
            </a:r>
            <a:endParaRPr sz="1900">
              <a:latin typeface="Microsoft Sans Serif"/>
              <a:cs typeface="Microsoft Sans Serif"/>
            </a:endParaRPr>
          </a:p>
          <a:p>
            <a:pPr marL="517525" marR="375920" indent="-469900">
              <a:lnSpc>
                <a:spcPct val="114999"/>
              </a:lnSpc>
              <a:buFont typeface="MS PGothic"/>
              <a:buChar char="❖"/>
              <a:tabLst>
                <a:tab pos="51752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нейросеть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90" dirty="0">
                <a:solidFill>
                  <a:srgbClr val="2A2A2A"/>
                </a:solidFill>
                <a:latin typeface="Trebuchet MS"/>
                <a:cs typeface="Trebuchet MS"/>
              </a:rPr>
              <a:t>(!),</a:t>
            </a:r>
            <a:r>
              <a:rPr sz="1900" spc="-13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оптимизируется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похожими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методами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стохастический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градиентный спуск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  <a:p>
            <a:pPr marL="516890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516890" algn="l"/>
              </a:tabLst>
            </a:pP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Обгоняет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word2vec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многих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бенчмарках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меньше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A2A2A"/>
                </a:solidFill>
                <a:latin typeface="Trebuchet MS"/>
                <a:cs typeface="Trebuchet MS"/>
              </a:rPr>
              <a:t>open</a:t>
            </a: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Trebuchet MS"/>
                <a:cs typeface="Trebuchet MS"/>
              </a:rPr>
              <a:t>source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моделей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0" y="4404775"/>
            <a:ext cx="6667499" cy="14096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15976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Verdana"/>
                <a:cs typeface="Verdana"/>
              </a:rPr>
              <a:t>Navec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599" y="2304738"/>
            <a:ext cx="9215755" cy="169037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10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основе</a:t>
            </a:r>
            <a:r>
              <a:rPr sz="1900" spc="-10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GloVe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Значительно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меньше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занимаемой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памяти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чем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word2vec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от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RusVectores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нужны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части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речи</a:t>
            </a:r>
            <a:endParaRPr sz="1900">
              <a:latin typeface="Microsoft Sans Serif"/>
              <a:cs typeface="Microsoft Sans Serif"/>
            </a:endParaRPr>
          </a:p>
          <a:p>
            <a:pPr marL="481965" indent="-469265">
              <a:lnSpc>
                <a:spcPct val="100000"/>
              </a:lnSpc>
              <a:spcBef>
                <a:spcPts val="3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опыту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знает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больше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из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современного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лексикона</a:t>
            </a:r>
            <a:endParaRPr sz="1900">
              <a:latin typeface="Microsoft Sans Serif"/>
              <a:cs typeface="Microsoft Sans Serif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Вот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тут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можно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почитать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:</a:t>
            </a:r>
            <a:r>
              <a:rPr sz="1900" spc="-9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https://natasha.github.io/navec/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114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табличка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тоже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оттуда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67450" y="4269425"/>
            <a:ext cx="6657340" cy="1612900"/>
          </a:xfrm>
          <a:custGeom>
            <a:avLst/>
            <a:gdLst/>
            <a:ahLst/>
            <a:cxnLst/>
            <a:rect l="l" t="t" r="r" b="b"/>
            <a:pathLst>
              <a:path w="6657340" h="1612900">
                <a:moveTo>
                  <a:pt x="6657099" y="1612674"/>
                </a:moveTo>
                <a:lnTo>
                  <a:pt x="0" y="1612674"/>
                </a:lnTo>
                <a:lnTo>
                  <a:pt x="0" y="0"/>
                </a:lnTo>
                <a:lnTo>
                  <a:pt x="6657099" y="0"/>
                </a:lnTo>
                <a:lnTo>
                  <a:pt x="6657099" y="1612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762687" y="4264662"/>
          <a:ext cx="6655434" cy="161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Verdana"/>
                          <a:cs typeface="Verdana"/>
                        </a:rPr>
                        <a:t>Качество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Размер</a:t>
                      </a:r>
                      <a:r>
                        <a:rPr sz="1200" spc="-8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модели,</a:t>
                      </a:r>
                      <a:r>
                        <a:rPr sz="1200" spc="-8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МБ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Размер</a:t>
                      </a:r>
                      <a:r>
                        <a:rPr sz="1200" spc="-85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словаря,</a:t>
                      </a:r>
                      <a:r>
                        <a:rPr sz="1200" spc="-85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×10</a:t>
                      </a:r>
                      <a:r>
                        <a:rPr sz="900" spc="-2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R="939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Navec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0.719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50.6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RusVectores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0.638–0.726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220.6–290.7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212529"/>
                          </a:solidFill>
                          <a:latin typeface="Verdana"/>
                          <a:cs typeface="Verdana"/>
                        </a:rPr>
                        <a:t>189–249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1031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>
                <a:latin typeface="Verdana"/>
                <a:cs typeface="Verdana"/>
              </a:rPr>
              <a:t>FastText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599" y="2304738"/>
            <a:ext cx="10067925" cy="169037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Использует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все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задачи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word2vec: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CBOW,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Skipgram,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negative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sampling</a:t>
            </a:r>
            <a:endParaRPr sz="1900">
              <a:latin typeface="Trebuchet MS"/>
              <a:cs typeface="Trebuchet MS"/>
            </a:endParaRPr>
          </a:p>
          <a:p>
            <a:pPr marL="481965" marR="5080" indent="-469900">
              <a:lnSpc>
                <a:spcPct val="114999"/>
              </a:lnSpc>
              <a:buFont typeface="MS PGothic"/>
              <a:buChar char="❖"/>
              <a:tabLst>
                <a:tab pos="481965" algn="l"/>
              </a:tabLst>
            </a:pPr>
            <a:r>
              <a:rPr sz="1900" spc="-170" dirty="0">
                <a:solidFill>
                  <a:srgbClr val="2A2A2A"/>
                </a:solidFill>
                <a:latin typeface="Microsoft Sans Serif"/>
                <a:cs typeface="Microsoft Sans Serif"/>
              </a:rPr>
              <a:t>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word2vec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добавлена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символьных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n-</a:t>
            </a:r>
            <a:r>
              <a:rPr sz="1900" spc="-100" dirty="0">
                <a:solidFill>
                  <a:srgbClr val="2A2A2A"/>
                </a:solidFill>
                <a:latin typeface="Microsoft Sans Serif"/>
                <a:cs typeface="Microsoft Sans Serif"/>
              </a:rPr>
              <a:t>грамм</a:t>
            </a:r>
            <a:r>
              <a:rPr sz="1900" spc="-100" dirty="0">
                <a:solidFill>
                  <a:srgbClr val="2A2A2A"/>
                </a:solidFill>
                <a:latin typeface="Trebuchet MS"/>
                <a:cs typeface="Trebuchet MS"/>
              </a:rPr>
              <a:t>:</a:t>
            </a: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каждое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слово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несколько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цепочек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символов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заданной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длины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11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наложением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),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вектор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130" dirty="0">
                <a:solidFill>
                  <a:srgbClr val="2A2A2A"/>
                </a:solidFill>
                <a:latin typeface="Trebuchet MS"/>
                <a:cs typeface="Trebuchet MS"/>
              </a:rPr>
              <a:t>–</a:t>
            </a:r>
            <a:r>
              <a:rPr sz="1900" spc="-14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сумма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всех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его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n-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грамм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Умеет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работать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очень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редкими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незнакомыми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словами</a:t>
            </a:r>
            <a:endParaRPr sz="1900">
              <a:latin typeface="Microsoft Sans Serif"/>
              <a:cs typeface="Microsoft Sans Serif"/>
            </a:endParaRPr>
          </a:p>
          <a:p>
            <a:pPr marL="481965" indent="-469265">
              <a:lnSpc>
                <a:spcPct val="100000"/>
              </a:lnSpc>
              <a:spcBef>
                <a:spcPts val="3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Более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устойчив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2A2A2A"/>
                </a:solidFill>
                <a:latin typeface="Microsoft Sans Serif"/>
                <a:cs typeface="Microsoft Sans Serif"/>
              </a:rPr>
              <a:t>к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опечаткам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12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следствие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2A2A2A"/>
                </a:solidFill>
                <a:latin typeface="Microsoft Sans Serif"/>
                <a:cs typeface="Microsoft Sans Serif"/>
              </a:rPr>
              <a:t>к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предыдущему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5300" y="4369775"/>
            <a:ext cx="4933949" cy="19621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863455" cy="256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latin typeface="Microsoft Sans Serif"/>
                <a:cs typeface="Microsoft Sans Serif"/>
              </a:rPr>
              <a:t>Языковая</a:t>
            </a:r>
            <a:r>
              <a:rPr sz="4000" spc="-22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модель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4999"/>
              </a:lnSpc>
              <a:spcBef>
                <a:spcPts val="2615"/>
              </a:spcBef>
            </a:pP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Языковая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способная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оценить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вероятность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конкретной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конструкции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языке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12700" marR="1275080">
              <a:lnSpc>
                <a:spcPct val="114999"/>
              </a:lnSpc>
              <a:spcBef>
                <a:spcPts val="2100"/>
              </a:spcBef>
            </a:pP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Чаще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всего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означает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что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последовательности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она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может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выдать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вероятность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последнего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учетом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всех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предыдущих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53950" y="4109125"/>
            <a:ext cx="1539240" cy="1109980"/>
            <a:chOff x="2453950" y="4109125"/>
            <a:chExt cx="1539240" cy="1109980"/>
          </a:xfrm>
        </p:grpSpPr>
        <p:sp>
          <p:nvSpPr>
            <p:cNvPr id="9" name="object 9"/>
            <p:cNvSpPr/>
            <p:nvPr/>
          </p:nvSpPr>
          <p:spPr>
            <a:xfrm>
              <a:off x="2473000" y="4128175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1416898" y="503999"/>
                  </a:move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73000" y="4128175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0" y="84001"/>
                  </a:move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73000" y="4695862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1416898" y="503999"/>
                  </a:move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3000" y="4695862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0" y="84001"/>
                  </a:move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66543" y="4255587"/>
            <a:ext cx="514350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Вася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ходил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53950" y="5244524"/>
            <a:ext cx="1539240" cy="1109980"/>
            <a:chOff x="2453950" y="5244524"/>
            <a:chExt cx="1539240" cy="1109980"/>
          </a:xfrm>
        </p:grpSpPr>
        <p:sp>
          <p:nvSpPr>
            <p:cNvPr id="15" name="object 15"/>
            <p:cNvSpPr/>
            <p:nvPr/>
          </p:nvSpPr>
          <p:spPr>
            <a:xfrm>
              <a:off x="2473000" y="5263574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1416898" y="503999"/>
                  </a:move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3000" y="5263574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0" y="84001"/>
                  </a:move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3000" y="5831274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1416898" y="503999"/>
                  </a:move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3000" y="5831274"/>
              <a:ext cx="1501140" cy="504190"/>
            </a:xfrm>
            <a:custGeom>
              <a:avLst/>
              <a:gdLst/>
              <a:ahLst/>
              <a:cxnLst/>
              <a:rect l="l" t="t" r="r" b="b"/>
              <a:pathLst>
                <a:path w="1501139" h="504189">
                  <a:moveTo>
                    <a:pt x="0" y="84001"/>
                  </a:moveTo>
                  <a:lnTo>
                    <a:pt x="6601" y="51304"/>
                  </a:lnTo>
                  <a:lnTo>
                    <a:pt x="24603" y="24603"/>
                  </a:lnTo>
                  <a:lnTo>
                    <a:pt x="51304" y="6601"/>
                  </a:lnTo>
                  <a:lnTo>
                    <a:pt x="84001" y="0"/>
                  </a:lnTo>
                  <a:lnTo>
                    <a:pt x="1416898" y="0"/>
                  </a:lnTo>
                  <a:lnTo>
                    <a:pt x="1463502" y="14113"/>
                  </a:lnTo>
                  <a:lnTo>
                    <a:pt x="1494505" y="51855"/>
                  </a:lnTo>
                  <a:lnTo>
                    <a:pt x="1500899" y="84001"/>
                  </a:lnTo>
                  <a:lnTo>
                    <a:pt x="1500899" y="419998"/>
                  </a:lnTo>
                  <a:lnTo>
                    <a:pt x="1494298" y="452695"/>
                  </a:lnTo>
                  <a:lnTo>
                    <a:pt x="1476296" y="479396"/>
                  </a:lnTo>
                  <a:lnTo>
                    <a:pt x="1449595" y="497398"/>
                  </a:lnTo>
                  <a:lnTo>
                    <a:pt x="1416898" y="503999"/>
                  </a:lnTo>
                  <a:lnTo>
                    <a:pt x="84001" y="503999"/>
                  </a:lnTo>
                  <a:lnTo>
                    <a:pt x="51304" y="497398"/>
                  </a:lnTo>
                  <a:lnTo>
                    <a:pt x="24603" y="479396"/>
                  </a:lnTo>
                  <a:lnTo>
                    <a:pt x="6601" y="452695"/>
                  </a:lnTo>
                  <a:lnTo>
                    <a:pt x="0" y="419998"/>
                  </a:lnTo>
                  <a:lnTo>
                    <a:pt x="0" y="8400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23765" y="5390988"/>
            <a:ext cx="400050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icrosoft Sans Serif"/>
                <a:cs typeface="Microsoft Sans Serif"/>
              </a:rPr>
              <a:t>в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400" spc="-20" dirty="0">
                <a:latin typeface="Microsoft Sans Serif"/>
                <a:cs typeface="Microsoft Sans Serif"/>
              </a:rPr>
              <a:t>кино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17625" y="4722624"/>
            <a:ext cx="2470785" cy="902335"/>
            <a:chOff x="4617625" y="4722624"/>
            <a:chExt cx="2470785" cy="902335"/>
          </a:xfrm>
        </p:grpSpPr>
        <p:sp>
          <p:nvSpPr>
            <p:cNvPr id="21" name="object 21"/>
            <p:cNvSpPr/>
            <p:nvPr/>
          </p:nvSpPr>
          <p:spPr>
            <a:xfrm>
              <a:off x="4636675" y="4741674"/>
              <a:ext cx="2432685" cy="864235"/>
            </a:xfrm>
            <a:custGeom>
              <a:avLst/>
              <a:gdLst/>
              <a:ahLst/>
              <a:cxnLst/>
              <a:rect l="l" t="t" r="r" b="b"/>
              <a:pathLst>
                <a:path w="2432684" h="864235">
                  <a:moveTo>
                    <a:pt x="2288146" y="863699"/>
                  </a:moveTo>
                  <a:lnTo>
                    <a:pt x="143952" y="863699"/>
                  </a:lnTo>
                  <a:lnTo>
                    <a:pt x="98452" y="856361"/>
                  </a:lnTo>
                  <a:lnTo>
                    <a:pt x="58936" y="835925"/>
                  </a:lnTo>
                  <a:lnTo>
                    <a:pt x="27774" y="804763"/>
                  </a:lnTo>
                  <a:lnTo>
                    <a:pt x="7338" y="765247"/>
                  </a:lnTo>
                  <a:lnTo>
                    <a:pt x="0" y="719747"/>
                  </a:lnTo>
                  <a:lnTo>
                    <a:pt x="0" y="143952"/>
                  </a:lnTo>
                  <a:lnTo>
                    <a:pt x="7338" y="98452"/>
                  </a:lnTo>
                  <a:lnTo>
                    <a:pt x="27774" y="58936"/>
                  </a:lnTo>
                  <a:lnTo>
                    <a:pt x="58936" y="27774"/>
                  </a:lnTo>
                  <a:lnTo>
                    <a:pt x="98452" y="7338"/>
                  </a:lnTo>
                  <a:lnTo>
                    <a:pt x="143952" y="0"/>
                  </a:lnTo>
                  <a:lnTo>
                    <a:pt x="2288146" y="0"/>
                  </a:lnTo>
                  <a:lnTo>
                    <a:pt x="2343235" y="10957"/>
                  </a:lnTo>
                  <a:lnTo>
                    <a:pt x="2389937" y="42162"/>
                  </a:lnTo>
                  <a:lnTo>
                    <a:pt x="2421142" y="88864"/>
                  </a:lnTo>
                  <a:lnTo>
                    <a:pt x="2432099" y="143952"/>
                  </a:lnTo>
                  <a:lnTo>
                    <a:pt x="2432099" y="719747"/>
                  </a:lnTo>
                  <a:lnTo>
                    <a:pt x="2424761" y="765247"/>
                  </a:lnTo>
                  <a:lnTo>
                    <a:pt x="2404325" y="804763"/>
                  </a:lnTo>
                  <a:lnTo>
                    <a:pt x="2373163" y="835925"/>
                  </a:lnTo>
                  <a:lnTo>
                    <a:pt x="2333647" y="856361"/>
                  </a:lnTo>
                  <a:lnTo>
                    <a:pt x="2288146" y="86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36675" y="4741674"/>
              <a:ext cx="2432685" cy="864235"/>
            </a:xfrm>
            <a:custGeom>
              <a:avLst/>
              <a:gdLst/>
              <a:ahLst/>
              <a:cxnLst/>
              <a:rect l="l" t="t" r="r" b="b"/>
              <a:pathLst>
                <a:path w="2432684" h="864235">
                  <a:moveTo>
                    <a:pt x="0" y="143952"/>
                  </a:moveTo>
                  <a:lnTo>
                    <a:pt x="7338" y="98452"/>
                  </a:lnTo>
                  <a:lnTo>
                    <a:pt x="27774" y="58936"/>
                  </a:lnTo>
                  <a:lnTo>
                    <a:pt x="58936" y="27774"/>
                  </a:lnTo>
                  <a:lnTo>
                    <a:pt x="98452" y="7338"/>
                  </a:lnTo>
                  <a:lnTo>
                    <a:pt x="143952" y="0"/>
                  </a:lnTo>
                  <a:lnTo>
                    <a:pt x="2288146" y="0"/>
                  </a:lnTo>
                  <a:lnTo>
                    <a:pt x="2343235" y="10957"/>
                  </a:lnTo>
                  <a:lnTo>
                    <a:pt x="2389937" y="42162"/>
                  </a:lnTo>
                  <a:lnTo>
                    <a:pt x="2421142" y="88864"/>
                  </a:lnTo>
                  <a:lnTo>
                    <a:pt x="2432099" y="143952"/>
                  </a:lnTo>
                  <a:lnTo>
                    <a:pt x="2432099" y="719747"/>
                  </a:lnTo>
                  <a:lnTo>
                    <a:pt x="2424761" y="765247"/>
                  </a:lnTo>
                  <a:lnTo>
                    <a:pt x="2404325" y="804763"/>
                  </a:lnTo>
                  <a:lnTo>
                    <a:pt x="2373163" y="835925"/>
                  </a:lnTo>
                  <a:lnTo>
                    <a:pt x="2333647" y="856361"/>
                  </a:lnTo>
                  <a:lnTo>
                    <a:pt x="2288146" y="863699"/>
                  </a:lnTo>
                  <a:lnTo>
                    <a:pt x="143952" y="863699"/>
                  </a:lnTo>
                  <a:lnTo>
                    <a:pt x="98452" y="856361"/>
                  </a:lnTo>
                  <a:lnTo>
                    <a:pt x="58936" y="835925"/>
                  </a:lnTo>
                  <a:lnTo>
                    <a:pt x="27774" y="804763"/>
                  </a:lnTo>
                  <a:lnTo>
                    <a:pt x="7338" y="765247"/>
                  </a:lnTo>
                  <a:lnTo>
                    <a:pt x="0" y="719747"/>
                  </a:lnTo>
                  <a:lnTo>
                    <a:pt x="0" y="143952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78028" y="5048938"/>
            <a:ext cx="13500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Language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Model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12499" y="4946274"/>
            <a:ext cx="2470785" cy="454659"/>
            <a:chOff x="7712499" y="4946274"/>
            <a:chExt cx="2470785" cy="454659"/>
          </a:xfrm>
        </p:grpSpPr>
        <p:sp>
          <p:nvSpPr>
            <p:cNvPr id="25" name="object 25"/>
            <p:cNvSpPr/>
            <p:nvPr/>
          </p:nvSpPr>
          <p:spPr>
            <a:xfrm>
              <a:off x="7731549" y="4965324"/>
              <a:ext cx="2432685" cy="416559"/>
            </a:xfrm>
            <a:custGeom>
              <a:avLst/>
              <a:gdLst/>
              <a:ahLst/>
              <a:cxnLst/>
              <a:rect l="l" t="t" r="r" b="b"/>
              <a:pathLst>
                <a:path w="2432684" h="416560">
                  <a:moveTo>
                    <a:pt x="2362698" y="416399"/>
                  </a:moveTo>
                  <a:lnTo>
                    <a:pt x="69401" y="416399"/>
                  </a:lnTo>
                  <a:lnTo>
                    <a:pt x="42387" y="410946"/>
                  </a:lnTo>
                  <a:lnTo>
                    <a:pt x="20327" y="396072"/>
                  </a:lnTo>
                  <a:lnTo>
                    <a:pt x="5453" y="374012"/>
                  </a:lnTo>
                  <a:lnTo>
                    <a:pt x="0" y="346998"/>
                  </a:lnTo>
                  <a:lnTo>
                    <a:pt x="0" y="69401"/>
                  </a:lnTo>
                  <a:lnTo>
                    <a:pt x="5453" y="42387"/>
                  </a:lnTo>
                  <a:lnTo>
                    <a:pt x="20327" y="20327"/>
                  </a:lnTo>
                  <a:lnTo>
                    <a:pt x="42387" y="5453"/>
                  </a:lnTo>
                  <a:lnTo>
                    <a:pt x="69401" y="0"/>
                  </a:lnTo>
                  <a:lnTo>
                    <a:pt x="2362698" y="0"/>
                  </a:lnTo>
                  <a:lnTo>
                    <a:pt x="2401202" y="11660"/>
                  </a:lnTo>
                  <a:lnTo>
                    <a:pt x="2426817" y="42842"/>
                  </a:lnTo>
                  <a:lnTo>
                    <a:pt x="2432099" y="69401"/>
                  </a:lnTo>
                  <a:lnTo>
                    <a:pt x="2432099" y="346998"/>
                  </a:lnTo>
                  <a:lnTo>
                    <a:pt x="2426646" y="374012"/>
                  </a:lnTo>
                  <a:lnTo>
                    <a:pt x="2411772" y="396072"/>
                  </a:lnTo>
                  <a:lnTo>
                    <a:pt x="2389712" y="410946"/>
                  </a:lnTo>
                  <a:lnTo>
                    <a:pt x="2362698" y="416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31549" y="4965324"/>
              <a:ext cx="2432685" cy="416559"/>
            </a:xfrm>
            <a:custGeom>
              <a:avLst/>
              <a:gdLst/>
              <a:ahLst/>
              <a:cxnLst/>
              <a:rect l="l" t="t" r="r" b="b"/>
              <a:pathLst>
                <a:path w="2432684" h="416560">
                  <a:moveTo>
                    <a:pt x="0" y="69401"/>
                  </a:moveTo>
                  <a:lnTo>
                    <a:pt x="5453" y="42387"/>
                  </a:lnTo>
                  <a:lnTo>
                    <a:pt x="20327" y="20327"/>
                  </a:lnTo>
                  <a:lnTo>
                    <a:pt x="42387" y="5453"/>
                  </a:lnTo>
                  <a:lnTo>
                    <a:pt x="69401" y="0"/>
                  </a:lnTo>
                  <a:lnTo>
                    <a:pt x="2362698" y="0"/>
                  </a:lnTo>
                  <a:lnTo>
                    <a:pt x="2401202" y="11660"/>
                  </a:lnTo>
                  <a:lnTo>
                    <a:pt x="2426817" y="42842"/>
                  </a:lnTo>
                  <a:lnTo>
                    <a:pt x="2432099" y="69401"/>
                  </a:lnTo>
                  <a:lnTo>
                    <a:pt x="2432099" y="346998"/>
                  </a:lnTo>
                  <a:lnTo>
                    <a:pt x="2426646" y="374012"/>
                  </a:lnTo>
                  <a:lnTo>
                    <a:pt x="2411772" y="396072"/>
                  </a:lnTo>
                  <a:lnTo>
                    <a:pt x="2389712" y="410946"/>
                  </a:lnTo>
                  <a:lnTo>
                    <a:pt x="2362698" y="416399"/>
                  </a:lnTo>
                  <a:lnTo>
                    <a:pt x="69401" y="416399"/>
                  </a:lnTo>
                  <a:lnTo>
                    <a:pt x="42387" y="410946"/>
                  </a:lnTo>
                  <a:lnTo>
                    <a:pt x="20327" y="396072"/>
                  </a:lnTo>
                  <a:lnTo>
                    <a:pt x="5453" y="374012"/>
                  </a:lnTo>
                  <a:lnTo>
                    <a:pt x="0" y="346998"/>
                  </a:lnTo>
                  <a:lnTo>
                    <a:pt x="0" y="6940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015030" y="5048938"/>
            <a:ext cx="18649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P(кино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|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Вася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ходил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в)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12137" y="4853275"/>
            <a:ext cx="186690" cy="752475"/>
          </a:xfrm>
          <a:custGeom>
            <a:avLst/>
            <a:gdLst/>
            <a:ahLst/>
            <a:cxnLst/>
            <a:rect l="l" t="t" r="r" b="b"/>
            <a:pathLst>
              <a:path w="186689" h="752475">
                <a:moveTo>
                  <a:pt x="45361" y="752099"/>
                </a:moveTo>
                <a:lnTo>
                  <a:pt x="45361" y="564074"/>
                </a:lnTo>
                <a:lnTo>
                  <a:pt x="0" y="564074"/>
                </a:lnTo>
                <a:lnTo>
                  <a:pt x="0" y="188024"/>
                </a:lnTo>
                <a:lnTo>
                  <a:pt x="45361" y="188024"/>
                </a:lnTo>
                <a:lnTo>
                  <a:pt x="45361" y="0"/>
                </a:lnTo>
                <a:lnTo>
                  <a:pt x="186299" y="376049"/>
                </a:lnTo>
                <a:lnTo>
                  <a:pt x="45361" y="752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12137" y="4853275"/>
            <a:ext cx="186690" cy="752475"/>
          </a:xfrm>
          <a:custGeom>
            <a:avLst/>
            <a:gdLst/>
            <a:ahLst/>
            <a:cxnLst/>
            <a:rect l="l" t="t" r="r" b="b"/>
            <a:pathLst>
              <a:path w="186689" h="752475">
                <a:moveTo>
                  <a:pt x="0" y="188024"/>
                </a:moveTo>
                <a:lnTo>
                  <a:pt x="45361" y="188024"/>
                </a:lnTo>
                <a:lnTo>
                  <a:pt x="45361" y="0"/>
                </a:lnTo>
                <a:lnTo>
                  <a:pt x="186299" y="376049"/>
                </a:lnTo>
                <a:lnTo>
                  <a:pt x="45361" y="752099"/>
                </a:lnTo>
                <a:lnTo>
                  <a:pt x="45361" y="564074"/>
                </a:lnTo>
                <a:lnTo>
                  <a:pt x="0" y="564074"/>
                </a:lnTo>
                <a:lnTo>
                  <a:pt x="0" y="188024"/>
                </a:lnTo>
                <a:close/>
              </a:path>
            </a:pathLst>
          </a:custGeom>
          <a:ln w="28574">
            <a:solidFill>
              <a:srgbClr val="0558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7292712" y="4783187"/>
            <a:ext cx="215265" cy="781050"/>
            <a:chOff x="7292712" y="4783187"/>
            <a:chExt cx="215265" cy="781050"/>
          </a:xfrm>
        </p:grpSpPr>
        <p:sp>
          <p:nvSpPr>
            <p:cNvPr id="31" name="object 31"/>
            <p:cNvSpPr/>
            <p:nvPr/>
          </p:nvSpPr>
          <p:spPr>
            <a:xfrm>
              <a:off x="7306999" y="4797474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90" h="752475">
                  <a:moveTo>
                    <a:pt x="45362" y="752099"/>
                  </a:moveTo>
                  <a:lnTo>
                    <a:pt x="45362" y="564074"/>
                  </a:lnTo>
                  <a:lnTo>
                    <a:pt x="0" y="564074"/>
                  </a:lnTo>
                  <a:lnTo>
                    <a:pt x="0" y="188024"/>
                  </a:lnTo>
                  <a:lnTo>
                    <a:pt x="45362" y="188024"/>
                  </a:lnTo>
                  <a:lnTo>
                    <a:pt x="45362" y="0"/>
                  </a:lnTo>
                  <a:lnTo>
                    <a:pt x="186299" y="376049"/>
                  </a:lnTo>
                  <a:lnTo>
                    <a:pt x="45362" y="75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6999" y="4797474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90" h="752475">
                  <a:moveTo>
                    <a:pt x="0" y="188024"/>
                  </a:moveTo>
                  <a:lnTo>
                    <a:pt x="45362" y="188024"/>
                  </a:lnTo>
                  <a:lnTo>
                    <a:pt x="45362" y="0"/>
                  </a:lnTo>
                  <a:lnTo>
                    <a:pt x="186299" y="376049"/>
                  </a:lnTo>
                  <a:lnTo>
                    <a:pt x="45362" y="752099"/>
                  </a:lnTo>
                  <a:lnTo>
                    <a:pt x="45362" y="564074"/>
                  </a:lnTo>
                  <a:lnTo>
                    <a:pt x="0" y="564074"/>
                  </a:lnTo>
                  <a:lnTo>
                    <a:pt x="0" y="188024"/>
                  </a:lnTo>
                  <a:close/>
                </a:path>
              </a:pathLst>
            </a:custGeom>
            <a:ln w="28574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242425" cy="220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45" dirty="0">
                <a:latin typeface="Microsoft Sans Serif"/>
                <a:cs typeface="Microsoft Sans Serif"/>
              </a:rPr>
              <a:t>Языковое</a:t>
            </a:r>
            <a:r>
              <a:rPr sz="4000" spc="-19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моделирование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207100"/>
              </a:lnSpc>
              <a:spcBef>
                <a:spcPts val="325"/>
              </a:spcBef>
            </a:pP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учат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выдавать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наибольшую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вероятность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последующего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слова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Требует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много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времени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данных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имеет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только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половину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контекста</a:t>
            </a: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110" dirty="0">
                <a:solidFill>
                  <a:srgbClr val="2A2A2A"/>
                </a:solidFill>
                <a:latin typeface="Microsoft Sans Serif"/>
                <a:cs typeface="Microsoft Sans Serif"/>
              </a:rPr>
              <a:t>левую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),</a:t>
            </a:r>
            <a:r>
              <a:rPr sz="1900" spc="-114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является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единственным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вариантом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генеративных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моделей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18925" y="4801749"/>
            <a:ext cx="1736725" cy="520700"/>
            <a:chOff x="1218925" y="4801749"/>
            <a:chExt cx="1736725" cy="520700"/>
          </a:xfrm>
        </p:grpSpPr>
        <p:sp>
          <p:nvSpPr>
            <p:cNvPr id="9" name="object 9"/>
            <p:cNvSpPr/>
            <p:nvPr/>
          </p:nvSpPr>
          <p:spPr>
            <a:xfrm>
              <a:off x="1237975" y="4820799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16176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7975" y="4820799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32280" y="4937263"/>
            <a:ext cx="1109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Вася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ходил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в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0975" y="5593150"/>
            <a:ext cx="1736725" cy="520700"/>
            <a:chOff x="6060975" y="5593150"/>
            <a:chExt cx="1736725" cy="520700"/>
          </a:xfrm>
        </p:grpSpPr>
        <p:sp>
          <p:nvSpPr>
            <p:cNvPr id="13" name="object 13"/>
            <p:cNvSpPr/>
            <p:nvPr/>
          </p:nvSpPr>
          <p:spPr>
            <a:xfrm>
              <a:off x="6080025" y="56122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16176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80025" y="56122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48952" y="5728663"/>
            <a:ext cx="9601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Microsoft Sans Serif"/>
                <a:cs typeface="Microsoft Sans Serif"/>
              </a:rPr>
              <a:t>зоомагазин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60975" y="5065550"/>
            <a:ext cx="1736725" cy="520700"/>
            <a:chOff x="6060975" y="5065550"/>
            <a:chExt cx="1736725" cy="520700"/>
          </a:xfrm>
        </p:grpSpPr>
        <p:sp>
          <p:nvSpPr>
            <p:cNvPr id="17" name="object 17"/>
            <p:cNvSpPr/>
            <p:nvPr/>
          </p:nvSpPr>
          <p:spPr>
            <a:xfrm>
              <a:off x="6080025" y="50846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16176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0025" y="50846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65521" y="5201063"/>
            <a:ext cx="52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60975" y="4537950"/>
            <a:ext cx="1736725" cy="520700"/>
            <a:chOff x="6060975" y="4537950"/>
            <a:chExt cx="1736725" cy="520700"/>
          </a:xfrm>
        </p:grpSpPr>
        <p:sp>
          <p:nvSpPr>
            <p:cNvPr id="21" name="object 21"/>
            <p:cNvSpPr/>
            <p:nvPr/>
          </p:nvSpPr>
          <p:spPr>
            <a:xfrm>
              <a:off x="6080025" y="45570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16176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80025" y="45570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77065" y="4673463"/>
            <a:ext cx="504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поход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60975" y="4010350"/>
            <a:ext cx="1736725" cy="520700"/>
            <a:chOff x="6060975" y="4010350"/>
            <a:chExt cx="1736725" cy="520700"/>
          </a:xfrm>
        </p:grpSpPr>
        <p:sp>
          <p:nvSpPr>
            <p:cNvPr id="25" name="object 25"/>
            <p:cNvSpPr/>
            <p:nvPr/>
          </p:nvSpPr>
          <p:spPr>
            <a:xfrm>
              <a:off x="6080025" y="40294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16176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80025" y="4029400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729340" y="4145863"/>
            <a:ext cx="400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кино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14924" y="4010350"/>
            <a:ext cx="892810" cy="520700"/>
            <a:chOff x="8014924" y="4010350"/>
            <a:chExt cx="892810" cy="520700"/>
          </a:xfrm>
        </p:grpSpPr>
        <p:sp>
          <p:nvSpPr>
            <p:cNvPr id="29" name="object 29"/>
            <p:cNvSpPr/>
            <p:nvPr/>
          </p:nvSpPr>
          <p:spPr>
            <a:xfrm>
              <a:off x="8033974" y="4029400"/>
              <a:ext cx="854710" cy="482600"/>
            </a:xfrm>
            <a:custGeom>
              <a:avLst/>
              <a:gdLst/>
              <a:ahLst/>
              <a:cxnLst/>
              <a:rect l="l" t="t" r="r" b="b"/>
              <a:pathLst>
                <a:path w="854709" h="482600">
                  <a:moveTo>
                    <a:pt x="7740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774048" y="0"/>
                  </a:lnTo>
                  <a:lnTo>
                    <a:pt x="818627" y="13499"/>
                  </a:lnTo>
                  <a:lnTo>
                    <a:pt x="848283" y="49602"/>
                  </a:lnTo>
                  <a:lnTo>
                    <a:pt x="854399" y="80351"/>
                  </a:lnTo>
                  <a:lnTo>
                    <a:pt x="854399" y="401748"/>
                  </a:lnTo>
                  <a:lnTo>
                    <a:pt x="848085" y="433024"/>
                  </a:lnTo>
                  <a:lnTo>
                    <a:pt x="830865" y="458565"/>
                  </a:lnTo>
                  <a:lnTo>
                    <a:pt x="805324" y="475785"/>
                  </a:lnTo>
                  <a:lnTo>
                    <a:pt x="7740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33974" y="4029400"/>
              <a:ext cx="854710" cy="482600"/>
            </a:xfrm>
            <a:custGeom>
              <a:avLst/>
              <a:gdLst/>
              <a:ahLst/>
              <a:cxnLst/>
              <a:rect l="l" t="t" r="r" b="b"/>
              <a:pathLst>
                <a:path w="854709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774048" y="0"/>
                  </a:lnTo>
                  <a:lnTo>
                    <a:pt x="818627" y="13499"/>
                  </a:lnTo>
                  <a:lnTo>
                    <a:pt x="848283" y="49602"/>
                  </a:lnTo>
                  <a:lnTo>
                    <a:pt x="854399" y="80351"/>
                  </a:lnTo>
                  <a:lnTo>
                    <a:pt x="854399" y="401748"/>
                  </a:lnTo>
                  <a:lnTo>
                    <a:pt x="848085" y="433024"/>
                  </a:lnTo>
                  <a:lnTo>
                    <a:pt x="830865" y="458565"/>
                  </a:lnTo>
                  <a:lnTo>
                    <a:pt x="805324" y="475785"/>
                  </a:lnTo>
                  <a:lnTo>
                    <a:pt x="7740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275546" y="4145863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0.68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033974" y="4557000"/>
            <a:ext cx="854710" cy="482600"/>
          </a:xfrm>
          <a:custGeom>
            <a:avLst/>
            <a:gdLst/>
            <a:ahLst/>
            <a:cxnLst/>
            <a:rect l="l" t="t" r="r" b="b"/>
            <a:pathLst>
              <a:path w="854709" h="482600">
                <a:moveTo>
                  <a:pt x="774048" y="482099"/>
                </a:moveTo>
                <a:lnTo>
                  <a:pt x="80351" y="482099"/>
                </a:lnTo>
                <a:lnTo>
                  <a:pt x="49075" y="475785"/>
                </a:lnTo>
                <a:lnTo>
                  <a:pt x="23534" y="458565"/>
                </a:lnTo>
                <a:lnTo>
                  <a:pt x="6314" y="433024"/>
                </a:lnTo>
                <a:lnTo>
                  <a:pt x="0" y="401748"/>
                </a:lnTo>
                <a:lnTo>
                  <a:pt x="0" y="80351"/>
                </a:lnTo>
                <a:lnTo>
                  <a:pt x="6314" y="49075"/>
                </a:lnTo>
                <a:lnTo>
                  <a:pt x="23534" y="23534"/>
                </a:lnTo>
                <a:lnTo>
                  <a:pt x="49075" y="6314"/>
                </a:lnTo>
                <a:lnTo>
                  <a:pt x="80351" y="0"/>
                </a:lnTo>
                <a:lnTo>
                  <a:pt x="774048" y="0"/>
                </a:lnTo>
                <a:lnTo>
                  <a:pt x="818627" y="13499"/>
                </a:lnTo>
                <a:lnTo>
                  <a:pt x="848283" y="49602"/>
                </a:lnTo>
                <a:lnTo>
                  <a:pt x="854399" y="80351"/>
                </a:lnTo>
                <a:lnTo>
                  <a:pt x="854399" y="401748"/>
                </a:lnTo>
                <a:lnTo>
                  <a:pt x="848085" y="433024"/>
                </a:lnTo>
                <a:lnTo>
                  <a:pt x="830865" y="458565"/>
                </a:lnTo>
                <a:lnTo>
                  <a:pt x="805324" y="475785"/>
                </a:lnTo>
                <a:lnTo>
                  <a:pt x="774048" y="482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33974" y="4557000"/>
            <a:ext cx="854710" cy="482600"/>
          </a:xfrm>
          <a:custGeom>
            <a:avLst/>
            <a:gdLst/>
            <a:ahLst/>
            <a:cxnLst/>
            <a:rect l="l" t="t" r="r" b="b"/>
            <a:pathLst>
              <a:path w="854709" h="482600">
                <a:moveTo>
                  <a:pt x="0" y="80351"/>
                </a:moveTo>
                <a:lnTo>
                  <a:pt x="6314" y="49075"/>
                </a:lnTo>
                <a:lnTo>
                  <a:pt x="23534" y="23534"/>
                </a:lnTo>
                <a:lnTo>
                  <a:pt x="49075" y="6314"/>
                </a:lnTo>
                <a:lnTo>
                  <a:pt x="80351" y="0"/>
                </a:lnTo>
                <a:lnTo>
                  <a:pt x="774048" y="0"/>
                </a:lnTo>
                <a:lnTo>
                  <a:pt x="818627" y="13499"/>
                </a:lnTo>
                <a:lnTo>
                  <a:pt x="848283" y="49602"/>
                </a:lnTo>
                <a:lnTo>
                  <a:pt x="854399" y="80351"/>
                </a:lnTo>
                <a:lnTo>
                  <a:pt x="854399" y="401748"/>
                </a:lnTo>
                <a:lnTo>
                  <a:pt x="848085" y="433024"/>
                </a:lnTo>
                <a:lnTo>
                  <a:pt x="830865" y="458565"/>
                </a:lnTo>
                <a:lnTo>
                  <a:pt x="805324" y="475785"/>
                </a:lnTo>
                <a:lnTo>
                  <a:pt x="774048" y="482099"/>
                </a:lnTo>
                <a:lnTo>
                  <a:pt x="80351" y="482099"/>
                </a:lnTo>
                <a:lnTo>
                  <a:pt x="49075" y="475785"/>
                </a:lnTo>
                <a:lnTo>
                  <a:pt x="23534" y="458565"/>
                </a:lnTo>
                <a:lnTo>
                  <a:pt x="6314" y="433024"/>
                </a:lnTo>
                <a:lnTo>
                  <a:pt x="0" y="401748"/>
                </a:lnTo>
                <a:lnTo>
                  <a:pt x="0" y="80351"/>
                </a:lnTo>
                <a:close/>
              </a:path>
            </a:pathLst>
          </a:custGeom>
          <a:ln w="38099">
            <a:solidFill>
              <a:srgbClr val="0558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275546" y="4673463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0.65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14924" y="5065550"/>
            <a:ext cx="892810" cy="520700"/>
            <a:chOff x="8014924" y="5065550"/>
            <a:chExt cx="892810" cy="520700"/>
          </a:xfrm>
        </p:grpSpPr>
        <p:sp>
          <p:nvSpPr>
            <p:cNvPr id="36" name="object 36"/>
            <p:cNvSpPr/>
            <p:nvPr/>
          </p:nvSpPr>
          <p:spPr>
            <a:xfrm>
              <a:off x="8033974" y="5084600"/>
              <a:ext cx="854710" cy="482600"/>
            </a:xfrm>
            <a:custGeom>
              <a:avLst/>
              <a:gdLst/>
              <a:ahLst/>
              <a:cxnLst/>
              <a:rect l="l" t="t" r="r" b="b"/>
              <a:pathLst>
                <a:path w="854709" h="482600">
                  <a:moveTo>
                    <a:pt x="7740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774048" y="0"/>
                  </a:lnTo>
                  <a:lnTo>
                    <a:pt x="818627" y="13499"/>
                  </a:lnTo>
                  <a:lnTo>
                    <a:pt x="848283" y="49602"/>
                  </a:lnTo>
                  <a:lnTo>
                    <a:pt x="854399" y="80351"/>
                  </a:lnTo>
                  <a:lnTo>
                    <a:pt x="854399" y="401748"/>
                  </a:lnTo>
                  <a:lnTo>
                    <a:pt x="848085" y="433024"/>
                  </a:lnTo>
                  <a:lnTo>
                    <a:pt x="830865" y="458565"/>
                  </a:lnTo>
                  <a:lnTo>
                    <a:pt x="805324" y="475785"/>
                  </a:lnTo>
                  <a:lnTo>
                    <a:pt x="7740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33974" y="5084600"/>
              <a:ext cx="854710" cy="482600"/>
            </a:xfrm>
            <a:custGeom>
              <a:avLst/>
              <a:gdLst/>
              <a:ahLst/>
              <a:cxnLst/>
              <a:rect l="l" t="t" r="r" b="b"/>
              <a:pathLst>
                <a:path w="854709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774048" y="0"/>
                  </a:lnTo>
                  <a:lnTo>
                    <a:pt x="818627" y="13499"/>
                  </a:lnTo>
                  <a:lnTo>
                    <a:pt x="848283" y="49602"/>
                  </a:lnTo>
                  <a:lnTo>
                    <a:pt x="854399" y="80351"/>
                  </a:lnTo>
                  <a:lnTo>
                    <a:pt x="854399" y="401748"/>
                  </a:lnTo>
                  <a:lnTo>
                    <a:pt x="848085" y="433024"/>
                  </a:lnTo>
                  <a:lnTo>
                    <a:pt x="830865" y="458565"/>
                  </a:lnTo>
                  <a:lnTo>
                    <a:pt x="805324" y="475785"/>
                  </a:lnTo>
                  <a:lnTo>
                    <a:pt x="7740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75546" y="5201063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0.00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14924" y="5593150"/>
            <a:ext cx="892810" cy="520700"/>
            <a:chOff x="8014924" y="5593150"/>
            <a:chExt cx="892810" cy="520700"/>
          </a:xfrm>
        </p:grpSpPr>
        <p:sp>
          <p:nvSpPr>
            <p:cNvPr id="40" name="object 40"/>
            <p:cNvSpPr/>
            <p:nvPr/>
          </p:nvSpPr>
          <p:spPr>
            <a:xfrm>
              <a:off x="8033974" y="5612200"/>
              <a:ext cx="854710" cy="482600"/>
            </a:xfrm>
            <a:custGeom>
              <a:avLst/>
              <a:gdLst/>
              <a:ahLst/>
              <a:cxnLst/>
              <a:rect l="l" t="t" r="r" b="b"/>
              <a:pathLst>
                <a:path w="854709" h="482600">
                  <a:moveTo>
                    <a:pt x="7740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774048" y="0"/>
                  </a:lnTo>
                  <a:lnTo>
                    <a:pt x="818627" y="13499"/>
                  </a:lnTo>
                  <a:lnTo>
                    <a:pt x="848283" y="49602"/>
                  </a:lnTo>
                  <a:lnTo>
                    <a:pt x="854399" y="80351"/>
                  </a:lnTo>
                  <a:lnTo>
                    <a:pt x="854399" y="401748"/>
                  </a:lnTo>
                  <a:lnTo>
                    <a:pt x="848085" y="433024"/>
                  </a:lnTo>
                  <a:lnTo>
                    <a:pt x="830865" y="458565"/>
                  </a:lnTo>
                  <a:lnTo>
                    <a:pt x="805324" y="475785"/>
                  </a:lnTo>
                  <a:lnTo>
                    <a:pt x="7740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33974" y="5612200"/>
              <a:ext cx="854710" cy="482600"/>
            </a:xfrm>
            <a:custGeom>
              <a:avLst/>
              <a:gdLst/>
              <a:ahLst/>
              <a:cxnLst/>
              <a:rect l="l" t="t" r="r" b="b"/>
              <a:pathLst>
                <a:path w="854709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774048" y="0"/>
                  </a:lnTo>
                  <a:lnTo>
                    <a:pt x="818627" y="13499"/>
                  </a:lnTo>
                  <a:lnTo>
                    <a:pt x="848283" y="49602"/>
                  </a:lnTo>
                  <a:lnTo>
                    <a:pt x="854399" y="80351"/>
                  </a:lnTo>
                  <a:lnTo>
                    <a:pt x="854399" y="401748"/>
                  </a:lnTo>
                  <a:lnTo>
                    <a:pt x="848085" y="433024"/>
                  </a:lnTo>
                  <a:lnTo>
                    <a:pt x="830865" y="458565"/>
                  </a:lnTo>
                  <a:lnTo>
                    <a:pt x="805324" y="475785"/>
                  </a:lnTo>
                  <a:lnTo>
                    <a:pt x="7740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275546" y="5728663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0.45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239224" y="4610949"/>
            <a:ext cx="2470785" cy="902335"/>
            <a:chOff x="3239224" y="4610949"/>
            <a:chExt cx="2470785" cy="902335"/>
          </a:xfrm>
        </p:grpSpPr>
        <p:sp>
          <p:nvSpPr>
            <p:cNvPr id="44" name="object 44"/>
            <p:cNvSpPr/>
            <p:nvPr/>
          </p:nvSpPr>
          <p:spPr>
            <a:xfrm>
              <a:off x="3258274" y="4629999"/>
              <a:ext cx="2432685" cy="864235"/>
            </a:xfrm>
            <a:custGeom>
              <a:avLst/>
              <a:gdLst/>
              <a:ahLst/>
              <a:cxnLst/>
              <a:rect l="l" t="t" r="r" b="b"/>
              <a:pathLst>
                <a:path w="2432685" h="864235">
                  <a:moveTo>
                    <a:pt x="2288147" y="863699"/>
                  </a:moveTo>
                  <a:lnTo>
                    <a:pt x="143952" y="863699"/>
                  </a:lnTo>
                  <a:lnTo>
                    <a:pt x="98452" y="856361"/>
                  </a:lnTo>
                  <a:lnTo>
                    <a:pt x="58936" y="835925"/>
                  </a:lnTo>
                  <a:lnTo>
                    <a:pt x="27774" y="804763"/>
                  </a:lnTo>
                  <a:lnTo>
                    <a:pt x="7338" y="765247"/>
                  </a:lnTo>
                  <a:lnTo>
                    <a:pt x="0" y="719747"/>
                  </a:lnTo>
                  <a:lnTo>
                    <a:pt x="0" y="143952"/>
                  </a:lnTo>
                  <a:lnTo>
                    <a:pt x="7338" y="98452"/>
                  </a:lnTo>
                  <a:lnTo>
                    <a:pt x="27774" y="58936"/>
                  </a:lnTo>
                  <a:lnTo>
                    <a:pt x="58936" y="27774"/>
                  </a:lnTo>
                  <a:lnTo>
                    <a:pt x="98452" y="7338"/>
                  </a:lnTo>
                  <a:lnTo>
                    <a:pt x="143952" y="0"/>
                  </a:lnTo>
                  <a:lnTo>
                    <a:pt x="2288147" y="0"/>
                  </a:lnTo>
                  <a:lnTo>
                    <a:pt x="2343235" y="10957"/>
                  </a:lnTo>
                  <a:lnTo>
                    <a:pt x="2389936" y="42162"/>
                  </a:lnTo>
                  <a:lnTo>
                    <a:pt x="2421142" y="88864"/>
                  </a:lnTo>
                  <a:lnTo>
                    <a:pt x="2432099" y="143952"/>
                  </a:lnTo>
                  <a:lnTo>
                    <a:pt x="2432099" y="719747"/>
                  </a:lnTo>
                  <a:lnTo>
                    <a:pt x="2424761" y="765247"/>
                  </a:lnTo>
                  <a:lnTo>
                    <a:pt x="2404325" y="804763"/>
                  </a:lnTo>
                  <a:lnTo>
                    <a:pt x="2373163" y="835925"/>
                  </a:lnTo>
                  <a:lnTo>
                    <a:pt x="2333647" y="856361"/>
                  </a:lnTo>
                  <a:lnTo>
                    <a:pt x="2288147" y="86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58274" y="4629999"/>
              <a:ext cx="2432685" cy="864235"/>
            </a:xfrm>
            <a:custGeom>
              <a:avLst/>
              <a:gdLst/>
              <a:ahLst/>
              <a:cxnLst/>
              <a:rect l="l" t="t" r="r" b="b"/>
              <a:pathLst>
                <a:path w="2432685" h="864235">
                  <a:moveTo>
                    <a:pt x="0" y="143952"/>
                  </a:moveTo>
                  <a:lnTo>
                    <a:pt x="7338" y="98452"/>
                  </a:lnTo>
                  <a:lnTo>
                    <a:pt x="27774" y="58936"/>
                  </a:lnTo>
                  <a:lnTo>
                    <a:pt x="58936" y="27774"/>
                  </a:lnTo>
                  <a:lnTo>
                    <a:pt x="98452" y="7338"/>
                  </a:lnTo>
                  <a:lnTo>
                    <a:pt x="143952" y="0"/>
                  </a:lnTo>
                  <a:lnTo>
                    <a:pt x="2288147" y="0"/>
                  </a:lnTo>
                  <a:lnTo>
                    <a:pt x="2343235" y="10957"/>
                  </a:lnTo>
                  <a:lnTo>
                    <a:pt x="2389936" y="42162"/>
                  </a:lnTo>
                  <a:lnTo>
                    <a:pt x="2421142" y="88864"/>
                  </a:lnTo>
                  <a:lnTo>
                    <a:pt x="2432099" y="143952"/>
                  </a:lnTo>
                  <a:lnTo>
                    <a:pt x="2432099" y="719747"/>
                  </a:lnTo>
                  <a:lnTo>
                    <a:pt x="2424761" y="765247"/>
                  </a:lnTo>
                  <a:lnTo>
                    <a:pt x="2404325" y="804763"/>
                  </a:lnTo>
                  <a:lnTo>
                    <a:pt x="2373163" y="835925"/>
                  </a:lnTo>
                  <a:lnTo>
                    <a:pt x="2333647" y="856361"/>
                  </a:lnTo>
                  <a:lnTo>
                    <a:pt x="2288147" y="863699"/>
                  </a:lnTo>
                  <a:lnTo>
                    <a:pt x="143952" y="863699"/>
                  </a:lnTo>
                  <a:lnTo>
                    <a:pt x="98452" y="856361"/>
                  </a:lnTo>
                  <a:lnTo>
                    <a:pt x="58936" y="835925"/>
                  </a:lnTo>
                  <a:lnTo>
                    <a:pt x="27774" y="804763"/>
                  </a:lnTo>
                  <a:lnTo>
                    <a:pt x="7338" y="765247"/>
                  </a:lnTo>
                  <a:lnTo>
                    <a:pt x="0" y="719747"/>
                  </a:lnTo>
                  <a:lnTo>
                    <a:pt x="0" y="143952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799628" y="4937263"/>
            <a:ext cx="13500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Language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Model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989675" y="4727312"/>
            <a:ext cx="215265" cy="781050"/>
            <a:chOff x="2989675" y="4727312"/>
            <a:chExt cx="215265" cy="781050"/>
          </a:xfrm>
        </p:grpSpPr>
        <p:sp>
          <p:nvSpPr>
            <p:cNvPr id="48" name="object 48"/>
            <p:cNvSpPr/>
            <p:nvPr/>
          </p:nvSpPr>
          <p:spPr>
            <a:xfrm>
              <a:off x="3003962" y="4741600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89" h="752475">
                  <a:moveTo>
                    <a:pt x="45362" y="752099"/>
                  </a:moveTo>
                  <a:lnTo>
                    <a:pt x="45362" y="564074"/>
                  </a:lnTo>
                  <a:lnTo>
                    <a:pt x="0" y="564074"/>
                  </a:lnTo>
                  <a:lnTo>
                    <a:pt x="0" y="188024"/>
                  </a:lnTo>
                  <a:lnTo>
                    <a:pt x="45362" y="188024"/>
                  </a:lnTo>
                  <a:lnTo>
                    <a:pt x="45362" y="0"/>
                  </a:lnTo>
                  <a:lnTo>
                    <a:pt x="186299" y="376049"/>
                  </a:lnTo>
                  <a:lnTo>
                    <a:pt x="45362" y="75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03962" y="4741600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89" h="752475">
                  <a:moveTo>
                    <a:pt x="0" y="188024"/>
                  </a:moveTo>
                  <a:lnTo>
                    <a:pt x="45362" y="188024"/>
                  </a:lnTo>
                  <a:lnTo>
                    <a:pt x="45362" y="0"/>
                  </a:lnTo>
                  <a:lnTo>
                    <a:pt x="186299" y="376049"/>
                  </a:lnTo>
                  <a:lnTo>
                    <a:pt x="45362" y="752099"/>
                  </a:lnTo>
                  <a:lnTo>
                    <a:pt x="45362" y="564074"/>
                  </a:lnTo>
                  <a:lnTo>
                    <a:pt x="0" y="564074"/>
                  </a:lnTo>
                  <a:lnTo>
                    <a:pt x="0" y="188024"/>
                  </a:lnTo>
                  <a:close/>
                </a:path>
              </a:pathLst>
            </a:custGeom>
            <a:ln w="28574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5777750" y="4671512"/>
            <a:ext cx="215265" cy="781050"/>
            <a:chOff x="5777750" y="4671512"/>
            <a:chExt cx="215265" cy="781050"/>
          </a:xfrm>
        </p:grpSpPr>
        <p:sp>
          <p:nvSpPr>
            <p:cNvPr id="51" name="object 51"/>
            <p:cNvSpPr/>
            <p:nvPr/>
          </p:nvSpPr>
          <p:spPr>
            <a:xfrm>
              <a:off x="5792037" y="4685800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89" h="752475">
                  <a:moveTo>
                    <a:pt x="45361" y="752099"/>
                  </a:moveTo>
                  <a:lnTo>
                    <a:pt x="45361" y="564074"/>
                  </a:lnTo>
                  <a:lnTo>
                    <a:pt x="0" y="564074"/>
                  </a:lnTo>
                  <a:lnTo>
                    <a:pt x="0" y="188024"/>
                  </a:lnTo>
                  <a:lnTo>
                    <a:pt x="45361" y="188024"/>
                  </a:lnTo>
                  <a:lnTo>
                    <a:pt x="45361" y="0"/>
                  </a:lnTo>
                  <a:lnTo>
                    <a:pt x="186299" y="376049"/>
                  </a:lnTo>
                  <a:lnTo>
                    <a:pt x="45361" y="75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792037" y="4685800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89" h="752475">
                  <a:moveTo>
                    <a:pt x="0" y="188024"/>
                  </a:moveTo>
                  <a:lnTo>
                    <a:pt x="45361" y="188024"/>
                  </a:lnTo>
                  <a:lnTo>
                    <a:pt x="45361" y="0"/>
                  </a:lnTo>
                  <a:lnTo>
                    <a:pt x="186299" y="376049"/>
                  </a:lnTo>
                  <a:lnTo>
                    <a:pt x="45361" y="752099"/>
                  </a:lnTo>
                  <a:lnTo>
                    <a:pt x="45361" y="564074"/>
                  </a:lnTo>
                  <a:lnTo>
                    <a:pt x="0" y="564074"/>
                  </a:lnTo>
                  <a:lnTo>
                    <a:pt x="0" y="188024"/>
                  </a:lnTo>
                  <a:close/>
                </a:path>
              </a:pathLst>
            </a:custGeom>
            <a:ln w="28574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8964749" y="4671512"/>
            <a:ext cx="215265" cy="781050"/>
            <a:chOff x="8964749" y="4671512"/>
            <a:chExt cx="215265" cy="781050"/>
          </a:xfrm>
        </p:grpSpPr>
        <p:sp>
          <p:nvSpPr>
            <p:cNvPr id="54" name="object 54"/>
            <p:cNvSpPr/>
            <p:nvPr/>
          </p:nvSpPr>
          <p:spPr>
            <a:xfrm>
              <a:off x="8979037" y="4685800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90" h="752475">
                  <a:moveTo>
                    <a:pt x="45362" y="752099"/>
                  </a:moveTo>
                  <a:lnTo>
                    <a:pt x="45362" y="564074"/>
                  </a:lnTo>
                  <a:lnTo>
                    <a:pt x="0" y="564074"/>
                  </a:lnTo>
                  <a:lnTo>
                    <a:pt x="0" y="188024"/>
                  </a:lnTo>
                  <a:lnTo>
                    <a:pt x="45362" y="188024"/>
                  </a:lnTo>
                  <a:lnTo>
                    <a:pt x="45362" y="0"/>
                  </a:lnTo>
                  <a:lnTo>
                    <a:pt x="186299" y="376049"/>
                  </a:lnTo>
                  <a:lnTo>
                    <a:pt x="45362" y="75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979037" y="4685800"/>
              <a:ext cx="186690" cy="752475"/>
            </a:xfrm>
            <a:custGeom>
              <a:avLst/>
              <a:gdLst/>
              <a:ahLst/>
              <a:cxnLst/>
              <a:rect l="l" t="t" r="r" b="b"/>
              <a:pathLst>
                <a:path w="186690" h="752475">
                  <a:moveTo>
                    <a:pt x="0" y="188024"/>
                  </a:moveTo>
                  <a:lnTo>
                    <a:pt x="45362" y="188024"/>
                  </a:lnTo>
                  <a:lnTo>
                    <a:pt x="45362" y="0"/>
                  </a:lnTo>
                  <a:lnTo>
                    <a:pt x="186299" y="376049"/>
                  </a:lnTo>
                  <a:lnTo>
                    <a:pt x="45362" y="752099"/>
                  </a:lnTo>
                  <a:lnTo>
                    <a:pt x="45362" y="564074"/>
                  </a:lnTo>
                  <a:lnTo>
                    <a:pt x="0" y="564074"/>
                  </a:lnTo>
                  <a:lnTo>
                    <a:pt x="0" y="188024"/>
                  </a:lnTo>
                  <a:close/>
                </a:path>
              </a:pathLst>
            </a:custGeom>
            <a:ln w="28574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9236974" y="4801749"/>
            <a:ext cx="1736725" cy="520700"/>
            <a:chOff x="9236974" y="4801749"/>
            <a:chExt cx="1736725" cy="520700"/>
          </a:xfrm>
        </p:grpSpPr>
        <p:sp>
          <p:nvSpPr>
            <p:cNvPr id="57" name="object 57"/>
            <p:cNvSpPr/>
            <p:nvPr/>
          </p:nvSpPr>
          <p:spPr>
            <a:xfrm>
              <a:off x="9256024" y="4820799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1617648" y="482099"/>
                  </a:move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256024" y="4820799"/>
              <a:ext cx="1698625" cy="482600"/>
            </a:xfrm>
            <a:custGeom>
              <a:avLst/>
              <a:gdLst/>
              <a:ahLst/>
              <a:cxnLst/>
              <a:rect l="l" t="t" r="r" b="b"/>
              <a:pathLst>
                <a:path w="1698625" h="482600">
                  <a:moveTo>
                    <a:pt x="0" y="80351"/>
                  </a:moveTo>
                  <a:lnTo>
                    <a:pt x="6314" y="49075"/>
                  </a:lnTo>
                  <a:lnTo>
                    <a:pt x="23534" y="23534"/>
                  </a:lnTo>
                  <a:lnTo>
                    <a:pt x="49075" y="6314"/>
                  </a:lnTo>
                  <a:lnTo>
                    <a:pt x="80351" y="0"/>
                  </a:lnTo>
                  <a:lnTo>
                    <a:pt x="1617648" y="0"/>
                  </a:lnTo>
                  <a:lnTo>
                    <a:pt x="1662227" y="13499"/>
                  </a:lnTo>
                  <a:lnTo>
                    <a:pt x="1691883" y="49602"/>
                  </a:lnTo>
                  <a:lnTo>
                    <a:pt x="1697999" y="80351"/>
                  </a:lnTo>
                  <a:lnTo>
                    <a:pt x="1697999" y="401748"/>
                  </a:lnTo>
                  <a:lnTo>
                    <a:pt x="1691685" y="433024"/>
                  </a:lnTo>
                  <a:lnTo>
                    <a:pt x="1674465" y="458565"/>
                  </a:lnTo>
                  <a:lnTo>
                    <a:pt x="1648924" y="475785"/>
                  </a:lnTo>
                  <a:lnTo>
                    <a:pt x="1617648" y="482099"/>
                  </a:lnTo>
                  <a:lnTo>
                    <a:pt x="80351" y="482099"/>
                  </a:lnTo>
                  <a:lnTo>
                    <a:pt x="49075" y="475785"/>
                  </a:lnTo>
                  <a:lnTo>
                    <a:pt x="23534" y="458565"/>
                  </a:lnTo>
                  <a:lnTo>
                    <a:pt x="6314" y="433024"/>
                  </a:lnTo>
                  <a:lnTo>
                    <a:pt x="0" y="401748"/>
                  </a:lnTo>
                  <a:lnTo>
                    <a:pt x="0" y="80351"/>
                  </a:lnTo>
                  <a:close/>
                </a:path>
              </a:pathLst>
            </a:custGeom>
            <a:ln w="38099">
              <a:solidFill>
                <a:srgbClr val="055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9905340" y="4937263"/>
            <a:ext cx="400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icrosoft Sans Serif"/>
                <a:cs typeface="Microsoft Sans Serif"/>
              </a:rPr>
              <a:t>кино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1775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14" dirty="0">
                <a:latin typeface="Verdana"/>
                <a:cs typeface="Verdana"/>
              </a:rPr>
              <a:t>RNN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Verdana"/>
                <a:cs typeface="Verdana"/>
              </a:rPr>
              <a:t>and</a:t>
            </a:r>
            <a:r>
              <a:rPr sz="4000" spc="-285" dirty="0">
                <a:latin typeface="Verdana"/>
                <a:cs typeface="Verdana"/>
              </a:rPr>
              <a:t> </a:t>
            </a:r>
            <a:r>
              <a:rPr sz="4000" spc="-25" dirty="0">
                <a:latin typeface="Verdana"/>
                <a:cs typeface="Verdana"/>
              </a:rPr>
              <a:t>etc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6649" y="2412464"/>
            <a:ext cx="8864600" cy="295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marR="554990" indent="-469900">
              <a:lnSpc>
                <a:spcPct val="114999"/>
              </a:lnSpc>
              <a:spcBef>
                <a:spcPts val="10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35" dirty="0">
                <a:solidFill>
                  <a:srgbClr val="2A2A2A"/>
                </a:solidFill>
                <a:latin typeface="Trebuchet MS"/>
                <a:cs typeface="Trebuchet MS"/>
              </a:rPr>
              <a:t>RNN:</a:t>
            </a:r>
            <a:r>
              <a:rPr sz="1900" spc="-114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помнит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только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ограниченный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предшествующий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 контекст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4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280" dirty="0">
                <a:solidFill>
                  <a:srgbClr val="2A2A2A"/>
                </a:solidFill>
                <a:latin typeface="Trebuchet MS"/>
                <a:cs typeface="Trebuchet MS"/>
              </a:rPr>
              <a:t>&gt;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плохо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работает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большими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текстами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длинными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предложениями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  <a:p>
            <a:pPr marL="481965" marR="1037590" indent="-469900">
              <a:lnSpc>
                <a:spcPct val="114999"/>
              </a:lnSpc>
              <a:buFont typeface="MS PGothic"/>
              <a:buChar char="❖"/>
              <a:tabLst>
                <a:tab pos="481965" algn="l"/>
              </a:tabLst>
            </a:pPr>
            <a:r>
              <a:rPr sz="1900" spc="-65" dirty="0">
                <a:solidFill>
                  <a:srgbClr val="2A2A2A"/>
                </a:solidFill>
                <a:latin typeface="Trebuchet MS"/>
                <a:cs typeface="Trebuchet MS"/>
              </a:rPr>
              <a:t>LSTM:</a:t>
            </a:r>
            <a:r>
              <a:rPr sz="1900" spc="-13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усложненная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работа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памятью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умеет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динамически 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забывать</a:t>
            </a:r>
            <a:r>
              <a:rPr sz="1900" spc="-45" dirty="0">
                <a:solidFill>
                  <a:srgbClr val="2A2A2A"/>
                </a:solidFill>
                <a:latin typeface="Trebuchet MS"/>
                <a:cs typeface="Trebuchet MS"/>
              </a:rPr>
              <a:t>/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помнить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4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280" dirty="0">
                <a:solidFill>
                  <a:srgbClr val="2A2A2A"/>
                </a:solidFill>
                <a:latin typeface="Trebuchet MS"/>
                <a:cs typeface="Trebuchet MS"/>
              </a:rPr>
              <a:t>&gt;</a:t>
            </a:r>
            <a:r>
              <a:rPr sz="1900" spc="-13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более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длинные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тексты</a:t>
            </a:r>
            <a:endParaRPr sz="1900">
              <a:latin typeface="Microsoft Sans Serif"/>
              <a:cs typeface="Microsoft Sans Serif"/>
            </a:endParaRPr>
          </a:p>
          <a:p>
            <a:pPr marL="481965" indent="-469265">
              <a:lnSpc>
                <a:spcPct val="100000"/>
              </a:lnSpc>
              <a:spcBef>
                <a:spcPts val="340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85" dirty="0">
                <a:solidFill>
                  <a:srgbClr val="2A2A2A"/>
                </a:solidFill>
                <a:latin typeface="Trebuchet MS"/>
                <a:cs typeface="Trebuchet MS"/>
              </a:rPr>
              <a:t>Attention</a:t>
            </a: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Models: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попытки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реализовать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внимание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до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Transfrormers</a:t>
            </a:r>
            <a:endParaRPr sz="1900">
              <a:latin typeface="Trebuchet MS"/>
              <a:cs typeface="Trebuchet MS"/>
            </a:endParaRPr>
          </a:p>
          <a:p>
            <a:pPr marL="24765" marR="5080">
              <a:lnSpc>
                <a:spcPct val="114999"/>
              </a:lnSpc>
              <a:spcBef>
                <a:spcPts val="2100"/>
              </a:spcBef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Общая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проблема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: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таких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моделей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почти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нет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свободном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доступе</a:t>
            </a:r>
            <a:r>
              <a:rPr sz="1900" spc="-65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так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они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проиграли</a:t>
            </a:r>
            <a:r>
              <a:rPr sz="1900" spc="-114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Trebuchet MS"/>
                <a:cs typeface="Trebuchet MS"/>
              </a:rPr>
              <a:t>BERT</a:t>
            </a:r>
            <a:r>
              <a:rPr sz="1900" spc="-14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&amp;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65" dirty="0">
                <a:solidFill>
                  <a:srgbClr val="2A2A2A"/>
                </a:solidFill>
                <a:latin typeface="Trebuchet MS"/>
                <a:cs typeface="Trebuchet MS"/>
              </a:rPr>
              <a:t>Co.</a:t>
            </a:r>
            <a:r>
              <a:rPr sz="1900" spc="-13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если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обучать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свою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это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хороший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компромисс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между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точностью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сложностью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625" y="1465205"/>
            <a:ext cx="5636260" cy="423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Verdana"/>
                <a:cs typeface="Verdana"/>
              </a:rPr>
              <a:t>Elmo</a:t>
            </a:r>
            <a:endParaRPr sz="4000">
              <a:latin typeface="Verdana"/>
              <a:cs typeface="Verdana"/>
            </a:endParaRPr>
          </a:p>
          <a:p>
            <a:pPr marL="583565" marR="5080" indent="-469900">
              <a:lnSpc>
                <a:spcPct val="114999"/>
              </a:lnSpc>
              <a:spcBef>
                <a:spcPts val="2655"/>
              </a:spcBef>
              <a:buFont typeface="MS PGothic"/>
              <a:buChar char="❖"/>
              <a:tabLst>
                <a:tab pos="58356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Есть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статический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эмбеддинг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85" dirty="0">
                <a:solidFill>
                  <a:srgbClr val="2A2A2A"/>
                </a:solidFill>
                <a:latin typeface="Microsoft Sans Serif"/>
                <a:cs typeface="Microsoft Sans Serif"/>
              </a:rPr>
              <a:t>он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хранится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как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часть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sz="1900" spc="-65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есть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итоговый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который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получается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его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основе</a:t>
            </a:r>
            <a:endParaRPr sz="1900">
              <a:latin typeface="Microsoft Sans Serif"/>
              <a:cs typeface="Microsoft Sans Serif"/>
            </a:endParaRPr>
          </a:p>
          <a:p>
            <a:pPr marL="583565" marR="1393190" indent="-469900">
              <a:lnSpc>
                <a:spcPct val="114999"/>
              </a:lnSpc>
              <a:buFont typeface="MS PGothic"/>
              <a:buChar char="❖"/>
              <a:tabLst>
                <a:tab pos="583565" algn="l"/>
              </a:tabLst>
            </a:pP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Обучается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задачу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b="1" spc="-10" dirty="0">
                <a:solidFill>
                  <a:srgbClr val="2A2A2A"/>
                </a:solidFill>
                <a:latin typeface="Arial"/>
                <a:cs typeface="Arial"/>
              </a:rPr>
              <a:t>языкового </a:t>
            </a:r>
            <a:r>
              <a:rPr sz="1900" b="1" spc="-20" dirty="0">
                <a:solidFill>
                  <a:srgbClr val="2A2A2A"/>
                </a:solidFill>
                <a:latin typeface="Arial"/>
                <a:cs typeface="Arial"/>
              </a:rPr>
              <a:t>моделирования</a:t>
            </a:r>
            <a:r>
              <a:rPr sz="1900" b="1" spc="-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(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генерации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)</a:t>
            </a:r>
            <a:endParaRPr sz="1900">
              <a:latin typeface="Trebuchet MS"/>
              <a:cs typeface="Trebuchet MS"/>
            </a:endParaRPr>
          </a:p>
          <a:p>
            <a:pPr marL="583565" marR="206375" indent="-469900">
              <a:lnSpc>
                <a:spcPct val="114999"/>
              </a:lnSpc>
              <a:buFont typeface="MS PGothic"/>
              <a:buChar char="❖"/>
              <a:tabLst>
                <a:tab pos="583565" algn="l"/>
              </a:tabLst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Trebuchet MS"/>
                <a:cs typeface="Trebuchet MS"/>
              </a:rPr>
              <a:t>Bi-LSTM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A2A2A"/>
                </a:solidFill>
                <a:latin typeface="Trebuchet MS"/>
                <a:cs typeface="Trebuchet MS"/>
              </a:rPr>
              <a:t>-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учитывается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контекст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справа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и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слева</a:t>
            </a:r>
            <a:endParaRPr sz="1900">
              <a:latin typeface="Microsoft Sans Serif"/>
              <a:cs typeface="Microsoft Sans Serif"/>
            </a:endParaRPr>
          </a:p>
          <a:p>
            <a:pPr marL="126364" marR="1200150">
              <a:lnSpc>
                <a:spcPct val="114999"/>
              </a:lnSpc>
              <a:spcBef>
                <a:spcPts val="2100"/>
              </a:spcBef>
            </a:pP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Неплохая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sz="1900" spc="-9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с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популярностью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трансформеров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используется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редко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0929" y="1710187"/>
            <a:ext cx="4358494" cy="44654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6656070" cy="320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latin typeface="Verdana"/>
                <a:cs typeface="Verdana"/>
              </a:rPr>
              <a:t>Transformers</a:t>
            </a:r>
            <a:endParaRPr sz="4000">
              <a:latin typeface="Verdana"/>
              <a:cs typeface="Verdana"/>
            </a:endParaRPr>
          </a:p>
          <a:p>
            <a:pPr marL="12700" marR="5080">
              <a:lnSpc>
                <a:spcPct val="114999"/>
              </a:lnSpc>
              <a:spcBef>
                <a:spcPts val="2425"/>
              </a:spcBef>
            </a:pP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45" dirty="0">
                <a:solidFill>
                  <a:srgbClr val="2A2A2A"/>
                </a:solidFill>
                <a:latin typeface="Trebuchet MS"/>
                <a:cs typeface="Trebuchet MS"/>
              </a:rPr>
              <a:t>2017</a:t>
            </a:r>
            <a:r>
              <a:rPr sz="1900" spc="-114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году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A2A2A"/>
                </a:solidFill>
                <a:latin typeface="Trebuchet MS"/>
                <a:cs typeface="Trebuchet MS"/>
              </a:rPr>
              <a:t>Google</a:t>
            </a:r>
            <a:r>
              <a:rPr sz="1900" spc="-114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представил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архитектуру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Transformers</a:t>
            </a:r>
            <a:r>
              <a:rPr sz="1900" spc="-114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ее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механизм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внимания</a:t>
            </a: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12700" marR="93980">
              <a:lnSpc>
                <a:spcPct val="114999"/>
              </a:lnSpc>
              <a:spcBef>
                <a:spcPts val="2100"/>
              </a:spcBef>
            </a:pP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Классическая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архитектура</a:t>
            </a:r>
            <a:r>
              <a:rPr sz="1900" spc="-6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Трансформера</a:t>
            </a:r>
            <a:r>
              <a:rPr sz="1900" spc="-5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подразумевает наличие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A2A2A"/>
                </a:solidFill>
                <a:latin typeface="Microsoft Sans Serif"/>
                <a:cs typeface="Microsoft Sans Serif"/>
              </a:rPr>
              <a:t>энкодера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5" dirty="0">
                <a:solidFill>
                  <a:srgbClr val="2A2A2A"/>
                </a:solidFill>
                <a:latin typeface="Microsoft Sans Serif"/>
                <a:cs typeface="Microsoft Sans Serif"/>
              </a:rPr>
              <a:t>декодера</a:t>
            </a:r>
            <a:r>
              <a:rPr sz="1900" spc="-75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3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A2A2A"/>
                </a:solidFill>
                <a:latin typeface="Microsoft Sans Serif"/>
                <a:cs typeface="Microsoft Sans Serif"/>
              </a:rPr>
              <a:t>практике</a:t>
            </a:r>
            <a:r>
              <a:rPr sz="1900" spc="-6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A2A2A"/>
                </a:solidFill>
                <a:latin typeface="Microsoft Sans Serif"/>
                <a:cs typeface="Microsoft Sans Serif"/>
              </a:rPr>
              <a:t>встречаются </a:t>
            </a:r>
            <a:r>
              <a:rPr sz="1900" dirty="0">
                <a:solidFill>
                  <a:srgbClr val="2A2A2A"/>
                </a:solidFill>
                <a:latin typeface="Microsoft Sans Serif"/>
                <a:cs typeface="Microsoft Sans Serif"/>
              </a:rPr>
              <a:t>любые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2A2A2A"/>
                </a:solidFill>
                <a:latin typeface="Microsoft Sans Serif"/>
                <a:cs typeface="Microsoft Sans Serif"/>
              </a:rPr>
              <a:t>комбинации</a:t>
            </a:r>
            <a:r>
              <a:rPr sz="1900" spc="-70" dirty="0">
                <a:solidFill>
                  <a:srgbClr val="2A2A2A"/>
                </a:solidFill>
                <a:latin typeface="Trebuchet MS"/>
                <a:cs typeface="Trebuchet MS"/>
              </a:rPr>
              <a:t>: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только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A2A2A"/>
                </a:solidFill>
                <a:latin typeface="Microsoft Sans Serif"/>
                <a:cs typeface="Microsoft Sans Serif"/>
              </a:rPr>
              <a:t>энкодер</a:t>
            </a:r>
            <a:r>
              <a:rPr sz="1900" spc="-80" dirty="0">
                <a:solidFill>
                  <a:srgbClr val="2A2A2A"/>
                </a:solidFill>
                <a:latin typeface="Trebuchet MS"/>
                <a:cs typeface="Trebuchet MS"/>
              </a:rPr>
              <a:t>,</a:t>
            </a:r>
            <a:r>
              <a:rPr sz="1900" spc="-11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только</a:t>
            </a:r>
            <a:r>
              <a:rPr sz="1900" spc="-50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A2A2A"/>
                </a:solidFill>
                <a:latin typeface="Microsoft Sans Serif"/>
                <a:cs typeface="Microsoft Sans Serif"/>
              </a:rPr>
              <a:t>декодер</a:t>
            </a:r>
            <a:r>
              <a:rPr sz="1900" spc="-45" dirty="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A2A2A"/>
                </a:solidFill>
                <a:latin typeface="Microsoft Sans Serif"/>
                <a:cs typeface="Microsoft Sans Serif"/>
              </a:rPr>
              <a:t>или </a:t>
            </a:r>
            <a:r>
              <a:rPr sz="1900" spc="-20" dirty="0">
                <a:solidFill>
                  <a:srgbClr val="2A2A2A"/>
                </a:solidFill>
                <a:latin typeface="Microsoft Sans Serif"/>
                <a:cs typeface="Microsoft Sans Serif"/>
              </a:rPr>
              <a:t>оба</a:t>
            </a: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023" y="4444015"/>
            <a:ext cx="6406198" cy="18870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0625" y="2392512"/>
            <a:ext cx="3329048" cy="33583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4969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Виды</a:t>
            </a:r>
            <a:r>
              <a:rPr sz="4000" spc="50" dirty="0">
                <a:latin typeface="Microsoft Sans Serif"/>
                <a:cs typeface="Microsoft Sans Serif"/>
              </a:rPr>
              <a:t> </a:t>
            </a:r>
            <a:r>
              <a:rPr sz="4000" spc="-40" dirty="0">
                <a:latin typeface="Microsoft Sans Serif"/>
                <a:cs typeface="Microsoft Sans Serif"/>
              </a:rPr>
              <a:t>моделей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0850" y="2536947"/>
            <a:ext cx="9042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0" dirty="0">
                <a:solidFill>
                  <a:srgbClr val="2A2A2A"/>
                </a:solidFill>
                <a:latin typeface="Arial"/>
                <a:cs typeface="Arial"/>
              </a:rPr>
              <a:t>Encoder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2002" y="2536947"/>
            <a:ext cx="9182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85" dirty="0">
                <a:solidFill>
                  <a:srgbClr val="2A2A2A"/>
                </a:solidFill>
                <a:latin typeface="Arial"/>
                <a:cs typeface="Arial"/>
              </a:rPr>
              <a:t>Decoder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8199" y="3100032"/>
            <a:ext cx="1432560" cy="1358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BERT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RoBERTa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ALBERT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ELECTRA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9350" y="3100032"/>
            <a:ext cx="1640205" cy="1358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90" dirty="0">
                <a:solidFill>
                  <a:srgbClr val="2A2A2A"/>
                </a:solidFill>
                <a:latin typeface="Trebuchet MS"/>
                <a:cs typeface="Trebuchet MS"/>
              </a:rPr>
              <a:t>GPT1,</a:t>
            </a:r>
            <a:r>
              <a:rPr sz="1900" spc="-125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A2A2A"/>
                </a:solidFill>
                <a:latin typeface="Trebuchet MS"/>
                <a:cs typeface="Trebuchet MS"/>
              </a:rPr>
              <a:t>2,</a:t>
            </a: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254" dirty="0">
                <a:solidFill>
                  <a:srgbClr val="2A2A2A"/>
                </a:solidFill>
                <a:latin typeface="Trebuchet MS"/>
                <a:cs typeface="Trebuchet MS"/>
              </a:rPr>
              <a:t>3,</a:t>
            </a:r>
            <a:r>
              <a:rPr sz="1900" spc="-120" dirty="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A2A2A"/>
                </a:solidFill>
                <a:latin typeface="Trebuchet MS"/>
                <a:cs typeface="Trebuchet MS"/>
              </a:rPr>
              <a:t>4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ChatGPT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PaLM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LLaMA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43152" y="2536947"/>
            <a:ext cx="18776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0" dirty="0">
                <a:solidFill>
                  <a:srgbClr val="2A2A2A"/>
                </a:solidFill>
                <a:latin typeface="Arial"/>
                <a:cs typeface="Arial"/>
              </a:rPr>
              <a:t>Encoder-</a:t>
            </a:r>
            <a:r>
              <a:rPr sz="1900" b="1" spc="-80" dirty="0">
                <a:solidFill>
                  <a:srgbClr val="2A2A2A"/>
                </a:solidFill>
                <a:latin typeface="Arial"/>
                <a:cs typeface="Arial"/>
              </a:rPr>
              <a:t>Decoder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30500" y="3100032"/>
            <a:ext cx="1659255" cy="1358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4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25" dirty="0">
                <a:solidFill>
                  <a:srgbClr val="2A2A2A"/>
                </a:solidFill>
                <a:latin typeface="Trebuchet MS"/>
                <a:cs typeface="Trebuchet MS"/>
              </a:rPr>
              <a:t>T5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20" dirty="0">
                <a:solidFill>
                  <a:srgbClr val="2A2A2A"/>
                </a:solidFill>
                <a:latin typeface="Trebuchet MS"/>
                <a:cs typeface="Trebuchet MS"/>
              </a:rPr>
              <a:t>Bart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10" dirty="0">
                <a:solidFill>
                  <a:srgbClr val="2A2A2A"/>
                </a:solidFill>
                <a:latin typeface="Trebuchet MS"/>
                <a:cs typeface="Trebuchet MS"/>
              </a:rPr>
              <a:t>Pegasus</a:t>
            </a:r>
            <a:endParaRPr sz="1900">
              <a:latin typeface="Trebuchet MS"/>
              <a:cs typeface="Trebuchet MS"/>
            </a:endParaRPr>
          </a:p>
          <a:p>
            <a:pPr marL="481965" indent="-469265">
              <a:lnSpc>
                <a:spcPct val="100000"/>
              </a:lnSpc>
              <a:spcBef>
                <a:spcPts val="345"/>
              </a:spcBef>
              <a:buFont typeface="MS PGothic"/>
              <a:buChar char="❖"/>
              <a:tabLst>
                <a:tab pos="481965" algn="l"/>
              </a:tabLst>
            </a:pPr>
            <a:r>
              <a:rPr sz="1900" spc="-55" dirty="0">
                <a:solidFill>
                  <a:srgbClr val="2A2A2A"/>
                </a:solidFill>
                <a:latin typeface="Trebuchet MS"/>
                <a:cs typeface="Trebuchet MS"/>
              </a:rPr>
              <a:t>ProphetNet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087" y="5084672"/>
            <a:ext cx="5973826" cy="111262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8270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Итого</a:t>
            </a:r>
            <a:r>
              <a:rPr sz="4000" spc="-15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</a:t>
            </a:r>
            <a:r>
              <a:rPr sz="4000" spc="-15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способам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30" dirty="0">
                <a:latin typeface="Microsoft Sans Serif"/>
                <a:cs typeface="Microsoft Sans Serif"/>
              </a:rPr>
              <a:t>векторизации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47737" y="2281237"/>
          <a:ext cx="10287000" cy="3608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5725" marR="7499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Критерий сравнения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TF-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IDF,</a:t>
                      </a:r>
                      <a:r>
                        <a:rPr sz="14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BM25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Word2Vec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5155" marR="198755" indent="-400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FastText,</a:t>
                      </a:r>
                      <a:r>
                        <a:rPr sz="14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GloVe,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Navec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9760" marR="154940" indent="-4597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Elmo,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other</a:t>
                      </a:r>
                      <a:r>
                        <a:rPr sz="14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RNN, LSTM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BERT</a:t>
                      </a:r>
                      <a:r>
                        <a:rPr sz="14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4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Co.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4933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Качество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векторизации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Скорость</a:t>
                      </a:r>
                      <a:r>
                        <a:rPr sz="14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1905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Доступность готовых</a:t>
                      </a:r>
                      <a:r>
                        <a:rPr sz="14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решений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8502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Простота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обучения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5270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30" dirty="0">
                          <a:latin typeface="Microsoft Sans Serif"/>
                          <a:cs typeface="Microsoft Sans Serif"/>
                        </a:rPr>
                        <a:t>Возможность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дообучения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Д</a:t>
            </a:r>
            <a:r>
              <a:rPr spc="-20" dirty="0"/>
              <a:t>ос</a:t>
            </a:r>
            <a:r>
              <a:rPr spc="-5" dirty="0"/>
              <a:t>т</a:t>
            </a:r>
            <a:r>
              <a:rPr spc="-30" dirty="0"/>
              <a:t>упнос</a:t>
            </a:r>
            <a:r>
              <a:rPr spc="-190" dirty="0"/>
              <a:t>т</a:t>
            </a:r>
            <a:r>
              <a:rPr sz="2100" spc="-1275" baseline="-21825" dirty="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r>
              <a:rPr sz="1400" spc="-20" dirty="0"/>
              <a:t>ь</a:t>
            </a:r>
            <a:r>
              <a:rPr sz="1400" spc="-240" dirty="0"/>
              <a:t> </a:t>
            </a:r>
            <a:r>
              <a:rPr sz="2100" spc="-802" baseline="-21825" dirty="0">
                <a:solidFill>
                  <a:srgbClr val="FFFFFF"/>
                </a:solidFill>
                <a:latin typeface="Roboto"/>
                <a:cs typeface="Roboto"/>
              </a:rPr>
              <a:t>o</a:t>
            </a:r>
            <a:r>
              <a:rPr sz="1400" spc="-50" dirty="0"/>
              <a:t>г</a:t>
            </a:r>
            <a:r>
              <a:rPr sz="1400" spc="-760" dirty="0"/>
              <a:t>о</a:t>
            </a:r>
            <a:r>
              <a:rPr sz="2100" spc="-787" baseline="-21825" dirty="0">
                <a:solidFill>
                  <a:srgbClr val="FFFFFF"/>
                </a:solidFill>
                <a:latin typeface="Roboto"/>
                <a:cs typeface="Roboto"/>
              </a:rPr>
              <a:t>m</a:t>
            </a:r>
            <a:r>
              <a:rPr sz="1400" spc="-145" dirty="0"/>
              <a:t>т</a:t>
            </a:r>
            <a:r>
              <a:rPr sz="2100" spc="-960" baseline="-21825" dirty="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sz="1400" spc="-10" dirty="0"/>
              <a:t>овых</a:t>
            </a:r>
            <a:r>
              <a:rPr sz="1400" spc="140" dirty="0"/>
              <a:t> </a:t>
            </a:r>
            <a:r>
              <a:rPr sz="1400" spc="-10" dirty="0"/>
              <a:t>решений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8270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Итого</a:t>
            </a:r>
            <a:r>
              <a:rPr sz="4000" spc="-155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по</a:t>
            </a:r>
            <a:r>
              <a:rPr sz="4000" spc="-15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способам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30" dirty="0">
                <a:latin typeface="Microsoft Sans Serif"/>
                <a:cs typeface="Microsoft Sans Serif"/>
              </a:rPr>
              <a:t>векторизации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47737" y="2281237"/>
          <a:ext cx="10287000" cy="3608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5725" marR="7499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Критерий сравнения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TF-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IDF,</a:t>
                      </a:r>
                      <a:r>
                        <a:rPr sz="14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BM25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Word2Vec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5155" marR="198755" indent="-400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FastText,</a:t>
                      </a:r>
                      <a:r>
                        <a:rPr sz="14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GloVe,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Navec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9760" marR="154940" indent="-4597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Elmo,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other</a:t>
                      </a:r>
                      <a:r>
                        <a:rPr sz="14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RNN, LSTM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BERT</a:t>
                      </a:r>
                      <a:r>
                        <a:rPr sz="14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4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Co.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4933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Качество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векторизации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25" dirty="0">
                          <a:latin typeface="Microsoft Sans Serif"/>
                          <a:cs typeface="Microsoft Sans Serif"/>
                        </a:rPr>
                        <a:t>+-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Скорость</a:t>
                      </a:r>
                      <a:r>
                        <a:rPr sz="14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500" spc="-25" dirty="0">
                          <a:latin typeface="Microsoft Sans Serif"/>
                          <a:cs typeface="Microsoft Sans Serif"/>
                        </a:rPr>
                        <a:t>+-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1905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Доступность готовых</a:t>
                      </a:r>
                      <a:r>
                        <a:rPr sz="14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решений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25" dirty="0">
                          <a:latin typeface="Microsoft Sans Serif"/>
                          <a:cs typeface="Microsoft Sans Serif"/>
                        </a:rPr>
                        <a:t>+-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8502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Простота 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обучения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5270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30" dirty="0">
                          <a:latin typeface="Microsoft Sans Serif"/>
                          <a:cs typeface="Microsoft Sans Serif"/>
                        </a:rPr>
                        <a:t>Возможность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дообучения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5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Д</a:t>
            </a:r>
            <a:r>
              <a:rPr spc="-20" dirty="0"/>
              <a:t>ос</a:t>
            </a:r>
            <a:r>
              <a:rPr spc="-5" dirty="0"/>
              <a:t>т</a:t>
            </a:r>
            <a:r>
              <a:rPr spc="-30" dirty="0"/>
              <a:t>упнос</a:t>
            </a:r>
            <a:r>
              <a:rPr spc="-190" dirty="0"/>
              <a:t>т</a:t>
            </a:r>
            <a:r>
              <a:rPr sz="2100" spc="-1275" baseline="-21825" dirty="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r>
              <a:rPr sz="1400" spc="-20" dirty="0"/>
              <a:t>ь</a:t>
            </a:r>
            <a:r>
              <a:rPr sz="1400" spc="-240" dirty="0"/>
              <a:t> </a:t>
            </a:r>
            <a:r>
              <a:rPr sz="2100" spc="-802" baseline="-21825" dirty="0">
                <a:solidFill>
                  <a:srgbClr val="FFFFFF"/>
                </a:solidFill>
                <a:latin typeface="Roboto"/>
                <a:cs typeface="Roboto"/>
              </a:rPr>
              <a:t>o</a:t>
            </a:r>
            <a:r>
              <a:rPr sz="1400" spc="-50" dirty="0"/>
              <a:t>г</a:t>
            </a:r>
            <a:r>
              <a:rPr sz="1400" spc="-760" dirty="0"/>
              <a:t>о</a:t>
            </a:r>
            <a:r>
              <a:rPr sz="2100" spc="-787" baseline="-21825" dirty="0">
                <a:solidFill>
                  <a:srgbClr val="FFFFFF"/>
                </a:solidFill>
                <a:latin typeface="Roboto"/>
                <a:cs typeface="Roboto"/>
              </a:rPr>
              <a:t>m</a:t>
            </a:r>
            <a:r>
              <a:rPr sz="1400" spc="-145" dirty="0"/>
              <a:t>т</a:t>
            </a:r>
            <a:r>
              <a:rPr sz="2100" spc="-960" baseline="-21825" dirty="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sz="1400" spc="-10" dirty="0"/>
              <a:t>овых</a:t>
            </a:r>
            <a:r>
              <a:rPr sz="1400" spc="140" dirty="0"/>
              <a:t> </a:t>
            </a:r>
            <a:r>
              <a:rPr sz="1400" spc="-10" dirty="0"/>
              <a:t>решений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2451</Words>
  <Application>Microsoft Office PowerPoint</Application>
  <PresentationFormat>Широкоэкранный</PresentationFormat>
  <Paragraphs>640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7" baseType="lpstr">
      <vt:lpstr>MS PGothic</vt:lpstr>
      <vt:lpstr>Arial</vt:lpstr>
      <vt:lpstr>Calibri</vt:lpstr>
      <vt:lpstr>Courier New</vt:lpstr>
      <vt:lpstr>Microsoft Sans Serif</vt:lpstr>
      <vt:lpstr>Roboto</vt:lpstr>
      <vt:lpstr>Tahoma</vt:lpstr>
      <vt:lpstr>Times New Roman</vt:lpstr>
      <vt:lpstr>Trebuchet MS</vt:lpstr>
      <vt:lpstr>Verdana</vt:lpstr>
      <vt:lpstr>Office Theme</vt:lpstr>
      <vt:lpstr>Информационный поиск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ДоступностHь oгоmтeовых решений</vt:lpstr>
      <vt:lpstr>ДоступностHь oгоmтeовых решений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infopoisk_2</dc:title>
  <cp:lastModifiedBy>Даниил Трошин</cp:lastModifiedBy>
  <cp:revision>1</cp:revision>
  <dcterms:created xsi:type="dcterms:W3CDTF">2026-01-22T08:44:02Z</dcterms:created>
  <dcterms:modified xsi:type="dcterms:W3CDTF">2026-01-22T08:46:47Z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2026-01-22T00:00:00Z</vt:filetime>
  </property>
</Properties>
</file>
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1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4" r:id="rId14"/>
    <p:sldId id="291" r:id="rId15"/>
    <p:sldId id="292" r:id="rId16"/>
    <p:sldId id="293" r:id="rId17"/>
    <p:sldId id="295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5" d="100"/>
          <a:sy n="75" d="100"/>
        </p:scale>
        <p:origin x="9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6158" y="1739051"/>
            <a:ext cx="7599683" cy="194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9535"/>
            <a:ext cx="12192000" cy="6768465"/>
          </a:xfrm>
          <a:custGeom>
            <a:avLst/>
            <a:gdLst/>
            <a:ahLst/>
            <a:cxnLst/>
            <a:rect l="l" t="t" r="r" b="b"/>
            <a:pathLst>
              <a:path w="12192000" h="6768465">
                <a:moveTo>
                  <a:pt x="12191999" y="6768464"/>
                </a:moveTo>
                <a:lnTo>
                  <a:pt x="0" y="6768464"/>
                </a:lnTo>
                <a:lnTo>
                  <a:pt x="1901" y="382904"/>
                </a:lnTo>
                <a:lnTo>
                  <a:pt x="765806" y="381951"/>
                </a:lnTo>
                <a:lnTo>
                  <a:pt x="817122" y="375656"/>
                </a:lnTo>
                <a:lnTo>
                  <a:pt x="852008" y="355877"/>
                </a:lnTo>
                <a:lnTo>
                  <a:pt x="871891" y="321274"/>
                </a:lnTo>
                <a:lnTo>
                  <a:pt x="878201" y="270509"/>
                </a:lnTo>
                <a:lnTo>
                  <a:pt x="878201" y="99059"/>
                </a:lnTo>
                <a:lnTo>
                  <a:pt x="884943" y="57462"/>
                </a:lnTo>
                <a:lnTo>
                  <a:pt x="904276" y="26312"/>
                </a:lnTo>
                <a:lnTo>
                  <a:pt x="934861" y="6771"/>
                </a:lnTo>
                <a:lnTo>
                  <a:pt x="975356" y="0"/>
                </a:lnTo>
                <a:lnTo>
                  <a:pt x="3478526" y="0"/>
                </a:lnTo>
                <a:lnTo>
                  <a:pt x="3517936" y="6875"/>
                </a:lnTo>
                <a:lnTo>
                  <a:pt x="3548059" y="26431"/>
                </a:lnTo>
                <a:lnTo>
                  <a:pt x="3567466" y="57060"/>
                </a:lnTo>
                <a:lnTo>
                  <a:pt x="3574729" y="97154"/>
                </a:lnTo>
                <a:lnTo>
                  <a:pt x="3574729" y="274319"/>
                </a:lnTo>
                <a:lnTo>
                  <a:pt x="3581099" y="323031"/>
                </a:lnTo>
                <a:lnTo>
                  <a:pt x="3600685" y="356830"/>
                </a:lnTo>
                <a:lnTo>
                  <a:pt x="3634201" y="376520"/>
                </a:lnTo>
                <a:lnTo>
                  <a:pt x="3682361" y="382904"/>
                </a:lnTo>
                <a:lnTo>
                  <a:pt x="9047794" y="382904"/>
                </a:lnTo>
                <a:lnTo>
                  <a:pt x="9055816" y="383053"/>
                </a:lnTo>
                <a:lnTo>
                  <a:pt x="9064106" y="383380"/>
                </a:lnTo>
                <a:lnTo>
                  <a:pt x="9072574" y="383708"/>
                </a:lnTo>
                <a:lnTo>
                  <a:pt x="9081131" y="383856"/>
                </a:lnTo>
                <a:lnTo>
                  <a:pt x="9081131" y="382101"/>
                </a:lnTo>
                <a:lnTo>
                  <a:pt x="12191996" y="382101"/>
                </a:lnTo>
                <a:lnTo>
                  <a:pt x="12191999" y="676846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0054" y="209438"/>
            <a:ext cx="110045" cy="1100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0264" y="202172"/>
            <a:ext cx="144582" cy="14566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973" y="203258"/>
            <a:ext cx="140234" cy="1402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079" y="203258"/>
            <a:ext cx="140233" cy="14023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29196" y="182589"/>
            <a:ext cx="157039" cy="156977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FFFFFF">
              <a:alpha val="262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1548" y="206716"/>
            <a:ext cx="110045" cy="11004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0" y="69803"/>
            <a:ext cx="12192000" cy="6788784"/>
          </a:xfrm>
          <a:custGeom>
            <a:avLst/>
            <a:gdLst/>
            <a:ahLst/>
            <a:cxnLst/>
            <a:rect l="l" t="t" r="r" b="b"/>
            <a:pathLst>
              <a:path w="12192000" h="6788784">
                <a:moveTo>
                  <a:pt x="0" y="6788196"/>
                </a:moveTo>
                <a:lnTo>
                  <a:pt x="0" y="397488"/>
                </a:lnTo>
                <a:lnTo>
                  <a:pt x="6151430" y="382634"/>
                </a:lnTo>
                <a:lnTo>
                  <a:pt x="6202746" y="376328"/>
                </a:lnTo>
                <a:lnTo>
                  <a:pt x="6237632" y="356513"/>
                </a:lnTo>
                <a:lnTo>
                  <a:pt x="6257515" y="321849"/>
                </a:lnTo>
                <a:lnTo>
                  <a:pt x="6263826" y="270993"/>
                </a:lnTo>
                <a:lnTo>
                  <a:pt x="6263826" y="99236"/>
                </a:lnTo>
                <a:lnTo>
                  <a:pt x="6270568" y="57565"/>
                </a:lnTo>
                <a:lnTo>
                  <a:pt x="6289901" y="26359"/>
                </a:lnTo>
                <a:lnTo>
                  <a:pt x="6320485" y="6783"/>
                </a:lnTo>
                <a:lnTo>
                  <a:pt x="6360981" y="0"/>
                </a:lnTo>
                <a:lnTo>
                  <a:pt x="8864150" y="0"/>
                </a:lnTo>
                <a:lnTo>
                  <a:pt x="8903560" y="6888"/>
                </a:lnTo>
                <a:lnTo>
                  <a:pt x="8933683" y="26479"/>
                </a:lnTo>
                <a:lnTo>
                  <a:pt x="8953090" y="57162"/>
                </a:lnTo>
                <a:lnTo>
                  <a:pt x="8960353" y="97329"/>
                </a:lnTo>
                <a:lnTo>
                  <a:pt x="8960353" y="274810"/>
                </a:lnTo>
                <a:lnTo>
                  <a:pt x="8966723" y="323608"/>
                </a:lnTo>
                <a:lnTo>
                  <a:pt x="8986309" y="357468"/>
                </a:lnTo>
                <a:lnTo>
                  <a:pt x="9019825" y="377193"/>
                </a:lnTo>
                <a:lnTo>
                  <a:pt x="9067985" y="383589"/>
                </a:lnTo>
                <a:lnTo>
                  <a:pt x="12191999" y="383157"/>
                </a:lnTo>
                <a:lnTo>
                  <a:pt x="12191999" y="6782251"/>
                </a:lnTo>
                <a:lnTo>
                  <a:pt x="0" y="6788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75347" y="582328"/>
            <a:ext cx="10152380" cy="360045"/>
          </a:xfrm>
          <a:custGeom>
            <a:avLst/>
            <a:gdLst/>
            <a:ahLst/>
            <a:cxnLst/>
            <a:rect l="l" t="t" r="r" b="b"/>
            <a:pathLst>
              <a:path w="10152380" h="360044">
                <a:moveTo>
                  <a:pt x="9971999" y="359999"/>
                </a:moveTo>
                <a:lnTo>
                  <a:pt x="179999" y="359999"/>
                </a:lnTo>
                <a:lnTo>
                  <a:pt x="132148" y="353570"/>
                </a:lnTo>
                <a:lnTo>
                  <a:pt x="89150" y="335424"/>
                </a:lnTo>
                <a:lnTo>
                  <a:pt x="52720" y="307279"/>
                </a:lnTo>
                <a:lnTo>
                  <a:pt x="24575" y="270849"/>
                </a:lnTo>
                <a:lnTo>
                  <a:pt x="6429" y="227851"/>
                </a:lnTo>
                <a:lnTo>
                  <a:pt x="0" y="179999"/>
                </a:lnTo>
                <a:lnTo>
                  <a:pt x="6429" y="132148"/>
                </a:lnTo>
                <a:lnTo>
                  <a:pt x="24575" y="89150"/>
                </a:lnTo>
                <a:lnTo>
                  <a:pt x="52720" y="52720"/>
                </a:lnTo>
                <a:lnTo>
                  <a:pt x="89150" y="24575"/>
                </a:lnTo>
                <a:lnTo>
                  <a:pt x="132148" y="6429"/>
                </a:lnTo>
                <a:lnTo>
                  <a:pt x="179999" y="0"/>
                </a:lnTo>
                <a:lnTo>
                  <a:pt x="9971999" y="0"/>
                </a:lnTo>
                <a:lnTo>
                  <a:pt x="10040882" y="13701"/>
                </a:lnTo>
                <a:lnTo>
                  <a:pt x="10099279" y="52720"/>
                </a:lnTo>
                <a:lnTo>
                  <a:pt x="10138298" y="111116"/>
                </a:lnTo>
                <a:lnTo>
                  <a:pt x="10151999" y="179999"/>
                </a:lnTo>
                <a:lnTo>
                  <a:pt x="10145570" y="227851"/>
                </a:lnTo>
                <a:lnTo>
                  <a:pt x="10127424" y="270849"/>
                </a:lnTo>
                <a:lnTo>
                  <a:pt x="10099279" y="307279"/>
                </a:lnTo>
                <a:lnTo>
                  <a:pt x="10062849" y="335424"/>
                </a:lnTo>
                <a:lnTo>
                  <a:pt x="10019851" y="353570"/>
                </a:lnTo>
                <a:lnTo>
                  <a:pt x="9971999" y="359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582328"/>
            <a:ext cx="12192000" cy="454025"/>
          </a:xfrm>
          <a:custGeom>
            <a:avLst/>
            <a:gdLst/>
            <a:ahLst/>
            <a:cxnLst/>
            <a:rect l="l" t="t" r="r" b="b"/>
            <a:pathLst>
              <a:path w="12192000" h="454025">
                <a:moveTo>
                  <a:pt x="1275346" y="179999"/>
                </a:moveTo>
                <a:lnTo>
                  <a:pt x="1281776" y="132148"/>
                </a:lnTo>
                <a:lnTo>
                  <a:pt x="1299922" y="89150"/>
                </a:lnTo>
                <a:lnTo>
                  <a:pt x="1328067" y="52720"/>
                </a:lnTo>
                <a:lnTo>
                  <a:pt x="1364497" y="24575"/>
                </a:lnTo>
                <a:lnTo>
                  <a:pt x="1407495" y="6429"/>
                </a:lnTo>
                <a:lnTo>
                  <a:pt x="1455346" y="0"/>
                </a:lnTo>
                <a:lnTo>
                  <a:pt x="11247346" y="0"/>
                </a:lnTo>
                <a:lnTo>
                  <a:pt x="11316229" y="13701"/>
                </a:lnTo>
                <a:lnTo>
                  <a:pt x="11374626" y="52720"/>
                </a:lnTo>
                <a:lnTo>
                  <a:pt x="11413645" y="111116"/>
                </a:lnTo>
                <a:lnTo>
                  <a:pt x="11427346" y="179999"/>
                </a:lnTo>
                <a:lnTo>
                  <a:pt x="11420917" y="227851"/>
                </a:lnTo>
                <a:lnTo>
                  <a:pt x="11402771" y="270849"/>
                </a:lnTo>
                <a:lnTo>
                  <a:pt x="11374626" y="307279"/>
                </a:lnTo>
                <a:lnTo>
                  <a:pt x="11338196" y="335424"/>
                </a:lnTo>
                <a:lnTo>
                  <a:pt x="11295198" y="353570"/>
                </a:lnTo>
                <a:lnTo>
                  <a:pt x="11247346" y="359999"/>
                </a:lnTo>
                <a:lnTo>
                  <a:pt x="1455346" y="359999"/>
                </a:lnTo>
                <a:lnTo>
                  <a:pt x="1407495" y="353570"/>
                </a:lnTo>
                <a:lnTo>
                  <a:pt x="1364497" y="335424"/>
                </a:lnTo>
                <a:lnTo>
                  <a:pt x="1328067" y="307279"/>
                </a:lnTo>
                <a:lnTo>
                  <a:pt x="1299922" y="270849"/>
                </a:lnTo>
                <a:lnTo>
                  <a:pt x="1281776" y="227851"/>
                </a:lnTo>
                <a:lnTo>
                  <a:pt x="1275346" y="179999"/>
                </a:lnTo>
                <a:close/>
              </a:path>
              <a:path w="12192000" h="454025">
                <a:moveTo>
                  <a:pt x="0" y="453991"/>
                </a:moveTo>
                <a:lnTo>
                  <a:pt x="12191999" y="453991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9118" y="666656"/>
            <a:ext cx="208279" cy="200971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1978390" y="641507"/>
            <a:ext cx="52705" cy="41275"/>
          </a:xfrm>
          <a:custGeom>
            <a:avLst/>
            <a:gdLst/>
            <a:ahLst/>
            <a:cxnLst/>
            <a:rect l="l" t="t" r="r" b="b"/>
            <a:pathLst>
              <a:path w="52704" h="41275">
                <a:moveTo>
                  <a:pt x="20421" y="40843"/>
                </a:moveTo>
                <a:lnTo>
                  <a:pt x="14897" y="37991"/>
                </a:lnTo>
                <a:lnTo>
                  <a:pt x="9732" y="32387"/>
                </a:lnTo>
                <a:lnTo>
                  <a:pt x="4806" y="25587"/>
                </a:lnTo>
                <a:lnTo>
                  <a:pt x="0" y="19145"/>
                </a:lnTo>
                <a:lnTo>
                  <a:pt x="5743" y="13461"/>
                </a:lnTo>
                <a:lnTo>
                  <a:pt x="11487" y="7179"/>
                </a:lnTo>
                <a:lnTo>
                  <a:pt x="17230" y="2094"/>
                </a:lnTo>
                <a:lnTo>
                  <a:pt x="22974" y="0"/>
                </a:lnTo>
                <a:lnTo>
                  <a:pt x="28279" y="1954"/>
                </a:lnTo>
                <a:lnTo>
                  <a:pt x="34781" y="7020"/>
                </a:lnTo>
                <a:lnTo>
                  <a:pt x="42718" y="13999"/>
                </a:lnTo>
                <a:lnTo>
                  <a:pt x="52331" y="21697"/>
                </a:lnTo>
                <a:lnTo>
                  <a:pt x="41960" y="29176"/>
                </a:lnTo>
                <a:lnTo>
                  <a:pt x="33504" y="35578"/>
                </a:lnTo>
                <a:lnTo>
                  <a:pt x="26484" y="39826"/>
                </a:lnTo>
                <a:lnTo>
                  <a:pt x="20421" y="40843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0540" y="690773"/>
            <a:ext cx="199479" cy="17869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852" y="689158"/>
            <a:ext cx="199479" cy="178698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12004356" y="1037271"/>
            <a:ext cx="12700" cy="5793740"/>
          </a:xfrm>
          <a:custGeom>
            <a:avLst/>
            <a:gdLst/>
            <a:ahLst/>
            <a:cxnLst/>
            <a:rect l="l" t="t" r="r" b="b"/>
            <a:pathLst>
              <a:path w="12700" h="5793740">
                <a:moveTo>
                  <a:pt x="8572" y="5793371"/>
                </a:moveTo>
                <a:lnTo>
                  <a:pt x="3810" y="5791934"/>
                </a:lnTo>
                <a:lnTo>
                  <a:pt x="0" y="5791934"/>
                </a:lnTo>
                <a:lnTo>
                  <a:pt x="148" y="5774899"/>
                </a:lnTo>
                <a:lnTo>
                  <a:pt x="804" y="5741368"/>
                </a:lnTo>
                <a:lnTo>
                  <a:pt x="952" y="5724334"/>
                </a:lnTo>
                <a:lnTo>
                  <a:pt x="952" y="63284"/>
                </a:lnTo>
                <a:lnTo>
                  <a:pt x="804" y="47328"/>
                </a:lnTo>
                <a:lnTo>
                  <a:pt x="148" y="15956"/>
                </a:lnTo>
                <a:lnTo>
                  <a:pt x="0" y="0"/>
                </a:lnTo>
                <a:lnTo>
                  <a:pt x="3810" y="5753"/>
                </a:lnTo>
                <a:lnTo>
                  <a:pt x="10477" y="10068"/>
                </a:lnTo>
                <a:lnTo>
                  <a:pt x="11429" y="15821"/>
                </a:lnTo>
                <a:lnTo>
                  <a:pt x="12382" y="28743"/>
                </a:lnTo>
                <a:lnTo>
                  <a:pt x="12621" y="41530"/>
                </a:lnTo>
                <a:lnTo>
                  <a:pt x="12502" y="54048"/>
                </a:lnTo>
                <a:lnTo>
                  <a:pt x="12382" y="66160"/>
                </a:lnTo>
                <a:lnTo>
                  <a:pt x="12382" y="5791934"/>
                </a:lnTo>
                <a:lnTo>
                  <a:pt x="8572" y="5793371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978386" y="716813"/>
            <a:ext cx="52705" cy="116205"/>
          </a:xfrm>
          <a:custGeom>
            <a:avLst/>
            <a:gdLst/>
            <a:ahLst/>
            <a:cxnLst/>
            <a:rect l="l" t="t" r="r" b="b"/>
            <a:pathLst>
              <a:path w="52704" h="116205">
                <a:moveTo>
                  <a:pt x="52324" y="97015"/>
                </a:moveTo>
                <a:lnTo>
                  <a:pt x="42722" y="89331"/>
                </a:lnTo>
                <a:lnTo>
                  <a:pt x="34785" y="82486"/>
                </a:lnTo>
                <a:lnTo>
                  <a:pt x="28282" y="77800"/>
                </a:lnTo>
                <a:lnTo>
                  <a:pt x="22974" y="76593"/>
                </a:lnTo>
                <a:lnTo>
                  <a:pt x="16687" y="78676"/>
                </a:lnTo>
                <a:lnTo>
                  <a:pt x="11010" y="83769"/>
                </a:lnTo>
                <a:lnTo>
                  <a:pt x="5562" y="90043"/>
                </a:lnTo>
                <a:lnTo>
                  <a:pt x="0" y="95732"/>
                </a:lnTo>
                <a:lnTo>
                  <a:pt x="4800" y="101434"/>
                </a:lnTo>
                <a:lnTo>
                  <a:pt x="9728" y="107861"/>
                </a:lnTo>
                <a:lnTo>
                  <a:pt x="14897" y="113322"/>
                </a:lnTo>
                <a:lnTo>
                  <a:pt x="20421" y="116154"/>
                </a:lnTo>
                <a:lnTo>
                  <a:pt x="26657" y="114960"/>
                </a:lnTo>
                <a:lnTo>
                  <a:pt x="33985" y="110413"/>
                </a:lnTo>
                <a:lnTo>
                  <a:pt x="42494" y="103949"/>
                </a:lnTo>
                <a:lnTo>
                  <a:pt x="52324" y="97015"/>
                </a:lnTo>
                <a:close/>
              </a:path>
              <a:path w="52704" h="116205">
                <a:moveTo>
                  <a:pt x="52324" y="21704"/>
                </a:moveTo>
                <a:lnTo>
                  <a:pt x="42722" y="14008"/>
                </a:lnTo>
                <a:lnTo>
                  <a:pt x="34785" y="7023"/>
                </a:lnTo>
                <a:lnTo>
                  <a:pt x="28282" y="1955"/>
                </a:lnTo>
                <a:lnTo>
                  <a:pt x="22974" y="0"/>
                </a:lnTo>
                <a:lnTo>
                  <a:pt x="17233" y="2641"/>
                </a:lnTo>
                <a:lnTo>
                  <a:pt x="11480" y="7658"/>
                </a:lnTo>
                <a:lnTo>
                  <a:pt x="5740" y="13652"/>
                </a:lnTo>
                <a:lnTo>
                  <a:pt x="0" y="19151"/>
                </a:lnTo>
                <a:lnTo>
                  <a:pt x="4800" y="24853"/>
                </a:lnTo>
                <a:lnTo>
                  <a:pt x="9728" y="31280"/>
                </a:lnTo>
                <a:lnTo>
                  <a:pt x="14897" y="36741"/>
                </a:lnTo>
                <a:lnTo>
                  <a:pt x="20421" y="39573"/>
                </a:lnTo>
                <a:lnTo>
                  <a:pt x="26479" y="38569"/>
                </a:lnTo>
                <a:lnTo>
                  <a:pt x="33502" y="34467"/>
                </a:lnTo>
                <a:lnTo>
                  <a:pt x="41960" y="28448"/>
                </a:lnTo>
                <a:lnTo>
                  <a:pt x="52324" y="21704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7454" y="208222"/>
            <a:ext cx="110044" cy="11004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2031980" y="1086731"/>
            <a:ext cx="133350" cy="2268220"/>
          </a:xfrm>
          <a:custGeom>
            <a:avLst/>
            <a:gdLst/>
            <a:ahLst/>
            <a:cxnLst/>
            <a:rect l="l" t="t" r="r" b="b"/>
            <a:pathLst>
              <a:path w="133350" h="2268220">
                <a:moveTo>
                  <a:pt x="66408" y="2267755"/>
                </a:moveTo>
                <a:lnTo>
                  <a:pt x="23173" y="2257464"/>
                </a:lnTo>
                <a:lnTo>
                  <a:pt x="1383" y="2220310"/>
                </a:lnTo>
                <a:lnTo>
                  <a:pt x="1037" y="2211755"/>
                </a:lnTo>
                <a:lnTo>
                  <a:pt x="1209" y="2203199"/>
                </a:lnTo>
                <a:lnTo>
                  <a:pt x="1382" y="2195003"/>
                </a:lnTo>
                <a:lnTo>
                  <a:pt x="1194" y="2144541"/>
                </a:lnTo>
                <a:lnTo>
                  <a:pt x="1024" y="2094079"/>
                </a:lnTo>
                <a:lnTo>
                  <a:pt x="870" y="2043616"/>
                </a:lnTo>
                <a:lnTo>
                  <a:pt x="733" y="1993151"/>
                </a:lnTo>
                <a:lnTo>
                  <a:pt x="611" y="1942683"/>
                </a:lnTo>
                <a:lnTo>
                  <a:pt x="503" y="1892212"/>
                </a:lnTo>
                <a:lnTo>
                  <a:pt x="409" y="1841737"/>
                </a:lnTo>
                <a:lnTo>
                  <a:pt x="328" y="1791259"/>
                </a:lnTo>
                <a:lnTo>
                  <a:pt x="258" y="1740775"/>
                </a:lnTo>
                <a:lnTo>
                  <a:pt x="198" y="1690285"/>
                </a:lnTo>
                <a:lnTo>
                  <a:pt x="149" y="1639790"/>
                </a:lnTo>
                <a:lnTo>
                  <a:pt x="108" y="1589287"/>
                </a:lnTo>
                <a:lnTo>
                  <a:pt x="76" y="1538777"/>
                </a:lnTo>
                <a:lnTo>
                  <a:pt x="51" y="1488259"/>
                </a:lnTo>
                <a:lnTo>
                  <a:pt x="32" y="1437733"/>
                </a:lnTo>
                <a:lnTo>
                  <a:pt x="18" y="1387197"/>
                </a:lnTo>
                <a:lnTo>
                  <a:pt x="9" y="1336651"/>
                </a:lnTo>
                <a:lnTo>
                  <a:pt x="4" y="1286095"/>
                </a:lnTo>
                <a:lnTo>
                  <a:pt x="1" y="1235527"/>
                </a:lnTo>
                <a:lnTo>
                  <a:pt x="0" y="1184948"/>
                </a:lnTo>
                <a:lnTo>
                  <a:pt x="0" y="1134356"/>
                </a:lnTo>
                <a:lnTo>
                  <a:pt x="0" y="67966"/>
                </a:lnTo>
                <a:lnTo>
                  <a:pt x="3934" y="37961"/>
                </a:lnTo>
                <a:lnTo>
                  <a:pt x="15910" y="16752"/>
                </a:lnTo>
                <a:lnTo>
                  <a:pt x="36188" y="4158"/>
                </a:lnTo>
                <a:lnTo>
                  <a:pt x="65025" y="0"/>
                </a:lnTo>
                <a:lnTo>
                  <a:pt x="94079" y="4023"/>
                </a:lnTo>
                <a:lnTo>
                  <a:pt x="114831" y="16393"/>
                </a:lnTo>
                <a:lnTo>
                  <a:pt x="127283" y="37557"/>
                </a:lnTo>
                <a:lnTo>
                  <a:pt x="131433" y="67966"/>
                </a:lnTo>
                <a:lnTo>
                  <a:pt x="131433" y="2212234"/>
                </a:lnTo>
                <a:lnTo>
                  <a:pt x="132816" y="2220848"/>
                </a:lnTo>
                <a:lnTo>
                  <a:pt x="130049" y="2228506"/>
                </a:lnTo>
                <a:lnTo>
                  <a:pt x="122829" y="2245139"/>
                </a:lnTo>
                <a:lnTo>
                  <a:pt x="109643" y="2257464"/>
                </a:lnTo>
                <a:lnTo>
                  <a:pt x="90749" y="2265122"/>
                </a:lnTo>
                <a:lnTo>
                  <a:pt x="66408" y="226775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67159" y="612648"/>
            <a:ext cx="266065" cy="266065"/>
          </a:xfrm>
          <a:custGeom>
            <a:avLst/>
            <a:gdLst/>
            <a:ahLst/>
            <a:cxnLst/>
            <a:rect l="l" t="t" r="r" b="b"/>
            <a:pathLst>
              <a:path w="266065" h="266065">
                <a:moveTo>
                  <a:pt x="132986" y="265973"/>
                </a:moveTo>
                <a:lnTo>
                  <a:pt x="90952" y="259193"/>
                </a:lnTo>
                <a:lnTo>
                  <a:pt x="54446" y="240314"/>
                </a:lnTo>
                <a:lnTo>
                  <a:pt x="25658" y="211526"/>
                </a:lnTo>
                <a:lnTo>
                  <a:pt x="6779" y="175020"/>
                </a:lnTo>
                <a:lnTo>
                  <a:pt x="0" y="132986"/>
                </a:lnTo>
                <a:lnTo>
                  <a:pt x="6779" y="90952"/>
                </a:lnTo>
                <a:lnTo>
                  <a:pt x="25658" y="54446"/>
                </a:lnTo>
                <a:lnTo>
                  <a:pt x="54446" y="25658"/>
                </a:lnTo>
                <a:lnTo>
                  <a:pt x="90952" y="6779"/>
                </a:lnTo>
                <a:lnTo>
                  <a:pt x="132986" y="0"/>
                </a:lnTo>
                <a:lnTo>
                  <a:pt x="159052" y="2578"/>
                </a:lnTo>
                <a:lnTo>
                  <a:pt x="206768" y="22343"/>
                </a:lnTo>
                <a:lnTo>
                  <a:pt x="243630" y="59205"/>
                </a:lnTo>
                <a:lnTo>
                  <a:pt x="263394" y="106921"/>
                </a:lnTo>
                <a:lnTo>
                  <a:pt x="265973" y="132986"/>
                </a:lnTo>
                <a:lnTo>
                  <a:pt x="259193" y="175020"/>
                </a:lnTo>
                <a:lnTo>
                  <a:pt x="240314" y="211526"/>
                </a:lnTo>
                <a:lnTo>
                  <a:pt x="211526" y="240314"/>
                </a:lnTo>
                <a:lnTo>
                  <a:pt x="175020" y="259193"/>
                </a:lnTo>
                <a:lnTo>
                  <a:pt x="132986" y="265973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4270" y="669524"/>
            <a:ext cx="152699" cy="162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companies/otus/articles/459216/?ysclid=mmd5rq0xz1817442807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articles/783012/?ysclid=mmbv123r5d783437227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companies/otus/articles/472040/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renadata.io/ru/ADH/current/concept/solr/solr-work.html" TargetMode="External"/><Relationship Id="rId2" Type="http://schemas.openxmlformats.org/officeDocument/2006/relationships/hyperlink" Target="https://yandex.cloud/ru/blog/posts/2021/08/managed-elasticsearch-overview?ysclid=mmdiv6vhq674281981&amp;utm_referrer=https%3A%2F%2Fyandex.ru%2F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elastic.co/search-labs/blog/lexical-ai-powered-search-elastic-vector-database" TargetMode="External"/><Relationship Id="rId4" Type="http://schemas.openxmlformats.org/officeDocument/2006/relationships/hyperlink" Target="https://www.elastic.co/blog/what-is-an-elasticsearch-inde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4" name="object 4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12825" y="4028588"/>
            <a:ext cx="3340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solidFill>
                  <a:srgbClr val="595959"/>
                </a:solidFill>
                <a:latin typeface="Roboto"/>
                <a:cs typeface="Roboto"/>
              </a:rPr>
              <a:t>Деревья поиска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2646680" marR="5080" indent="-2633980">
              <a:lnSpc>
                <a:spcPts val="6750"/>
              </a:lnSpc>
              <a:spcBef>
                <a:spcPts val="1700"/>
              </a:spcBef>
            </a:pP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ф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р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м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а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ц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ы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й 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п</a:t>
            </a:r>
            <a:r>
              <a:rPr sz="7000" spc="-1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1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10" dirty="0">
                <a:solidFill>
                  <a:srgbClr val="EA4335"/>
                </a:solidFill>
                <a:latin typeface="Microsoft Sans Serif"/>
                <a:cs typeface="Microsoft Sans Serif"/>
              </a:rPr>
              <a:t>с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к</a:t>
            </a:r>
            <a:endParaRPr sz="7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299" y="1465205"/>
            <a:ext cx="10405745" cy="25212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Ещё раз про индекс</a:t>
            </a:r>
            <a:endParaRPr lang="ru-RU" sz="4000" dirty="0">
              <a:latin typeface="Verdana"/>
              <a:cs typeface="Verdana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b="1" dirty="0"/>
              <a:t>Индекс</a:t>
            </a:r>
            <a:r>
              <a:rPr lang="ru-RU" sz="1600" dirty="0"/>
              <a:t> может храниться в виде матрицы или словаря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en-US" sz="1600" dirty="0">
              <a:latin typeface="Tahoma"/>
              <a:cs typeface="Tahoma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FAE789-E196-E142-B5D4-97EF9263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92" y="3015432"/>
            <a:ext cx="10610850" cy="3114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CF7A-CDF6-4D40-24A9-09BF8ED63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BD520C-C50C-F6EC-0681-CE8ECEF18ABA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08156AB-E657-D19B-6C66-AD149CBFCFFD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EA93DA1-E449-B1E2-046A-AAE0CDB9D83A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91DD9C3-5AAA-F78A-A8B2-F7CE7274F198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9605E52-530F-F869-ACDE-447FE1E8B8AE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35F6455-C6DB-5746-8026-47E80835C5A9}"/>
              </a:ext>
            </a:extLst>
          </p:cNvPr>
          <p:cNvSpPr txBox="1"/>
          <p:nvPr/>
        </p:nvSpPr>
        <p:spPr>
          <a:xfrm>
            <a:off x="803299" y="1465205"/>
            <a:ext cx="10405745" cy="5044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Ещё раз про индекс</a:t>
            </a:r>
            <a:endParaRPr lang="ru-RU" sz="4000" dirty="0">
              <a:latin typeface="Verdana"/>
              <a:cs typeface="Verdana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Мы много раз обсуждали матричный вид индекса, поговорим теперь про словари.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Нам хочется, чтобы поиск по словарю осуществлялся эффективно. Как этого можно добиться?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Словарь может быть реализован через: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хеширование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деревья поиска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en-US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68826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B1F86-B90C-D9E2-979A-1BD070BDE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F32920-DE67-A592-1087-D66AFFE05036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EBA5D67-FC76-27F0-DA7C-C961A4FF8CEA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FB4733-4C05-B4A7-E8EF-648EDDC80591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EED9271-EC32-2BB7-CF3C-F20B9835706F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FD3D8AF-B0BF-0434-BC78-AA9DC24355FF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E931D7F-D5F9-8C88-AFEE-5AB053AA4E7D}"/>
              </a:ext>
            </a:extLst>
          </p:cNvPr>
          <p:cNvSpPr txBox="1"/>
          <p:nvPr/>
        </p:nvSpPr>
        <p:spPr>
          <a:xfrm>
            <a:off x="803299" y="1465205"/>
            <a:ext cx="10405745" cy="3752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Хэширование</a:t>
            </a:r>
            <a:endParaRPr lang="ru-RU" sz="4000" dirty="0">
              <a:latin typeface="Verdana"/>
              <a:cs typeface="Verdana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b="1" dirty="0"/>
              <a:t>Хэш-функции </a:t>
            </a:r>
            <a:r>
              <a:rPr lang="ru-RU" sz="1600" dirty="0"/>
              <a:t>– функции, преобразующие входные данные в число (битовую строку) установленного размера в соответствии с определённым алгоритмом</a:t>
            </a:r>
            <a:r>
              <a:rPr lang="ru-RU" sz="1600" b="1" dirty="0"/>
              <a:t>.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Хэш-функции применяются к ключам словарей при добавлении пары ключ-значение в словарь. При поиске значения по ключу, к ключу снова применяется хэш-функция, и по хэшу (с применением к нему маски) находится ассоциированное с ключом значение. Это обеспечивает константную сложность поиска в среднем.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>
                <a:latin typeface="Tahoma"/>
                <a:cs typeface="Tahoma"/>
              </a:rPr>
              <a:t>Минусом этого подхода является существование коллизий – когда значение хэша от разных ключей совпадает.</a:t>
            </a:r>
            <a:endParaRPr lang="en-US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6403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0092E-F49E-2A1B-4C05-CD26FC8C4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7DE2A37-1F87-949F-4156-E7441ED4EC11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C31CE84-F7C9-168B-8BD7-B1B5B9D897FD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A1A6CCA-C63E-72A8-DBD6-9DBF08B23EB0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BE92451-6219-41BD-48DA-537D0673B99F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BD18C35-E01F-0DBA-DF32-8E253D5C1F57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7B5CC62-4F15-0733-1E5C-4ABB4F1A3FEA}"/>
              </a:ext>
            </a:extLst>
          </p:cNvPr>
          <p:cNvSpPr txBox="1"/>
          <p:nvPr/>
        </p:nvSpPr>
        <p:spPr>
          <a:xfrm>
            <a:off x="803299" y="1465205"/>
            <a:ext cx="10405745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Деревья поиска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b="1" dirty="0"/>
              <a:t>Дерево поиска </a:t>
            </a:r>
            <a:r>
              <a:rPr lang="ru-RU" sz="1600" dirty="0"/>
              <a:t>– древовидная структура данных, в которой узлы упорядочены определённым образом по значению ключей.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Свойство упорядоченности для каждого узла: все ключи в левом поддереве меньше, чем ключ текущего узла, все ключи в правом поддереве больше, чем ключ текущего узла. Каждое поддерево также является деревом поиска. </a:t>
            </a:r>
            <a:endParaRPr lang="en-US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42712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CC83-C092-EFE3-18C9-916478B6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DE8AD3-A409-100E-0A1F-F23CBC87B473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B796547-0171-D64B-101E-28289E313E9D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BF3E79D-D3AC-1060-8405-B000F57CFFEB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44221EA-D883-EFC8-871B-0585A633864E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F8834D8-BC80-A923-E013-B0D5053DF7FC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294B428-B979-58BB-2370-EC4C7DC4B1CA}"/>
              </a:ext>
            </a:extLst>
          </p:cNvPr>
          <p:cNvSpPr txBox="1"/>
          <p:nvPr/>
        </p:nvSpPr>
        <p:spPr>
          <a:xfrm>
            <a:off x="803299" y="1465205"/>
            <a:ext cx="10405745" cy="57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Двоичное дерево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>
                <a:latin typeface="Tahoma"/>
                <a:cs typeface="Tahoma"/>
              </a:rPr>
              <a:t>Самым простым примером дерева поиска является </a:t>
            </a:r>
            <a:r>
              <a:rPr lang="ru-RU" sz="1600" b="1" dirty="0">
                <a:latin typeface="Tahoma"/>
                <a:cs typeface="Tahoma"/>
              </a:rPr>
              <a:t>двоичное</a:t>
            </a:r>
            <a:r>
              <a:rPr lang="en-US" sz="1600" dirty="0">
                <a:latin typeface="Tahoma"/>
                <a:cs typeface="Tahoma"/>
              </a:rPr>
              <a:t>, </a:t>
            </a:r>
            <a:r>
              <a:rPr lang="ru-RU" sz="1600" dirty="0">
                <a:latin typeface="Tahoma"/>
                <a:cs typeface="Tahoma"/>
              </a:rPr>
              <a:t>или </a:t>
            </a:r>
            <a:r>
              <a:rPr lang="ru-RU" sz="1600" b="1" dirty="0">
                <a:latin typeface="Tahoma"/>
                <a:cs typeface="Tahoma"/>
              </a:rPr>
              <a:t>бинарное</a:t>
            </a:r>
            <a:r>
              <a:rPr lang="en-US" sz="1600" b="1" dirty="0">
                <a:latin typeface="Tahoma"/>
                <a:cs typeface="Tahoma"/>
              </a:rPr>
              <a:t> </a:t>
            </a:r>
            <a:r>
              <a:rPr lang="ru-RU" sz="1600" b="1" dirty="0">
                <a:latin typeface="Tahoma"/>
                <a:cs typeface="Tahoma"/>
              </a:rPr>
              <a:t>дерево</a:t>
            </a:r>
            <a:r>
              <a:rPr lang="ru-RU" sz="1600" dirty="0">
                <a:latin typeface="Tahoma"/>
                <a:cs typeface="Tahoma"/>
              </a:rPr>
              <a:t> (</a:t>
            </a:r>
            <a:r>
              <a:rPr lang="en-US" sz="1600" b="1" dirty="0">
                <a:latin typeface="Tahoma"/>
                <a:cs typeface="Tahoma"/>
              </a:rPr>
              <a:t>BST</a:t>
            </a:r>
            <a:r>
              <a:rPr lang="en-US" sz="1600" dirty="0">
                <a:latin typeface="Tahoma"/>
                <a:cs typeface="Tahoma"/>
              </a:rPr>
              <a:t>).</a:t>
            </a:r>
            <a:endParaRPr lang="ru-RU" sz="1600" dirty="0">
              <a:latin typeface="Tahoma"/>
              <a:cs typeface="Tahoma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>
                <a:latin typeface="Tahoma"/>
                <a:cs typeface="Tahoma"/>
              </a:rPr>
              <a:t>Рассмотрим его структуру.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>
                <a:latin typeface="Tahoma"/>
                <a:cs typeface="Tahoma"/>
              </a:rPr>
              <a:t>Почему оно называется двоичным?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>
                <a:latin typeface="Tahoma"/>
                <a:cs typeface="Tahoma"/>
              </a:rPr>
              <a:t>Является ли оно</a:t>
            </a:r>
            <a:br>
              <a:rPr lang="ru-RU" sz="1600" dirty="0">
                <a:latin typeface="Tahoma"/>
                <a:cs typeface="Tahoma"/>
              </a:rPr>
            </a:br>
            <a:r>
              <a:rPr lang="ru-RU" sz="1600" dirty="0">
                <a:latin typeface="Tahoma"/>
                <a:cs typeface="Tahoma"/>
              </a:rPr>
              <a:t>сбалансированным?</a:t>
            </a:r>
            <a:br>
              <a:rPr lang="ru-RU" sz="1600" dirty="0">
                <a:latin typeface="Tahoma"/>
                <a:cs typeface="Tahoma"/>
              </a:rPr>
            </a:br>
            <a:r>
              <a:rPr lang="ru-RU" sz="1600" dirty="0">
                <a:latin typeface="Tahoma"/>
                <a:cs typeface="Tahoma"/>
              </a:rPr>
              <a:t>Почему?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>
                <a:latin typeface="Tahoma"/>
                <a:cs typeface="Tahoma"/>
              </a:rPr>
              <a:t>Как добавлять в него новые элементы?</a:t>
            </a:r>
            <a:br>
              <a:rPr lang="ru-RU" sz="1600" dirty="0">
                <a:latin typeface="Tahoma"/>
                <a:cs typeface="Tahoma"/>
              </a:rPr>
            </a:br>
            <a:r>
              <a:rPr lang="ru-RU" sz="1600" dirty="0">
                <a:latin typeface="Tahoma"/>
                <a:cs typeface="Tahoma"/>
              </a:rPr>
              <a:t>Как удалять старые?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>
                <a:latin typeface="Tahoma"/>
                <a:cs typeface="Tahoma"/>
              </a:rPr>
              <a:t>Какова сложность поиска в нём?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4EB5EB-2E89-ECC6-407B-DB1BDBDAC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496" y="3048000"/>
            <a:ext cx="6914795" cy="283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0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56554-2CA2-C46C-7AE0-A0CC3B1A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682E24-E016-A28A-F66B-6AD14E0DC2BE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1A0D7BD-D822-A7D5-A5F2-7278DDD4A67E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4933D53-4388-D712-95E4-0A1911306AB9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2D30DA7-239E-0B7F-7D2A-6B7A57E3740E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5064652-70D0-5314-7444-C23D9E4767C4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EDC810B-4F74-8C4D-47C6-944077FB3ABA}"/>
              </a:ext>
            </a:extLst>
          </p:cNvPr>
          <p:cNvSpPr txBox="1"/>
          <p:nvPr/>
        </p:nvSpPr>
        <p:spPr>
          <a:xfrm>
            <a:off x="803299" y="1465205"/>
            <a:ext cx="10405745" cy="125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Поиск по двоичному дереву индекса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CD97A51-0FFC-AF26-CAC1-C91722924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52" y="2438400"/>
            <a:ext cx="6861208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4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A70B-1A6F-C59E-881A-5191EE73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760D05-2DDA-974A-B22C-545765DA948F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DC91086-B307-2D32-BA79-144896CABD70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94DA0C3-FD32-70AE-2351-9BFF2789E81C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56858C1-84A6-C533-195A-23CB215AF222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D6D4335-C827-546A-5181-EA0E943070C7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35B823-D9F9-89BA-2A6E-6C057C1449C9}"/>
              </a:ext>
            </a:extLst>
          </p:cNvPr>
          <p:cNvSpPr txBox="1"/>
          <p:nvPr/>
        </p:nvSpPr>
        <p:spPr>
          <a:xfrm>
            <a:off x="803299" y="1465205"/>
            <a:ext cx="10405745" cy="2516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Microsoft Sans Serif"/>
                <a:cs typeface="Microsoft Sans Serif"/>
              </a:rPr>
              <a:t>B-</a:t>
            </a:r>
            <a:r>
              <a:rPr lang="ru-RU" sz="4000" dirty="0">
                <a:latin typeface="Microsoft Sans Serif"/>
                <a:cs typeface="Microsoft Sans Serif"/>
              </a:rPr>
              <a:t>деревья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02D7AF-442D-8207-DF91-7AAFF637E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56" y="2557290"/>
            <a:ext cx="892492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9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F2E4C-8BD1-561C-DD7A-67B6EEEF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3A4836-8D8E-1A97-1074-8259A3E3026B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CDC0522-C403-4F2A-CDC0-46587F0F55B6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930CFD4-9726-939A-946D-64A741A284BE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EB34F02-F85B-1707-FB33-3FE035ADC378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F8D0D38-E396-256C-B571-487B4676CE35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912B7E6-9797-3D2E-1318-775A8C787ECF}"/>
              </a:ext>
            </a:extLst>
          </p:cNvPr>
          <p:cNvSpPr txBox="1"/>
          <p:nvPr/>
        </p:nvSpPr>
        <p:spPr>
          <a:xfrm>
            <a:off x="803299" y="1465205"/>
            <a:ext cx="10405745" cy="79329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Свойства </a:t>
            </a:r>
            <a:r>
              <a:rPr lang="en-US" sz="4000" dirty="0">
                <a:latin typeface="Microsoft Sans Serif"/>
                <a:cs typeface="Microsoft Sans Serif"/>
              </a:rPr>
              <a:t>B-</a:t>
            </a:r>
            <a:r>
              <a:rPr lang="ru-RU" sz="4000" dirty="0">
                <a:latin typeface="Microsoft Sans Serif"/>
                <a:cs typeface="Microsoft Sans Serif"/>
              </a:rPr>
              <a:t>деревьев</a:t>
            </a:r>
          </a:p>
          <a:p>
            <a:pPr marL="339725" marR="5080" lvl="0" indent="-285750" defTabSz="914400" eaLnBrk="1" fontAlgn="auto" latinLnBrk="0" hangingPunct="1">
              <a:lnSpc>
                <a:spcPct val="100000"/>
              </a:lnSpc>
              <a:spcBef>
                <a:spcPts val="30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/>
              <a:t>Глубина всех листьев одинакова</a:t>
            </a:r>
          </a:p>
          <a:p>
            <a:pPr marL="339725" marR="5080" lvl="0" indent="-285750" defTabSz="914400" eaLnBrk="1" fontAlgn="auto" latinLnBrk="0" hangingPunct="1">
              <a:lnSpc>
                <a:spcPct val="100000"/>
              </a:lnSpc>
              <a:spcBef>
                <a:spcPts val="30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/>
              <a:t>Все узлы, кроме корня должны иметь как минимум </a:t>
            </a:r>
            <a:r>
              <a:rPr lang="ru-RU" sz="1600" b="1" i="1" dirty="0"/>
              <a:t>(m/2) – 1</a:t>
            </a:r>
            <a:r>
              <a:rPr lang="ru-RU" sz="1600" dirty="0"/>
              <a:t> ключей и максимум </a:t>
            </a:r>
            <a:r>
              <a:rPr lang="ru-RU" sz="1600" b="1" i="1" dirty="0"/>
              <a:t>m-1</a:t>
            </a:r>
            <a:r>
              <a:rPr lang="ru-RU" sz="1600" dirty="0"/>
              <a:t> ключей</a:t>
            </a:r>
          </a:p>
          <a:p>
            <a:pPr marL="339725" marR="5080" lvl="0" indent="-285750" defTabSz="914400" eaLnBrk="1" fontAlgn="auto" latinLnBrk="0" hangingPunct="1">
              <a:lnSpc>
                <a:spcPct val="100000"/>
              </a:lnSpc>
              <a:spcBef>
                <a:spcPts val="30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/>
              <a:t>Все узлы без листьев, кроме корня (т.е. все внутренние узлы), должны иметь минимум </a:t>
            </a:r>
            <a:r>
              <a:rPr lang="ru-RU" sz="1600" b="1" i="1" dirty="0"/>
              <a:t>m/2</a:t>
            </a:r>
            <a:r>
              <a:rPr lang="ru-RU" sz="1600" dirty="0"/>
              <a:t> потомков</a:t>
            </a:r>
          </a:p>
          <a:p>
            <a:pPr marL="339725" marR="5080" lvl="0" indent="-285750" defTabSz="914400" eaLnBrk="1" fontAlgn="auto" latinLnBrk="0" hangingPunct="1">
              <a:lnSpc>
                <a:spcPct val="100000"/>
              </a:lnSpc>
              <a:spcBef>
                <a:spcPts val="30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/>
              <a:t>Если корень – это узел не содержащий листьев, он должен иметь минимум </a:t>
            </a:r>
            <a:r>
              <a:rPr lang="ru-RU" sz="1600" b="1" dirty="0"/>
              <a:t>2</a:t>
            </a:r>
            <a:r>
              <a:rPr lang="ru-RU" sz="1600" dirty="0"/>
              <a:t> потомка</a:t>
            </a:r>
          </a:p>
          <a:p>
            <a:pPr marL="339725" marR="5080" lvl="0" indent="-285750" defTabSz="914400" eaLnBrk="1" fontAlgn="auto" latinLnBrk="0" hangingPunct="1">
              <a:lnSpc>
                <a:spcPct val="100000"/>
              </a:lnSpc>
              <a:spcBef>
                <a:spcPts val="30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/>
              <a:t>Узел без листьев с </a:t>
            </a:r>
            <a:r>
              <a:rPr lang="ru-RU" sz="1600" b="1" dirty="0"/>
              <a:t>n-1</a:t>
            </a:r>
            <a:r>
              <a:rPr lang="ru-RU" sz="1600" dirty="0"/>
              <a:t> ключами должен иметь </a:t>
            </a:r>
            <a:r>
              <a:rPr lang="ru-RU" sz="1600" b="1" dirty="0"/>
              <a:t>n</a:t>
            </a:r>
            <a:r>
              <a:rPr lang="ru-RU" sz="1600" dirty="0"/>
              <a:t> потомков</a:t>
            </a:r>
          </a:p>
          <a:p>
            <a:pPr marL="339725" marR="5080" lvl="0" indent="-285750" defTabSz="914400" eaLnBrk="1" fontAlgn="auto" latinLnBrk="0" hangingPunct="1">
              <a:lnSpc>
                <a:spcPct val="100000"/>
              </a:lnSpc>
              <a:spcBef>
                <a:spcPts val="30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/>
              <a:t>Все ключи в узле должны располагаться в порядке возрастания их значений</a:t>
            </a:r>
          </a:p>
          <a:p>
            <a:pPr marL="53975" marR="5080" lvl="0" defTabSz="914400" eaLnBrk="1" fontAlgn="auto" latinLnBrk="0" hangingPunct="1">
              <a:lnSpc>
                <a:spcPct val="100000"/>
              </a:lnSpc>
              <a:spcBef>
                <a:spcPts val="300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600" dirty="0">
                <a:hlinkClick r:id="rId2"/>
              </a:rPr>
              <a:t>Статья с хорошим разбором </a:t>
            </a:r>
            <a:r>
              <a:rPr lang="en-US" sz="1600" dirty="0">
                <a:hlinkClick r:id="rId2"/>
              </a:rPr>
              <a:t>B-</a:t>
            </a:r>
            <a:r>
              <a:rPr lang="ru-RU" sz="1600" dirty="0">
                <a:hlinkClick r:id="rId2"/>
              </a:rPr>
              <a:t>деревьев</a:t>
            </a:r>
            <a:endParaRPr lang="ru-RU" sz="1600" dirty="0"/>
          </a:p>
          <a:p>
            <a:pPr marL="53975" marR="5080" lvl="0" defTabSz="914400" eaLnBrk="1" fontAlgn="auto" latinLnBrk="0" hangingPunct="1">
              <a:lnSpc>
                <a:spcPct val="100000"/>
              </a:lnSpc>
              <a:spcBef>
                <a:spcPts val="3005"/>
              </a:spcBef>
              <a:spcAft>
                <a:spcPts val="0"/>
              </a:spcAft>
              <a:buClrTx/>
              <a:buSzTx/>
              <a:tabLst/>
              <a:defRPr/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747617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E7D83-E243-2181-5CDF-BB681BCA1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892F54-5B13-09F5-838F-14507E0CD944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584C13F-3279-0F28-F07B-C864386B692B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B947C3C-1F85-18A8-E090-E1002E0CE834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7F44180-5043-B067-FDDA-56436CBC97ED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30FE241-1291-8B58-19D7-6F359A85479A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EC787C5-FA4E-54FB-0FE1-5A84D74C2541}"/>
              </a:ext>
            </a:extLst>
          </p:cNvPr>
          <p:cNvSpPr txBox="1"/>
          <p:nvPr/>
        </p:nvSpPr>
        <p:spPr>
          <a:xfrm>
            <a:off x="803299" y="1465205"/>
            <a:ext cx="10405745" cy="60991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Зачем это нужно?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r>
              <a:rPr lang="ru-RU" sz="1600" dirty="0"/>
              <a:t>С ростом базы данных разница всё заметнее. </a:t>
            </a:r>
          </a:p>
          <a:p>
            <a:endParaRPr lang="ru-RU" sz="1600" dirty="0"/>
          </a:p>
          <a:p>
            <a:r>
              <a:rPr lang="ru-RU" sz="1600" dirty="0"/>
              <a:t>Если нужно хранить миллион значений, то вам понадобится:</a:t>
            </a:r>
          </a:p>
          <a:p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Двоичное дерево поиска высотой </a:t>
            </a:r>
            <a:r>
              <a:rPr lang="ru-RU" sz="1600" b="1" dirty="0"/>
              <a:t>20</a:t>
            </a:r>
            <a:r>
              <a:rPr lang="ru-RU" sz="1600" dirty="0"/>
              <a:t> уровней</a:t>
            </a:r>
          </a:p>
          <a:p>
            <a:r>
              <a:rPr lang="ru-RU" sz="1600" dirty="0"/>
              <a:t>ИЛИ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Дерево с узлами из трёх значений высотой </a:t>
            </a:r>
            <a:r>
              <a:rPr lang="ru-RU" sz="1600" b="1" dirty="0"/>
              <a:t>10</a:t>
            </a:r>
            <a:r>
              <a:rPr lang="ru-RU" sz="1600" dirty="0"/>
              <a:t> уровней</a:t>
            </a:r>
          </a:p>
          <a:p>
            <a:br>
              <a:rPr lang="ru-RU" sz="1600" dirty="0"/>
            </a:br>
            <a:r>
              <a:rPr lang="ru-RU" sz="1600" dirty="0"/>
              <a:t>Каждый уровень – это новое обращение к диску, которое стоит «дороже», чем последовательное считывание данных из одного узла.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Подробнее: </a:t>
            </a:r>
            <a:r>
              <a:rPr lang="ru-RU" sz="1600" dirty="0">
                <a:hlinkClick r:id="rId2"/>
              </a:rPr>
              <a:t>тут</a:t>
            </a:r>
            <a:r>
              <a:rPr lang="ru-RU" sz="1600" dirty="0"/>
              <a:t>.</a:t>
            </a: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2443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6539-46B4-A6F9-4EDC-F467807FF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8FF2D-026F-2C5C-3D60-224098A02533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0817656-F944-97B0-7CFF-F973381A1E5B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32BD28A-165E-990B-0B1C-6967FE7AD8BA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406D4FB-8DCB-BDDA-EAB6-B63617C2F399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7B386C0-8503-9450-93F0-32037D34FB81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3B800A0-3DF5-AA97-7B56-2194E144E738}"/>
              </a:ext>
            </a:extLst>
          </p:cNvPr>
          <p:cNvSpPr txBox="1"/>
          <p:nvPr/>
        </p:nvSpPr>
        <p:spPr>
          <a:xfrm>
            <a:off x="803299" y="1465205"/>
            <a:ext cx="10405745" cy="3131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Красно-чёрные деревья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F610A42-86D5-817C-1FF2-EF914755A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591" y="2438400"/>
            <a:ext cx="7493809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58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7D7A-7197-D816-5EB6-6359AB20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861B1EF-9F19-8C48-A988-3E83AEEAACC2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CB56DCB-11A2-904D-E87B-9DAF31B4F36F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564C980-7E77-09C9-E8DF-612C93678E8A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DB8A7E3-94F0-F95D-6551-522FBFE649F6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516C52B-79C0-D0C9-F5DD-A733D4CF93BB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4C78286-DA0F-2038-BAEE-B02DDD1BF1B7}"/>
              </a:ext>
            </a:extLst>
          </p:cNvPr>
          <p:cNvSpPr txBox="1"/>
          <p:nvPr/>
        </p:nvSpPr>
        <p:spPr>
          <a:xfrm>
            <a:off x="803299" y="1465205"/>
            <a:ext cx="10405745" cy="70839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Красно-чёрные деревья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/>
              <a:t>П</a:t>
            </a:r>
            <a:r>
              <a: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ринципы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устройства: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algn="l">
              <a:buFont typeface="+mj-lt"/>
              <a:buAutoNum type="arabicPeriod"/>
            </a:pPr>
            <a:r>
              <a:rPr lang="ru-R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Каждый узел промаркирован красным или чёрным цветом</a:t>
            </a:r>
          </a:p>
          <a:p>
            <a:pPr algn="l">
              <a:buFont typeface="+mj-lt"/>
              <a:buAutoNum type="arabicPeriod"/>
            </a:pPr>
            <a:r>
              <a:rPr lang="ru-R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Корень и конечные узлы (листья) дерева — чёрные</a:t>
            </a:r>
          </a:p>
          <a:p>
            <a:pPr algn="l">
              <a:buFont typeface="+mj-lt"/>
              <a:buAutoNum type="arabicPeriod"/>
            </a:pPr>
            <a:r>
              <a:rPr lang="ru-R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У красного узла родительский узел — чёрный</a:t>
            </a:r>
          </a:p>
          <a:p>
            <a:pPr algn="l">
              <a:buFont typeface="+mj-lt"/>
              <a:buAutoNum type="arabicPeriod"/>
            </a:pPr>
            <a:r>
              <a:rPr lang="ru-R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Все простые пути из любого узла </a:t>
            </a:r>
            <a:r>
              <a:rPr lang="ru-RU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x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до листьев содержат одинаковое количество чёрных узлов</a:t>
            </a:r>
          </a:p>
          <a:p>
            <a:pPr algn="l">
              <a:buFont typeface="+mj-lt"/>
              <a:buAutoNum type="arabicPeriod"/>
            </a:pPr>
            <a:r>
              <a:rPr lang="ru-R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Чёрный узел может иметь чёрного родителя.</a:t>
            </a:r>
          </a:p>
          <a:p>
            <a:pPr algn="l">
              <a:buFont typeface="+mj-lt"/>
              <a:buAutoNum type="arabicPeriod"/>
            </a:pPr>
            <a:endParaRPr lang="ru-RU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l"/>
            <a:r>
              <a:rPr lang="ru-RU" sz="1600" dirty="0">
                <a:solidFill>
                  <a:srgbClr val="222222"/>
                </a:solidFill>
                <a:latin typeface="Arial" panose="020B0604020202020204" pitchFamily="34" charset="0"/>
              </a:rPr>
              <a:t>Всегда считаем именно чёрную глубину (почему этого достаточно?)</a:t>
            </a:r>
            <a:br>
              <a:rPr lang="ru-RU" sz="16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endParaRPr lang="ru-RU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l"/>
            <a:r>
              <a:rPr lang="ru-RU" sz="1600" dirty="0">
                <a:solidFill>
                  <a:srgbClr val="222222"/>
                </a:solidFill>
                <a:latin typeface="Arial" panose="020B0604020202020204" pitchFamily="34" charset="0"/>
              </a:rPr>
              <a:t>Сложность поиска – </a:t>
            </a:r>
            <a:r>
              <a:rPr lang="en-US" sz="1600" i="1" dirty="0">
                <a:solidFill>
                  <a:srgbClr val="222222"/>
                </a:solidFill>
                <a:latin typeface="Arial" panose="020B0604020202020204" pitchFamily="34" charset="0"/>
              </a:rPr>
              <a:t>O(log N)</a:t>
            </a: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ru-RU" sz="1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14721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6C8BC-D9AC-B485-283F-483D2C1C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07F28B-7397-F8E5-5011-94EDBDDA84F9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298438D-BDED-775B-8B94-D1989542C9DB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4F4D6CA-A979-E989-DEDF-06A385834E44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B9D1016-E0D1-3662-1DAC-C34DA5CDCCA4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48703F4-BBC0-8EE2-0664-F146F8C96839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1B5955B-18B7-D148-0B79-197B0A805A01}"/>
              </a:ext>
            </a:extLst>
          </p:cNvPr>
          <p:cNvSpPr txBox="1"/>
          <p:nvPr/>
        </p:nvSpPr>
        <p:spPr>
          <a:xfrm>
            <a:off x="803299" y="1465205"/>
            <a:ext cx="10405745" cy="4870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Красно-чёрные деревья: механизмы балансировки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Вставляем всегда красный элемент (если это не корень).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Дальше возможны разные варианты.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Статья с картинками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462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4E54-3BE0-8258-4673-C398AE04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132594-EB49-C3A2-6E3C-CF234C7A0E82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5830FE-E0FD-D749-D770-F2FF2D436368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CCDB9D9-8EFD-B2F9-8BAC-A8C137661077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91276C1-5D2C-9EA9-477C-7220AE91E3CA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06C9192-8B00-9BB3-4843-AF1D2F5E0083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5DC6C8B-5968-5B00-0835-959D9A446278}"/>
              </a:ext>
            </a:extLst>
          </p:cNvPr>
          <p:cNvSpPr txBox="1"/>
          <p:nvPr/>
        </p:nvSpPr>
        <p:spPr>
          <a:xfrm>
            <a:off x="803299" y="1465205"/>
            <a:ext cx="10405745" cy="43627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Красно-чёрные деревья: механизмы балансировки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7BEDBCF-29BF-0427-16B8-603EC1621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713" y="2971800"/>
            <a:ext cx="6996887" cy="341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05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3149-48FB-00EB-12BF-2F3748A1C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E444E5-3194-8C40-CF83-534816B4D965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EE3EC5-62C5-8DFB-E96D-4D6D75777B1C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41D1720-DBA4-D822-57A2-652501E8A99F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9BB2CB3-DA48-A114-CFA2-A398E6DAB86E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B8FD6D9-9770-1FD7-96CE-7C5724CC5B8F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06C4C94-B613-FB37-C210-B9E5274FE8B4}"/>
              </a:ext>
            </a:extLst>
          </p:cNvPr>
          <p:cNvSpPr txBox="1"/>
          <p:nvPr/>
        </p:nvSpPr>
        <p:spPr>
          <a:xfrm>
            <a:off x="803299" y="1465205"/>
            <a:ext cx="10405745" cy="43627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Красно-чёрные деревья: механизмы балансировки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3D6CFE9-64D1-A148-872A-4AA3628F9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224813"/>
            <a:ext cx="4823619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993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F3E27-600A-DF90-0ABE-7B7314DC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86C1FA-8C7E-42D2-4730-8FA30B6D24D8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078ED8F-DB06-0222-7865-DA1FB19DB4E6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5476B81-90AA-DEC7-2011-0193C9D13B54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3E46AB0-F7C8-165B-D2F3-937B62DFA34C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EA136EA-CB62-ED12-3E3A-B798A1703C2F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ED14E09-AA75-3D0F-28A5-BD3D3D3E63F3}"/>
              </a:ext>
            </a:extLst>
          </p:cNvPr>
          <p:cNvSpPr txBox="1"/>
          <p:nvPr/>
        </p:nvSpPr>
        <p:spPr>
          <a:xfrm>
            <a:off x="803299" y="1465205"/>
            <a:ext cx="10405745" cy="43627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Красно-чёрные деревья: механизмы балансировки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707B1AC-2F84-2E03-F072-01D8B6322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468545"/>
            <a:ext cx="4953000" cy="42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479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06A6A-1946-1108-062E-BE6026A9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E90C1B-BA98-9F9E-3195-8BFAB062ECC9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54B36B4-C05B-4A8C-6B9E-5AF1721BAECC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BDA3F04-F34E-E2A2-A8F1-41CA310B02CA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1B957DE-8412-083D-75A0-3734C46A78F3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7ACE82A-F5A1-7299-8CC6-F80A301FFC06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171DC0C-9C4F-7691-42A5-3E3984A46ED2}"/>
              </a:ext>
            </a:extLst>
          </p:cNvPr>
          <p:cNvSpPr txBox="1"/>
          <p:nvPr/>
        </p:nvSpPr>
        <p:spPr>
          <a:xfrm>
            <a:off x="803299" y="1465205"/>
            <a:ext cx="10405745" cy="5978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Современные поисковые движки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ElasticSearch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Solr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оба на базе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Lucene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Хорошее описание того, как устроено индексирование и поиск в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ElasticSearch: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раз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два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4000" dirty="0">
              <a:latin typeface="Microsoft Sans Serif"/>
              <a:cs typeface="Microsoft Sans Serif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903985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6832</TotalTime>
  <Words>788</Words>
  <Application>Microsoft Office PowerPoint</Application>
  <PresentationFormat>Широкоэкранный</PresentationFormat>
  <Paragraphs>186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Microsoft Sans Serif</vt:lpstr>
      <vt:lpstr>Roboto</vt:lpstr>
      <vt:lpstr>Tahoma</vt:lpstr>
      <vt:lpstr>Verdana</vt:lpstr>
      <vt:lpstr>Office Theme</vt:lpstr>
      <vt:lpstr>Информационный поиск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RAG_infopoisk_2024</dc:title>
  <cp:lastModifiedBy>Даниил Трошин</cp:lastModifiedBy>
  <cp:revision>8</cp:revision>
  <dcterms:created xsi:type="dcterms:W3CDTF">2026-02-24T17:23:28Z</dcterms:created>
  <dcterms:modified xsi:type="dcterms:W3CDTF">2026-03-18T11:33:30Z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2026-02-24T00:00:00Z</vt:filetime>
  </property>
</Properties>
</file>
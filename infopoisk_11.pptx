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1" r:id="rId3"/>
    <p:sldId id="273" r:id="rId4"/>
    <p:sldId id="274" r:id="rId5"/>
    <p:sldId id="276" r:id="rId6"/>
    <p:sldId id="277" r:id="rId7"/>
    <p:sldId id="278" r:id="rId8"/>
    <p:sldId id="275" r:id="rId9"/>
    <p:sldId id="279" r:id="rId10"/>
    <p:sldId id="280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21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96158" y="1739051"/>
            <a:ext cx="7599683" cy="1949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89535"/>
            <a:ext cx="12192000" cy="6768465"/>
          </a:xfrm>
          <a:custGeom>
            <a:avLst/>
            <a:gdLst/>
            <a:ahLst/>
            <a:cxnLst/>
            <a:rect l="l" t="t" r="r" b="b"/>
            <a:pathLst>
              <a:path w="12192000" h="6768465">
                <a:moveTo>
                  <a:pt x="12191999" y="6768464"/>
                </a:moveTo>
                <a:lnTo>
                  <a:pt x="0" y="6768464"/>
                </a:lnTo>
                <a:lnTo>
                  <a:pt x="1901" y="382904"/>
                </a:lnTo>
                <a:lnTo>
                  <a:pt x="765806" y="381951"/>
                </a:lnTo>
                <a:lnTo>
                  <a:pt x="817122" y="375656"/>
                </a:lnTo>
                <a:lnTo>
                  <a:pt x="852008" y="355877"/>
                </a:lnTo>
                <a:lnTo>
                  <a:pt x="871891" y="321274"/>
                </a:lnTo>
                <a:lnTo>
                  <a:pt x="878201" y="270509"/>
                </a:lnTo>
                <a:lnTo>
                  <a:pt x="878201" y="99059"/>
                </a:lnTo>
                <a:lnTo>
                  <a:pt x="884943" y="57462"/>
                </a:lnTo>
                <a:lnTo>
                  <a:pt x="904276" y="26312"/>
                </a:lnTo>
                <a:lnTo>
                  <a:pt x="934861" y="6771"/>
                </a:lnTo>
                <a:lnTo>
                  <a:pt x="975356" y="0"/>
                </a:lnTo>
                <a:lnTo>
                  <a:pt x="3478526" y="0"/>
                </a:lnTo>
                <a:lnTo>
                  <a:pt x="3517936" y="6875"/>
                </a:lnTo>
                <a:lnTo>
                  <a:pt x="3548059" y="26431"/>
                </a:lnTo>
                <a:lnTo>
                  <a:pt x="3567466" y="57060"/>
                </a:lnTo>
                <a:lnTo>
                  <a:pt x="3574729" y="97154"/>
                </a:lnTo>
                <a:lnTo>
                  <a:pt x="3574729" y="274319"/>
                </a:lnTo>
                <a:lnTo>
                  <a:pt x="3581099" y="323031"/>
                </a:lnTo>
                <a:lnTo>
                  <a:pt x="3600685" y="356830"/>
                </a:lnTo>
                <a:lnTo>
                  <a:pt x="3634201" y="376520"/>
                </a:lnTo>
                <a:lnTo>
                  <a:pt x="3682361" y="382904"/>
                </a:lnTo>
                <a:lnTo>
                  <a:pt x="9047794" y="382904"/>
                </a:lnTo>
                <a:lnTo>
                  <a:pt x="9055816" y="383053"/>
                </a:lnTo>
                <a:lnTo>
                  <a:pt x="9064106" y="383380"/>
                </a:lnTo>
                <a:lnTo>
                  <a:pt x="9072574" y="383708"/>
                </a:lnTo>
                <a:lnTo>
                  <a:pt x="9081131" y="383856"/>
                </a:lnTo>
                <a:lnTo>
                  <a:pt x="9081131" y="382101"/>
                </a:lnTo>
                <a:lnTo>
                  <a:pt x="12191996" y="382101"/>
                </a:lnTo>
                <a:lnTo>
                  <a:pt x="12191999" y="6768464"/>
                </a:lnTo>
                <a:close/>
              </a:path>
            </a:pathLst>
          </a:custGeom>
          <a:solidFill>
            <a:srgbClr val="75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30054" y="209438"/>
            <a:ext cx="110045" cy="11004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-1" y="81915"/>
            <a:ext cx="12192000" cy="6776084"/>
          </a:xfrm>
          <a:custGeom>
            <a:avLst/>
            <a:gdLst/>
            <a:ahLst/>
            <a:cxnLst/>
            <a:rect l="l" t="t" r="r" b="b"/>
            <a:pathLst>
              <a:path w="12192000" h="6776084">
                <a:moveTo>
                  <a:pt x="0" y="6776084"/>
                </a:moveTo>
                <a:lnTo>
                  <a:pt x="0" y="391613"/>
                </a:lnTo>
                <a:lnTo>
                  <a:pt x="3455668" y="381951"/>
                </a:lnTo>
                <a:lnTo>
                  <a:pt x="3506984" y="375656"/>
                </a:lnTo>
                <a:lnTo>
                  <a:pt x="3541869" y="355877"/>
                </a:lnTo>
                <a:lnTo>
                  <a:pt x="3561752" y="321274"/>
                </a:lnTo>
                <a:lnTo>
                  <a:pt x="3568062" y="270509"/>
                </a:lnTo>
                <a:lnTo>
                  <a:pt x="3568062" y="99059"/>
                </a:lnTo>
                <a:lnTo>
                  <a:pt x="3574804" y="57462"/>
                </a:lnTo>
                <a:lnTo>
                  <a:pt x="3594137" y="26312"/>
                </a:lnTo>
                <a:lnTo>
                  <a:pt x="3624722" y="6771"/>
                </a:lnTo>
                <a:lnTo>
                  <a:pt x="3665218" y="0"/>
                </a:lnTo>
                <a:lnTo>
                  <a:pt x="6168387" y="0"/>
                </a:lnTo>
                <a:lnTo>
                  <a:pt x="6207797" y="6875"/>
                </a:lnTo>
                <a:lnTo>
                  <a:pt x="6237920" y="26431"/>
                </a:lnTo>
                <a:lnTo>
                  <a:pt x="6257327" y="57060"/>
                </a:lnTo>
                <a:lnTo>
                  <a:pt x="6264590" y="97155"/>
                </a:lnTo>
                <a:lnTo>
                  <a:pt x="6264590" y="274319"/>
                </a:lnTo>
                <a:lnTo>
                  <a:pt x="6270960" y="323031"/>
                </a:lnTo>
                <a:lnTo>
                  <a:pt x="6290546" y="356830"/>
                </a:lnTo>
                <a:lnTo>
                  <a:pt x="6324062" y="376520"/>
                </a:lnTo>
                <a:lnTo>
                  <a:pt x="6372222" y="382904"/>
                </a:lnTo>
                <a:lnTo>
                  <a:pt x="12192000" y="382101"/>
                </a:lnTo>
                <a:lnTo>
                  <a:pt x="12192000" y="6768464"/>
                </a:lnTo>
                <a:lnTo>
                  <a:pt x="0" y="6776084"/>
                </a:lnTo>
                <a:close/>
              </a:path>
            </a:pathLst>
          </a:custGeom>
          <a:solidFill>
            <a:srgbClr val="75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0264" y="202172"/>
            <a:ext cx="144582" cy="14566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973" y="203258"/>
            <a:ext cx="140234" cy="14023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0079" y="203258"/>
            <a:ext cx="140233" cy="14023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129196" y="182589"/>
            <a:ext cx="157039" cy="156977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-1" y="81915"/>
            <a:ext cx="12192000" cy="6776084"/>
          </a:xfrm>
          <a:custGeom>
            <a:avLst/>
            <a:gdLst/>
            <a:ahLst/>
            <a:cxnLst/>
            <a:rect l="l" t="t" r="r" b="b"/>
            <a:pathLst>
              <a:path w="12192000" h="6776084">
                <a:moveTo>
                  <a:pt x="0" y="6776084"/>
                </a:moveTo>
                <a:lnTo>
                  <a:pt x="0" y="391613"/>
                </a:lnTo>
                <a:lnTo>
                  <a:pt x="3455668" y="381951"/>
                </a:lnTo>
                <a:lnTo>
                  <a:pt x="3506984" y="375656"/>
                </a:lnTo>
                <a:lnTo>
                  <a:pt x="3541869" y="355877"/>
                </a:lnTo>
                <a:lnTo>
                  <a:pt x="3561752" y="321274"/>
                </a:lnTo>
                <a:lnTo>
                  <a:pt x="3568062" y="270509"/>
                </a:lnTo>
                <a:lnTo>
                  <a:pt x="3568062" y="99059"/>
                </a:lnTo>
                <a:lnTo>
                  <a:pt x="3574804" y="57462"/>
                </a:lnTo>
                <a:lnTo>
                  <a:pt x="3594137" y="26312"/>
                </a:lnTo>
                <a:lnTo>
                  <a:pt x="3624722" y="6771"/>
                </a:lnTo>
                <a:lnTo>
                  <a:pt x="3665218" y="0"/>
                </a:lnTo>
                <a:lnTo>
                  <a:pt x="6168387" y="0"/>
                </a:lnTo>
                <a:lnTo>
                  <a:pt x="6207797" y="6875"/>
                </a:lnTo>
                <a:lnTo>
                  <a:pt x="6237920" y="26431"/>
                </a:lnTo>
                <a:lnTo>
                  <a:pt x="6257327" y="57060"/>
                </a:lnTo>
                <a:lnTo>
                  <a:pt x="6264590" y="97155"/>
                </a:lnTo>
                <a:lnTo>
                  <a:pt x="6264590" y="274319"/>
                </a:lnTo>
                <a:lnTo>
                  <a:pt x="6270960" y="323031"/>
                </a:lnTo>
                <a:lnTo>
                  <a:pt x="6290546" y="356830"/>
                </a:lnTo>
                <a:lnTo>
                  <a:pt x="6324062" y="376520"/>
                </a:lnTo>
                <a:lnTo>
                  <a:pt x="6372222" y="382904"/>
                </a:lnTo>
                <a:lnTo>
                  <a:pt x="12192000" y="382101"/>
                </a:lnTo>
                <a:lnTo>
                  <a:pt x="12192000" y="6768464"/>
                </a:lnTo>
                <a:lnTo>
                  <a:pt x="0" y="6776084"/>
                </a:lnTo>
                <a:close/>
              </a:path>
            </a:pathLst>
          </a:custGeom>
          <a:solidFill>
            <a:srgbClr val="FFFFFF">
              <a:alpha val="2625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21548" y="206716"/>
            <a:ext cx="110045" cy="110045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0" y="69803"/>
            <a:ext cx="12192000" cy="6788784"/>
          </a:xfrm>
          <a:custGeom>
            <a:avLst/>
            <a:gdLst/>
            <a:ahLst/>
            <a:cxnLst/>
            <a:rect l="l" t="t" r="r" b="b"/>
            <a:pathLst>
              <a:path w="12192000" h="6788784">
                <a:moveTo>
                  <a:pt x="0" y="6788196"/>
                </a:moveTo>
                <a:lnTo>
                  <a:pt x="0" y="397488"/>
                </a:lnTo>
                <a:lnTo>
                  <a:pt x="6151430" y="382634"/>
                </a:lnTo>
                <a:lnTo>
                  <a:pt x="6202746" y="376328"/>
                </a:lnTo>
                <a:lnTo>
                  <a:pt x="6237632" y="356513"/>
                </a:lnTo>
                <a:lnTo>
                  <a:pt x="6257515" y="321849"/>
                </a:lnTo>
                <a:lnTo>
                  <a:pt x="6263826" y="270993"/>
                </a:lnTo>
                <a:lnTo>
                  <a:pt x="6263826" y="99236"/>
                </a:lnTo>
                <a:lnTo>
                  <a:pt x="6270568" y="57565"/>
                </a:lnTo>
                <a:lnTo>
                  <a:pt x="6289901" y="26359"/>
                </a:lnTo>
                <a:lnTo>
                  <a:pt x="6320485" y="6783"/>
                </a:lnTo>
                <a:lnTo>
                  <a:pt x="6360981" y="0"/>
                </a:lnTo>
                <a:lnTo>
                  <a:pt x="8864150" y="0"/>
                </a:lnTo>
                <a:lnTo>
                  <a:pt x="8903560" y="6888"/>
                </a:lnTo>
                <a:lnTo>
                  <a:pt x="8933683" y="26479"/>
                </a:lnTo>
                <a:lnTo>
                  <a:pt x="8953090" y="57162"/>
                </a:lnTo>
                <a:lnTo>
                  <a:pt x="8960353" y="97329"/>
                </a:lnTo>
                <a:lnTo>
                  <a:pt x="8960353" y="274810"/>
                </a:lnTo>
                <a:lnTo>
                  <a:pt x="8966723" y="323608"/>
                </a:lnTo>
                <a:lnTo>
                  <a:pt x="8986309" y="357468"/>
                </a:lnTo>
                <a:lnTo>
                  <a:pt x="9019825" y="377193"/>
                </a:lnTo>
                <a:lnTo>
                  <a:pt x="9067985" y="383589"/>
                </a:lnTo>
                <a:lnTo>
                  <a:pt x="12191999" y="383157"/>
                </a:lnTo>
                <a:lnTo>
                  <a:pt x="12191999" y="6782251"/>
                </a:lnTo>
                <a:lnTo>
                  <a:pt x="0" y="6788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275347" y="582328"/>
            <a:ext cx="10152380" cy="360045"/>
          </a:xfrm>
          <a:custGeom>
            <a:avLst/>
            <a:gdLst/>
            <a:ahLst/>
            <a:cxnLst/>
            <a:rect l="l" t="t" r="r" b="b"/>
            <a:pathLst>
              <a:path w="10152380" h="360044">
                <a:moveTo>
                  <a:pt x="9971999" y="359999"/>
                </a:moveTo>
                <a:lnTo>
                  <a:pt x="179999" y="359999"/>
                </a:lnTo>
                <a:lnTo>
                  <a:pt x="132148" y="353570"/>
                </a:lnTo>
                <a:lnTo>
                  <a:pt x="89150" y="335424"/>
                </a:lnTo>
                <a:lnTo>
                  <a:pt x="52720" y="307279"/>
                </a:lnTo>
                <a:lnTo>
                  <a:pt x="24575" y="270849"/>
                </a:lnTo>
                <a:lnTo>
                  <a:pt x="6429" y="227851"/>
                </a:lnTo>
                <a:lnTo>
                  <a:pt x="0" y="179999"/>
                </a:lnTo>
                <a:lnTo>
                  <a:pt x="6429" y="132148"/>
                </a:lnTo>
                <a:lnTo>
                  <a:pt x="24575" y="89150"/>
                </a:lnTo>
                <a:lnTo>
                  <a:pt x="52720" y="52720"/>
                </a:lnTo>
                <a:lnTo>
                  <a:pt x="89150" y="24575"/>
                </a:lnTo>
                <a:lnTo>
                  <a:pt x="132148" y="6429"/>
                </a:lnTo>
                <a:lnTo>
                  <a:pt x="179999" y="0"/>
                </a:lnTo>
                <a:lnTo>
                  <a:pt x="9971999" y="0"/>
                </a:lnTo>
                <a:lnTo>
                  <a:pt x="10040882" y="13701"/>
                </a:lnTo>
                <a:lnTo>
                  <a:pt x="10099279" y="52720"/>
                </a:lnTo>
                <a:lnTo>
                  <a:pt x="10138298" y="111116"/>
                </a:lnTo>
                <a:lnTo>
                  <a:pt x="10151999" y="179999"/>
                </a:lnTo>
                <a:lnTo>
                  <a:pt x="10145570" y="227851"/>
                </a:lnTo>
                <a:lnTo>
                  <a:pt x="10127424" y="270849"/>
                </a:lnTo>
                <a:lnTo>
                  <a:pt x="10099279" y="307279"/>
                </a:lnTo>
                <a:lnTo>
                  <a:pt x="10062849" y="335424"/>
                </a:lnTo>
                <a:lnTo>
                  <a:pt x="10019851" y="353570"/>
                </a:lnTo>
                <a:lnTo>
                  <a:pt x="9971999" y="3599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0" y="582328"/>
            <a:ext cx="12192000" cy="454025"/>
          </a:xfrm>
          <a:custGeom>
            <a:avLst/>
            <a:gdLst/>
            <a:ahLst/>
            <a:cxnLst/>
            <a:rect l="l" t="t" r="r" b="b"/>
            <a:pathLst>
              <a:path w="12192000" h="454025">
                <a:moveTo>
                  <a:pt x="1275346" y="179999"/>
                </a:moveTo>
                <a:lnTo>
                  <a:pt x="1281776" y="132148"/>
                </a:lnTo>
                <a:lnTo>
                  <a:pt x="1299922" y="89150"/>
                </a:lnTo>
                <a:lnTo>
                  <a:pt x="1328067" y="52720"/>
                </a:lnTo>
                <a:lnTo>
                  <a:pt x="1364497" y="24575"/>
                </a:lnTo>
                <a:lnTo>
                  <a:pt x="1407495" y="6429"/>
                </a:lnTo>
                <a:lnTo>
                  <a:pt x="1455346" y="0"/>
                </a:lnTo>
                <a:lnTo>
                  <a:pt x="11247346" y="0"/>
                </a:lnTo>
                <a:lnTo>
                  <a:pt x="11316229" y="13701"/>
                </a:lnTo>
                <a:lnTo>
                  <a:pt x="11374626" y="52720"/>
                </a:lnTo>
                <a:lnTo>
                  <a:pt x="11413645" y="111116"/>
                </a:lnTo>
                <a:lnTo>
                  <a:pt x="11427346" y="179999"/>
                </a:lnTo>
                <a:lnTo>
                  <a:pt x="11420917" y="227851"/>
                </a:lnTo>
                <a:lnTo>
                  <a:pt x="11402771" y="270849"/>
                </a:lnTo>
                <a:lnTo>
                  <a:pt x="11374626" y="307279"/>
                </a:lnTo>
                <a:lnTo>
                  <a:pt x="11338196" y="335424"/>
                </a:lnTo>
                <a:lnTo>
                  <a:pt x="11295198" y="353570"/>
                </a:lnTo>
                <a:lnTo>
                  <a:pt x="11247346" y="359999"/>
                </a:lnTo>
                <a:lnTo>
                  <a:pt x="1455346" y="359999"/>
                </a:lnTo>
                <a:lnTo>
                  <a:pt x="1407495" y="353570"/>
                </a:lnTo>
                <a:lnTo>
                  <a:pt x="1364497" y="335424"/>
                </a:lnTo>
                <a:lnTo>
                  <a:pt x="1328067" y="307279"/>
                </a:lnTo>
                <a:lnTo>
                  <a:pt x="1299922" y="270849"/>
                </a:lnTo>
                <a:lnTo>
                  <a:pt x="1281776" y="227851"/>
                </a:lnTo>
                <a:lnTo>
                  <a:pt x="1275346" y="179999"/>
                </a:lnTo>
                <a:close/>
              </a:path>
              <a:path w="12192000" h="454025">
                <a:moveTo>
                  <a:pt x="0" y="453991"/>
                </a:moveTo>
                <a:lnTo>
                  <a:pt x="12191999" y="453991"/>
                </a:lnTo>
              </a:path>
            </a:pathLst>
          </a:custGeom>
          <a:ln w="952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9118" y="666656"/>
            <a:ext cx="208279" cy="200971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1978390" y="641507"/>
            <a:ext cx="52705" cy="41275"/>
          </a:xfrm>
          <a:custGeom>
            <a:avLst/>
            <a:gdLst/>
            <a:ahLst/>
            <a:cxnLst/>
            <a:rect l="l" t="t" r="r" b="b"/>
            <a:pathLst>
              <a:path w="52704" h="41275">
                <a:moveTo>
                  <a:pt x="20421" y="40843"/>
                </a:moveTo>
                <a:lnTo>
                  <a:pt x="14897" y="37991"/>
                </a:lnTo>
                <a:lnTo>
                  <a:pt x="9732" y="32387"/>
                </a:lnTo>
                <a:lnTo>
                  <a:pt x="4806" y="25587"/>
                </a:lnTo>
                <a:lnTo>
                  <a:pt x="0" y="19145"/>
                </a:lnTo>
                <a:lnTo>
                  <a:pt x="5743" y="13461"/>
                </a:lnTo>
                <a:lnTo>
                  <a:pt x="11487" y="7179"/>
                </a:lnTo>
                <a:lnTo>
                  <a:pt x="17230" y="2094"/>
                </a:lnTo>
                <a:lnTo>
                  <a:pt x="22974" y="0"/>
                </a:lnTo>
                <a:lnTo>
                  <a:pt x="28279" y="1954"/>
                </a:lnTo>
                <a:lnTo>
                  <a:pt x="34781" y="7020"/>
                </a:lnTo>
                <a:lnTo>
                  <a:pt x="42718" y="13999"/>
                </a:lnTo>
                <a:lnTo>
                  <a:pt x="52331" y="21697"/>
                </a:lnTo>
                <a:lnTo>
                  <a:pt x="41960" y="29176"/>
                </a:lnTo>
                <a:lnTo>
                  <a:pt x="33504" y="35578"/>
                </a:lnTo>
                <a:lnTo>
                  <a:pt x="26484" y="39826"/>
                </a:lnTo>
                <a:lnTo>
                  <a:pt x="20421" y="40843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0540" y="690773"/>
            <a:ext cx="199479" cy="178698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4852" y="689158"/>
            <a:ext cx="199479" cy="178698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12004356" y="1037271"/>
            <a:ext cx="12700" cy="5793740"/>
          </a:xfrm>
          <a:custGeom>
            <a:avLst/>
            <a:gdLst/>
            <a:ahLst/>
            <a:cxnLst/>
            <a:rect l="l" t="t" r="r" b="b"/>
            <a:pathLst>
              <a:path w="12700" h="5793740">
                <a:moveTo>
                  <a:pt x="8572" y="5793371"/>
                </a:moveTo>
                <a:lnTo>
                  <a:pt x="3810" y="5791934"/>
                </a:lnTo>
                <a:lnTo>
                  <a:pt x="0" y="5791934"/>
                </a:lnTo>
                <a:lnTo>
                  <a:pt x="148" y="5774899"/>
                </a:lnTo>
                <a:lnTo>
                  <a:pt x="804" y="5741368"/>
                </a:lnTo>
                <a:lnTo>
                  <a:pt x="952" y="5724334"/>
                </a:lnTo>
                <a:lnTo>
                  <a:pt x="952" y="63284"/>
                </a:lnTo>
                <a:lnTo>
                  <a:pt x="804" y="47328"/>
                </a:lnTo>
                <a:lnTo>
                  <a:pt x="148" y="15956"/>
                </a:lnTo>
                <a:lnTo>
                  <a:pt x="0" y="0"/>
                </a:lnTo>
                <a:lnTo>
                  <a:pt x="3810" y="5753"/>
                </a:lnTo>
                <a:lnTo>
                  <a:pt x="10477" y="10068"/>
                </a:lnTo>
                <a:lnTo>
                  <a:pt x="11429" y="15821"/>
                </a:lnTo>
                <a:lnTo>
                  <a:pt x="12382" y="28743"/>
                </a:lnTo>
                <a:lnTo>
                  <a:pt x="12621" y="41530"/>
                </a:lnTo>
                <a:lnTo>
                  <a:pt x="12502" y="54048"/>
                </a:lnTo>
                <a:lnTo>
                  <a:pt x="12382" y="66160"/>
                </a:lnTo>
                <a:lnTo>
                  <a:pt x="12382" y="5791934"/>
                </a:lnTo>
                <a:lnTo>
                  <a:pt x="8572" y="5793371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978386" y="716813"/>
            <a:ext cx="52705" cy="116205"/>
          </a:xfrm>
          <a:custGeom>
            <a:avLst/>
            <a:gdLst/>
            <a:ahLst/>
            <a:cxnLst/>
            <a:rect l="l" t="t" r="r" b="b"/>
            <a:pathLst>
              <a:path w="52704" h="116205">
                <a:moveTo>
                  <a:pt x="52324" y="97015"/>
                </a:moveTo>
                <a:lnTo>
                  <a:pt x="42722" y="89331"/>
                </a:lnTo>
                <a:lnTo>
                  <a:pt x="34785" y="82486"/>
                </a:lnTo>
                <a:lnTo>
                  <a:pt x="28282" y="77800"/>
                </a:lnTo>
                <a:lnTo>
                  <a:pt x="22974" y="76593"/>
                </a:lnTo>
                <a:lnTo>
                  <a:pt x="16687" y="78676"/>
                </a:lnTo>
                <a:lnTo>
                  <a:pt x="11010" y="83769"/>
                </a:lnTo>
                <a:lnTo>
                  <a:pt x="5562" y="90043"/>
                </a:lnTo>
                <a:lnTo>
                  <a:pt x="0" y="95732"/>
                </a:lnTo>
                <a:lnTo>
                  <a:pt x="4800" y="101434"/>
                </a:lnTo>
                <a:lnTo>
                  <a:pt x="9728" y="107861"/>
                </a:lnTo>
                <a:lnTo>
                  <a:pt x="14897" y="113322"/>
                </a:lnTo>
                <a:lnTo>
                  <a:pt x="20421" y="116154"/>
                </a:lnTo>
                <a:lnTo>
                  <a:pt x="26657" y="114960"/>
                </a:lnTo>
                <a:lnTo>
                  <a:pt x="33985" y="110413"/>
                </a:lnTo>
                <a:lnTo>
                  <a:pt x="42494" y="103949"/>
                </a:lnTo>
                <a:lnTo>
                  <a:pt x="52324" y="97015"/>
                </a:lnTo>
                <a:close/>
              </a:path>
              <a:path w="52704" h="116205">
                <a:moveTo>
                  <a:pt x="52324" y="21704"/>
                </a:moveTo>
                <a:lnTo>
                  <a:pt x="42722" y="14008"/>
                </a:lnTo>
                <a:lnTo>
                  <a:pt x="34785" y="7023"/>
                </a:lnTo>
                <a:lnTo>
                  <a:pt x="28282" y="1955"/>
                </a:lnTo>
                <a:lnTo>
                  <a:pt x="22974" y="0"/>
                </a:lnTo>
                <a:lnTo>
                  <a:pt x="17233" y="2641"/>
                </a:lnTo>
                <a:lnTo>
                  <a:pt x="11480" y="7658"/>
                </a:lnTo>
                <a:lnTo>
                  <a:pt x="5740" y="13652"/>
                </a:lnTo>
                <a:lnTo>
                  <a:pt x="0" y="19151"/>
                </a:lnTo>
                <a:lnTo>
                  <a:pt x="4800" y="24853"/>
                </a:lnTo>
                <a:lnTo>
                  <a:pt x="9728" y="31280"/>
                </a:lnTo>
                <a:lnTo>
                  <a:pt x="14897" y="36741"/>
                </a:lnTo>
                <a:lnTo>
                  <a:pt x="20421" y="39573"/>
                </a:lnTo>
                <a:lnTo>
                  <a:pt x="26479" y="38569"/>
                </a:lnTo>
                <a:lnTo>
                  <a:pt x="33502" y="34467"/>
                </a:lnTo>
                <a:lnTo>
                  <a:pt x="41960" y="28448"/>
                </a:lnTo>
                <a:lnTo>
                  <a:pt x="52324" y="21704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bg object 3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727454" y="208222"/>
            <a:ext cx="110044" cy="110045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12031980" y="1086731"/>
            <a:ext cx="133350" cy="2268220"/>
          </a:xfrm>
          <a:custGeom>
            <a:avLst/>
            <a:gdLst/>
            <a:ahLst/>
            <a:cxnLst/>
            <a:rect l="l" t="t" r="r" b="b"/>
            <a:pathLst>
              <a:path w="133350" h="2268220">
                <a:moveTo>
                  <a:pt x="66408" y="2267755"/>
                </a:moveTo>
                <a:lnTo>
                  <a:pt x="23173" y="2257464"/>
                </a:lnTo>
                <a:lnTo>
                  <a:pt x="1383" y="2220310"/>
                </a:lnTo>
                <a:lnTo>
                  <a:pt x="1037" y="2211755"/>
                </a:lnTo>
                <a:lnTo>
                  <a:pt x="1209" y="2203199"/>
                </a:lnTo>
                <a:lnTo>
                  <a:pt x="1382" y="2195003"/>
                </a:lnTo>
                <a:lnTo>
                  <a:pt x="1194" y="2144541"/>
                </a:lnTo>
                <a:lnTo>
                  <a:pt x="1024" y="2094079"/>
                </a:lnTo>
                <a:lnTo>
                  <a:pt x="870" y="2043616"/>
                </a:lnTo>
                <a:lnTo>
                  <a:pt x="733" y="1993151"/>
                </a:lnTo>
                <a:lnTo>
                  <a:pt x="611" y="1942683"/>
                </a:lnTo>
                <a:lnTo>
                  <a:pt x="503" y="1892212"/>
                </a:lnTo>
                <a:lnTo>
                  <a:pt x="409" y="1841737"/>
                </a:lnTo>
                <a:lnTo>
                  <a:pt x="328" y="1791259"/>
                </a:lnTo>
                <a:lnTo>
                  <a:pt x="258" y="1740775"/>
                </a:lnTo>
                <a:lnTo>
                  <a:pt x="198" y="1690285"/>
                </a:lnTo>
                <a:lnTo>
                  <a:pt x="149" y="1639790"/>
                </a:lnTo>
                <a:lnTo>
                  <a:pt x="108" y="1589287"/>
                </a:lnTo>
                <a:lnTo>
                  <a:pt x="76" y="1538777"/>
                </a:lnTo>
                <a:lnTo>
                  <a:pt x="51" y="1488259"/>
                </a:lnTo>
                <a:lnTo>
                  <a:pt x="32" y="1437733"/>
                </a:lnTo>
                <a:lnTo>
                  <a:pt x="18" y="1387197"/>
                </a:lnTo>
                <a:lnTo>
                  <a:pt x="9" y="1336651"/>
                </a:lnTo>
                <a:lnTo>
                  <a:pt x="4" y="1286095"/>
                </a:lnTo>
                <a:lnTo>
                  <a:pt x="1" y="1235527"/>
                </a:lnTo>
                <a:lnTo>
                  <a:pt x="0" y="1184948"/>
                </a:lnTo>
                <a:lnTo>
                  <a:pt x="0" y="1134356"/>
                </a:lnTo>
                <a:lnTo>
                  <a:pt x="0" y="67966"/>
                </a:lnTo>
                <a:lnTo>
                  <a:pt x="3934" y="37961"/>
                </a:lnTo>
                <a:lnTo>
                  <a:pt x="15910" y="16752"/>
                </a:lnTo>
                <a:lnTo>
                  <a:pt x="36188" y="4158"/>
                </a:lnTo>
                <a:lnTo>
                  <a:pt x="65025" y="0"/>
                </a:lnTo>
                <a:lnTo>
                  <a:pt x="94079" y="4023"/>
                </a:lnTo>
                <a:lnTo>
                  <a:pt x="114831" y="16393"/>
                </a:lnTo>
                <a:lnTo>
                  <a:pt x="127283" y="37557"/>
                </a:lnTo>
                <a:lnTo>
                  <a:pt x="131433" y="67966"/>
                </a:lnTo>
                <a:lnTo>
                  <a:pt x="131433" y="2212234"/>
                </a:lnTo>
                <a:lnTo>
                  <a:pt x="132816" y="2220848"/>
                </a:lnTo>
                <a:lnTo>
                  <a:pt x="130049" y="2228506"/>
                </a:lnTo>
                <a:lnTo>
                  <a:pt x="122829" y="2245139"/>
                </a:lnTo>
                <a:lnTo>
                  <a:pt x="109643" y="2257464"/>
                </a:lnTo>
                <a:lnTo>
                  <a:pt x="90749" y="2265122"/>
                </a:lnTo>
                <a:lnTo>
                  <a:pt x="66408" y="226775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567159" y="612648"/>
            <a:ext cx="266065" cy="266065"/>
          </a:xfrm>
          <a:custGeom>
            <a:avLst/>
            <a:gdLst/>
            <a:ahLst/>
            <a:cxnLst/>
            <a:rect l="l" t="t" r="r" b="b"/>
            <a:pathLst>
              <a:path w="266065" h="266065">
                <a:moveTo>
                  <a:pt x="132986" y="265973"/>
                </a:moveTo>
                <a:lnTo>
                  <a:pt x="90952" y="259193"/>
                </a:lnTo>
                <a:lnTo>
                  <a:pt x="54446" y="240314"/>
                </a:lnTo>
                <a:lnTo>
                  <a:pt x="25658" y="211526"/>
                </a:lnTo>
                <a:lnTo>
                  <a:pt x="6779" y="175020"/>
                </a:lnTo>
                <a:lnTo>
                  <a:pt x="0" y="132986"/>
                </a:lnTo>
                <a:lnTo>
                  <a:pt x="6779" y="90952"/>
                </a:lnTo>
                <a:lnTo>
                  <a:pt x="25658" y="54446"/>
                </a:lnTo>
                <a:lnTo>
                  <a:pt x="54446" y="25658"/>
                </a:lnTo>
                <a:lnTo>
                  <a:pt x="90952" y="6779"/>
                </a:lnTo>
                <a:lnTo>
                  <a:pt x="132986" y="0"/>
                </a:lnTo>
                <a:lnTo>
                  <a:pt x="159052" y="2578"/>
                </a:lnTo>
                <a:lnTo>
                  <a:pt x="206768" y="22343"/>
                </a:lnTo>
                <a:lnTo>
                  <a:pt x="243630" y="59205"/>
                </a:lnTo>
                <a:lnTo>
                  <a:pt x="263394" y="106921"/>
                </a:lnTo>
                <a:lnTo>
                  <a:pt x="265973" y="132986"/>
                </a:lnTo>
                <a:lnTo>
                  <a:pt x="259193" y="175020"/>
                </a:lnTo>
                <a:lnTo>
                  <a:pt x="240314" y="211526"/>
                </a:lnTo>
                <a:lnTo>
                  <a:pt x="211526" y="240314"/>
                </a:lnTo>
                <a:lnTo>
                  <a:pt x="175020" y="259193"/>
                </a:lnTo>
                <a:lnTo>
                  <a:pt x="132986" y="265973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624270" y="669524"/>
            <a:ext cx="152699" cy="1622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ingsolver.com/introduction-to-recommender-systems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habr.com/ru/companies/econtenta/articles/303458/?ysclid=mm5t5i192h139527253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ashist/recsys-course/tree/spring2025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89535"/>
            <a:ext cx="12192000" cy="6768465"/>
            <a:chOff x="0" y="89535"/>
            <a:chExt cx="12192000" cy="6768465"/>
          </a:xfrm>
        </p:grpSpPr>
        <p:sp>
          <p:nvSpPr>
            <p:cNvPr id="4" name="object 4"/>
            <p:cNvSpPr/>
            <p:nvPr/>
          </p:nvSpPr>
          <p:spPr>
            <a:xfrm>
              <a:off x="0" y="89535"/>
              <a:ext cx="12192000" cy="6768465"/>
            </a:xfrm>
            <a:custGeom>
              <a:avLst/>
              <a:gdLst/>
              <a:ahLst/>
              <a:cxnLst/>
              <a:rect l="l" t="t" r="r" b="b"/>
              <a:pathLst>
                <a:path w="12192000" h="6768465">
                  <a:moveTo>
                    <a:pt x="12191999" y="6768464"/>
                  </a:moveTo>
                  <a:lnTo>
                    <a:pt x="0" y="6768464"/>
                  </a:lnTo>
                  <a:lnTo>
                    <a:pt x="1901" y="382904"/>
                  </a:lnTo>
                  <a:lnTo>
                    <a:pt x="765806" y="381951"/>
                  </a:lnTo>
                  <a:lnTo>
                    <a:pt x="817122" y="375656"/>
                  </a:lnTo>
                  <a:lnTo>
                    <a:pt x="852008" y="355877"/>
                  </a:lnTo>
                  <a:lnTo>
                    <a:pt x="871891" y="321274"/>
                  </a:lnTo>
                  <a:lnTo>
                    <a:pt x="878201" y="270509"/>
                  </a:lnTo>
                  <a:lnTo>
                    <a:pt x="878201" y="99059"/>
                  </a:lnTo>
                  <a:lnTo>
                    <a:pt x="884943" y="57462"/>
                  </a:lnTo>
                  <a:lnTo>
                    <a:pt x="904276" y="26312"/>
                  </a:lnTo>
                  <a:lnTo>
                    <a:pt x="934861" y="6771"/>
                  </a:lnTo>
                  <a:lnTo>
                    <a:pt x="975356" y="0"/>
                  </a:lnTo>
                  <a:lnTo>
                    <a:pt x="3478526" y="0"/>
                  </a:lnTo>
                  <a:lnTo>
                    <a:pt x="3517936" y="6875"/>
                  </a:lnTo>
                  <a:lnTo>
                    <a:pt x="3548059" y="26431"/>
                  </a:lnTo>
                  <a:lnTo>
                    <a:pt x="3567466" y="57060"/>
                  </a:lnTo>
                  <a:lnTo>
                    <a:pt x="3574729" y="97154"/>
                  </a:lnTo>
                  <a:lnTo>
                    <a:pt x="3574729" y="274319"/>
                  </a:lnTo>
                  <a:lnTo>
                    <a:pt x="3581099" y="323031"/>
                  </a:lnTo>
                  <a:lnTo>
                    <a:pt x="3600685" y="356830"/>
                  </a:lnTo>
                  <a:lnTo>
                    <a:pt x="3634201" y="376520"/>
                  </a:lnTo>
                  <a:lnTo>
                    <a:pt x="3682361" y="382904"/>
                  </a:lnTo>
                  <a:lnTo>
                    <a:pt x="9047794" y="382904"/>
                  </a:lnTo>
                  <a:lnTo>
                    <a:pt x="9055816" y="383053"/>
                  </a:lnTo>
                  <a:lnTo>
                    <a:pt x="9064106" y="383380"/>
                  </a:lnTo>
                  <a:lnTo>
                    <a:pt x="9072574" y="383708"/>
                  </a:lnTo>
                  <a:lnTo>
                    <a:pt x="9081131" y="383856"/>
                  </a:lnTo>
                  <a:lnTo>
                    <a:pt x="9081131" y="382101"/>
                  </a:lnTo>
                  <a:lnTo>
                    <a:pt x="12191996" y="382101"/>
                  </a:lnTo>
                  <a:lnTo>
                    <a:pt x="12191999" y="6768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264" y="202172"/>
              <a:ext cx="144582" cy="14566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079" y="203258"/>
              <a:ext cx="140233" cy="1402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73" y="203258"/>
              <a:ext cx="140234" cy="1402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0054" y="209438"/>
              <a:ext cx="110045" cy="11004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3860" y="197219"/>
              <a:ext cx="157040" cy="15697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75346" y="582327"/>
              <a:ext cx="10152380" cy="360045"/>
            </a:xfrm>
            <a:custGeom>
              <a:avLst/>
              <a:gdLst/>
              <a:ahLst/>
              <a:cxnLst/>
              <a:rect l="l" t="t" r="r" b="b"/>
              <a:pathLst>
                <a:path w="10152380" h="360044">
                  <a:moveTo>
                    <a:pt x="9971999" y="359999"/>
                  </a:moveTo>
                  <a:lnTo>
                    <a:pt x="179999" y="359999"/>
                  </a:lnTo>
                  <a:lnTo>
                    <a:pt x="132148" y="353570"/>
                  </a:lnTo>
                  <a:lnTo>
                    <a:pt x="89150" y="335424"/>
                  </a:lnTo>
                  <a:lnTo>
                    <a:pt x="52720" y="307279"/>
                  </a:lnTo>
                  <a:lnTo>
                    <a:pt x="24575" y="270849"/>
                  </a:lnTo>
                  <a:lnTo>
                    <a:pt x="6429" y="227851"/>
                  </a:lnTo>
                  <a:lnTo>
                    <a:pt x="0" y="179999"/>
                  </a:lnTo>
                  <a:lnTo>
                    <a:pt x="6429" y="132148"/>
                  </a:lnTo>
                  <a:lnTo>
                    <a:pt x="24575" y="89150"/>
                  </a:lnTo>
                  <a:lnTo>
                    <a:pt x="52720" y="52720"/>
                  </a:lnTo>
                  <a:lnTo>
                    <a:pt x="89150" y="24575"/>
                  </a:lnTo>
                  <a:lnTo>
                    <a:pt x="132148" y="6429"/>
                  </a:lnTo>
                  <a:lnTo>
                    <a:pt x="179999" y="0"/>
                  </a:lnTo>
                  <a:lnTo>
                    <a:pt x="9971999" y="0"/>
                  </a:lnTo>
                  <a:lnTo>
                    <a:pt x="10040882" y="13701"/>
                  </a:lnTo>
                  <a:lnTo>
                    <a:pt x="10099279" y="52720"/>
                  </a:lnTo>
                  <a:lnTo>
                    <a:pt x="10138298" y="111116"/>
                  </a:lnTo>
                  <a:lnTo>
                    <a:pt x="10151999" y="179999"/>
                  </a:lnTo>
                  <a:lnTo>
                    <a:pt x="10145570" y="227851"/>
                  </a:lnTo>
                  <a:lnTo>
                    <a:pt x="10127424" y="270849"/>
                  </a:lnTo>
                  <a:lnTo>
                    <a:pt x="10099279" y="307279"/>
                  </a:lnTo>
                  <a:lnTo>
                    <a:pt x="10062849" y="335424"/>
                  </a:lnTo>
                  <a:lnTo>
                    <a:pt x="10019851" y="353570"/>
                  </a:lnTo>
                  <a:lnTo>
                    <a:pt x="9971999" y="3599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582327"/>
              <a:ext cx="12192000" cy="454025"/>
            </a:xfrm>
            <a:custGeom>
              <a:avLst/>
              <a:gdLst/>
              <a:ahLst/>
              <a:cxnLst/>
              <a:rect l="l" t="t" r="r" b="b"/>
              <a:pathLst>
                <a:path w="12192000" h="454025">
                  <a:moveTo>
                    <a:pt x="1275346" y="179999"/>
                  </a:moveTo>
                  <a:lnTo>
                    <a:pt x="1281776" y="132148"/>
                  </a:lnTo>
                  <a:lnTo>
                    <a:pt x="1299922" y="89150"/>
                  </a:lnTo>
                  <a:lnTo>
                    <a:pt x="1328067" y="52720"/>
                  </a:lnTo>
                  <a:lnTo>
                    <a:pt x="1364497" y="24575"/>
                  </a:lnTo>
                  <a:lnTo>
                    <a:pt x="1407495" y="6429"/>
                  </a:lnTo>
                  <a:lnTo>
                    <a:pt x="1455346" y="0"/>
                  </a:lnTo>
                  <a:lnTo>
                    <a:pt x="11247346" y="0"/>
                  </a:lnTo>
                  <a:lnTo>
                    <a:pt x="11316229" y="13701"/>
                  </a:lnTo>
                  <a:lnTo>
                    <a:pt x="11374626" y="52720"/>
                  </a:lnTo>
                  <a:lnTo>
                    <a:pt x="11413645" y="111116"/>
                  </a:lnTo>
                  <a:lnTo>
                    <a:pt x="11427346" y="179999"/>
                  </a:lnTo>
                  <a:lnTo>
                    <a:pt x="11420917" y="227851"/>
                  </a:lnTo>
                  <a:lnTo>
                    <a:pt x="11402771" y="270849"/>
                  </a:lnTo>
                  <a:lnTo>
                    <a:pt x="11374626" y="307279"/>
                  </a:lnTo>
                  <a:lnTo>
                    <a:pt x="11338196" y="335424"/>
                  </a:lnTo>
                  <a:lnTo>
                    <a:pt x="11295198" y="353570"/>
                  </a:lnTo>
                  <a:lnTo>
                    <a:pt x="11247346" y="359999"/>
                  </a:lnTo>
                  <a:lnTo>
                    <a:pt x="1455346" y="359999"/>
                  </a:lnTo>
                  <a:lnTo>
                    <a:pt x="1407495" y="353570"/>
                  </a:lnTo>
                  <a:lnTo>
                    <a:pt x="1364497" y="335424"/>
                  </a:lnTo>
                  <a:lnTo>
                    <a:pt x="1328067" y="307279"/>
                  </a:lnTo>
                  <a:lnTo>
                    <a:pt x="1299922" y="270849"/>
                  </a:lnTo>
                  <a:lnTo>
                    <a:pt x="1281776" y="227851"/>
                  </a:lnTo>
                  <a:lnTo>
                    <a:pt x="1275346" y="179999"/>
                  </a:lnTo>
                  <a:close/>
                </a:path>
                <a:path w="12192000" h="454025">
                  <a:moveTo>
                    <a:pt x="0" y="453991"/>
                  </a:moveTo>
                  <a:lnTo>
                    <a:pt x="12191999" y="453991"/>
                  </a:lnTo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117" y="666656"/>
              <a:ext cx="208279" cy="20097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031981" y="1086731"/>
              <a:ext cx="133350" cy="2268220"/>
            </a:xfrm>
            <a:custGeom>
              <a:avLst/>
              <a:gdLst/>
              <a:ahLst/>
              <a:cxnLst/>
              <a:rect l="l" t="t" r="r" b="b"/>
              <a:pathLst>
                <a:path w="133350" h="2268220">
                  <a:moveTo>
                    <a:pt x="66408" y="2267755"/>
                  </a:moveTo>
                  <a:lnTo>
                    <a:pt x="23173" y="2257464"/>
                  </a:lnTo>
                  <a:lnTo>
                    <a:pt x="1383" y="2220310"/>
                  </a:lnTo>
                  <a:lnTo>
                    <a:pt x="1037" y="2211755"/>
                  </a:lnTo>
                  <a:lnTo>
                    <a:pt x="1209" y="2203199"/>
                  </a:lnTo>
                  <a:lnTo>
                    <a:pt x="1382" y="2195003"/>
                  </a:lnTo>
                  <a:lnTo>
                    <a:pt x="1194" y="2144541"/>
                  </a:lnTo>
                  <a:lnTo>
                    <a:pt x="1024" y="2094079"/>
                  </a:lnTo>
                  <a:lnTo>
                    <a:pt x="870" y="2043616"/>
                  </a:lnTo>
                  <a:lnTo>
                    <a:pt x="733" y="1993151"/>
                  </a:lnTo>
                  <a:lnTo>
                    <a:pt x="611" y="1942683"/>
                  </a:lnTo>
                  <a:lnTo>
                    <a:pt x="503" y="1892212"/>
                  </a:lnTo>
                  <a:lnTo>
                    <a:pt x="409" y="1841737"/>
                  </a:lnTo>
                  <a:lnTo>
                    <a:pt x="328" y="1791259"/>
                  </a:lnTo>
                  <a:lnTo>
                    <a:pt x="258" y="1740775"/>
                  </a:lnTo>
                  <a:lnTo>
                    <a:pt x="198" y="1690285"/>
                  </a:lnTo>
                  <a:lnTo>
                    <a:pt x="149" y="1639790"/>
                  </a:lnTo>
                  <a:lnTo>
                    <a:pt x="108" y="1589287"/>
                  </a:lnTo>
                  <a:lnTo>
                    <a:pt x="76" y="1538777"/>
                  </a:lnTo>
                  <a:lnTo>
                    <a:pt x="51" y="1488259"/>
                  </a:lnTo>
                  <a:lnTo>
                    <a:pt x="32" y="1437733"/>
                  </a:lnTo>
                  <a:lnTo>
                    <a:pt x="18" y="1387197"/>
                  </a:lnTo>
                  <a:lnTo>
                    <a:pt x="9" y="1336651"/>
                  </a:lnTo>
                  <a:lnTo>
                    <a:pt x="4" y="1286095"/>
                  </a:lnTo>
                  <a:lnTo>
                    <a:pt x="1" y="1235527"/>
                  </a:lnTo>
                  <a:lnTo>
                    <a:pt x="0" y="1184948"/>
                  </a:lnTo>
                  <a:lnTo>
                    <a:pt x="0" y="1134356"/>
                  </a:lnTo>
                  <a:lnTo>
                    <a:pt x="0" y="67966"/>
                  </a:lnTo>
                  <a:lnTo>
                    <a:pt x="3934" y="37961"/>
                  </a:lnTo>
                  <a:lnTo>
                    <a:pt x="15910" y="16752"/>
                  </a:lnTo>
                  <a:lnTo>
                    <a:pt x="36188" y="4158"/>
                  </a:lnTo>
                  <a:lnTo>
                    <a:pt x="65025" y="0"/>
                  </a:lnTo>
                  <a:lnTo>
                    <a:pt x="94079" y="4023"/>
                  </a:lnTo>
                  <a:lnTo>
                    <a:pt x="114831" y="16393"/>
                  </a:lnTo>
                  <a:lnTo>
                    <a:pt x="127283" y="37557"/>
                  </a:lnTo>
                  <a:lnTo>
                    <a:pt x="131433" y="67966"/>
                  </a:lnTo>
                  <a:lnTo>
                    <a:pt x="131433" y="2212234"/>
                  </a:lnTo>
                  <a:lnTo>
                    <a:pt x="132816" y="2220848"/>
                  </a:lnTo>
                  <a:lnTo>
                    <a:pt x="130049" y="2228506"/>
                  </a:lnTo>
                  <a:lnTo>
                    <a:pt x="122829" y="2245139"/>
                  </a:lnTo>
                  <a:lnTo>
                    <a:pt x="109643" y="2257464"/>
                  </a:lnTo>
                  <a:lnTo>
                    <a:pt x="90749" y="2265122"/>
                  </a:lnTo>
                  <a:lnTo>
                    <a:pt x="66408" y="226775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004357" y="1037272"/>
              <a:ext cx="12700" cy="5793740"/>
            </a:xfrm>
            <a:custGeom>
              <a:avLst/>
              <a:gdLst/>
              <a:ahLst/>
              <a:cxnLst/>
              <a:rect l="l" t="t" r="r" b="b"/>
              <a:pathLst>
                <a:path w="12700" h="5793740">
                  <a:moveTo>
                    <a:pt x="8572" y="5793371"/>
                  </a:moveTo>
                  <a:lnTo>
                    <a:pt x="3810" y="5791934"/>
                  </a:lnTo>
                  <a:lnTo>
                    <a:pt x="0" y="5791934"/>
                  </a:lnTo>
                  <a:lnTo>
                    <a:pt x="148" y="5774899"/>
                  </a:lnTo>
                  <a:lnTo>
                    <a:pt x="804" y="5741368"/>
                  </a:lnTo>
                  <a:lnTo>
                    <a:pt x="952" y="5724334"/>
                  </a:lnTo>
                  <a:lnTo>
                    <a:pt x="952" y="63284"/>
                  </a:lnTo>
                  <a:lnTo>
                    <a:pt x="804" y="47328"/>
                  </a:lnTo>
                  <a:lnTo>
                    <a:pt x="148" y="15956"/>
                  </a:lnTo>
                  <a:lnTo>
                    <a:pt x="0" y="0"/>
                  </a:lnTo>
                  <a:lnTo>
                    <a:pt x="3810" y="5753"/>
                  </a:lnTo>
                  <a:lnTo>
                    <a:pt x="10477" y="10068"/>
                  </a:lnTo>
                  <a:lnTo>
                    <a:pt x="11429" y="15821"/>
                  </a:lnTo>
                  <a:lnTo>
                    <a:pt x="12382" y="28743"/>
                  </a:lnTo>
                  <a:lnTo>
                    <a:pt x="12621" y="41530"/>
                  </a:lnTo>
                  <a:lnTo>
                    <a:pt x="12502" y="54048"/>
                  </a:lnTo>
                  <a:lnTo>
                    <a:pt x="12382" y="66160"/>
                  </a:lnTo>
                  <a:lnTo>
                    <a:pt x="12382" y="5791934"/>
                  </a:lnTo>
                  <a:lnTo>
                    <a:pt x="8572" y="5793371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978386" y="641514"/>
              <a:ext cx="52705" cy="191770"/>
            </a:xfrm>
            <a:custGeom>
              <a:avLst/>
              <a:gdLst/>
              <a:ahLst/>
              <a:cxnLst/>
              <a:rect l="l" t="t" r="r" b="b"/>
              <a:pathLst>
                <a:path w="52704" h="191769">
                  <a:moveTo>
                    <a:pt x="52324" y="172313"/>
                  </a:moveTo>
                  <a:lnTo>
                    <a:pt x="42722" y="164630"/>
                  </a:lnTo>
                  <a:lnTo>
                    <a:pt x="34785" y="157784"/>
                  </a:lnTo>
                  <a:lnTo>
                    <a:pt x="28282" y="153098"/>
                  </a:lnTo>
                  <a:lnTo>
                    <a:pt x="22974" y="151892"/>
                  </a:lnTo>
                  <a:lnTo>
                    <a:pt x="16687" y="153974"/>
                  </a:lnTo>
                  <a:lnTo>
                    <a:pt x="11010" y="159067"/>
                  </a:lnTo>
                  <a:lnTo>
                    <a:pt x="5562" y="165341"/>
                  </a:lnTo>
                  <a:lnTo>
                    <a:pt x="0" y="171030"/>
                  </a:lnTo>
                  <a:lnTo>
                    <a:pt x="4800" y="176733"/>
                  </a:lnTo>
                  <a:lnTo>
                    <a:pt x="9728" y="183159"/>
                  </a:lnTo>
                  <a:lnTo>
                    <a:pt x="14897" y="188620"/>
                  </a:lnTo>
                  <a:lnTo>
                    <a:pt x="20421" y="191452"/>
                  </a:lnTo>
                  <a:lnTo>
                    <a:pt x="26657" y="190258"/>
                  </a:lnTo>
                  <a:lnTo>
                    <a:pt x="33985" y="185712"/>
                  </a:lnTo>
                  <a:lnTo>
                    <a:pt x="42494" y="179247"/>
                  </a:lnTo>
                  <a:lnTo>
                    <a:pt x="52324" y="172313"/>
                  </a:lnTo>
                  <a:close/>
                </a:path>
                <a:path w="52704" h="191769">
                  <a:moveTo>
                    <a:pt x="52324" y="97002"/>
                  </a:moveTo>
                  <a:lnTo>
                    <a:pt x="42722" y="89306"/>
                  </a:lnTo>
                  <a:lnTo>
                    <a:pt x="34785" y="82321"/>
                  </a:lnTo>
                  <a:lnTo>
                    <a:pt x="28282" y="77254"/>
                  </a:lnTo>
                  <a:lnTo>
                    <a:pt x="22974" y="75298"/>
                  </a:lnTo>
                  <a:lnTo>
                    <a:pt x="17233" y="77939"/>
                  </a:lnTo>
                  <a:lnTo>
                    <a:pt x="11480" y="82956"/>
                  </a:lnTo>
                  <a:lnTo>
                    <a:pt x="5740" y="88950"/>
                  </a:lnTo>
                  <a:lnTo>
                    <a:pt x="0" y="94449"/>
                  </a:lnTo>
                  <a:lnTo>
                    <a:pt x="4800" y="100152"/>
                  </a:lnTo>
                  <a:lnTo>
                    <a:pt x="9728" y="106578"/>
                  </a:lnTo>
                  <a:lnTo>
                    <a:pt x="14897" y="112039"/>
                  </a:lnTo>
                  <a:lnTo>
                    <a:pt x="20421" y="114871"/>
                  </a:lnTo>
                  <a:lnTo>
                    <a:pt x="26479" y="113868"/>
                  </a:lnTo>
                  <a:lnTo>
                    <a:pt x="33502" y="109766"/>
                  </a:lnTo>
                  <a:lnTo>
                    <a:pt x="41960" y="103746"/>
                  </a:lnTo>
                  <a:lnTo>
                    <a:pt x="52324" y="97002"/>
                  </a:lnTo>
                  <a:close/>
                </a:path>
                <a:path w="52704" h="191769">
                  <a:moveTo>
                    <a:pt x="52324" y="21691"/>
                  </a:moveTo>
                  <a:lnTo>
                    <a:pt x="42722" y="13995"/>
                  </a:lnTo>
                  <a:lnTo>
                    <a:pt x="34785" y="7023"/>
                  </a:lnTo>
                  <a:lnTo>
                    <a:pt x="28282" y="1955"/>
                  </a:lnTo>
                  <a:lnTo>
                    <a:pt x="22974" y="0"/>
                  </a:lnTo>
                  <a:lnTo>
                    <a:pt x="17233" y="2095"/>
                  </a:lnTo>
                  <a:lnTo>
                    <a:pt x="11480" y="7175"/>
                  </a:lnTo>
                  <a:lnTo>
                    <a:pt x="5740" y="13462"/>
                  </a:lnTo>
                  <a:lnTo>
                    <a:pt x="0" y="19138"/>
                  </a:lnTo>
                  <a:lnTo>
                    <a:pt x="4800" y="25590"/>
                  </a:lnTo>
                  <a:lnTo>
                    <a:pt x="9728" y="32385"/>
                  </a:lnTo>
                  <a:lnTo>
                    <a:pt x="14897" y="37985"/>
                  </a:lnTo>
                  <a:lnTo>
                    <a:pt x="20421" y="40843"/>
                  </a:lnTo>
                  <a:lnTo>
                    <a:pt x="26479" y="39827"/>
                  </a:lnTo>
                  <a:lnTo>
                    <a:pt x="33502" y="35572"/>
                  </a:lnTo>
                  <a:lnTo>
                    <a:pt x="41960" y="29171"/>
                  </a:lnTo>
                  <a:lnTo>
                    <a:pt x="52324" y="21691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540" y="690773"/>
              <a:ext cx="199479" cy="1786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852" y="689158"/>
              <a:ext cx="199479" cy="1786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1347" y="3787096"/>
              <a:ext cx="7589300" cy="7919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428346" y="3914096"/>
              <a:ext cx="7335520" cy="538480"/>
            </a:xfrm>
            <a:custGeom>
              <a:avLst/>
              <a:gdLst/>
              <a:ahLst/>
              <a:cxnLst/>
              <a:rect l="l" t="t" r="r" b="b"/>
              <a:pathLst>
                <a:path w="7335520" h="538479">
                  <a:moveTo>
                    <a:pt x="7066349" y="537899"/>
                  </a:moveTo>
                  <a:lnTo>
                    <a:pt x="268949" y="537899"/>
                  </a:lnTo>
                  <a:lnTo>
                    <a:pt x="220605" y="533566"/>
                  </a:lnTo>
                  <a:lnTo>
                    <a:pt x="175104" y="521073"/>
                  </a:lnTo>
                  <a:lnTo>
                    <a:pt x="133205" y="501180"/>
                  </a:lnTo>
                  <a:lnTo>
                    <a:pt x="95669" y="474646"/>
                  </a:lnTo>
                  <a:lnTo>
                    <a:pt x="63253" y="442231"/>
                  </a:lnTo>
                  <a:lnTo>
                    <a:pt x="36719" y="404694"/>
                  </a:lnTo>
                  <a:lnTo>
                    <a:pt x="16826" y="362795"/>
                  </a:lnTo>
                  <a:lnTo>
                    <a:pt x="4333" y="317294"/>
                  </a:lnTo>
                  <a:lnTo>
                    <a:pt x="0" y="268949"/>
                  </a:lnTo>
                  <a:lnTo>
                    <a:pt x="4333" y="220605"/>
                  </a:lnTo>
                  <a:lnTo>
                    <a:pt x="16826" y="175104"/>
                  </a:lnTo>
                  <a:lnTo>
                    <a:pt x="36719" y="133205"/>
                  </a:lnTo>
                  <a:lnTo>
                    <a:pt x="63253" y="95668"/>
                  </a:lnTo>
                  <a:lnTo>
                    <a:pt x="95669" y="63253"/>
                  </a:lnTo>
                  <a:lnTo>
                    <a:pt x="133205" y="36719"/>
                  </a:lnTo>
                  <a:lnTo>
                    <a:pt x="175104" y="16826"/>
                  </a:lnTo>
                  <a:lnTo>
                    <a:pt x="220605" y="4333"/>
                  </a:lnTo>
                  <a:lnTo>
                    <a:pt x="268949" y="0"/>
                  </a:lnTo>
                  <a:lnTo>
                    <a:pt x="7066349" y="0"/>
                  </a:lnTo>
                  <a:lnTo>
                    <a:pt x="7119064" y="5215"/>
                  </a:lnTo>
                  <a:lnTo>
                    <a:pt x="7169272" y="20472"/>
                  </a:lnTo>
                  <a:lnTo>
                    <a:pt x="7215563" y="45186"/>
                  </a:lnTo>
                  <a:lnTo>
                    <a:pt x="7256526" y="78773"/>
                  </a:lnTo>
                  <a:lnTo>
                    <a:pt x="7290113" y="119736"/>
                  </a:lnTo>
                  <a:lnTo>
                    <a:pt x="7314827" y="166027"/>
                  </a:lnTo>
                  <a:lnTo>
                    <a:pt x="7330084" y="216235"/>
                  </a:lnTo>
                  <a:lnTo>
                    <a:pt x="7335299" y="268949"/>
                  </a:lnTo>
                  <a:lnTo>
                    <a:pt x="7330966" y="317294"/>
                  </a:lnTo>
                  <a:lnTo>
                    <a:pt x="7318473" y="362795"/>
                  </a:lnTo>
                  <a:lnTo>
                    <a:pt x="7298580" y="404694"/>
                  </a:lnTo>
                  <a:lnTo>
                    <a:pt x="7272046" y="442231"/>
                  </a:lnTo>
                  <a:lnTo>
                    <a:pt x="7239631" y="474646"/>
                  </a:lnTo>
                  <a:lnTo>
                    <a:pt x="7202094" y="501180"/>
                  </a:lnTo>
                  <a:lnTo>
                    <a:pt x="7160195" y="521073"/>
                  </a:lnTo>
                  <a:lnTo>
                    <a:pt x="7114694" y="533566"/>
                  </a:lnTo>
                  <a:lnTo>
                    <a:pt x="7066349" y="53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73097" y="4073422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101441" y="202882"/>
                  </a:moveTo>
                  <a:lnTo>
                    <a:pt x="62053" y="194877"/>
                  </a:lnTo>
                  <a:lnTo>
                    <a:pt x="29798" y="173083"/>
                  </a:lnTo>
                  <a:lnTo>
                    <a:pt x="8004" y="140828"/>
                  </a:lnTo>
                  <a:lnTo>
                    <a:pt x="0" y="101441"/>
                  </a:lnTo>
                  <a:lnTo>
                    <a:pt x="8004" y="62053"/>
                  </a:lnTo>
                  <a:lnTo>
                    <a:pt x="29798" y="29798"/>
                  </a:lnTo>
                  <a:lnTo>
                    <a:pt x="62053" y="8004"/>
                  </a:lnTo>
                  <a:lnTo>
                    <a:pt x="101441" y="0"/>
                  </a:lnTo>
                  <a:lnTo>
                    <a:pt x="140828" y="8004"/>
                  </a:lnTo>
                  <a:lnTo>
                    <a:pt x="158508" y="19949"/>
                  </a:lnTo>
                  <a:lnTo>
                    <a:pt x="101103" y="19949"/>
                  </a:lnTo>
                  <a:lnTo>
                    <a:pt x="69592" y="26353"/>
                  </a:lnTo>
                  <a:lnTo>
                    <a:pt x="43788" y="43788"/>
                  </a:lnTo>
                  <a:lnTo>
                    <a:pt x="26353" y="69592"/>
                  </a:lnTo>
                  <a:lnTo>
                    <a:pt x="19949" y="101102"/>
                  </a:lnTo>
                  <a:lnTo>
                    <a:pt x="26353" y="132613"/>
                  </a:lnTo>
                  <a:lnTo>
                    <a:pt x="43788" y="158417"/>
                  </a:lnTo>
                  <a:lnTo>
                    <a:pt x="69592" y="175852"/>
                  </a:lnTo>
                  <a:lnTo>
                    <a:pt x="101103" y="182255"/>
                  </a:lnTo>
                  <a:lnTo>
                    <a:pt x="162460" y="182255"/>
                  </a:lnTo>
                  <a:lnTo>
                    <a:pt x="149324" y="190757"/>
                  </a:lnTo>
                  <a:lnTo>
                    <a:pt x="134367" y="197345"/>
                  </a:lnTo>
                  <a:lnTo>
                    <a:pt x="118332" y="201461"/>
                  </a:lnTo>
                  <a:lnTo>
                    <a:pt x="101441" y="202882"/>
                  </a:lnTo>
                  <a:close/>
                </a:path>
                <a:path w="267335" h="267335">
                  <a:moveTo>
                    <a:pt x="162460" y="182255"/>
                  </a:moveTo>
                  <a:lnTo>
                    <a:pt x="101103" y="182255"/>
                  </a:lnTo>
                  <a:lnTo>
                    <a:pt x="132613" y="175852"/>
                  </a:lnTo>
                  <a:lnTo>
                    <a:pt x="158417" y="158417"/>
                  </a:lnTo>
                  <a:lnTo>
                    <a:pt x="175852" y="132613"/>
                  </a:lnTo>
                  <a:lnTo>
                    <a:pt x="182187" y="101441"/>
                  </a:lnTo>
                  <a:lnTo>
                    <a:pt x="182256" y="101102"/>
                  </a:lnTo>
                  <a:lnTo>
                    <a:pt x="175852" y="69592"/>
                  </a:lnTo>
                  <a:lnTo>
                    <a:pt x="158417" y="43788"/>
                  </a:lnTo>
                  <a:lnTo>
                    <a:pt x="132613" y="26353"/>
                  </a:lnTo>
                  <a:lnTo>
                    <a:pt x="101103" y="19949"/>
                  </a:lnTo>
                  <a:lnTo>
                    <a:pt x="158508" y="19949"/>
                  </a:lnTo>
                  <a:lnTo>
                    <a:pt x="173084" y="29798"/>
                  </a:lnTo>
                  <a:lnTo>
                    <a:pt x="194878" y="62053"/>
                  </a:lnTo>
                  <a:lnTo>
                    <a:pt x="202813" y="101102"/>
                  </a:lnTo>
                  <a:lnTo>
                    <a:pt x="202882" y="101441"/>
                  </a:lnTo>
                  <a:lnTo>
                    <a:pt x="201461" y="118379"/>
                  </a:lnTo>
                  <a:lnTo>
                    <a:pt x="197345" y="134494"/>
                  </a:lnTo>
                  <a:lnTo>
                    <a:pt x="190757" y="149467"/>
                  </a:lnTo>
                  <a:lnTo>
                    <a:pt x="181917" y="162982"/>
                  </a:lnTo>
                  <a:lnTo>
                    <a:pt x="196796" y="177859"/>
                  </a:lnTo>
                  <a:lnTo>
                    <a:pt x="209418" y="177859"/>
                  </a:lnTo>
                  <a:lnTo>
                    <a:pt x="212012" y="178536"/>
                  </a:lnTo>
                  <a:lnTo>
                    <a:pt x="215393" y="181917"/>
                  </a:lnTo>
                  <a:lnTo>
                    <a:pt x="162982" y="181917"/>
                  </a:lnTo>
                  <a:lnTo>
                    <a:pt x="162460" y="182255"/>
                  </a:lnTo>
                  <a:close/>
                </a:path>
                <a:path w="267335" h="267335">
                  <a:moveTo>
                    <a:pt x="209418" y="177859"/>
                  </a:moveTo>
                  <a:lnTo>
                    <a:pt x="196796" y="177859"/>
                  </a:lnTo>
                  <a:lnTo>
                    <a:pt x="204234" y="176507"/>
                  </a:lnTo>
                  <a:lnTo>
                    <a:pt x="209418" y="177859"/>
                  </a:lnTo>
                  <a:close/>
                </a:path>
                <a:path w="267335" h="267335">
                  <a:moveTo>
                    <a:pt x="249545" y="267128"/>
                  </a:moveTo>
                  <a:lnTo>
                    <a:pt x="237372" y="267128"/>
                  </a:lnTo>
                  <a:lnTo>
                    <a:pt x="231286" y="264761"/>
                  </a:lnTo>
                  <a:lnTo>
                    <a:pt x="178536" y="212012"/>
                  </a:lnTo>
                  <a:lnTo>
                    <a:pt x="176507" y="204234"/>
                  </a:lnTo>
                  <a:lnTo>
                    <a:pt x="177760" y="197345"/>
                  </a:lnTo>
                  <a:lnTo>
                    <a:pt x="177860" y="196795"/>
                  </a:lnTo>
                  <a:lnTo>
                    <a:pt x="162982" y="181917"/>
                  </a:lnTo>
                  <a:lnTo>
                    <a:pt x="215393" y="181917"/>
                  </a:lnTo>
                  <a:lnTo>
                    <a:pt x="260027" y="226551"/>
                  </a:lnTo>
                  <a:lnTo>
                    <a:pt x="265168" y="234302"/>
                  </a:lnTo>
                  <a:lnTo>
                    <a:pt x="266917" y="243163"/>
                  </a:lnTo>
                  <a:lnTo>
                    <a:pt x="265305" y="252086"/>
                  </a:lnTo>
                  <a:lnTo>
                    <a:pt x="260365" y="260027"/>
                  </a:lnTo>
                  <a:lnTo>
                    <a:pt x="255631" y="264761"/>
                  </a:lnTo>
                  <a:lnTo>
                    <a:pt x="249545" y="2671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444521" y="4268715"/>
              <a:ext cx="22860" cy="72390"/>
            </a:xfrm>
            <a:custGeom>
              <a:avLst/>
              <a:gdLst/>
              <a:ahLst/>
              <a:cxnLst/>
              <a:rect l="l" t="t" r="r" b="b"/>
              <a:pathLst>
                <a:path w="22859" h="72389">
                  <a:moveTo>
                    <a:pt x="17327" y="72333"/>
                  </a:moveTo>
                  <a:lnTo>
                    <a:pt x="4997" y="72333"/>
                  </a:lnTo>
                  <a:lnTo>
                    <a:pt x="0" y="67336"/>
                  </a:lnTo>
                  <a:lnTo>
                    <a:pt x="0" y="11162"/>
                  </a:lnTo>
                  <a:lnTo>
                    <a:pt x="0" y="4997"/>
                  </a:lnTo>
                  <a:lnTo>
                    <a:pt x="4997" y="0"/>
                  </a:lnTo>
                  <a:lnTo>
                    <a:pt x="14122" y="0"/>
                  </a:lnTo>
                  <a:lnTo>
                    <a:pt x="16961" y="1176"/>
                  </a:lnTo>
                  <a:lnTo>
                    <a:pt x="19055" y="3269"/>
                  </a:lnTo>
                  <a:lnTo>
                    <a:pt x="21148" y="5362"/>
                  </a:lnTo>
                  <a:lnTo>
                    <a:pt x="22324" y="8202"/>
                  </a:lnTo>
                  <a:lnTo>
                    <a:pt x="22324" y="67336"/>
                  </a:lnTo>
                  <a:lnTo>
                    <a:pt x="17327" y="72333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80922" y="4164647"/>
              <a:ext cx="149603" cy="1066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15912" y="4047351"/>
              <a:ext cx="79530" cy="18874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567159" y="612647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132986" y="265973"/>
                  </a:moveTo>
                  <a:lnTo>
                    <a:pt x="90952" y="259193"/>
                  </a:lnTo>
                  <a:lnTo>
                    <a:pt x="54446" y="240314"/>
                  </a:lnTo>
                  <a:lnTo>
                    <a:pt x="25658" y="211526"/>
                  </a:lnTo>
                  <a:lnTo>
                    <a:pt x="6779" y="175020"/>
                  </a:lnTo>
                  <a:lnTo>
                    <a:pt x="0" y="132986"/>
                  </a:lnTo>
                  <a:lnTo>
                    <a:pt x="6779" y="90952"/>
                  </a:lnTo>
                  <a:lnTo>
                    <a:pt x="25658" y="54446"/>
                  </a:lnTo>
                  <a:lnTo>
                    <a:pt x="54446" y="25658"/>
                  </a:lnTo>
                  <a:lnTo>
                    <a:pt x="90952" y="6779"/>
                  </a:lnTo>
                  <a:lnTo>
                    <a:pt x="132986" y="0"/>
                  </a:lnTo>
                  <a:lnTo>
                    <a:pt x="159052" y="2578"/>
                  </a:lnTo>
                  <a:lnTo>
                    <a:pt x="206768" y="22343"/>
                  </a:lnTo>
                  <a:lnTo>
                    <a:pt x="243630" y="59205"/>
                  </a:lnTo>
                  <a:lnTo>
                    <a:pt x="263394" y="106921"/>
                  </a:lnTo>
                  <a:lnTo>
                    <a:pt x="265973" y="132986"/>
                  </a:lnTo>
                  <a:lnTo>
                    <a:pt x="259193" y="175020"/>
                  </a:lnTo>
                  <a:lnTo>
                    <a:pt x="240314" y="211526"/>
                  </a:lnTo>
                  <a:lnTo>
                    <a:pt x="211526" y="240314"/>
                  </a:lnTo>
                  <a:lnTo>
                    <a:pt x="175020" y="259193"/>
                  </a:lnTo>
                  <a:lnTo>
                    <a:pt x="132986" y="265973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24270" y="669524"/>
              <a:ext cx="152699" cy="16229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503986" y="6613304"/>
            <a:ext cx="1183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57070"/>
                </a:solidFill>
                <a:latin typeface="Roboto"/>
                <a:cs typeface="Roboto"/>
              </a:rPr>
              <a:t>slidesmania.com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12825" y="4028588"/>
            <a:ext cx="33403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solidFill>
                  <a:srgbClr val="595959"/>
                </a:solidFill>
                <a:latin typeface="Roboto"/>
                <a:cs typeface="Roboto"/>
              </a:rPr>
              <a:t>Рекомендательные системы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2646680" marR="5080" indent="-2633980">
              <a:lnSpc>
                <a:spcPts val="6750"/>
              </a:lnSpc>
              <a:spcBef>
                <a:spcPts val="1700"/>
              </a:spcBef>
            </a:pP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н</a:t>
            </a:r>
            <a:r>
              <a:rPr sz="7000" spc="-30" dirty="0">
                <a:solidFill>
                  <a:srgbClr val="FABB05"/>
                </a:solidFill>
                <a:latin typeface="Microsoft Sans Serif"/>
                <a:cs typeface="Microsoft Sans Serif"/>
              </a:rPr>
              <a:t>ф</a:t>
            </a:r>
            <a:r>
              <a:rPr sz="7000" spc="-30" dirty="0">
                <a:solidFill>
                  <a:srgbClr val="34A853"/>
                </a:solidFill>
                <a:latin typeface="Microsoft Sans Serif"/>
                <a:cs typeface="Microsoft Sans Serif"/>
              </a:rPr>
              <a:t>о</a:t>
            </a: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р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м</a:t>
            </a:r>
            <a:r>
              <a:rPr sz="7000" spc="-30" dirty="0">
                <a:solidFill>
                  <a:srgbClr val="FABB05"/>
                </a:solidFill>
                <a:latin typeface="Microsoft Sans Serif"/>
                <a:cs typeface="Microsoft Sans Serif"/>
              </a:rPr>
              <a:t>а</a:t>
            </a:r>
            <a:r>
              <a:rPr sz="7000" spc="-30" dirty="0">
                <a:solidFill>
                  <a:srgbClr val="34A853"/>
                </a:solidFill>
                <a:latin typeface="Microsoft Sans Serif"/>
                <a:cs typeface="Microsoft Sans Serif"/>
              </a:rPr>
              <a:t>ц</a:t>
            </a: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о</a:t>
            </a:r>
            <a:r>
              <a:rPr sz="7000" spc="-30" dirty="0">
                <a:solidFill>
                  <a:srgbClr val="FABB05"/>
                </a:solidFill>
                <a:latin typeface="Microsoft Sans Serif"/>
                <a:cs typeface="Microsoft Sans Serif"/>
              </a:rPr>
              <a:t>н</a:t>
            </a:r>
            <a:r>
              <a:rPr sz="7000" spc="-30" dirty="0">
                <a:solidFill>
                  <a:srgbClr val="34A853"/>
                </a:solidFill>
                <a:latin typeface="Microsoft Sans Serif"/>
                <a:cs typeface="Microsoft Sans Serif"/>
              </a:rPr>
              <a:t>н</a:t>
            </a: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ы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й </a:t>
            </a:r>
            <a:r>
              <a:rPr sz="7000" spc="-10" dirty="0">
                <a:solidFill>
                  <a:srgbClr val="FABB05"/>
                </a:solidFill>
                <a:latin typeface="Microsoft Sans Serif"/>
                <a:cs typeface="Microsoft Sans Serif"/>
              </a:rPr>
              <a:t>п</a:t>
            </a:r>
            <a:r>
              <a:rPr sz="7000" spc="-10" dirty="0">
                <a:solidFill>
                  <a:srgbClr val="34A853"/>
                </a:solidFill>
                <a:latin typeface="Microsoft Sans Serif"/>
                <a:cs typeface="Microsoft Sans Serif"/>
              </a:rPr>
              <a:t>о</a:t>
            </a:r>
            <a:r>
              <a:rPr sz="7000" spc="-10" dirty="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sz="7000" spc="-10" dirty="0">
                <a:solidFill>
                  <a:srgbClr val="EA4335"/>
                </a:solidFill>
                <a:latin typeface="Microsoft Sans Serif"/>
                <a:cs typeface="Microsoft Sans Serif"/>
              </a:rPr>
              <a:t>с</a:t>
            </a:r>
            <a:r>
              <a:rPr sz="7000" spc="-10" dirty="0">
                <a:solidFill>
                  <a:srgbClr val="FABB05"/>
                </a:solidFill>
                <a:latin typeface="Microsoft Sans Serif"/>
                <a:cs typeface="Microsoft Sans Serif"/>
              </a:rPr>
              <a:t>к</a:t>
            </a:r>
            <a:endParaRPr sz="7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3299" y="1465205"/>
            <a:ext cx="10405745" cy="262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Рекомендательные системы</a:t>
            </a:r>
            <a:endParaRPr sz="4000" dirty="0">
              <a:latin typeface="Verdana"/>
              <a:cs typeface="Verdana"/>
            </a:endParaRP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lang="ru-RU" sz="1600" b="1" dirty="0"/>
              <a:t>Рекомендательная система</a:t>
            </a:r>
            <a:r>
              <a:rPr lang="ru-RU" sz="1600" dirty="0"/>
              <a:t> – это программа, которая анализирует данные о пользователях и предсказывает их интересы, чтобы предложить наиболее подходящие товары, услуги или контент. Цель таких систем – помочь клиентам быстро найти то, что им нужно, среди огромного массива товаров или контента.</a:t>
            </a:r>
            <a:endParaRPr lang="en-US" sz="1600" dirty="0"/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endParaRPr lang="en-US" sz="1600" dirty="0">
              <a:latin typeface="Tahoma"/>
              <a:cs typeface="Tahoma"/>
            </a:endParaRPr>
          </a:p>
        </p:txBody>
      </p:sp>
      <p:pic>
        <p:nvPicPr>
          <p:cNvPr id="10" name="object 9">
            <a:extLst>
              <a:ext uri="{FF2B5EF4-FFF2-40B4-BE49-F238E27FC236}">
                <a16:creationId xmlns:a16="http://schemas.microsoft.com/office/drawing/2014/main" id="{B69177D0-5EBD-F76A-3F4F-F2CB8659A97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733800"/>
            <a:ext cx="4800600" cy="2628926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Шрифт, рукописный текст, текст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8BA688B-6378-7EC6-E155-F1A413611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33800"/>
            <a:ext cx="4197096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BE9F6-F1C1-D218-FE32-E9BF7F5A4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A66AA87-F850-A607-62A2-055F7AF2B3B7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6CB99A5-27A6-835E-0C04-E3B25DD28FD9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77C6615-4107-BA79-7B7C-351265C3A7FD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A246965-CC24-4466-443B-2719FF1FA0CC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1232337-F6BB-C593-9496-4BF6C15F47E3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75851E39-E318-C3F0-1398-9BB2701C74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9751" y="1141563"/>
            <a:ext cx="9169401" cy="4342115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750567CC-E0F5-8F1A-199C-FC1C01667721}"/>
              </a:ext>
            </a:extLst>
          </p:cNvPr>
          <p:cNvSpPr txBox="1"/>
          <p:nvPr/>
        </p:nvSpPr>
        <p:spPr>
          <a:xfrm>
            <a:off x="609600" y="6096000"/>
            <a:ext cx="78486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ahoma"/>
                <a:cs typeface="Tahoma"/>
              </a:rPr>
              <a:t>image</a:t>
            </a:r>
            <a:r>
              <a:rPr sz="1600" spc="10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credit:</a:t>
            </a:r>
            <a:r>
              <a:rPr sz="1600" spc="100" dirty="0"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0072BB"/>
                </a:solidFill>
                <a:latin typeface="Tahoma"/>
                <a:cs typeface="Tahoma"/>
                <a:hlinkClick r:id="rId3"/>
              </a:rPr>
              <a:t>https://thingsolver.com/introduction-</a:t>
            </a:r>
            <a:r>
              <a:rPr sz="1600" spc="-10" dirty="0">
                <a:solidFill>
                  <a:srgbClr val="0072BB"/>
                </a:solidFill>
                <a:latin typeface="Tahoma"/>
                <a:cs typeface="Tahoma"/>
                <a:hlinkClick r:id="rId3"/>
              </a:rPr>
              <a:t>to-</a:t>
            </a:r>
            <a:r>
              <a:rPr sz="1600" spc="-25" dirty="0">
                <a:solidFill>
                  <a:srgbClr val="0072BB"/>
                </a:solidFill>
                <a:latin typeface="Tahoma"/>
                <a:cs typeface="Tahoma"/>
                <a:hlinkClick r:id="rId3"/>
              </a:rPr>
              <a:t>recommender-</a:t>
            </a:r>
            <a:r>
              <a:rPr sz="1600" spc="-10" dirty="0">
                <a:solidFill>
                  <a:srgbClr val="0072BB"/>
                </a:solidFill>
                <a:latin typeface="Tahoma"/>
                <a:cs typeface="Tahoma"/>
                <a:hlinkClick r:id="rId3"/>
              </a:rPr>
              <a:t>systems</a:t>
            </a:r>
            <a:endParaRPr sz="16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312744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9B50F-9F78-7D46-8A3D-9D1AE64D7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6356FA-B0B7-2E08-C1C1-6AF4B3DA419B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C5F3E7D-F4FE-6936-1A2A-BC5E32119CB6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5556461-742D-CC0E-BDDD-9196FE4A3402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BBC9CA4-A5C8-0E01-F99A-9822D552D336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D62B5EC-5F19-E735-B0CB-90F0AC91AB78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2910AFF-3D15-7FC9-2A08-ADA30EE41CB3}"/>
              </a:ext>
            </a:extLst>
          </p:cNvPr>
          <p:cNvSpPr txBox="1"/>
          <p:nvPr/>
        </p:nvSpPr>
        <p:spPr>
          <a:xfrm>
            <a:off x="803299" y="1465205"/>
            <a:ext cx="1040574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Рекомендательные системы</a:t>
            </a:r>
            <a:endParaRPr sz="4000" dirty="0">
              <a:latin typeface="Verdana"/>
              <a:cs typeface="Verdana"/>
            </a:endParaRPr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6D70F32C-9A5D-D65E-DCED-89627EDA11EC}"/>
              </a:ext>
            </a:extLst>
          </p:cNvPr>
          <p:cNvSpPr txBox="1"/>
          <p:nvPr/>
        </p:nvSpPr>
        <p:spPr>
          <a:xfrm>
            <a:off x="850749" y="2396298"/>
            <a:ext cx="9588651" cy="123559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95"/>
              </a:spcBef>
            </a:pPr>
            <a:r>
              <a:rPr lang="ru-RU" sz="2400" b="1" spc="-10" dirty="0">
                <a:latin typeface="Arial"/>
                <a:cs typeface="Arial"/>
              </a:rPr>
              <a:t>Дано</a:t>
            </a:r>
            <a:r>
              <a:rPr sz="2400" b="1" spc="-10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278130">
              <a:lnSpc>
                <a:spcPct val="100000"/>
              </a:lnSpc>
              <a:spcBef>
                <a:spcPts val="295"/>
              </a:spcBef>
            </a:pPr>
            <a:r>
              <a:rPr sz="2400" i="1" dirty="0">
                <a:latin typeface="Arial"/>
                <a:cs typeface="Arial"/>
              </a:rPr>
              <a:t>U</a:t>
            </a:r>
            <a:r>
              <a:rPr sz="2400" i="1" spc="30" dirty="0">
                <a:latin typeface="Arial"/>
                <a:cs typeface="Arial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60" dirty="0">
                <a:latin typeface="Lucida Sans Unicode"/>
                <a:cs typeface="Lucida Sans Unicode"/>
              </a:rPr>
              <a:t>{</a:t>
            </a:r>
            <a:r>
              <a:rPr sz="2400" i="1" spc="60" dirty="0">
                <a:latin typeface="Arial"/>
                <a:cs typeface="Arial"/>
              </a:rPr>
              <a:t>u</a:t>
            </a:r>
            <a:r>
              <a:rPr sz="2800" i="1" spc="89" baseline="-11904" dirty="0">
                <a:latin typeface="Arial"/>
                <a:cs typeface="Arial"/>
              </a:rPr>
              <a:t>j</a:t>
            </a:r>
            <a:r>
              <a:rPr sz="2800" i="1" spc="-120" baseline="-11904" dirty="0">
                <a:latin typeface="Arial"/>
                <a:cs typeface="Arial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|</a:t>
            </a:r>
            <a:r>
              <a:rPr sz="2400" i="1" dirty="0">
                <a:latin typeface="Arial"/>
                <a:cs typeface="Arial"/>
              </a:rPr>
              <a:t>,</a:t>
            </a:r>
            <a:r>
              <a:rPr sz="2400" i="1" spc="20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j</a:t>
            </a:r>
            <a:r>
              <a:rPr sz="2400" i="1" spc="80" dirty="0">
                <a:latin typeface="Arial"/>
                <a:cs typeface="Arial"/>
              </a:rPr>
              <a:t> </a:t>
            </a:r>
            <a:r>
              <a:rPr sz="2400" spc="-150" dirty="0">
                <a:latin typeface="Lucida Sans Unicode"/>
                <a:cs typeface="Lucida Sans Unicode"/>
              </a:rPr>
              <a:t>∈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35" dirty="0">
                <a:latin typeface="Tahoma"/>
                <a:cs typeface="Tahoma"/>
              </a:rPr>
              <a:t>1</a:t>
            </a:r>
            <a:r>
              <a:rPr sz="2400" i="1" spc="-35" dirty="0">
                <a:latin typeface="Arial"/>
                <a:cs typeface="Arial"/>
              </a:rPr>
              <a:t>,</a:t>
            </a:r>
            <a:r>
              <a:rPr sz="2400" i="1" spc="-114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114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114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114" dirty="0">
                <a:latin typeface="Arial"/>
                <a:cs typeface="Arial"/>
              </a:rPr>
              <a:t> </a:t>
            </a:r>
            <a:r>
              <a:rPr sz="2400" i="1" spc="-45" dirty="0">
                <a:latin typeface="Arial"/>
                <a:cs typeface="Arial"/>
              </a:rPr>
              <a:t>n</a:t>
            </a:r>
            <a:r>
              <a:rPr sz="2800" i="1" spc="-67" baseline="-11904" dirty="0">
                <a:latin typeface="Arial"/>
                <a:cs typeface="Arial"/>
              </a:rPr>
              <a:t>users</a:t>
            </a:r>
            <a:r>
              <a:rPr sz="2800" i="1" spc="-142" baseline="-11904" dirty="0">
                <a:latin typeface="Arial"/>
                <a:cs typeface="Arial"/>
              </a:rPr>
              <a:t> </a:t>
            </a:r>
            <a:r>
              <a:rPr sz="2400" spc="170" dirty="0">
                <a:latin typeface="Lucida Sans Unicode"/>
                <a:cs typeface="Lucida Sans Unicode"/>
              </a:rPr>
              <a:t>}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200" dirty="0">
                <a:latin typeface="Arial MT"/>
                <a:cs typeface="Arial MT"/>
              </a:rPr>
              <a:t>—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lang="ru-RU" sz="2400" spc="-20" dirty="0">
                <a:latin typeface="Arial MT"/>
                <a:cs typeface="Arial MT"/>
              </a:rPr>
              <a:t>множество пользователей</a:t>
            </a:r>
            <a:endParaRPr sz="2400" dirty="0">
              <a:latin typeface="Arial MT"/>
              <a:cs typeface="Arial MT"/>
            </a:endParaRPr>
          </a:p>
          <a:p>
            <a:pPr marL="278130">
              <a:lnSpc>
                <a:spcPct val="100000"/>
              </a:lnSpc>
              <a:spcBef>
                <a:spcPts val="290"/>
              </a:spcBef>
            </a:pPr>
            <a:r>
              <a:rPr sz="2400" i="1" dirty="0">
                <a:latin typeface="Arial"/>
                <a:cs typeface="Arial"/>
              </a:rPr>
              <a:t>I</a:t>
            </a:r>
            <a:r>
              <a:rPr sz="2400" i="1" spc="135" dirty="0">
                <a:latin typeface="Arial"/>
                <a:cs typeface="Arial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75" dirty="0">
                <a:latin typeface="Lucida Sans Unicode"/>
                <a:cs typeface="Lucida Sans Unicode"/>
              </a:rPr>
              <a:t>{</a:t>
            </a:r>
            <a:r>
              <a:rPr sz="2400" i="1" spc="75" dirty="0">
                <a:latin typeface="Arial"/>
                <a:cs typeface="Arial"/>
              </a:rPr>
              <a:t>i</a:t>
            </a:r>
            <a:r>
              <a:rPr sz="2800" i="1" spc="112" baseline="-11904" dirty="0">
                <a:latin typeface="Arial"/>
                <a:cs typeface="Arial"/>
              </a:rPr>
              <a:t>j</a:t>
            </a:r>
            <a:r>
              <a:rPr sz="2800" i="1" spc="-112" baseline="-11904" dirty="0">
                <a:latin typeface="Arial"/>
                <a:cs typeface="Arial"/>
              </a:rPr>
              <a:t> </a:t>
            </a:r>
            <a:r>
              <a:rPr sz="2400" spc="-110" dirty="0">
                <a:latin typeface="Lucida Sans Unicode"/>
                <a:cs typeface="Lucida Sans Unicode"/>
              </a:rPr>
              <a:t>|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Arial"/>
                <a:cs typeface="Arial"/>
              </a:rPr>
              <a:t>,</a:t>
            </a:r>
            <a:r>
              <a:rPr sz="2400" i="1" spc="2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j</a:t>
            </a:r>
            <a:r>
              <a:rPr sz="2400" i="1" spc="95" dirty="0">
                <a:latin typeface="Arial"/>
                <a:cs typeface="Arial"/>
              </a:rPr>
              <a:t> </a:t>
            </a:r>
            <a:r>
              <a:rPr sz="2400" spc="-150" dirty="0">
                <a:latin typeface="Lucida Sans Unicode"/>
                <a:cs typeface="Lucida Sans Unicode"/>
              </a:rPr>
              <a:t>∈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35" dirty="0">
                <a:latin typeface="Tahoma"/>
                <a:cs typeface="Tahoma"/>
              </a:rPr>
              <a:t>1</a:t>
            </a:r>
            <a:r>
              <a:rPr sz="2400" i="1" spc="-35" dirty="0">
                <a:latin typeface="Arial"/>
                <a:cs typeface="Arial"/>
              </a:rPr>
              <a:t>,</a:t>
            </a:r>
            <a:r>
              <a:rPr sz="2400" i="1" spc="-1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114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1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.</a:t>
            </a:r>
            <a:r>
              <a:rPr sz="2400" i="1" spc="-114" dirty="0">
                <a:latin typeface="Arial"/>
                <a:cs typeface="Arial"/>
              </a:rPr>
              <a:t> </a:t>
            </a:r>
            <a:r>
              <a:rPr sz="2400" i="1" spc="-20" dirty="0">
                <a:latin typeface="Arial"/>
                <a:cs typeface="Arial"/>
              </a:rPr>
              <a:t>n</a:t>
            </a:r>
            <a:r>
              <a:rPr sz="2800" i="1" spc="-30" baseline="-11904" dirty="0">
                <a:latin typeface="Arial"/>
                <a:cs typeface="Arial"/>
              </a:rPr>
              <a:t>items</a:t>
            </a:r>
            <a:r>
              <a:rPr sz="2800" i="1" spc="-142" baseline="-11904" dirty="0">
                <a:latin typeface="Arial"/>
                <a:cs typeface="Arial"/>
              </a:rPr>
              <a:t> </a:t>
            </a:r>
            <a:r>
              <a:rPr sz="2400" spc="170" dirty="0">
                <a:latin typeface="Lucida Sans Unicode"/>
                <a:cs typeface="Lucida Sans Unicode"/>
              </a:rPr>
              <a:t>}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spc="-200" dirty="0">
                <a:latin typeface="Arial MT"/>
                <a:cs typeface="Arial MT"/>
              </a:rPr>
              <a:t>—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lang="ru-RU" sz="2400" spc="-20" dirty="0">
                <a:latin typeface="Arial MT"/>
                <a:cs typeface="Arial MT"/>
              </a:rPr>
              <a:t>множество товаров</a:t>
            </a:r>
            <a:r>
              <a:rPr lang="en-US" sz="2400" spc="-20" dirty="0">
                <a:latin typeface="Arial MT"/>
                <a:cs typeface="Arial MT"/>
              </a:rPr>
              <a:t>/</a:t>
            </a:r>
            <a:r>
              <a:rPr lang="ru-RU" sz="2400" spc="-20" dirty="0">
                <a:latin typeface="Arial MT"/>
                <a:cs typeface="Arial MT"/>
              </a:rPr>
              <a:t>услуг</a:t>
            </a:r>
            <a:r>
              <a:rPr lang="en-US" sz="2400" spc="-20" dirty="0">
                <a:latin typeface="Arial MT"/>
                <a:cs typeface="Arial MT"/>
              </a:rPr>
              <a:t>/</a:t>
            </a:r>
            <a:r>
              <a:rPr lang="ru-RU" sz="2400" spc="-20" dirty="0">
                <a:latin typeface="Arial MT"/>
                <a:cs typeface="Arial MT"/>
              </a:rPr>
              <a:t>контента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9" name="object 11">
            <a:extLst>
              <a:ext uri="{FF2B5EF4-FFF2-40B4-BE49-F238E27FC236}">
                <a16:creationId xmlns:a16="http://schemas.microsoft.com/office/drawing/2014/main" id="{4961815B-6A2E-C06A-09B7-6A62303E7EC7}"/>
              </a:ext>
            </a:extLst>
          </p:cNvPr>
          <p:cNvSpPr txBox="1"/>
          <p:nvPr/>
        </p:nvSpPr>
        <p:spPr>
          <a:xfrm>
            <a:off x="1091110" y="3848464"/>
            <a:ext cx="8224131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96900" algn="l"/>
              </a:tabLst>
            </a:pP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200" dirty="0">
                <a:latin typeface="Arial MT"/>
                <a:cs typeface="Arial MT"/>
              </a:rPr>
              <a:t>—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lang="ru-RU" sz="2400" spc="-20" dirty="0">
                <a:latin typeface="Arial MT"/>
                <a:cs typeface="Arial MT"/>
              </a:rPr>
              <a:t>матрица отношений </a:t>
            </a:r>
            <a:r>
              <a:rPr sz="2400" i="1" spc="-25" dirty="0" err="1">
                <a:latin typeface="Arial"/>
                <a:cs typeface="Arial"/>
              </a:rPr>
              <a:t>n</a:t>
            </a:r>
            <a:r>
              <a:rPr sz="2800" i="1" spc="-37" baseline="-11904" dirty="0" err="1">
                <a:latin typeface="Arial"/>
                <a:cs typeface="Arial"/>
              </a:rPr>
              <a:t>users</a:t>
            </a:r>
            <a:r>
              <a:rPr sz="2800" i="1" spc="165" baseline="-11904" dirty="0">
                <a:latin typeface="Arial"/>
                <a:cs typeface="Arial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×</a:t>
            </a:r>
            <a:r>
              <a:rPr sz="2400" spc="-95" dirty="0">
                <a:latin typeface="Lucida Sans Unicode"/>
                <a:cs typeface="Lucida Sans Unicode"/>
              </a:rPr>
              <a:t> </a:t>
            </a:r>
            <a:r>
              <a:rPr sz="2400" i="1" spc="-20" dirty="0">
                <a:latin typeface="Arial"/>
                <a:cs typeface="Arial"/>
              </a:rPr>
              <a:t>n</a:t>
            </a:r>
            <a:r>
              <a:rPr sz="2800" i="1" spc="-30" baseline="-11904" dirty="0">
                <a:latin typeface="Arial"/>
                <a:cs typeface="Arial"/>
              </a:rPr>
              <a:t>items</a:t>
            </a:r>
            <a:r>
              <a:rPr sz="2800" i="1" spc="-142" baseline="-11904" dirty="0">
                <a:latin typeface="Arial"/>
                <a:cs typeface="Arial"/>
              </a:rPr>
              <a:t> </a:t>
            </a:r>
            <a:r>
              <a:rPr sz="2400" spc="-50" dirty="0">
                <a:latin typeface="Arial MT"/>
                <a:cs typeface="Arial MT"/>
              </a:rPr>
              <a:t>,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0" name="object 12">
            <a:extLst>
              <a:ext uri="{FF2B5EF4-FFF2-40B4-BE49-F238E27FC236}">
                <a16:creationId xmlns:a16="http://schemas.microsoft.com/office/drawing/2014/main" id="{8BC09750-2A06-E6FC-BAC7-ED318C582FC6}"/>
              </a:ext>
            </a:extLst>
          </p:cNvPr>
          <p:cNvSpPr txBox="1"/>
          <p:nvPr/>
        </p:nvSpPr>
        <p:spPr>
          <a:xfrm>
            <a:off x="1500607" y="4513959"/>
            <a:ext cx="1234628" cy="4225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i="1" dirty="0">
                <a:latin typeface="Arial"/>
                <a:cs typeface="Arial"/>
              </a:rPr>
              <a:t>r</a:t>
            </a:r>
            <a:r>
              <a:rPr sz="2800" i="1" baseline="-11904" dirty="0">
                <a:latin typeface="Arial"/>
                <a:cs typeface="Arial"/>
              </a:rPr>
              <a:t>ui</a:t>
            </a:r>
            <a:r>
              <a:rPr sz="2800" i="1" spc="330" baseline="-11904" dirty="0">
                <a:latin typeface="Arial"/>
                <a:cs typeface="Arial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∈</a:t>
            </a:r>
            <a:r>
              <a:rPr sz="4000" spc="-75" baseline="77777" dirty="0">
                <a:latin typeface="Lucida Sans Unicode"/>
                <a:cs typeface="Lucida Sans Unicode"/>
              </a:rPr>
              <a:t> </a:t>
            </a:r>
            <a:endParaRPr sz="4000" baseline="77777" dirty="0">
              <a:latin typeface="Lucida Sans Unicode"/>
              <a:cs typeface="Lucida Sans Unicode"/>
            </a:endParaRPr>
          </a:p>
        </p:txBody>
      </p:sp>
      <p:sp>
        <p:nvSpPr>
          <p:cNvPr id="21" name="object 13">
            <a:extLst>
              <a:ext uri="{FF2B5EF4-FFF2-40B4-BE49-F238E27FC236}">
                <a16:creationId xmlns:a16="http://schemas.microsoft.com/office/drawing/2014/main" id="{B4F8B906-6674-F342-1478-44118406E705}"/>
              </a:ext>
            </a:extLst>
          </p:cNvPr>
          <p:cNvSpPr txBox="1"/>
          <p:nvPr/>
        </p:nvSpPr>
        <p:spPr>
          <a:xfrm>
            <a:off x="2286000" y="4343400"/>
            <a:ext cx="6318070" cy="7636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0815">
              <a:lnSpc>
                <a:spcPct val="100000"/>
              </a:lnSpc>
              <a:spcBef>
                <a:spcPts val="95"/>
              </a:spcBef>
            </a:pPr>
            <a:r>
              <a:rPr lang="ru-RU" sz="2400" spc="-10" dirty="0">
                <a:latin typeface="Arial MT"/>
                <a:cs typeface="Arial MT"/>
              </a:rPr>
              <a:t>обычно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{</a:t>
            </a:r>
            <a:r>
              <a:rPr sz="2400" dirty="0">
                <a:latin typeface="Tahoma"/>
                <a:cs typeface="Tahoma"/>
              </a:rPr>
              <a:t>0</a:t>
            </a:r>
            <a:r>
              <a:rPr sz="2400" i="1" dirty="0">
                <a:latin typeface="Arial"/>
                <a:cs typeface="Arial"/>
              </a:rPr>
              <a:t>,</a:t>
            </a:r>
            <a:r>
              <a:rPr sz="2400" i="1" spc="-114" dirty="0">
                <a:latin typeface="Arial"/>
                <a:cs typeface="Arial"/>
              </a:rPr>
              <a:t> </a:t>
            </a:r>
            <a:r>
              <a:rPr sz="2400" dirty="0">
                <a:latin typeface="Tahoma"/>
                <a:cs typeface="Tahoma"/>
              </a:rPr>
              <a:t>1</a:t>
            </a:r>
            <a:r>
              <a:rPr sz="2400" dirty="0">
                <a:latin typeface="Lucida Sans Unicode"/>
                <a:cs typeface="Lucida Sans Unicode"/>
              </a:rPr>
              <a:t>}</a:t>
            </a:r>
            <a:r>
              <a:rPr sz="2400" dirty="0">
                <a:latin typeface="Arial MT"/>
                <a:cs typeface="Arial MT"/>
              </a:rPr>
              <a:t>—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lang="ru-RU" sz="2400" dirty="0">
                <a:latin typeface="Arial MT"/>
                <a:cs typeface="Arial MT"/>
              </a:rPr>
              <a:t>неявный фидбек</a:t>
            </a:r>
            <a:endParaRPr lang="ru-RU" sz="2400" spc="-10" dirty="0">
              <a:latin typeface="Arial MT"/>
              <a:cs typeface="Arial MT"/>
            </a:endParaRPr>
          </a:p>
          <a:p>
            <a:pPr marL="12700" marR="5080" indent="170815">
              <a:lnSpc>
                <a:spcPct val="100000"/>
              </a:lnSpc>
              <a:spcBef>
                <a:spcPts val="95"/>
              </a:spcBef>
            </a:pPr>
            <a:r>
              <a:rPr lang="ru-RU" sz="2400" spc="-10" dirty="0">
                <a:latin typeface="Arial MT"/>
                <a:cs typeface="Arial MT"/>
              </a:rPr>
              <a:t>обычно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{</a:t>
            </a:r>
            <a:r>
              <a:rPr sz="2400" dirty="0">
                <a:latin typeface="Tahoma"/>
                <a:cs typeface="Tahoma"/>
              </a:rPr>
              <a:t>1</a:t>
            </a:r>
            <a:r>
              <a:rPr sz="2400" i="1" dirty="0">
                <a:latin typeface="Arial"/>
                <a:cs typeface="Arial"/>
              </a:rPr>
              <a:t>,</a:t>
            </a:r>
            <a:r>
              <a:rPr sz="2400" i="1" spc="-114" dirty="0">
                <a:latin typeface="Arial"/>
                <a:cs typeface="Arial"/>
              </a:rPr>
              <a:t> </a:t>
            </a:r>
            <a:r>
              <a:rPr sz="2400" spc="-35" dirty="0">
                <a:latin typeface="Tahoma"/>
                <a:cs typeface="Tahoma"/>
              </a:rPr>
              <a:t>2</a:t>
            </a:r>
            <a:r>
              <a:rPr sz="2400" i="1" spc="-35" dirty="0">
                <a:latin typeface="Arial"/>
                <a:cs typeface="Arial"/>
              </a:rPr>
              <a:t>,</a:t>
            </a:r>
            <a:r>
              <a:rPr sz="2400" i="1" spc="-114" dirty="0">
                <a:latin typeface="Arial"/>
                <a:cs typeface="Arial"/>
              </a:rPr>
              <a:t> </a:t>
            </a:r>
            <a:r>
              <a:rPr sz="2400" spc="-35" dirty="0">
                <a:latin typeface="Tahoma"/>
                <a:cs typeface="Tahoma"/>
              </a:rPr>
              <a:t>3</a:t>
            </a:r>
            <a:r>
              <a:rPr sz="2400" i="1" spc="-35" dirty="0">
                <a:latin typeface="Arial"/>
                <a:cs typeface="Arial"/>
              </a:rPr>
              <a:t>,</a:t>
            </a:r>
            <a:r>
              <a:rPr sz="2400" i="1" spc="-114" dirty="0">
                <a:latin typeface="Arial"/>
                <a:cs typeface="Arial"/>
              </a:rPr>
              <a:t> </a:t>
            </a:r>
            <a:r>
              <a:rPr sz="2400" spc="-35" dirty="0">
                <a:latin typeface="Tahoma"/>
                <a:cs typeface="Tahoma"/>
              </a:rPr>
              <a:t>4</a:t>
            </a:r>
            <a:r>
              <a:rPr sz="2400" i="1" spc="-35" dirty="0">
                <a:latin typeface="Arial"/>
                <a:cs typeface="Arial"/>
              </a:rPr>
              <a:t>,</a:t>
            </a:r>
            <a:r>
              <a:rPr sz="2400" i="1" spc="-114" dirty="0">
                <a:latin typeface="Arial"/>
                <a:cs typeface="Arial"/>
              </a:rPr>
              <a:t> </a:t>
            </a:r>
            <a:r>
              <a:rPr sz="2400" dirty="0">
                <a:latin typeface="Tahoma"/>
                <a:cs typeface="Tahoma"/>
              </a:rPr>
              <a:t>5</a:t>
            </a:r>
            <a:r>
              <a:rPr sz="2400" dirty="0">
                <a:latin typeface="Lucida Sans Unicode"/>
                <a:cs typeface="Lucida Sans Unicode"/>
              </a:rPr>
              <a:t>}</a:t>
            </a:r>
            <a:r>
              <a:rPr sz="2400" dirty="0">
                <a:latin typeface="Arial MT"/>
                <a:cs typeface="Arial MT"/>
              </a:rPr>
              <a:t>—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lang="ru-RU" sz="2400" spc="-10" dirty="0">
                <a:latin typeface="Arial MT"/>
                <a:cs typeface="Arial MT"/>
              </a:rPr>
              <a:t>явный фидбек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711645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263C4-900E-9C31-A391-BD1388AF5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37208B-E542-6261-356B-5CF4267162C9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689882A-CE17-AABF-E3BF-C4971E2E86D1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1B8290D-CE1C-D260-0D0D-A2B319C37BA9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1C4F155-E2D9-E279-DBE3-EB79F3DD17CF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D385501-0732-92E6-7D52-76132DD76D39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9B781B8-8584-B879-E0E0-DAA54CB1D292}"/>
              </a:ext>
            </a:extLst>
          </p:cNvPr>
          <p:cNvSpPr txBox="1"/>
          <p:nvPr/>
        </p:nvSpPr>
        <p:spPr>
          <a:xfrm>
            <a:off x="803299" y="1465205"/>
            <a:ext cx="1040574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Рекомендательные системы</a:t>
            </a:r>
            <a:endParaRPr sz="4000" dirty="0">
              <a:latin typeface="Verdana"/>
              <a:cs typeface="Verdana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099D73C5-5619-5494-62ED-6C1BBD3FE3CB}"/>
              </a:ext>
            </a:extLst>
          </p:cNvPr>
          <p:cNvSpPr txBox="1"/>
          <p:nvPr/>
        </p:nvSpPr>
        <p:spPr>
          <a:xfrm>
            <a:off x="803298" y="2365755"/>
            <a:ext cx="10405745" cy="16030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000" dirty="0">
                <a:latin typeface="Microsoft Sans Serif"/>
                <a:cs typeface="Microsoft Sans Serif"/>
              </a:rPr>
              <a:t>Возможные задачи: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Microsoft Sans Serif"/>
                <a:cs typeface="Microsoft Sans Serif"/>
              </a:rPr>
              <a:t>предсказание </a:t>
            </a:r>
            <a:r>
              <a:rPr lang="en-US" sz="1800" i="1" dirty="0" err="1">
                <a:latin typeface="Arial"/>
                <a:cs typeface="Arial"/>
              </a:rPr>
              <a:t>r</a:t>
            </a:r>
            <a:r>
              <a:rPr lang="en-US" sz="2000" i="1" baseline="-11904" dirty="0" err="1">
                <a:latin typeface="Arial"/>
                <a:cs typeface="Arial"/>
              </a:rPr>
              <a:t>ui</a:t>
            </a:r>
            <a:r>
              <a:rPr lang="ru-RU" sz="2000" i="1" baseline="-11904" dirty="0">
                <a:latin typeface="Arial"/>
                <a:cs typeface="Arial"/>
              </a:rPr>
              <a:t>  </a:t>
            </a:r>
            <a:r>
              <a:rPr lang="ru-RU" sz="2000" dirty="0">
                <a:latin typeface="Microsoft Sans Serif"/>
                <a:cs typeface="Microsoft Sans Serif"/>
              </a:rPr>
              <a:t>– регрессия или (</a:t>
            </a:r>
            <a:r>
              <a:rPr lang="ru-RU" sz="2000" dirty="0" err="1">
                <a:latin typeface="Microsoft Sans Serif"/>
                <a:cs typeface="Microsoft Sans Serif"/>
              </a:rPr>
              <a:t>мультиклассовая</a:t>
            </a:r>
            <a:r>
              <a:rPr lang="ru-RU" sz="2000" dirty="0">
                <a:latin typeface="Microsoft Sans Serif"/>
                <a:cs typeface="Microsoft Sans Serif"/>
              </a:rPr>
              <a:t>) классификация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Microsoft Sans Serif"/>
                <a:cs typeface="Microsoft Sans Serif"/>
              </a:rPr>
              <a:t>ранжирование</a:t>
            </a:r>
          </a:p>
          <a:p>
            <a:pPr marL="355600" lvl="6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Verdana"/>
                <a:cs typeface="Verdana"/>
              </a:rPr>
              <a:t>	</a:t>
            </a:r>
            <a:r>
              <a:rPr lang="ru-RU" sz="2000" i="1" dirty="0">
                <a:latin typeface="Arial MT"/>
                <a:cs typeface="Verdana"/>
              </a:rPr>
              <a:t>топ-</a:t>
            </a:r>
            <a:r>
              <a:rPr lang="en-US" sz="2000" i="1" dirty="0">
                <a:latin typeface="Arial MT"/>
                <a:cs typeface="Verdana"/>
              </a:rPr>
              <a:t>k </a:t>
            </a:r>
            <a:r>
              <a:rPr lang="ru-RU" sz="2000" i="1" dirty="0">
                <a:latin typeface="Arial MT"/>
                <a:cs typeface="Verdana"/>
              </a:rPr>
              <a:t>рекомендаций для товаров (</a:t>
            </a:r>
            <a:r>
              <a:rPr lang="en-US" sz="2000" i="1" dirty="0">
                <a:latin typeface="Arial MT"/>
                <a:cs typeface="Verdana"/>
              </a:rPr>
              <a:t>item2item</a:t>
            </a:r>
            <a:r>
              <a:rPr lang="ru-RU" sz="2000" i="1" dirty="0">
                <a:latin typeface="Arial MT"/>
                <a:cs typeface="Verdana"/>
              </a:rPr>
              <a:t>)</a:t>
            </a:r>
            <a:endParaRPr lang="en-US" sz="2000" i="1" dirty="0">
              <a:latin typeface="Arial MT"/>
              <a:cs typeface="Verdana"/>
            </a:endParaRPr>
          </a:p>
          <a:p>
            <a:pPr marL="355600" lvl="7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i="1" dirty="0">
                <a:latin typeface="Arial MT"/>
                <a:cs typeface="Verdana"/>
              </a:rPr>
              <a:t>	</a:t>
            </a:r>
            <a:r>
              <a:rPr lang="ru-RU" sz="2000" i="1" dirty="0">
                <a:latin typeface="Arial MT"/>
                <a:cs typeface="Verdana"/>
              </a:rPr>
              <a:t>топ-</a:t>
            </a:r>
            <a:r>
              <a:rPr lang="en-US" sz="2000" i="1" dirty="0">
                <a:latin typeface="Arial MT"/>
                <a:cs typeface="Verdana"/>
              </a:rPr>
              <a:t>k </a:t>
            </a:r>
            <a:r>
              <a:rPr lang="ru-RU" sz="2000" i="1" dirty="0">
                <a:latin typeface="Arial MT"/>
                <a:cs typeface="Verdana"/>
              </a:rPr>
              <a:t>рекомендаций для пользователей (</a:t>
            </a:r>
            <a:r>
              <a:rPr lang="en-US" sz="2000" i="1" dirty="0">
                <a:latin typeface="Arial MT"/>
                <a:cs typeface="Verdana"/>
              </a:rPr>
              <a:t>item2user</a:t>
            </a:r>
            <a:r>
              <a:rPr lang="ru-RU" sz="2000" i="1" dirty="0">
                <a:latin typeface="Arial MT"/>
                <a:cs typeface="Verdana"/>
              </a:rPr>
              <a:t>)</a:t>
            </a:r>
            <a:endParaRPr lang="en-US" sz="2000" i="1" dirty="0">
              <a:latin typeface="Arial MT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617484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4D743-8D2B-C5B9-19F8-C7427C394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9F56315-D045-84B7-BB0C-BDF08E23ED96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FEE3086-5105-48A5-2CE6-93A8E5163DA9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36B506C-D05D-9DD6-5B2B-51BD9434C099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7879BB6-CC65-9626-056D-2BD5CA7F30F7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8E876BE-17B2-53D6-A583-38ECF6E36C0F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55C6AB6-8706-87B5-2901-F3513CC30CAA}"/>
              </a:ext>
            </a:extLst>
          </p:cNvPr>
          <p:cNvSpPr txBox="1"/>
          <p:nvPr/>
        </p:nvSpPr>
        <p:spPr>
          <a:xfrm>
            <a:off x="955698" y="2514600"/>
            <a:ext cx="10405745" cy="341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Microsoft Sans Serif"/>
                <a:cs typeface="Microsoft Sans Serif"/>
              </a:rPr>
              <a:t>Метрики</a:t>
            </a:r>
            <a:r>
              <a:rPr lang="en-US" sz="2000" dirty="0">
                <a:latin typeface="Microsoft Sans Serif"/>
                <a:cs typeface="Microsoft Sans Serif"/>
              </a:rPr>
              <a:t> </a:t>
            </a:r>
            <a:r>
              <a:rPr lang="ru-RU" sz="2000" dirty="0">
                <a:latin typeface="Microsoft Sans Serif"/>
                <a:cs typeface="Microsoft Sans Serif"/>
              </a:rPr>
              <a:t>регрессии (</a:t>
            </a:r>
            <a:r>
              <a:rPr lang="en-US" sz="2000" dirty="0"/>
              <a:t>MSE, MAE</a:t>
            </a:r>
            <a:r>
              <a:rPr lang="ru-RU" sz="2000" dirty="0"/>
              <a:t>,</a:t>
            </a:r>
            <a:r>
              <a:rPr lang="en-US" sz="2000" dirty="0"/>
              <a:t> </a:t>
            </a:r>
            <a:r>
              <a:rPr lang="en-US" sz="2000" dirty="0" err="1"/>
              <a:t>etc</a:t>
            </a:r>
            <a:r>
              <a:rPr lang="ru-RU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Метрики классификации (</a:t>
            </a:r>
            <a:r>
              <a:rPr lang="en-US" sz="2000" dirty="0"/>
              <a:t>Precision, Recall, F-score</a:t>
            </a:r>
            <a:r>
              <a:rPr lang="ru-RU" sz="2000" dirty="0"/>
              <a:t>, </a:t>
            </a:r>
            <a:r>
              <a:rPr lang="en-US" sz="2000" dirty="0" err="1"/>
              <a:t>etc</a:t>
            </a:r>
            <a:r>
              <a:rPr lang="ru-RU" sz="2000" dirty="0"/>
              <a:t>)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nDCG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Verdana"/>
              <a:cs typeface="Verdana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5243AD3D-60B5-A4E0-64CF-FAD857C8295B}"/>
              </a:ext>
            </a:extLst>
          </p:cNvPr>
          <p:cNvSpPr txBox="1"/>
          <p:nvPr/>
        </p:nvSpPr>
        <p:spPr>
          <a:xfrm>
            <a:off x="955699" y="1617605"/>
            <a:ext cx="1040574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4000" dirty="0">
              <a:latin typeface="Verdana"/>
              <a:cs typeface="Verdana"/>
            </a:endParaRPr>
          </a:p>
        </p:txBody>
      </p:sp>
      <p:pic>
        <p:nvPicPr>
          <p:cNvPr id="11" name="Рисунок 10" descr="Изображение выглядит как текст, Шрифт, белый, типо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D16E71-3C1C-52E9-9A78-73AA59E14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507301"/>
            <a:ext cx="4191000" cy="2435608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Шрифт, рукописный текс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04DE6A-62BA-2816-FD1D-014E7205C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3507301"/>
            <a:ext cx="3048000" cy="23291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780E73-5077-F759-A67C-9CF742E3E320}"/>
              </a:ext>
            </a:extLst>
          </p:cNvPr>
          <p:cNvSpPr txBox="1"/>
          <p:nvPr/>
        </p:nvSpPr>
        <p:spPr>
          <a:xfrm>
            <a:off x="7696200" y="3116892"/>
            <a:ext cx="2345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Average Precision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99FF9E-9340-0E9C-8FC0-C41D482A09FC}"/>
              </a:ext>
            </a:extLst>
          </p:cNvPr>
          <p:cNvSpPr txBox="1"/>
          <p:nvPr/>
        </p:nvSpPr>
        <p:spPr>
          <a:xfrm>
            <a:off x="838200" y="6324600"/>
            <a:ext cx="557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Вывод метрик: </a:t>
            </a:r>
            <a:r>
              <a:rPr lang="ru-RU" dirty="0">
                <a:hlinkClick r:id="rId4"/>
              </a:rPr>
              <a:t>Метрики качества ранжирования</a:t>
            </a:r>
            <a:endParaRPr lang="ru-RU" dirty="0"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480374A7-046D-1B68-E366-B083F4C6C946}"/>
              </a:ext>
            </a:extLst>
          </p:cNvPr>
          <p:cNvSpPr txBox="1"/>
          <p:nvPr/>
        </p:nvSpPr>
        <p:spPr>
          <a:xfrm>
            <a:off x="803299" y="1465205"/>
            <a:ext cx="1040574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Verdana"/>
                <a:cs typeface="Verdana"/>
              </a:rPr>
              <a:t>Метрики</a:t>
            </a:r>
            <a:endParaRPr sz="40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15999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4DED4-F087-E07B-6F56-8C2402501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5209BC-3F8E-13D4-5177-44214127D353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DC34D0A-92A1-FB64-D50B-4FE1F6E121DC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5E35A0E-B839-955B-2480-16CBCFFFF7E6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805E51F-AF30-9B56-AC51-6B6AC32E7C7D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5D5D138-80B0-A2AA-FB82-912E4AAC33A6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8D79FF4-E4DA-6E4B-3421-DF2088699134}"/>
              </a:ext>
            </a:extLst>
          </p:cNvPr>
          <p:cNvSpPr txBox="1"/>
          <p:nvPr/>
        </p:nvSpPr>
        <p:spPr>
          <a:xfrm>
            <a:off x="955698" y="2514600"/>
            <a:ext cx="10405745" cy="49500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Microsoft Sans Serif"/>
                <a:cs typeface="Microsoft Sans Serif"/>
              </a:rPr>
              <a:t>HitRate</a:t>
            </a:r>
            <a:endParaRPr lang="en-US" sz="2000" dirty="0">
              <a:latin typeface="Microsoft Sans Serif"/>
              <a:cs typeface="Microsoft Sans 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Coverage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Verdana"/>
              <a:cs typeface="Verdana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AEA836C7-8A91-73C0-6B92-DA4A40576E17}"/>
              </a:ext>
            </a:extLst>
          </p:cNvPr>
          <p:cNvSpPr txBox="1"/>
          <p:nvPr/>
        </p:nvSpPr>
        <p:spPr>
          <a:xfrm>
            <a:off x="955699" y="1617605"/>
            <a:ext cx="1040574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4000" dirty="0">
              <a:latin typeface="Verdana"/>
              <a:cs typeface="Verdana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09B44A24-EDE5-D04A-6A20-E6517E6212B7}"/>
              </a:ext>
            </a:extLst>
          </p:cNvPr>
          <p:cNvSpPr txBox="1"/>
          <p:nvPr/>
        </p:nvSpPr>
        <p:spPr>
          <a:xfrm>
            <a:off x="803299" y="1465205"/>
            <a:ext cx="1040574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Verdana"/>
                <a:cs typeface="Verdana"/>
              </a:rPr>
              <a:t>Метрики</a:t>
            </a:r>
            <a:endParaRPr sz="4000" dirty="0">
              <a:latin typeface="Verdana"/>
              <a:cs typeface="Verdana"/>
            </a:endParaRPr>
          </a:p>
        </p:txBody>
      </p:sp>
      <p:pic>
        <p:nvPicPr>
          <p:cNvPr id="12" name="Рисунок 11" descr="Изображение выглядит как текст, Шрифт, белый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A12FE5A-EF7E-C073-AE19-51BBB4AD1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819400"/>
            <a:ext cx="4210050" cy="1438275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Шрифт, белый, текст, типо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074D826-ADDB-C4AF-88A1-53115C140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633" y="5175374"/>
            <a:ext cx="303847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09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774FA-2960-CDE8-2B57-84E9C735F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BAA5EDF-AF55-4031-495F-3B2D2365DE91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C7FC098-6E74-5A6C-9EB1-A8A4610795B6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09CC7D8-0528-566E-A73B-F731D4C93646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69EDCCF-763A-9E8F-58D3-5C0555E433AF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336BF97-3D0B-31A6-DD22-FDB97066FE31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06B7B90-8B32-4E97-F85F-AD158B48CD78}"/>
              </a:ext>
            </a:extLst>
          </p:cNvPr>
          <p:cNvSpPr txBox="1"/>
          <p:nvPr/>
        </p:nvSpPr>
        <p:spPr>
          <a:xfrm>
            <a:off x="955698" y="2514600"/>
            <a:ext cx="10405745" cy="525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icrosoft Sans Serif"/>
                <a:cs typeface="Microsoft Sans Serif"/>
              </a:rPr>
              <a:t>Content-based systems</a:t>
            </a:r>
          </a:p>
          <a:p>
            <a:endParaRPr lang="en-US" sz="2000" dirty="0">
              <a:latin typeface="Microsoft Sans Serif"/>
              <a:cs typeface="Microsoft Sans Serif"/>
            </a:endParaRPr>
          </a:p>
          <a:p>
            <a:pPr lvl="2"/>
            <a:r>
              <a:rPr lang="ru-RU" sz="2000" dirty="0"/>
              <a:t>Здесь мы делаем предсказания на основе похожести объектов с точки зрения контента. При этом под </a:t>
            </a:r>
            <a:r>
              <a:rPr lang="ru-RU" sz="2000" dirty="0" err="1"/>
              <a:t>контеннтом</a:t>
            </a:r>
            <a:r>
              <a:rPr lang="ru-RU" sz="2000" dirty="0"/>
              <a:t> может пониматься как реальное </a:t>
            </a:r>
            <a:r>
              <a:rPr lang="ru-RU" sz="2000" dirty="0" err="1"/>
              <a:t>соджержание</a:t>
            </a:r>
            <a:r>
              <a:rPr lang="ru-RU" sz="2000" dirty="0"/>
              <a:t> объекта (текст книги/песни, картинка), так и метаинформация о нем (актеры и кассовые сборы, описание картинки или песни).</a:t>
            </a:r>
            <a:endParaRPr lang="en-US" sz="2000" dirty="0"/>
          </a:p>
          <a:p>
            <a:pPr lvl="2"/>
            <a:endParaRPr lang="en-US" sz="2000" dirty="0"/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Collaborative filtering (memory-based </a:t>
            </a:r>
            <a:r>
              <a:rPr lang="ru-RU" sz="2000" dirty="0"/>
              <a:t>и </a:t>
            </a:r>
            <a:r>
              <a:rPr lang="en-US" sz="2000" dirty="0"/>
              <a:t>model-based)</a:t>
            </a:r>
            <a:endParaRPr lang="ru-RU" sz="2000" dirty="0"/>
          </a:p>
          <a:p>
            <a:pPr lvl="2"/>
            <a:endParaRPr lang="en-US" sz="2000" dirty="0"/>
          </a:p>
          <a:p>
            <a:pPr lvl="2"/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Verdana"/>
              <a:cs typeface="Verdana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6DF2B64E-0FF0-913D-2CE2-52C1299E1567}"/>
              </a:ext>
            </a:extLst>
          </p:cNvPr>
          <p:cNvSpPr txBox="1"/>
          <p:nvPr/>
        </p:nvSpPr>
        <p:spPr>
          <a:xfrm>
            <a:off x="955699" y="1617605"/>
            <a:ext cx="1040574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Виды </a:t>
            </a:r>
            <a:r>
              <a:rPr lang="ru-RU" sz="4000" dirty="0" err="1">
                <a:latin typeface="Microsoft Sans Serif"/>
                <a:cs typeface="Microsoft Sans Serif"/>
              </a:rPr>
              <a:t>персонализованных</a:t>
            </a:r>
            <a:r>
              <a:rPr lang="ru-RU" sz="4000" dirty="0">
                <a:latin typeface="Microsoft Sans Serif"/>
                <a:cs typeface="Microsoft Sans Serif"/>
              </a:rPr>
              <a:t> </a:t>
            </a:r>
            <a:r>
              <a:rPr lang="ru-RU" sz="4000" dirty="0" err="1">
                <a:latin typeface="Microsoft Sans Serif"/>
                <a:cs typeface="Microsoft Sans Serif"/>
              </a:rPr>
              <a:t>рексистем</a:t>
            </a:r>
            <a:endParaRPr sz="40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610230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17E4F-C771-0E21-C99A-46A152FD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AFF2972-31DE-AA96-6D97-2B6F737AC376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25D27D8-3D36-3407-5149-F2728DAAFD98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E2A4A3E-AE91-C657-5038-A21D202CFCE2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AD45423-3457-B236-4245-F00D6E12FEED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EBC090A-E6AF-AB15-1564-17C27E4940D7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AED426F0-989E-1609-37E9-40A81E535CD5}"/>
              </a:ext>
            </a:extLst>
          </p:cNvPr>
          <p:cNvSpPr txBox="1"/>
          <p:nvPr/>
        </p:nvSpPr>
        <p:spPr>
          <a:xfrm>
            <a:off x="955699" y="1617605"/>
            <a:ext cx="1040574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Виды </a:t>
            </a:r>
            <a:r>
              <a:rPr lang="ru-RU" sz="4000" dirty="0" err="1">
                <a:latin typeface="Microsoft Sans Serif"/>
                <a:cs typeface="Microsoft Sans Serif"/>
              </a:rPr>
              <a:t>персонализованных</a:t>
            </a:r>
            <a:r>
              <a:rPr lang="ru-RU" sz="4000" dirty="0">
                <a:latin typeface="Microsoft Sans Serif"/>
                <a:cs typeface="Microsoft Sans Serif"/>
              </a:rPr>
              <a:t> </a:t>
            </a:r>
            <a:r>
              <a:rPr lang="ru-RU" sz="4000" dirty="0" err="1">
                <a:latin typeface="Microsoft Sans Serif"/>
                <a:cs typeface="Microsoft Sans Serif"/>
              </a:rPr>
              <a:t>рексистем</a:t>
            </a:r>
            <a:endParaRPr sz="4000" dirty="0">
              <a:latin typeface="Verdana"/>
              <a:cs typeface="Verdana"/>
            </a:endParaRPr>
          </a:p>
        </p:txBody>
      </p:sp>
      <p:pic>
        <p:nvPicPr>
          <p:cNvPr id="10" name="Рисунок 9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7CB7991-2BE6-EEC5-B1DC-9FB520B7E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57" y="2514600"/>
            <a:ext cx="10327392" cy="407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74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3BDD0-E132-844D-18DC-45C01348F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100B51-1D8E-F233-4ED6-DF565BF42153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2AA80F0-98B9-3325-195F-FC1B0E7B53E5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CB9C08E-57E3-606B-C361-748E6D31FC41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3C9770F-9ABC-783F-89D1-F51D1FE5A0C5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6A16BFC-0F02-D1B2-EAA7-32380473F586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646A3257-9055-56D0-D779-8394AF8054DF}"/>
              </a:ext>
            </a:extLst>
          </p:cNvPr>
          <p:cNvSpPr txBox="1"/>
          <p:nvPr/>
        </p:nvSpPr>
        <p:spPr>
          <a:xfrm>
            <a:off x="955699" y="1617605"/>
            <a:ext cx="10405745" cy="43601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Microsoft Sans Serif"/>
                <a:cs typeface="Microsoft Sans Serif"/>
              </a:rPr>
              <a:t>Виды </a:t>
            </a:r>
            <a:r>
              <a:rPr lang="ru-RU" sz="4000" dirty="0" err="1">
                <a:latin typeface="Microsoft Sans Serif"/>
                <a:cs typeface="Microsoft Sans Serif"/>
              </a:rPr>
              <a:t>персонализованных</a:t>
            </a:r>
            <a:r>
              <a:rPr lang="ru-RU" sz="4000" dirty="0">
                <a:latin typeface="Microsoft Sans Serif"/>
                <a:cs typeface="Microsoft Sans Serif"/>
              </a:rPr>
              <a:t> </a:t>
            </a:r>
            <a:r>
              <a:rPr lang="ru-RU" sz="4000" dirty="0" err="1">
                <a:latin typeface="Microsoft Sans Serif"/>
                <a:cs typeface="Microsoft Sans Serif"/>
              </a:rPr>
              <a:t>рексистем</a:t>
            </a:r>
            <a:endParaRPr lang="ru-RU" sz="4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Microsoft Sans Serif"/>
                <a:cs typeface="Microsoft Sans Serif"/>
              </a:rPr>
              <a:t>Memory-based </a:t>
            </a:r>
            <a:r>
              <a:rPr lang="ru-RU" sz="2000" dirty="0">
                <a:latin typeface="Microsoft Sans Serif"/>
                <a:cs typeface="Microsoft Sans Serif"/>
              </a:rPr>
              <a:t>подходы, в свою очередь, делятся на два типа: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ru-RU" sz="2000" dirty="0">
              <a:latin typeface="Microsoft Sans Serif"/>
              <a:cs typeface="Microsoft Sans 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/>
              <a:t>Item-based</a:t>
            </a:r>
            <a:r>
              <a:rPr lang="ru-RU" sz="2000" dirty="0"/>
              <a:t>: рекомендуем новые </a:t>
            </a:r>
            <a:r>
              <a:rPr lang="ru-RU" sz="2000" dirty="0" err="1"/>
              <a:t>объкуты</a:t>
            </a:r>
            <a:r>
              <a:rPr lang="ru-RU" sz="2000" dirty="0"/>
              <a:t> на основе их похожести на выбранные пользователем ранее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User-</a:t>
            </a:r>
            <a:r>
              <a:rPr lang="ru-RU" sz="2000" dirty="0" err="1"/>
              <a:t>based</a:t>
            </a:r>
            <a:r>
              <a:rPr lang="ru-RU" sz="2000" dirty="0"/>
              <a:t>: рекомендуем пользователю новые объекты на основе того, что выбирают похожие на него пользователи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r>
              <a:rPr lang="ru-RU" sz="1400" dirty="0"/>
              <a:t>Основано на </a:t>
            </a:r>
            <a:r>
              <a:rPr lang="ru-RU" sz="1400" dirty="0">
                <a:hlinkClick r:id="rId2"/>
              </a:rPr>
              <a:t>курсе от МФТИ по рекомендательным системам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87073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</TotalTime>
  <Words>451</Words>
  <Application>Microsoft Office PowerPoint</Application>
  <PresentationFormat>Широкоэкранный</PresentationFormat>
  <Paragraphs>119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9" baseType="lpstr">
      <vt:lpstr>Arial</vt:lpstr>
      <vt:lpstr>Arial MT</vt:lpstr>
      <vt:lpstr>Calibri</vt:lpstr>
      <vt:lpstr>Lucida Sans Unicode</vt:lpstr>
      <vt:lpstr>Microsoft Sans Serif</vt:lpstr>
      <vt:lpstr>Roboto</vt:lpstr>
      <vt:lpstr>Tahoma</vt:lpstr>
      <vt:lpstr>Verdana</vt:lpstr>
      <vt:lpstr>Office Theme</vt:lpstr>
      <vt:lpstr>Информационный поиск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RAG_infopoisk_2024</dc:title>
  <cp:lastModifiedBy>Даниил Трошин</cp:lastModifiedBy>
  <cp:revision>3</cp:revision>
  <dcterms:created xsi:type="dcterms:W3CDTF">2026-02-24T17:23:28Z</dcterms:created>
  <dcterms:modified xsi:type="dcterms:W3CDTF">2026-03-18T12:11:02Z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2026-02-24T00:00:00Z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2026-02-24T00:00:00Z</vt:filetime>
  </property>
</Properties>
</file>
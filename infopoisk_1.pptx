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videntlyai.com/ranking-metrics/mean-average-precision-map" TargetMode="Externa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hyperlink" Target="https://www.evidentlyai.com/ranking-metrics/ndcg-metric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2825" y="4028588"/>
            <a:ext cx="789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Лекция</a:t>
            </a:r>
            <a:r>
              <a:rPr sz="140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1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ф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р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м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а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ц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ы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й 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п</a:t>
            </a:r>
            <a:r>
              <a:rPr sz="7000" spc="-1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1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10" dirty="0">
                <a:solidFill>
                  <a:srgbClr val="EA4335"/>
                </a:solidFill>
                <a:latin typeface="Microsoft Sans Serif"/>
                <a:cs typeface="Microsoft Sans Serif"/>
              </a:rPr>
              <a:t>с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к</a:t>
            </a:r>
            <a:endParaRPr sz="7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4" y="1465205"/>
            <a:ext cx="44607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spc="-10" dirty="0">
                <a:latin typeface="Microsoft Sans Serif"/>
                <a:cs typeface="Microsoft Sans Serif"/>
              </a:rPr>
              <a:t>Формула оценки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5625" y="2900255"/>
            <a:ext cx="10439400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Roboto"/>
                <a:cs typeface="Roboto"/>
              </a:rPr>
              <a:t>О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dirty="0">
                <a:latin typeface="Roboto"/>
                <a:cs typeface="Roboto"/>
              </a:rPr>
              <a:t>=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dirty="0">
                <a:latin typeface="Roboto"/>
                <a:cs typeface="Roboto"/>
              </a:rPr>
              <a:t>0.</a:t>
            </a:r>
            <a:r>
              <a:rPr lang="ru-RU" sz="3200" b="1" dirty="0">
                <a:latin typeface="Roboto"/>
                <a:cs typeface="Roboto"/>
              </a:rPr>
              <a:t>6</a:t>
            </a:r>
            <a:r>
              <a:rPr sz="3200" b="1" spc="-25" dirty="0">
                <a:latin typeface="Roboto"/>
                <a:cs typeface="Roboto"/>
              </a:rPr>
              <a:t> </a:t>
            </a:r>
            <a:r>
              <a:rPr sz="3200" b="1" spc="60" dirty="0">
                <a:latin typeface="Roboto"/>
                <a:cs typeface="Roboto"/>
              </a:rPr>
              <a:t>*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spc="-55" dirty="0">
                <a:latin typeface="Roboto"/>
                <a:cs typeface="Roboto"/>
              </a:rPr>
              <a:t>дз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dirty="0">
                <a:latin typeface="Roboto"/>
                <a:cs typeface="Roboto"/>
              </a:rPr>
              <a:t>+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dirty="0">
                <a:latin typeface="Roboto"/>
                <a:cs typeface="Roboto"/>
              </a:rPr>
              <a:t>0.4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spc="60" dirty="0">
                <a:latin typeface="Roboto"/>
                <a:cs typeface="Roboto"/>
              </a:rPr>
              <a:t>*</a:t>
            </a:r>
            <a:r>
              <a:rPr sz="3200" b="1" spc="-30" dirty="0">
                <a:latin typeface="Roboto"/>
                <a:cs typeface="Roboto"/>
              </a:rPr>
              <a:t> </a:t>
            </a:r>
            <a:r>
              <a:rPr sz="3200" b="1" spc="-10" dirty="0">
                <a:latin typeface="Roboto"/>
                <a:cs typeface="Roboto"/>
              </a:rPr>
              <a:t>проект</a:t>
            </a:r>
            <a:endParaRPr sz="3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80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518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Roboto"/>
                <a:cs typeface="Roboto"/>
              </a:rPr>
              <a:t>Организационное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4325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Темы ближайших занятий</a:t>
            </a:r>
            <a:endParaRPr sz="40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5697" y="2727276"/>
            <a:ext cx="5778500" cy="19113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429259" algn="l"/>
              </a:tabLst>
            </a:pPr>
            <a:r>
              <a:rPr sz="1800" spc="-20" dirty="0">
                <a:latin typeface="Roboto"/>
                <a:cs typeface="Roboto"/>
              </a:rPr>
              <a:t>Разные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виды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задач: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IR,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KR,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рексистемы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9259" algn="l"/>
              </a:tabLst>
            </a:pPr>
            <a:r>
              <a:rPr sz="1800" dirty="0">
                <a:latin typeface="Roboto"/>
                <a:cs typeface="Roboto"/>
              </a:rPr>
              <a:t>IR: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как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работает,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его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виды</a:t>
            </a:r>
            <a:endParaRPr sz="1800">
              <a:latin typeface="Roboto"/>
              <a:cs typeface="Roboto"/>
            </a:endParaRPr>
          </a:p>
          <a:p>
            <a:pPr marL="429259" marR="5080" indent="-417195">
              <a:lnSpc>
                <a:spcPct val="114599"/>
              </a:lnSpc>
              <a:buAutoNum type="arabicPeriod"/>
              <a:tabLst>
                <a:tab pos="429259" algn="l"/>
              </a:tabLst>
            </a:pPr>
            <a:r>
              <a:rPr sz="1800" spc="-20" dirty="0">
                <a:latin typeface="Roboto"/>
                <a:cs typeface="Roboto"/>
              </a:rPr>
              <a:t>Разные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векторизации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(возможно,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здесь </a:t>
            </a:r>
            <a:r>
              <a:rPr sz="1800" spc="-35" dirty="0">
                <a:latin typeface="Roboto"/>
                <a:cs typeface="Roboto"/>
              </a:rPr>
              <a:t>будет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две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пары)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9259" algn="l"/>
              </a:tabLst>
            </a:pPr>
            <a:r>
              <a:rPr sz="1800" spc="-20" dirty="0">
                <a:latin typeface="Roboto"/>
                <a:cs typeface="Roboto"/>
              </a:rPr>
              <a:t>Докер.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Теория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9259" algn="l"/>
              </a:tabLst>
            </a:pPr>
            <a:r>
              <a:rPr sz="1800" spc="-10" dirty="0">
                <a:latin typeface="Roboto"/>
                <a:cs typeface="Roboto"/>
              </a:rPr>
              <a:t>Докер.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Практика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0072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Чат</a:t>
            </a:r>
            <a:r>
              <a:rPr sz="4000" spc="-5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в</a:t>
            </a:r>
            <a:r>
              <a:rPr sz="4000" spc="-50" dirty="0">
                <a:latin typeface="Microsoft Sans Serif"/>
                <a:cs typeface="Microsoft Sans Serif"/>
              </a:rPr>
              <a:t> </a:t>
            </a:r>
            <a:r>
              <a:rPr sz="4000" spc="-25" dirty="0">
                <a:latin typeface="Microsoft Sans Serif"/>
                <a:cs typeface="Microsoft Sans Serif"/>
              </a:rPr>
              <a:t>ТГ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3087" y="2275675"/>
            <a:ext cx="3878374" cy="3878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20026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-40" dirty="0">
                <a:latin typeface="Microsoft Sans Serif"/>
                <a:cs typeface="Microsoft Sans Serif"/>
              </a:rPr>
              <a:t>Репозиторий</a:t>
            </a:r>
            <a:r>
              <a:rPr sz="4000" spc="-195" dirty="0">
                <a:latin typeface="Microsoft Sans Serif"/>
                <a:cs typeface="Microsoft Sans Serif"/>
              </a:rPr>
              <a:t> </a:t>
            </a:r>
            <a:r>
              <a:rPr sz="4000" spc="-75" dirty="0">
                <a:latin typeface="Verdana"/>
                <a:cs typeface="Verdana"/>
              </a:rPr>
              <a:t>(</a:t>
            </a:r>
            <a:r>
              <a:rPr sz="4000" spc="-75" dirty="0">
                <a:latin typeface="Microsoft Sans Serif"/>
                <a:cs typeface="Microsoft Sans Serif"/>
              </a:rPr>
              <a:t>там</a:t>
            </a:r>
            <a:r>
              <a:rPr sz="4000" spc="-19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пока</a:t>
            </a:r>
            <a:r>
              <a:rPr sz="4000" spc="-18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старая версия</a:t>
            </a:r>
            <a:r>
              <a:rPr sz="4000" spc="-10" dirty="0">
                <a:latin typeface="Verdana"/>
                <a:cs typeface="Verdana"/>
              </a:rPr>
              <a:t>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Home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3087" y="2421375"/>
            <a:ext cx="3878374" cy="3878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0789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0" dirty="0">
                <a:latin typeface="Microsoft Sans Serif"/>
                <a:cs typeface="Microsoft Sans Serif"/>
              </a:rPr>
              <a:t>Данные</a:t>
            </a:r>
            <a:r>
              <a:rPr sz="4000" spc="-130" dirty="0">
                <a:latin typeface="Verdana"/>
                <a:cs typeface="Verdana"/>
              </a:rPr>
              <a:t>,</a:t>
            </a:r>
            <a:r>
              <a:rPr sz="4000" spc="-270" dirty="0">
                <a:latin typeface="Verdana"/>
                <a:cs typeface="Verdana"/>
              </a:rPr>
              <a:t> </a:t>
            </a:r>
            <a:r>
              <a:rPr sz="4000" spc="-60" dirty="0">
                <a:latin typeface="Microsoft Sans Serif"/>
                <a:cs typeface="Microsoft Sans Serif"/>
              </a:rPr>
              <a:t>информация</a:t>
            </a:r>
            <a:r>
              <a:rPr sz="4000" spc="-60" dirty="0">
                <a:latin typeface="Verdana"/>
                <a:cs typeface="Verdana"/>
              </a:rPr>
              <a:t>,</a:t>
            </a:r>
            <a:r>
              <a:rPr sz="4000" spc="-265" dirty="0">
                <a:latin typeface="Verdana"/>
                <a:cs typeface="Verdana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знания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625" y="2767789"/>
            <a:ext cx="51974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Roboto"/>
                <a:cs typeface="Roboto"/>
              </a:rPr>
              <a:t>Есть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три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сущности: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данные,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35" dirty="0">
                <a:latin typeface="Roboto"/>
                <a:cs typeface="Roboto"/>
              </a:rPr>
              <a:t>информация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знание.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5625" y="3293569"/>
            <a:ext cx="6063615" cy="606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dirty="0" err="1">
                <a:latin typeface="Roboto"/>
                <a:cs typeface="Roboto"/>
              </a:rPr>
              <a:t>Данные</a:t>
            </a:r>
            <a:r>
              <a:rPr sz="1700" spc="-65" dirty="0">
                <a:latin typeface="Roboto"/>
                <a:cs typeface="Roboto"/>
              </a:rPr>
              <a:t> </a:t>
            </a:r>
            <a:r>
              <a:rPr lang="ru-RU" sz="1600" dirty="0">
                <a:latin typeface="Roboto"/>
                <a:cs typeface="Roboto"/>
              </a:rPr>
              <a:t>— </a:t>
            </a:r>
            <a:r>
              <a:rPr sz="1700" dirty="0" err="1">
                <a:latin typeface="Roboto"/>
                <a:cs typeface="Roboto"/>
              </a:rPr>
              <a:t>сырой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набор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объектов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(картинок,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30" dirty="0">
                <a:latin typeface="Roboto"/>
                <a:cs typeface="Roboto"/>
              </a:rPr>
              <a:t>текстов, </a:t>
            </a:r>
            <a:r>
              <a:rPr sz="1700" spc="-10" dirty="0">
                <a:latin typeface="Roboto"/>
                <a:cs typeface="Roboto"/>
              </a:rPr>
              <a:t>аудио), содержащих</a:t>
            </a:r>
            <a:r>
              <a:rPr sz="1700" spc="-7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информацию.</a:t>
            </a:r>
            <a:endParaRPr sz="170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5625" y="4150819"/>
            <a:ext cx="6002020" cy="606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spc="-35" dirty="0" err="1">
                <a:latin typeface="Roboto"/>
                <a:cs typeface="Roboto"/>
              </a:rPr>
              <a:t>Информация</a:t>
            </a:r>
            <a:r>
              <a:rPr sz="1700" spc="-5" dirty="0">
                <a:latin typeface="Roboto"/>
                <a:cs typeface="Roboto"/>
              </a:rPr>
              <a:t> </a:t>
            </a:r>
            <a:r>
              <a:rPr lang="ru-RU" sz="1600" dirty="0">
                <a:latin typeface="Roboto"/>
                <a:cs typeface="Roboto"/>
              </a:rPr>
              <a:t>— </a:t>
            </a:r>
            <a:r>
              <a:rPr sz="1700" spc="-25" dirty="0" err="1">
                <a:latin typeface="Roboto"/>
                <a:cs typeface="Roboto"/>
              </a:rPr>
              <a:t>структурированный</a:t>
            </a:r>
            <a:r>
              <a:rPr sz="1700" spc="-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набор</a:t>
            </a:r>
            <a:r>
              <a:rPr sz="1700" spc="-5" dirty="0">
                <a:latin typeface="Roboto"/>
                <a:cs typeface="Roboto"/>
              </a:rPr>
              <a:t> </a:t>
            </a:r>
            <a:r>
              <a:rPr sz="1700" spc="-75" dirty="0">
                <a:latin typeface="Roboto"/>
                <a:cs typeface="Roboto"/>
              </a:rPr>
              <a:t>фактов</a:t>
            </a:r>
            <a:r>
              <a:rPr sz="170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(таблица, </a:t>
            </a:r>
            <a:r>
              <a:rPr sz="1700" dirty="0">
                <a:latin typeface="Roboto"/>
                <a:cs typeface="Roboto"/>
              </a:rPr>
              <a:t>схема,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осмысленная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часть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картинки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или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аудио).</a:t>
            </a:r>
            <a:endParaRPr sz="170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5008069"/>
            <a:ext cx="5839460" cy="606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spc="-10" dirty="0" err="1">
                <a:latin typeface="Roboto"/>
                <a:cs typeface="Roboto"/>
              </a:rPr>
              <a:t>Знание</a:t>
            </a:r>
            <a:r>
              <a:rPr sz="1700" spc="-70" dirty="0">
                <a:latin typeface="Roboto"/>
                <a:cs typeface="Roboto"/>
              </a:rPr>
              <a:t> </a:t>
            </a:r>
            <a:r>
              <a:rPr lang="ru-RU" sz="1600" dirty="0">
                <a:latin typeface="Roboto"/>
                <a:cs typeface="Roboto"/>
              </a:rPr>
              <a:t>— </a:t>
            </a:r>
            <a:r>
              <a:rPr sz="1700" spc="-20" dirty="0" err="1">
                <a:latin typeface="Roboto"/>
                <a:cs typeface="Roboto"/>
              </a:rPr>
              <a:t>абстрактное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представление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этой</a:t>
            </a:r>
            <a:r>
              <a:rPr sz="1700" spc="-35" dirty="0">
                <a:latin typeface="Roboto"/>
                <a:cs typeface="Roboto"/>
              </a:rPr>
              <a:t> информации </a:t>
            </a:r>
            <a:r>
              <a:rPr sz="1700" spc="-50" dirty="0">
                <a:latin typeface="Roboto"/>
                <a:cs typeface="Roboto"/>
              </a:rPr>
              <a:t>в </a:t>
            </a:r>
            <a:r>
              <a:rPr sz="1700" dirty="0">
                <a:latin typeface="Roboto"/>
                <a:cs typeface="Roboto"/>
              </a:rPr>
              <a:t>голове</a:t>
            </a:r>
            <a:r>
              <a:rPr sz="1700" spc="-1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человека.</a:t>
            </a:r>
            <a:endParaRPr sz="1700" dirty="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97662" y="3648862"/>
            <a:ext cx="2734310" cy="632460"/>
            <a:chOff x="8097662" y="3648862"/>
            <a:chExt cx="2734310" cy="632460"/>
          </a:xfrm>
        </p:grpSpPr>
        <p:sp>
          <p:nvSpPr>
            <p:cNvPr id="13" name="object 13"/>
            <p:cNvSpPr/>
            <p:nvPr/>
          </p:nvSpPr>
          <p:spPr>
            <a:xfrm>
              <a:off x="8111949" y="3663150"/>
              <a:ext cx="2705735" cy="603885"/>
            </a:xfrm>
            <a:custGeom>
              <a:avLst/>
              <a:gdLst/>
              <a:ahLst/>
              <a:cxnLst/>
              <a:rect l="l" t="t" r="r" b="b"/>
              <a:pathLst>
                <a:path w="2705734" h="603885">
                  <a:moveTo>
                    <a:pt x="2605097" y="603599"/>
                  </a:move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2605097" y="0"/>
                  </a:lnTo>
                  <a:lnTo>
                    <a:pt x="2643596" y="7657"/>
                  </a:lnTo>
                  <a:lnTo>
                    <a:pt x="2676234" y="29465"/>
                  </a:lnTo>
                  <a:lnTo>
                    <a:pt x="2698042" y="62103"/>
                  </a:lnTo>
                  <a:lnTo>
                    <a:pt x="2705699" y="100601"/>
                  </a:lnTo>
                  <a:lnTo>
                    <a:pt x="2705699" y="502997"/>
                  </a:lnTo>
                  <a:lnTo>
                    <a:pt x="2697794" y="542156"/>
                  </a:lnTo>
                  <a:lnTo>
                    <a:pt x="2676234" y="574134"/>
                  </a:lnTo>
                  <a:lnTo>
                    <a:pt x="2644256" y="595694"/>
                  </a:lnTo>
                  <a:lnTo>
                    <a:pt x="2605097" y="60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11949" y="3663150"/>
              <a:ext cx="2705735" cy="603885"/>
            </a:xfrm>
            <a:custGeom>
              <a:avLst/>
              <a:gdLst/>
              <a:ahLst/>
              <a:cxnLst/>
              <a:rect l="l" t="t" r="r" b="b"/>
              <a:pathLst>
                <a:path w="2705734" h="603885">
                  <a:moveTo>
                    <a:pt x="0" y="100601"/>
                  </a:move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2605097" y="0"/>
                  </a:lnTo>
                  <a:lnTo>
                    <a:pt x="2643596" y="7657"/>
                  </a:lnTo>
                  <a:lnTo>
                    <a:pt x="2676234" y="29465"/>
                  </a:lnTo>
                  <a:lnTo>
                    <a:pt x="2698042" y="62103"/>
                  </a:lnTo>
                  <a:lnTo>
                    <a:pt x="2705699" y="100601"/>
                  </a:lnTo>
                  <a:lnTo>
                    <a:pt x="2705699" y="502997"/>
                  </a:lnTo>
                  <a:lnTo>
                    <a:pt x="2697794" y="542156"/>
                  </a:lnTo>
                  <a:lnTo>
                    <a:pt x="2676234" y="574134"/>
                  </a:lnTo>
                  <a:lnTo>
                    <a:pt x="2644256" y="595694"/>
                  </a:lnTo>
                  <a:lnTo>
                    <a:pt x="2605097" y="603599"/>
                  </a:ln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93049" y="3789689"/>
            <a:ext cx="13423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Information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51362" y="4415237"/>
            <a:ext cx="3827145" cy="632460"/>
            <a:chOff x="7551362" y="4415237"/>
            <a:chExt cx="3827145" cy="632460"/>
          </a:xfrm>
        </p:grpSpPr>
        <p:sp>
          <p:nvSpPr>
            <p:cNvPr id="17" name="object 17"/>
            <p:cNvSpPr/>
            <p:nvPr/>
          </p:nvSpPr>
          <p:spPr>
            <a:xfrm>
              <a:off x="7565649" y="4429524"/>
              <a:ext cx="3798570" cy="603885"/>
            </a:xfrm>
            <a:custGeom>
              <a:avLst/>
              <a:gdLst/>
              <a:ahLst/>
              <a:cxnLst/>
              <a:rect l="l" t="t" r="r" b="b"/>
              <a:pathLst>
                <a:path w="3798570" h="603885">
                  <a:moveTo>
                    <a:pt x="3697697" y="603599"/>
                  </a:move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3697697" y="0"/>
                  </a:lnTo>
                  <a:lnTo>
                    <a:pt x="3736196" y="7657"/>
                  </a:lnTo>
                  <a:lnTo>
                    <a:pt x="3768834" y="29465"/>
                  </a:lnTo>
                  <a:lnTo>
                    <a:pt x="3790642" y="62103"/>
                  </a:lnTo>
                  <a:lnTo>
                    <a:pt x="3798299" y="100601"/>
                  </a:lnTo>
                  <a:lnTo>
                    <a:pt x="3798299" y="502997"/>
                  </a:lnTo>
                  <a:lnTo>
                    <a:pt x="3790394" y="542156"/>
                  </a:lnTo>
                  <a:lnTo>
                    <a:pt x="3768834" y="574134"/>
                  </a:lnTo>
                  <a:lnTo>
                    <a:pt x="3736856" y="595694"/>
                  </a:lnTo>
                  <a:lnTo>
                    <a:pt x="3697697" y="60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65649" y="4429524"/>
              <a:ext cx="3798570" cy="603885"/>
            </a:xfrm>
            <a:custGeom>
              <a:avLst/>
              <a:gdLst/>
              <a:ahLst/>
              <a:cxnLst/>
              <a:rect l="l" t="t" r="r" b="b"/>
              <a:pathLst>
                <a:path w="3798570" h="603885">
                  <a:moveTo>
                    <a:pt x="0" y="100601"/>
                  </a:move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3697697" y="0"/>
                  </a:lnTo>
                  <a:lnTo>
                    <a:pt x="3736196" y="7657"/>
                  </a:lnTo>
                  <a:lnTo>
                    <a:pt x="3768834" y="29465"/>
                  </a:lnTo>
                  <a:lnTo>
                    <a:pt x="3790642" y="62103"/>
                  </a:lnTo>
                  <a:lnTo>
                    <a:pt x="3798299" y="100601"/>
                  </a:lnTo>
                  <a:lnTo>
                    <a:pt x="3798299" y="502997"/>
                  </a:lnTo>
                  <a:lnTo>
                    <a:pt x="3790394" y="542156"/>
                  </a:lnTo>
                  <a:lnTo>
                    <a:pt x="3768834" y="574134"/>
                  </a:lnTo>
                  <a:lnTo>
                    <a:pt x="3736856" y="595694"/>
                  </a:lnTo>
                  <a:lnTo>
                    <a:pt x="3697697" y="603599"/>
                  </a:ln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189273" y="4556064"/>
            <a:ext cx="550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Data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487962" y="2903062"/>
            <a:ext cx="1953895" cy="632460"/>
            <a:chOff x="8487962" y="2903062"/>
            <a:chExt cx="1953895" cy="632460"/>
          </a:xfrm>
        </p:grpSpPr>
        <p:sp>
          <p:nvSpPr>
            <p:cNvPr id="21" name="object 21"/>
            <p:cNvSpPr/>
            <p:nvPr/>
          </p:nvSpPr>
          <p:spPr>
            <a:xfrm>
              <a:off x="8502250" y="2917350"/>
              <a:ext cx="1925320" cy="603885"/>
            </a:xfrm>
            <a:custGeom>
              <a:avLst/>
              <a:gdLst/>
              <a:ahLst/>
              <a:cxnLst/>
              <a:rect l="l" t="t" r="r" b="b"/>
              <a:pathLst>
                <a:path w="1925320" h="603885">
                  <a:moveTo>
                    <a:pt x="1824497" y="603599"/>
                  </a:move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1824497" y="0"/>
                  </a:lnTo>
                  <a:lnTo>
                    <a:pt x="1862996" y="7657"/>
                  </a:lnTo>
                  <a:lnTo>
                    <a:pt x="1895634" y="29465"/>
                  </a:lnTo>
                  <a:lnTo>
                    <a:pt x="1917442" y="62103"/>
                  </a:lnTo>
                  <a:lnTo>
                    <a:pt x="1925099" y="100601"/>
                  </a:lnTo>
                  <a:lnTo>
                    <a:pt x="1925099" y="502997"/>
                  </a:lnTo>
                  <a:lnTo>
                    <a:pt x="1917194" y="542156"/>
                  </a:lnTo>
                  <a:lnTo>
                    <a:pt x="1895634" y="574134"/>
                  </a:lnTo>
                  <a:lnTo>
                    <a:pt x="1863656" y="595694"/>
                  </a:lnTo>
                  <a:lnTo>
                    <a:pt x="1824497" y="60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02250" y="2917350"/>
              <a:ext cx="1925320" cy="603885"/>
            </a:xfrm>
            <a:custGeom>
              <a:avLst/>
              <a:gdLst/>
              <a:ahLst/>
              <a:cxnLst/>
              <a:rect l="l" t="t" r="r" b="b"/>
              <a:pathLst>
                <a:path w="1925320" h="603885">
                  <a:moveTo>
                    <a:pt x="0" y="100601"/>
                  </a:move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1824497" y="0"/>
                  </a:lnTo>
                  <a:lnTo>
                    <a:pt x="1862996" y="7657"/>
                  </a:lnTo>
                  <a:lnTo>
                    <a:pt x="1895634" y="29465"/>
                  </a:lnTo>
                  <a:lnTo>
                    <a:pt x="1917442" y="62103"/>
                  </a:lnTo>
                  <a:lnTo>
                    <a:pt x="1925099" y="100601"/>
                  </a:lnTo>
                  <a:lnTo>
                    <a:pt x="1925099" y="502997"/>
                  </a:lnTo>
                  <a:lnTo>
                    <a:pt x="1917194" y="542156"/>
                  </a:lnTo>
                  <a:lnTo>
                    <a:pt x="1895634" y="574134"/>
                  </a:lnTo>
                  <a:lnTo>
                    <a:pt x="1863656" y="595694"/>
                  </a:lnTo>
                  <a:lnTo>
                    <a:pt x="1824497" y="603599"/>
                  </a:ln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827948" y="3043889"/>
            <a:ext cx="12725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Knowledge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124206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Verdana"/>
                <a:cs typeface="Verdana"/>
              </a:rPr>
              <a:t>Data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40"/>
              </a:spcBef>
            </a:pPr>
            <a:r>
              <a:rPr sz="1700" spc="-10" dirty="0">
                <a:latin typeface="Roboto"/>
                <a:cs typeface="Roboto"/>
              </a:rPr>
              <a:t>Пример: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690" y="2745594"/>
            <a:ext cx="2936875" cy="1206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3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Логи</a:t>
            </a:r>
            <a:r>
              <a:rPr sz="1700" spc="-20" dirty="0">
                <a:latin typeface="Roboto"/>
                <a:cs typeface="Roboto"/>
              </a:rPr>
              <a:t> работы</a:t>
            </a:r>
            <a:r>
              <a:rPr sz="1700" spc="-1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сервиса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Новости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с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сайта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Все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документы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компании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spc="-20" dirty="0">
                <a:latin typeface="Roboto"/>
                <a:cs typeface="Roboto"/>
              </a:rPr>
              <a:t>Показатели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со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счетчиков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0600" y="2486514"/>
            <a:ext cx="10699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Roboto"/>
                <a:cs typeface="Roboto"/>
              </a:rPr>
              <a:t>Признаки: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9665" y="2745594"/>
            <a:ext cx="3519804" cy="1206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384"/>
              </a:spcBef>
              <a:buChar char="-"/>
              <a:tabLst>
                <a:tab pos="300355" algn="l"/>
              </a:tabLst>
            </a:pPr>
            <a:r>
              <a:rPr sz="1700" spc="-10" dirty="0">
                <a:latin typeface="Roboto"/>
                <a:cs typeface="Roboto"/>
              </a:rPr>
              <a:t>Объективность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Нет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конкретной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цели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spc="-10" dirty="0">
                <a:latin typeface="Roboto"/>
                <a:cs typeface="Roboto"/>
              </a:rPr>
              <a:t>Необработанность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Можно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оценить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количественно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625" y="4418464"/>
            <a:ext cx="4352925" cy="140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Roboto"/>
                <a:cs typeface="Roboto"/>
              </a:rPr>
              <a:t>Правда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ли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совсем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нет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структуры?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90" dirty="0">
                <a:latin typeface="Roboto"/>
                <a:cs typeface="Roboto"/>
              </a:rPr>
              <a:t>Где</a:t>
            </a:r>
            <a:r>
              <a:rPr sz="1700" spc="1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их</a:t>
            </a:r>
            <a:r>
              <a:rPr sz="1700" spc="1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можно</a:t>
            </a:r>
            <a:r>
              <a:rPr sz="1700" spc="1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хранить?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Roboto"/>
                <a:cs typeface="Roboto"/>
              </a:rPr>
              <a:t>Какие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еще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примеры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вы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можете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привести?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0181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Verdana"/>
                <a:cs typeface="Verdana"/>
              </a:rPr>
              <a:t>Information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40"/>
              </a:spcBef>
            </a:pPr>
            <a:r>
              <a:rPr sz="1700" spc="-10" dirty="0">
                <a:latin typeface="Roboto"/>
                <a:cs typeface="Roboto"/>
              </a:rPr>
              <a:t>Пример: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690" y="2745594"/>
            <a:ext cx="3749040" cy="1206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384"/>
              </a:spcBef>
              <a:buChar char="-"/>
              <a:tabLst>
                <a:tab pos="300355" algn="l"/>
              </a:tabLst>
            </a:pPr>
            <a:r>
              <a:rPr sz="1700" spc="-85" dirty="0">
                <a:latin typeface="Roboto"/>
                <a:cs typeface="Roboto"/>
              </a:rPr>
              <a:t>График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spc="-30" dirty="0">
                <a:latin typeface="Roboto"/>
                <a:cs typeface="Roboto"/>
              </a:rPr>
              <a:t>частоты</a:t>
            </a:r>
            <a:r>
              <a:rPr sz="1700" spc="-7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отказов</a:t>
            </a:r>
            <a:r>
              <a:rPr sz="1700" spc="-6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системы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spc="-25" dirty="0">
                <a:latin typeface="Roboto"/>
                <a:cs typeface="Roboto"/>
              </a:rPr>
              <a:t>Частоты</a:t>
            </a:r>
            <a:r>
              <a:rPr sz="1700" spc="-8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тем</a:t>
            </a:r>
            <a:r>
              <a:rPr sz="1700" spc="-7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новостей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Все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части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документов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по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ИБ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Сумма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к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оплате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за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месяц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0600" y="2486514"/>
            <a:ext cx="10699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Roboto"/>
                <a:cs typeface="Roboto"/>
              </a:rPr>
              <a:t>Признаки: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9665" y="2745594"/>
            <a:ext cx="3519804" cy="1206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384"/>
              </a:spcBef>
              <a:buChar char="-"/>
              <a:tabLst>
                <a:tab pos="300355" algn="l"/>
              </a:tabLst>
            </a:pPr>
            <a:r>
              <a:rPr sz="1700" spc="-10" dirty="0">
                <a:latin typeface="Roboto"/>
                <a:cs typeface="Roboto"/>
              </a:rPr>
              <a:t>Объективность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(желательно)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Есть</a:t>
            </a:r>
            <a:r>
              <a:rPr sz="1700" spc="-9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конкретная</a:t>
            </a:r>
            <a:r>
              <a:rPr sz="1700" spc="-9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цель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spc="-40" dirty="0">
                <a:latin typeface="Roboto"/>
                <a:cs typeface="Roboto"/>
              </a:rPr>
              <a:t>Результат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обработки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Можно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оценить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количественно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625" y="4418464"/>
            <a:ext cx="5577840" cy="140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Roboto"/>
                <a:cs typeface="Roboto"/>
              </a:rPr>
              <a:t>Почему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мы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хотим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работать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именно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с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10" dirty="0" err="1">
                <a:latin typeface="Roboto"/>
                <a:cs typeface="Roboto"/>
              </a:rPr>
              <a:t>информацией</a:t>
            </a:r>
            <a:r>
              <a:rPr sz="1700" spc="-10" dirty="0">
                <a:latin typeface="Roboto"/>
                <a:cs typeface="Roboto"/>
              </a:rPr>
              <a:t>?</a:t>
            </a:r>
            <a:endParaRPr lang="ru-RU" sz="1700" dirty="0">
              <a:latin typeface="Roboto"/>
              <a:cs typeface="Roboto"/>
            </a:endParaRPr>
          </a:p>
          <a:p>
            <a:pPr marL="12700" marR="5080" indent="52705">
              <a:lnSpc>
                <a:spcPct val="216900"/>
              </a:lnSpc>
            </a:pPr>
            <a:r>
              <a:rPr lang="ru-RU" sz="1700" dirty="0">
                <a:latin typeface="Roboto"/>
                <a:cs typeface="Roboto"/>
              </a:rPr>
              <a:t>Важна</a:t>
            </a:r>
            <a:r>
              <a:rPr lang="ru-RU" sz="1700" spc="-10" dirty="0">
                <a:latin typeface="Roboto"/>
                <a:cs typeface="Roboto"/>
              </a:rPr>
              <a:t> </a:t>
            </a:r>
            <a:r>
              <a:rPr lang="ru-RU" sz="1700" dirty="0">
                <a:latin typeface="Roboto"/>
                <a:cs typeface="Roboto"/>
              </a:rPr>
              <a:t>ли</a:t>
            </a:r>
            <a:r>
              <a:rPr lang="ru-RU" sz="1700" spc="-10" dirty="0">
                <a:latin typeface="Roboto"/>
                <a:cs typeface="Roboto"/>
              </a:rPr>
              <a:t> связь </a:t>
            </a:r>
            <a:r>
              <a:rPr lang="ru-RU" sz="1700" spc="-35" dirty="0">
                <a:latin typeface="Roboto"/>
                <a:cs typeface="Roboto"/>
              </a:rPr>
              <a:t>информации</a:t>
            </a:r>
            <a:r>
              <a:rPr lang="ru-RU" sz="1700" spc="-10" dirty="0">
                <a:latin typeface="Roboto"/>
                <a:cs typeface="Roboto"/>
              </a:rPr>
              <a:t> </a:t>
            </a:r>
            <a:r>
              <a:rPr lang="ru-RU" sz="1700" dirty="0">
                <a:latin typeface="Roboto"/>
                <a:cs typeface="Roboto"/>
              </a:rPr>
              <a:t>с</a:t>
            </a:r>
            <a:r>
              <a:rPr lang="ru-RU" sz="1700" spc="-10" dirty="0">
                <a:latin typeface="Roboto"/>
                <a:cs typeface="Roboto"/>
              </a:rPr>
              <a:t> источником </a:t>
            </a:r>
            <a:r>
              <a:rPr lang="ru-RU" sz="1700" dirty="0">
                <a:latin typeface="Roboto"/>
                <a:cs typeface="Roboto"/>
              </a:rPr>
              <a:t>в</a:t>
            </a:r>
            <a:r>
              <a:rPr lang="ru-RU" sz="1700" spc="-10" dirty="0">
                <a:latin typeface="Roboto"/>
                <a:cs typeface="Roboto"/>
              </a:rPr>
              <a:t> данных? Всегда</a:t>
            </a:r>
            <a:r>
              <a:rPr lang="ru-RU" sz="1700" spc="-50" dirty="0">
                <a:latin typeface="Roboto"/>
                <a:cs typeface="Roboto"/>
              </a:rPr>
              <a:t> </a:t>
            </a:r>
            <a:r>
              <a:rPr lang="ru-RU" sz="1700" dirty="0">
                <a:latin typeface="Roboto"/>
                <a:cs typeface="Roboto"/>
              </a:rPr>
              <a:t>ли</a:t>
            </a:r>
            <a:r>
              <a:rPr lang="ru-RU" sz="1700" spc="-45" dirty="0">
                <a:latin typeface="Roboto"/>
                <a:cs typeface="Roboto"/>
              </a:rPr>
              <a:t> </a:t>
            </a:r>
            <a:r>
              <a:rPr lang="ru-RU" sz="1700" spc="-40" dirty="0">
                <a:latin typeface="Roboto"/>
                <a:cs typeface="Roboto"/>
              </a:rPr>
              <a:t>эта</a:t>
            </a:r>
            <a:r>
              <a:rPr lang="ru-RU" sz="1700" spc="-50" dirty="0">
                <a:latin typeface="Roboto"/>
                <a:cs typeface="Roboto"/>
              </a:rPr>
              <a:t> </a:t>
            </a:r>
            <a:r>
              <a:rPr lang="ru-RU" sz="1700" spc="-10" dirty="0">
                <a:latin typeface="Roboto"/>
                <a:cs typeface="Roboto"/>
              </a:rPr>
              <a:t>связь</a:t>
            </a:r>
            <a:r>
              <a:rPr lang="ru-RU" sz="1700" spc="-45" dirty="0">
                <a:latin typeface="Roboto"/>
                <a:cs typeface="Roboto"/>
              </a:rPr>
              <a:t> </a:t>
            </a:r>
            <a:r>
              <a:rPr lang="ru-RU" sz="1700" dirty="0">
                <a:latin typeface="Roboto"/>
                <a:cs typeface="Roboto"/>
              </a:rPr>
              <a:t>один</a:t>
            </a:r>
            <a:r>
              <a:rPr lang="ru-RU" sz="1700" spc="-45" dirty="0">
                <a:latin typeface="Roboto"/>
                <a:cs typeface="Roboto"/>
              </a:rPr>
              <a:t> </a:t>
            </a:r>
            <a:r>
              <a:rPr lang="ru-RU" sz="1700" dirty="0">
                <a:latin typeface="Roboto"/>
                <a:cs typeface="Roboto"/>
              </a:rPr>
              <a:t>к</a:t>
            </a:r>
            <a:r>
              <a:rPr lang="ru-RU" sz="1700" spc="-50" dirty="0">
                <a:latin typeface="Roboto"/>
                <a:cs typeface="Roboto"/>
              </a:rPr>
              <a:t> </a:t>
            </a:r>
            <a:r>
              <a:rPr lang="ru-RU" sz="1700" spc="-10" dirty="0">
                <a:latin typeface="Roboto"/>
                <a:cs typeface="Roboto"/>
              </a:rPr>
              <a:t>одному?</a:t>
            </a:r>
            <a:endParaRPr lang="ru-RU" sz="17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77495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latin typeface="Verdana"/>
                <a:cs typeface="Verdana"/>
              </a:rPr>
              <a:t>Knowledge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40"/>
              </a:spcBef>
            </a:pPr>
            <a:r>
              <a:rPr sz="1700" spc="-10" dirty="0">
                <a:latin typeface="Roboto"/>
                <a:cs typeface="Roboto"/>
              </a:rPr>
              <a:t>Пример: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690" y="2745594"/>
            <a:ext cx="4243705" cy="1206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384"/>
              </a:spcBef>
              <a:buChar char="-"/>
              <a:tabLst>
                <a:tab pos="300355" algn="l"/>
              </a:tabLst>
            </a:pPr>
            <a:r>
              <a:rPr sz="1700" spc="-10" dirty="0">
                <a:latin typeface="Roboto"/>
                <a:cs typeface="Roboto"/>
              </a:rPr>
              <a:t>Устранение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уязвимости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сервиса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Реклама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на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основе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тематики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сайта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spc="-40" dirty="0">
                <a:latin typeface="Roboto"/>
                <a:cs typeface="Roboto"/>
              </a:rPr>
              <a:t>Конфликты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с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новым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правилом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про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ИБ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Решение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покупке</a:t>
            </a:r>
            <a:r>
              <a:rPr sz="1700" spc="-1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новой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техники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0600" y="2486514"/>
            <a:ext cx="10699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Roboto"/>
                <a:cs typeface="Roboto"/>
              </a:rPr>
              <a:t>Признаки: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9665" y="2745594"/>
            <a:ext cx="3535045" cy="1206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384"/>
              </a:spcBef>
              <a:buChar char="-"/>
              <a:tabLst>
                <a:tab pos="300355" algn="l"/>
              </a:tabLst>
            </a:pPr>
            <a:r>
              <a:rPr sz="1700" spc="-10" dirty="0">
                <a:latin typeface="Roboto"/>
                <a:cs typeface="Roboto"/>
              </a:rPr>
              <a:t>Субъективность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Есть</a:t>
            </a:r>
            <a:r>
              <a:rPr sz="1700" spc="-9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конкретная</a:t>
            </a:r>
            <a:r>
              <a:rPr sz="1700" spc="-9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цель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spc="-40" dirty="0">
                <a:latin typeface="Roboto"/>
                <a:cs typeface="Roboto"/>
              </a:rPr>
              <a:t>Результат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обработки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spcBef>
                <a:spcPts val="284"/>
              </a:spcBef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Нельзя</a:t>
            </a:r>
            <a:r>
              <a:rPr sz="1700" spc="-9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оценить</a:t>
            </a:r>
            <a:r>
              <a:rPr sz="1700" spc="-9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количественно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625" y="4418464"/>
            <a:ext cx="6146165" cy="140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Roboto"/>
                <a:cs typeface="Roboto"/>
              </a:rPr>
              <a:t>Можно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ли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получать</a:t>
            </a:r>
            <a:r>
              <a:rPr sz="1700" spc="-2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знания</a:t>
            </a:r>
            <a:r>
              <a:rPr sz="1700" spc="-20" dirty="0">
                <a:latin typeface="Roboto"/>
                <a:cs typeface="Roboto"/>
              </a:rPr>
              <a:t> автоматически? </a:t>
            </a:r>
            <a:r>
              <a:rPr sz="1700" dirty="0">
                <a:latin typeface="Roboto"/>
                <a:cs typeface="Roboto"/>
              </a:rPr>
              <a:t>Например,</a:t>
            </a:r>
            <a:r>
              <a:rPr sz="1700" spc="-20" dirty="0">
                <a:latin typeface="Roboto"/>
                <a:cs typeface="Roboto"/>
              </a:rPr>
              <a:t> как?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10" dirty="0">
                <a:latin typeface="Roboto"/>
                <a:cs typeface="Roboto"/>
              </a:rPr>
              <a:t>Могут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ли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знания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быть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объективными?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Roboto"/>
                <a:cs typeface="Roboto"/>
              </a:rPr>
              <a:t>Почему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субъективность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усложняет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автоматизацию?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9350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Решение</a:t>
            </a:r>
            <a:r>
              <a:rPr sz="4000" spc="-225" dirty="0">
                <a:latin typeface="Microsoft Sans Serif"/>
                <a:cs typeface="Microsoft Sans Serif"/>
              </a:rPr>
              <a:t> </a:t>
            </a:r>
            <a:r>
              <a:rPr sz="4000" spc="-25" dirty="0">
                <a:latin typeface="Microsoft Sans Serif"/>
                <a:cs typeface="Microsoft Sans Serif"/>
              </a:rPr>
              <a:t>задачи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5625" y="2628756"/>
            <a:ext cx="40900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105882"/>
              <a:buFont typeface="MS PGothic"/>
              <a:buChar char="❖"/>
              <a:tabLst>
                <a:tab pos="469265" algn="l"/>
              </a:tabLst>
            </a:pPr>
            <a:r>
              <a:rPr sz="1700" dirty="0">
                <a:latin typeface="Roboto"/>
                <a:cs typeface="Roboto"/>
              </a:rPr>
              <a:t>Какой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вид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транспорта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выбрать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для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2825" y="3169014"/>
            <a:ext cx="14357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latin typeface="Roboto"/>
                <a:cs typeface="Roboto"/>
              </a:rPr>
              <a:t>путешествия?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5625" y="3695556"/>
            <a:ext cx="54787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105882"/>
              <a:buFont typeface="MS PGothic"/>
              <a:buChar char="❖"/>
              <a:tabLst>
                <a:tab pos="469265" algn="l"/>
              </a:tabLst>
            </a:pPr>
            <a:r>
              <a:rPr sz="1700" dirty="0">
                <a:latin typeface="Roboto"/>
                <a:cs typeface="Roboto"/>
              </a:rPr>
              <a:t>Как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с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точки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зрения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типологии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выглядит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порядок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2825" y="4235814"/>
            <a:ext cx="6115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Roboto"/>
                <a:cs typeface="Roboto"/>
              </a:rPr>
              <a:t>слов?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424" y="4750164"/>
            <a:ext cx="43338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56565" algn="l"/>
              </a:tabLst>
            </a:pPr>
            <a:r>
              <a:rPr sz="1700" spc="-20" dirty="0">
                <a:latin typeface="Roboto"/>
                <a:cs typeface="Roboto"/>
              </a:rPr>
              <a:t>Автоматически</a:t>
            </a:r>
            <a:r>
              <a:rPr sz="1700" spc="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определить,</a:t>
            </a:r>
            <a:r>
              <a:rPr sz="1700" spc="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нужно</a:t>
            </a:r>
            <a:r>
              <a:rPr sz="1700" spc="5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ли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2825" y="5264514"/>
            <a:ext cx="38601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latin typeface="Roboto"/>
                <a:cs typeface="Roboto"/>
              </a:rPr>
              <a:t>заблокировать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пользователя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форума</a:t>
            </a:r>
            <a:endParaRPr sz="17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13402" y="1576512"/>
            <a:ext cx="2360295" cy="566420"/>
            <a:chOff x="7813402" y="1576512"/>
            <a:chExt cx="2360295" cy="566420"/>
          </a:xfrm>
        </p:grpSpPr>
        <p:sp>
          <p:nvSpPr>
            <p:cNvPr id="15" name="object 15"/>
            <p:cNvSpPr/>
            <p:nvPr/>
          </p:nvSpPr>
          <p:spPr>
            <a:xfrm>
              <a:off x="7827689" y="1590799"/>
              <a:ext cx="2331720" cy="537845"/>
            </a:xfrm>
            <a:custGeom>
              <a:avLst/>
              <a:gdLst/>
              <a:ahLst/>
              <a:cxnLst/>
              <a:rect l="l" t="t" r="r" b="b"/>
              <a:pathLst>
                <a:path w="2331720" h="537844">
                  <a:moveTo>
                    <a:pt x="2242047" y="537299"/>
                  </a:moveTo>
                  <a:lnTo>
                    <a:pt x="89551" y="537299"/>
                  </a:lnTo>
                  <a:lnTo>
                    <a:pt x="54693" y="530262"/>
                  </a:lnTo>
                  <a:lnTo>
                    <a:pt x="26228" y="511070"/>
                  </a:lnTo>
                  <a:lnTo>
                    <a:pt x="7037" y="482605"/>
                  </a:lnTo>
                  <a:lnTo>
                    <a:pt x="0" y="447748"/>
                  </a:lnTo>
                  <a:lnTo>
                    <a:pt x="0" y="89551"/>
                  </a:lnTo>
                  <a:lnTo>
                    <a:pt x="7037" y="54694"/>
                  </a:lnTo>
                  <a:lnTo>
                    <a:pt x="26228" y="26229"/>
                  </a:lnTo>
                  <a:lnTo>
                    <a:pt x="54693" y="7037"/>
                  </a:lnTo>
                  <a:lnTo>
                    <a:pt x="89551" y="0"/>
                  </a:lnTo>
                  <a:lnTo>
                    <a:pt x="2242047" y="0"/>
                  </a:lnTo>
                  <a:lnTo>
                    <a:pt x="2291731" y="15045"/>
                  </a:lnTo>
                  <a:lnTo>
                    <a:pt x="2324783" y="55281"/>
                  </a:lnTo>
                  <a:lnTo>
                    <a:pt x="2331599" y="89551"/>
                  </a:lnTo>
                  <a:lnTo>
                    <a:pt x="2331599" y="447748"/>
                  </a:lnTo>
                  <a:lnTo>
                    <a:pt x="2324562" y="482605"/>
                  </a:lnTo>
                  <a:lnTo>
                    <a:pt x="2305370" y="511070"/>
                  </a:lnTo>
                  <a:lnTo>
                    <a:pt x="2276905" y="530262"/>
                  </a:lnTo>
                  <a:lnTo>
                    <a:pt x="2242047" y="537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27689" y="1590799"/>
              <a:ext cx="2331720" cy="537845"/>
            </a:xfrm>
            <a:custGeom>
              <a:avLst/>
              <a:gdLst/>
              <a:ahLst/>
              <a:cxnLst/>
              <a:rect l="l" t="t" r="r" b="b"/>
              <a:pathLst>
                <a:path w="2331720" h="537844">
                  <a:moveTo>
                    <a:pt x="0" y="89551"/>
                  </a:moveTo>
                  <a:lnTo>
                    <a:pt x="7037" y="54694"/>
                  </a:lnTo>
                  <a:lnTo>
                    <a:pt x="26228" y="26229"/>
                  </a:lnTo>
                  <a:lnTo>
                    <a:pt x="54693" y="7037"/>
                  </a:lnTo>
                  <a:lnTo>
                    <a:pt x="89551" y="0"/>
                  </a:lnTo>
                  <a:lnTo>
                    <a:pt x="2242047" y="0"/>
                  </a:lnTo>
                  <a:lnTo>
                    <a:pt x="2291731" y="15045"/>
                  </a:lnTo>
                  <a:lnTo>
                    <a:pt x="2324783" y="55281"/>
                  </a:lnTo>
                  <a:lnTo>
                    <a:pt x="2331599" y="89551"/>
                  </a:lnTo>
                  <a:lnTo>
                    <a:pt x="2331599" y="447748"/>
                  </a:lnTo>
                  <a:lnTo>
                    <a:pt x="2324562" y="482605"/>
                  </a:lnTo>
                  <a:lnTo>
                    <a:pt x="2305370" y="511070"/>
                  </a:lnTo>
                  <a:lnTo>
                    <a:pt x="2276905" y="530262"/>
                  </a:lnTo>
                  <a:lnTo>
                    <a:pt x="2242047" y="537299"/>
                  </a:lnTo>
                  <a:lnTo>
                    <a:pt x="89551" y="537299"/>
                  </a:lnTo>
                  <a:lnTo>
                    <a:pt x="54693" y="530262"/>
                  </a:lnTo>
                  <a:lnTo>
                    <a:pt x="26228" y="511070"/>
                  </a:lnTo>
                  <a:lnTo>
                    <a:pt x="7037" y="482605"/>
                  </a:lnTo>
                  <a:lnTo>
                    <a:pt x="0" y="447748"/>
                  </a:lnTo>
                  <a:lnTo>
                    <a:pt x="0" y="8955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95362" y="1699493"/>
            <a:ext cx="795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Roboto"/>
                <a:cs typeface="Roboto"/>
              </a:rPr>
              <a:t>Задача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02262" y="2268320"/>
            <a:ext cx="3182620" cy="875030"/>
            <a:chOff x="7402262" y="2268320"/>
            <a:chExt cx="3182620" cy="875030"/>
          </a:xfrm>
        </p:grpSpPr>
        <p:sp>
          <p:nvSpPr>
            <p:cNvPr id="19" name="object 19"/>
            <p:cNvSpPr/>
            <p:nvPr/>
          </p:nvSpPr>
          <p:spPr>
            <a:xfrm>
              <a:off x="7416549" y="2282607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5">
                  <a:moveTo>
                    <a:pt x="3012846" y="846299"/>
                  </a:move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6"/>
                  </a:lnTo>
                  <a:lnTo>
                    <a:pt x="0" y="141052"/>
                  </a:lnTo>
                  <a:lnTo>
                    <a:pt x="7190" y="96469"/>
                  </a:lnTo>
                  <a:lnTo>
                    <a:pt x="27215" y="57748"/>
                  </a:lnTo>
                  <a:lnTo>
                    <a:pt x="57748" y="27214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7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6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16549" y="2282607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5">
                  <a:moveTo>
                    <a:pt x="0" y="141052"/>
                  </a:moveTo>
                  <a:lnTo>
                    <a:pt x="7190" y="96469"/>
                  </a:lnTo>
                  <a:lnTo>
                    <a:pt x="27215" y="57748"/>
                  </a:lnTo>
                  <a:lnTo>
                    <a:pt x="57748" y="27214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7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6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6"/>
                  </a:lnTo>
                  <a:lnTo>
                    <a:pt x="0" y="141052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631356" y="2407689"/>
            <a:ext cx="272097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86435" marR="5080" indent="-67437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Roboto"/>
                <a:cs typeface="Roboto"/>
              </a:rPr>
              <a:t>Какие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знания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нужны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для </a:t>
            </a:r>
            <a:r>
              <a:rPr sz="1800" dirty="0">
                <a:latin typeface="Roboto"/>
                <a:cs typeface="Roboto"/>
              </a:rPr>
              <a:t>ее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решения?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402262" y="3301041"/>
            <a:ext cx="3182620" cy="875030"/>
            <a:chOff x="7402262" y="3301041"/>
            <a:chExt cx="3182620" cy="875030"/>
          </a:xfrm>
        </p:grpSpPr>
        <p:sp>
          <p:nvSpPr>
            <p:cNvPr id="23" name="object 23"/>
            <p:cNvSpPr/>
            <p:nvPr/>
          </p:nvSpPr>
          <p:spPr>
            <a:xfrm>
              <a:off x="7416549" y="3315329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4">
                  <a:moveTo>
                    <a:pt x="3012846" y="846299"/>
                  </a:move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7"/>
                  </a:lnTo>
                  <a:lnTo>
                    <a:pt x="0" y="141052"/>
                  </a:lnTo>
                  <a:lnTo>
                    <a:pt x="7190" y="96469"/>
                  </a:lnTo>
                  <a:lnTo>
                    <a:pt x="27215" y="57748"/>
                  </a:lnTo>
                  <a:lnTo>
                    <a:pt x="57748" y="27215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7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7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16549" y="3315329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4">
                  <a:moveTo>
                    <a:pt x="0" y="141052"/>
                  </a:moveTo>
                  <a:lnTo>
                    <a:pt x="7190" y="96469"/>
                  </a:lnTo>
                  <a:lnTo>
                    <a:pt x="27215" y="57748"/>
                  </a:lnTo>
                  <a:lnTo>
                    <a:pt x="57748" y="27215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7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7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7"/>
                  </a:lnTo>
                  <a:lnTo>
                    <a:pt x="0" y="141052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45098" y="3302298"/>
            <a:ext cx="249491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270" algn="ctr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latin typeface="Roboto"/>
                <a:cs typeface="Roboto"/>
              </a:rPr>
              <a:t>Какая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информация позволит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получить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эти </a:t>
            </a:r>
            <a:r>
              <a:rPr sz="1800" spc="-10" dirty="0">
                <a:latin typeface="Roboto"/>
                <a:cs typeface="Roboto"/>
              </a:rPr>
              <a:t>знания?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402262" y="4333740"/>
            <a:ext cx="3182620" cy="875030"/>
            <a:chOff x="7402262" y="4333740"/>
            <a:chExt cx="3182620" cy="875030"/>
          </a:xfrm>
        </p:grpSpPr>
        <p:sp>
          <p:nvSpPr>
            <p:cNvPr id="27" name="object 27"/>
            <p:cNvSpPr/>
            <p:nvPr/>
          </p:nvSpPr>
          <p:spPr>
            <a:xfrm>
              <a:off x="7416549" y="4348028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4">
                  <a:moveTo>
                    <a:pt x="3012846" y="846299"/>
                  </a:move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7"/>
                  </a:lnTo>
                  <a:lnTo>
                    <a:pt x="0" y="141052"/>
                  </a:lnTo>
                  <a:lnTo>
                    <a:pt x="7190" y="96469"/>
                  </a:lnTo>
                  <a:lnTo>
                    <a:pt x="27215" y="57748"/>
                  </a:lnTo>
                  <a:lnTo>
                    <a:pt x="57748" y="27215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7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7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16549" y="4348028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4">
                  <a:moveTo>
                    <a:pt x="0" y="141052"/>
                  </a:moveTo>
                  <a:lnTo>
                    <a:pt x="7190" y="96469"/>
                  </a:lnTo>
                  <a:lnTo>
                    <a:pt x="27215" y="57748"/>
                  </a:lnTo>
                  <a:lnTo>
                    <a:pt x="57748" y="27215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7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7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7"/>
                  </a:lnTo>
                  <a:lnTo>
                    <a:pt x="0" y="141052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675223" y="4473109"/>
            <a:ext cx="263398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01700" marR="5080" indent="-889635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Roboto"/>
                <a:cs typeface="Roboto"/>
              </a:rPr>
              <a:t>Какие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данные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этого </a:t>
            </a:r>
            <a:r>
              <a:rPr sz="1800" spc="-10" dirty="0">
                <a:latin typeface="Roboto"/>
                <a:cs typeface="Roboto"/>
              </a:rPr>
              <a:t>нужны?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02262" y="5366451"/>
            <a:ext cx="3182620" cy="875030"/>
            <a:chOff x="7402262" y="5366451"/>
            <a:chExt cx="3182620" cy="875030"/>
          </a:xfrm>
        </p:grpSpPr>
        <p:sp>
          <p:nvSpPr>
            <p:cNvPr id="31" name="object 31"/>
            <p:cNvSpPr/>
            <p:nvPr/>
          </p:nvSpPr>
          <p:spPr>
            <a:xfrm>
              <a:off x="7416549" y="5380739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4">
                  <a:moveTo>
                    <a:pt x="3012846" y="846299"/>
                  </a:move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6"/>
                  </a:lnTo>
                  <a:lnTo>
                    <a:pt x="0" y="141052"/>
                  </a:lnTo>
                  <a:lnTo>
                    <a:pt x="7190" y="96469"/>
                  </a:lnTo>
                  <a:lnTo>
                    <a:pt x="27215" y="57748"/>
                  </a:lnTo>
                  <a:lnTo>
                    <a:pt x="57748" y="27214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6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6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16549" y="5380739"/>
              <a:ext cx="3154045" cy="846455"/>
            </a:xfrm>
            <a:custGeom>
              <a:avLst/>
              <a:gdLst/>
              <a:ahLst/>
              <a:cxnLst/>
              <a:rect l="l" t="t" r="r" b="b"/>
              <a:pathLst>
                <a:path w="3154045" h="846454">
                  <a:moveTo>
                    <a:pt x="0" y="141052"/>
                  </a:moveTo>
                  <a:lnTo>
                    <a:pt x="7190" y="96469"/>
                  </a:lnTo>
                  <a:lnTo>
                    <a:pt x="27215" y="57748"/>
                  </a:lnTo>
                  <a:lnTo>
                    <a:pt x="57748" y="27214"/>
                  </a:lnTo>
                  <a:lnTo>
                    <a:pt x="96469" y="7190"/>
                  </a:lnTo>
                  <a:lnTo>
                    <a:pt x="141052" y="0"/>
                  </a:lnTo>
                  <a:lnTo>
                    <a:pt x="3012846" y="0"/>
                  </a:lnTo>
                  <a:lnTo>
                    <a:pt x="3066826" y="10736"/>
                  </a:lnTo>
                  <a:lnTo>
                    <a:pt x="3112586" y="41313"/>
                  </a:lnTo>
                  <a:lnTo>
                    <a:pt x="3143162" y="87074"/>
                  </a:lnTo>
                  <a:lnTo>
                    <a:pt x="3153899" y="141052"/>
                  </a:lnTo>
                  <a:lnTo>
                    <a:pt x="3153899" y="705246"/>
                  </a:lnTo>
                  <a:lnTo>
                    <a:pt x="3146709" y="749830"/>
                  </a:lnTo>
                  <a:lnTo>
                    <a:pt x="3126684" y="788551"/>
                  </a:lnTo>
                  <a:lnTo>
                    <a:pt x="3096151" y="819084"/>
                  </a:lnTo>
                  <a:lnTo>
                    <a:pt x="3057430" y="839109"/>
                  </a:lnTo>
                  <a:lnTo>
                    <a:pt x="3012846" y="846299"/>
                  </a:lnTo>
                  <a:lnTo>
                    <a:pt x="141052" y="846299"/>
                  </a:lnTo>
                  <a:lnTo>
                    <a:pt x="96469" y="839109"/>
                  </a:lnTo>
                  <a:lnTo>
                    <a:pt x="57748" y="819084"/>
                  </a:lnTo>
                  <a:lnTo>
                    <a:pt x="27215" y="788551"/>
                  </a:lnTo>
                  <a:lnTo>
                    <a:pt x="7190" y="749830"/>
                  </a:lnTo>
                  <a:lnTo>
                    <a:pt x="0" y="705246"/>
                  </a:lnTo>
                  <a:lnTo>
                    <a:pt x="0" y="141052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46605" y="5505819"/>
            <a:ext cx="249237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35890">
              <a:lnSpc>
                <a:spcPct val="100699"/>
              </a:lnSpc>
              <a:spcBef>
                <a:spcPts val="85"/>
              </a:spcBef>
            </a:pPr>
            <a:r>
              <a:rPr sz="1800" spc="-90" dirty="0">
                <a:latin typeface="Roboto"/>
                <a:cs typeface="Roboto"/>
              </a:rPr>
              <a:t>Где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 </a:t>
            </a:r>
            <a:r>
              <a:rPr sz="1800" spc="-10" dirty="0">
                <a:latin typeface="Roboto"/>
                <a:cs typeface="Roboto"/>
              </a:rPr>
              <a:t>получить необходимые</a:t>
            </a:r>
            <a:r>
              <a:rPr sz="1800" spc="-10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данные?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9433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latin typeface="Microsoft Sans Serif"/>
                <a:cs typeface="Microsoft Sans Serif"/>
              </a:rPr>
              <a:t>Зачем</a:t>
            </a:r>
            <a:r>
              <a:rPr sz="4000" spc="-15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это</a:t>
            </a:r>
            <a:r>
              <a:rPr sz="4000" spc="-15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надо</a:t>
            </a:r>
            <a:r>
              <a:rPr sz="4000" spc="-10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63899" y="3853587"/>
            <a:ext cx="2474595" cy="632460"/>
            <a:chOff x="4763899" y="3853587"/>
            <a:chExt cx="2474595" cy="632460"/>
          </a:xfrm>
        </p:grpSpPr>
        <p:sp>
          <p:nvSpPr>
            <p:cNvPr id="9" name="object 9"/>
            <p:cNvSpPr/>
            <p:nvPr/>
          </p:nvSpPr>
          <p:spPr>
            <a:xfrm>
              <a:off x="4778187" y="3867875"/>
              <a:ext cx="2446020" cy="603885"/>
            </a:xfrm>
            <a:custGeom>
              <a:avLst/>
              <a:gdLst/>
              <a:ahLst/>
              <a:cxnLst/>
              <a:rect l="l" t="t" r="r" b="b"/>
              <a:pathLst>
                <a:path w="2446020" h="603885">
                  <a:moveTo>
                    <a:pt x="2344997" y="603599"/>
                  </a:moveTo>
                  <a:lnTo>
                    <a:pt x="100601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1" y="0"/>
                  </a:lnTo>
                  <a:lnTo>
                    <a:pt x="2344997" y="0"/>
                  </a:lnTo>
                  <a:lnTo>
                    <a:pt x="2383496" y="7657"/>
                  </a:lnTo>
                  <a:lnTo>
                    <a:pt x="2416134" y="29465"/>
                  </a:lnTo>
                  <a:lnTo>
                    <a:pt x="2437942" y="62103"/>
                  </a:lnTo>
                  <a:lnTo>
                    <a:pt x="2445599" y="100601"/>
                  </a:lnTo>
                  <a:lnTo>
                    <a:pt x="2445599" y="502997"/>
                  </a:lnTo>
                  <a:lnTo>
                    <a:pt x="2437694" y="542156"/>
                  </a:lnTo>
                  <a:lnTo>
                    <a:pt x="2416134" y="574134"/>
                  </a:lnTo>
                  <a:lnTo>
                    <a:pt x="2384156" y="595694"/>
                  </a:lnTo>
                  <a:lnTo>
                    <a:pt x="2344997" y="60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78187" y="3867875"/>
              <a:ext cx="2446020" cy="603885"/>
            </a:xfrm>
            <a:custGeom>
              <a:avLst/>
              <a:gdLst/>
              <a:ahLst/>
              <a:cxnLst/>
              <a:rect l="l" t="t" r="r" b="b"/>
              <a:pathLst>
                <a:path w="2446020" h="603885">
                  <a:moveTo>
                    <a:pt x="0" y="100601"/>
                  </a:move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1" y="0"/>
                  </a:lnTo>
                  <a:lnTo>
                    <a:pt x="2344997" y="0"/>
                  </a:lnTo>
                  <a:lnTo>
                    <a:pt x="2383496" y="7657"/>
                  </a:lnTo>
                  <a:lnTo>
                    <a:pt x="2416134" y="29465"/>
                  </a:lnTo>
                  <a:lnTo>
                    <a:pt x="2437942" y="62103"/>
                  </a:lnTo>
                  <a:lnTo>
                    <a:pt x="2445599" y="100601"/>
                  </a:lnTo>
                  <a:lnTo>
                    <a:pt x="2445599" y="502997"/>
                  </a:lnTo>
                  <a:lnTo>
                    <a:pt x="2437694" y="542156"/>
                  </a:lnTo>
                  <a:lnTo>
                    <a:pt x="2416134" y="574134"/>
                  </a:lnTo>
                  <a:lnTo>
                    <a:pt x="2384156" y="595694"/>
                  </a:lnTo>
                  <a:lnTo>
                    <a:pt x="2344997" y="603599"/>
                  </a:lnTo>
                  <a:lnTo>
                    <a:pt x="100601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29236" y="3994415"/>
            <a:ext cx="13423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Information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6537" y="3853587"/>
            <a:ext cx="2474595" cy="632460"/>
            <a:chOff x="596537" y="3853587"/>
            <a:chExt cx="2474595" cy="632460"/>
          </a:xfrm>
        </p:grpSpPr>
        <p:sp>
          <p:nvSpPr>
            <p:cNvPr id="13" name="object 13"/>
            <p:cNvSpPr/>
            <p:nvPr/>
          </p:nvSpPr>
          <p:spPr>
            <a:xfrm>
              <a:off x="610824" y="3867875"/>
              <a:ext cx="2446020" cy="603885"/>
            </a:xfrm>
            <a:custGeom>
              <a:avLst/>
              <a:gdLst/>
              <a:ahLst/>
              <a:cxnLst/>
              <a:rect l="l" t="t" r="r" b="b"/>
              <a:pathLst>
                <a:path w="2446020" h="603885">
                  <a:moveTo>
                    <a:pt x="2344997" y="603599"/>
                  </a:moveTo>
                  <a:lnTo>
                    <a:pt x="100601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1" y="0"/>
                  </a:lnTo>
                  <a:lnTo>
                    <a:pt x="2344997" y="0"/>
                  </a:lnTo>
                  <a:lnTo>
                    <a:pt x="2383496" y="7657"/>
                  </a:lnTo>
                  <a:lnTo>
                    <a:pt x="2416134" y="29465"/>
                  </a:lnTo>
                  <a:lnTo>
                    <a:pt x="2437942" y="62103"/>
                  </a:lnTo>
                  <a:lnTo>
                    <a:pt x="2445599" y="100601"/>
                  </a:lnTo>
                  <a:lnTo>
                    <a:pt x="2445599" y="502997"/>
                  </a:lnTo>
                  <a:lnTo>
                    <a:pt x="2437694" y="542156"/>
                  </a:lnTo>
                  <a:lnTo>
                    <a:pt x="2416134" y="574134"/>
                  </a:lnTo>
                  <a:lnTo>
                    <a:pt x="2384156" y="595694"/>
                  </a:lnTo>
                  <a:lnTo>
                    <a:pt x="2344997" y="60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0824" y="3867875"/>
              <a:ext cx="2446020" cy="603885"/>
            </a:xfrm>
            <a:custGeom>
              <a:avLst/>
              <a:gdLst/>
              <a:ahLst/>
              <a:cxnLst/>
              <a:rect l="l" t="t" r="r" b="b"/>
              <a:pathLst>
                <a:path w="2446020" h="603885">
                  <a:moveTo>
                    <a:pt x="0" y="100601"/>
                  </a:move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1" y="0"/>
                  </a:lnTo>
                  <a:lnTo>
                    <a:pt x="2344997" y="0"/>
                  </a:lnTo>
                  <a:lnTo>
                    <a:pt x="2383496" y="7657"/>
                  </a:lnTo>
                  <a:lnTo>
                    <a:pt x="2416134" y="29465"/>
                  </a:lnTo>
                  <a:lnTo>
                    <a:pt x="2437942" y="62103"/>
                  </a:lnTo>
                  <a:lnTo>
                    <a:pt x="2445599" y="100601"/>
                  </a:lnTo>
                  <a:lnTo>
                    <a:pt x="2445599" y="502997"/>
                  </a:lnTo>
                  <a:lnTo>
                    <a:pt x="2437694" y="542156"/>
                  </a:lnTo>
                  <a:lnTo>
                    <a:pt x="2416134" y="574134"/>
                  </a:lnTo>
                  <a:lnTo>
                    <a:pt x="2384156" y="595694"/>
                  </a:lnTo>
                  <a:lnTo>
                    <a:pt x="2344997" y="603599"/>
                  </a:lnTo>
                  <a:lnTo>
                    <a:pt x="100601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58098" y="3994415"/>
            <a:ext cx="550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Data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31262" y="3853574"/>
            <a:ext cx="2474595" cy="632460"/>
            <a:chOff x="8931262" y="3853574"/>
            <a:chExt cx="2474595" cy="632460"/>
          </a:xfrm>
        </p:grpSpPr>
        <p:sp>
          <p:nvSpPr>
            <p:cNvPr id="17" name="object 17"/>
            <p:cNvSpPr/>
            <p:nvPr/>
          </p:nvSpPr>
          <p:spPr>
            <a:xfrm>
              <a:off x="8945550" y="3867862"/>
              <a:ext cx="2446020" cy="603885"/>
            </a:xfrm>
            <a:custGeom>
              <a:avLst/>
              <a:gdLst/>
              <a:ahLst/>
              <a:cxnLst/>
              <a:rect l="l" t="t" r="r" b="b"/>
              <a:pathLst>
                <a:path w="2446020" h="603885">
                  <a:moveTo>
                    <a:pt x="2344997" y="603599"/>
                  </a:move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2344997" y="0"/>
                  </a:lnTo>
                  <a:lnTo>
                    <a:pt x="2383496" y="7657"/>
                  </a:lnTo>
                  <a:lnTo>
                    <a:pt x="2416134" y="29465"/>
                  </a:lnTo>
                  <a:lnTo>
                    <a:pt x="2437942" y="62103"/>
                  </a:lnTo>
                  <a:lnTo>
                    <a:pt x="2445599" y="100601"/>
                  </a:lnTo>
                  <a:lnTo>
                    <a:pt x="2445599" y="502997"/>
                  </a:lnTo>
                  <a:lnTo>
                    <a:pt x="2437694" y="542156"/>
                  </a:lnTo>
                  <a:lnTo>
                    <a:pt x="2416134" y="574134"/>
                  </a:lnTo>
                  <a:lnTo>
                    <a:pt x="2384156" y="595694"/>
                  </a:lnTo>
                  <a:lnTo>
                    <a:pt x="2344997" y="60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45550" y="3867862"/>
              <a:ext cx="2446020" cy="603885"/>
            </a:xfrm>
            <a:custGeom>
              <a:avLst/>
              <a:gdLst/>
              <a:ahLst/>
              <a:cxnLst/>
              <a:rect l="l" t="t" r="r" b="b"/>
              <a:pathLst>
                <a:path w="2446020" h="603885">
                  <a:moveTo>
                    <a:pt x="0" y="100601"/>
                  </a:moveTo>
                  <a:lnTo>
                    <a:pt x="7905" y="61443"/>
                  </a:lnTo>
                  <a:lnTo>
                    <a:pt x="29465" y="29465"/>
                  </a:lnTo>
                  <a:lnTo>
                    <a:pt x="61443" y="7905"/>
                  </a:lnTo>
                  <a:lnTo>
                    <a:pt x="100602" y="0"/>
                  </a:lnTo>
                  <a:lnTo>
                    <a:pt x="2344997" y="0"/>
                  </a:lnTo>
                  <a:lnTo>
                    <a:pt x="2383496" y="7657"/>
                  </a:lnTo>
                  <a:lnTo>
                    <a:pt x="2416134" y="29465"/>
                  </a:lnTo>
                  <a:lnTo>
                    <a:pt x="2437942" y="62103"/>
                  </a:lnTo>
                  <a:lnTo>
                    <a:pt x="2445599" y="100601"/>
                  </a:lnTo>
                  <a:lnTo>
                    <a:pt x="2445599" y="502997"/>
                  </a:lnTo>
                  <a:lnTo>
                    <a:pt x="2437694" y="542156"/>
                  </a:lnTo>
                  <a:lnTo>
                    <a:pt x="2416134" y="574134"/>
                  </a:lnTo>
                  <a:lnTo>
                    <a:pt x="2384156" y="595694"/>
                  </a:lnTo>
                  <a:lnTo>
                    <a:pt x="2344997" y="603599"/>
                  </a:lnTo>
                  <a:lnTo>
                    <a:pt x="100602" y="603599"/>
                  </a:lnTo>
                  <a:lnTo>
                    <a:pt x="61443" y="595694"/>
                  </a:lnTo>
                  <a:lnTo>
                    <a:pt x="29465" y="574134"/>
                  </a:lnTo>
                  <a:lnTo>
                    <a:pt x="7905" y="542156"/>
                  </a:lnTo>
                  <a:lnTo>
                    <a:pt x="0" y="502997"/>
                  </a:lnTo>
                  <a:lnTo>
                    <a:pt x="0" y="100601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31498" y="3994402"/>
            <a:ext cx="12725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Knowledge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31712" y="4064237"/>
            <a:ext cx="1356995" cy="248920"/>
            <a:chOff x="3231712" y="4064237"/>
            <a:chExt cx="1356995" cy="248920"/>
          </a:xfrm>
        </p:grpSpPr>
        <p:sp>
          <p:nvSpPr>
            <p:cNvPr id="21" name="object 21"/>
            <p:cNvSpPr/>
            <p:nvPr/>
          </p:nvSpPr>
          <p:spPr>
            <a:xfrm>
              <a:off x="3236474" y="4069000"/>
              <a:ext cx="1347470" cy="239395"/>
            </a:xfrm>
            <a:custGeom>
              <a:avLst/>
              <a:gdLst/>
              <a:ahLst/>
              <a:cxnLst/>
              <a:rect l="l" t="t" r="r" b="b"/>
              <a:pathLst>
                <a:path w="1347470" h="239395">
                  <a:moveTo>
                    <a:pt x="1227299" y="239399"/>
                  </a:moveTo>
                  <a:lnTo>
                    <a:pt x="1227299" y="179549"/>
                  </a:lnTo>
                  <a:lnTo>
                    <a:pt x="0" y="179549"/>
                  </a:lnTo>
                  <a:lnTo>
                    <a:pt x="0" y="59849"/>
                  </a:lnTo>
                  <a:lnTo>
                    <a:pt x="1227299" y="59849"/>
                  </a:lnTo>
                  <a:lnTo>
                    <a:pt x="1227299" y="0"/>
                  </a:lnTo>
                  <a:lnTo>
                    <a:pt x="1346999" y="119699"/>
                  </a:lnTo>
                  <a:lnTo>
                    <a:pt x="1227299" y="239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36474" y="4069000"/>
              <a:ext cx="1347470" cy="239395"/>
            </a:xfrm>
            <a:custGeom>
              <a:avLst/>
              <a:gdLst/>
              <a:ahLst/>
              <a:cxnLst/>
              <a:rect l="l" t="t" r="r" b="b"/>
              <a:pathLst>
                <a:path w="1347470" h="239395">
                  <a:moveTo>
                    <a:pt x="0" y="59849"/>
                  </a:moveTo>
                  <a:lnTo>
                    <a:pt x="1227299" y="59849"/>
                  </a:lnTo>
                  <a:lnTo>
                    <a:pt x="1227299" y="0"/>
                  </a:lnTo>
                  <a:lnTo>
                    <a:pt x="1346999" y="119699"/>
                  </a:lnTo>
                  <a:lnTo>
                    <a:pt x="1227299" y="239399"/>
                  </a:lnTo>
                  <a:lnTo>
                    <a:pt x="1227299" y="179549"/>
                  </a:lnTo>
                  <a:lnTo>
                    <a:pt x="0" y="179549"/>
                  </a:lnTo>
                  <a:lnTo>
                    <a:pt x="0" y="598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406412" y="4064237"/>
            <a:ext cx="1356995" cy="248920"/>
            <a:chOff x="7406412" y="4064237"/>
            <a:chExt cx="1356995" cy="248920"/>
          </a:xfrm>
        </p:grpSpPr>
        <p:sp>
          <p:nvSpPr>
            <p:cNvPr id="24" name="object 24"/>
            <p:cNvSpPr/>
            <p:nvPr/>
          </p:nvSpPr>
          <p:spPr>
            <a:xfrm>
              <a:off x="7411174" y="4069000"/>
              <a:ext cx="1347470" cy="239395"/>
            </a:xfrm>
            <a:custGeom>
              <a:avLst/>
              <a:gdLst/>
              <a:ahLst/>
              <a:cxnLst/>
              <a:rect l="l" t="t" r="r" b="b"/>
              <a:pathLst>
                <a:path w="1347470" h="239395">
                  <a:moveTo>
                    <a:pt x="1227299" y="239399"/>
                  </a:moveTo>
                  <a:lnTo>
                    <a:pt x="1227299" y="179549"/>
                  </a:lnTo>
                  <a:lnTo>
                    <a:pt x="0" y="179549"/>
                  </a:lnTo>
                  <a:lnTo>
                    <a:pt x="0" y="59849"/>
                  </a:lnTo>
                  <a:lnTo>
                    <a:pt x="1227299" y="59849"/>
                  </a:lnTo>
                  <a:lnTo>
                    <a:pt x="1227299" y="0"/>
                  </a:lnTo>
                  <a:lnTo>
                    <a:pt x="1346999" y="119699"/>
                  </a:lnTo>
                  <a:lnTo>
                    <a:pt x="1227299" y="239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11174" y="4069000"/>
              <a:ext cx="1347470" cy="239395"/>
            </a:xfrm>
            <a:custGeom>
              <a:avLst/>
              <a:gdLst/>
              <a:ahLst/>
              <a:cxnLst/>
              <a:rect l="l" t="t" r="r" b="b"/>
              <a:pathLst>
                <a:path w="1347470" h="239395">
                  <a:moveTo>
                    <a:pt x="0" y="59849"/>
                  </a:moveTo>
                  <a:lnTo>
                    <a:pt x="1227299" y="59849"/>
                  </a:lnTo>
                  <a:lnTo>
                    <a:pt x="1227299" y="0"/>
                  </a:lnTo>
                  <a:lnTo>
                    <a:pt x="1346999" y="119699"/>
                  </a:lnTo>
                  <a:lnTo>
                    <a:pt x="1227299" y="239399"/>
                  </a:lnTo>
                  <a:lnTo>
                    <a:pt x="1227299" y="179549"/>
                  </a:lnTo>
                  <a:lnTo>
                    <a:pt x="0" y="179549"/>
                  </a:lnTo>
                  <a:lnTo>
                    <a:pt x="0" y="598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763062" y="2492837"/>
            <a:ext cx="2278380" cy="826769"/>
            <a:chOff x="2763062" y="2492837"/>
            <a:chExt cx="2278380" cy="826769"/>
          </a:xfrm>
        </p:grpSpPr>
        <p:sp>
          <p:nvSpPr>
            <p:cNvPr id="27" name="object 27"/>
            <p:cNvSpPr/>
            <p:nvPr/>
          </p:nvSpPr>
          <p:spPr>
            <a:xfrm>
              <a:off x="2767825" y="2497600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2132447" y="816899"/>
                  </a:move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8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1" y="809958"/>
                  </a:lnTo>
                  <a:lnTo>
                    <a:pt x="2132447" y="8168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67825" y="2497600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0" y="136152"/>
                  </a:move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8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64956" y="2676688"/>
            <a:ext cx="167322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7526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Roboto"/>
                <a:cs typeface="Roboto"/>
              </a:rPr>
              <a:t>Предобработка </a:t>
            </a:r>
            <a:r>
              <a:rPr sz="1400" spc="-20" dirty="0">
                <a:latin typeface="Roboto"/>
                <a:cs typeface="Roboto"/>
              </a:rPr>
              <a:t>Information</a:t>
            </a:r>
            <a:r>
              <a:rPr sz="1400" spc="1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Retrieval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89612" y="3502287"/>
            <a:ext cx="425450" cy="467359"/>
            <a:chOff x="3689612" y="3502287"/>
            <a:chExt cx="425450" cy="467359"/>
          </a:xfrm>
        </p:grpSpPr>
        <p:sp>
          <p:nvSpPr>
            <p:cNvPr id="31" name="object 31"/>
            <p:cNvSpPr/>
            <p:nvPr/>
          </p:nvSpPr>
          <p:spPr>
            <a:xfrm>
              <a:off x="3694374" y="3507049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207749" y="457799"/>
                  </a:moveTo>
                  <a:lnTo>
                    <a:pt x="0" y="250049"/>
                  </a:ln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94374" y="3507049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0" y="250049"/>
                  </a:move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lnTo>
                    <a:pt x="0" y="2500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5788487" y="4653737"/>
            <a:ext cx="425450" cy="467359"/>
            <a:chOff x="5788487" y="4653737"/>
            <a:chExt cx="425450" cy="467359"/>
          </a:xfrm>
        </p:grpSpPr>
        <p:sp>
          <p:nvSpPr>
            <p:cNvPr id="34" name="object 34"/>
            <p:cNvSpPr/>
            <p:nvPr/>
          </p:nvSpPr>
          <p:spPr>
            <a:xfrm>
              <a:off x="5793249" y="4658500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207749" y="457799"/>
                  </a:moveTo>
                  <a:lnTo>
                    <a:pt x="0" y="250049"/>
                  </a:ln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93249" y="4658500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0" y="250049"/>
                  </a:move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lnTo>
                    <a:pt x="0" y="2500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861937" y="5298562"/>
            <a:ext cx="2278380" cy="826769"/>
            <a:chOff x="4861937" y="5298562"/>
            <a:chExt cx="2278380" cy="826769"/>
          </a:xfrm>
        </p:grpSpPr>
        <p:sp>
          <p:nvSpPr>
            <p:cNvPr id="37" name="object 37"/>
            <p:cNvSpPr/>
            <p:nvPr/>
          </p:nvSpPr>
          <p:spPr>
            <a:xfrm>
              <a:off x="4866699" y="5303325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2132447" y="816899"/>
                  </a:move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7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66699" y="5303325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0" y="136152"/>
                  </a:move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7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472988" y="5482413"/>
            <a:ext cx="10566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77470" marR="5080" indent="-65405">
              <a:lnSpc>
                <a:spcPts val="1650"/>
              </a:lnSpc>
              <a:spcBef>
                <a:spcPts val="180"/>
              </a:spcBef>
            </a:pPr>
            <a:r>
              <a:rPr sz="1400" spc="-25" dirty="0">
                <a:latin typeface="Roboto"/>
                <a:cs typeface="Roboto"/>
              </a:rPr>
              <a:t>Рексистемы </a:t>
            </a:r>
            <a:r>
              <a:rPr sz="1400" spc="-10" dirty="0">
                <a:latin typeface="Roboto"/>
                <a:cs typeface="Roboto"/>
              </a:rPr>
              <a:t>Аналитика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945612" y="2444587"/>
            <a:ext cx="2278380" cy="826769"/>
            <a:chOff x="6945612" y="2444587"/>
            <a:chExt cx="2278380" cy="826769"/>
          </a:xfrm>
        </p:grpSpPr>
        <p:sp>
          <p:nvSpPr>
            <p:cNvPr id="41" name="object 41"/>
            <p:cNvSpPr/>
            <p:nvPr/>
          </p:nvSpPr>
          <p:spPr>
            <a:xfrm>
              <a:off x="6950374" y="2449349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2132447" y="816899"/>
                  </a:move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8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50374" y="2449349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0" y="136152"/>
                  </a:move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8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271932" y="2733213"/>
            <a:ext cx="1624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Knowledge </a:t>
            </a:r>
            <a:r>
              <a:rPr sz="1400" spc="-10" dirty="0">
                <a:latin typeface="Roboto"/>
                <a:cs typeface="Roboto"/>
              </a:rPr>
              <a:t>Retrieval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872162" y="3454037"/>
            <a:ext cx="425450" cy="467359"/>
            <a:chOff x="7872162" y="3454037"/>
            <a:chExt cx="425450" cy="467359"/>
          </a:xfrm>
        </p:grpSpPr>
        <p:sp>
          <p:nvSpPr>
            <p:cNvPr id="45" name="object 45"/>
            <p:cNvSpPr/>
            <p:nvPr/>
          </p:nvSpPr>
          <p:spPr>
            <a:xfrm>
              <a:off x="7876924" y="3458800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207749" y="457799"/>
                  </a:moveTo>
                  <a:lnTo>
                    <a:pt x="0" y="250049"/>
                  </a:ln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76924" y="3458800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0" y="250049"/>
                  </a:move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lnTo>
                    <a:pt x="0" y="2500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9955837" y="4653737"/>
            <a:ext cx="425450" cy="467359"/>
            <a:chOff x="9955837" y="4653737"/>
            <a:chExt cx="425450" cy="467359"/>
          </a:xfrm>
        </p:grpSpPr>
        <p:sp>
          <p:nvSpPr>
            <p:cNvPr id="48" name="object 48"/>
            <p:cNvSpPr/>
            <p:nvPr/>
          </p:nvSpPr>
          <p:spPr>
            <a:xfrm>
              <a:off x="9960599" y="4658500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207749" y="457799"/>
                  </a:moveTo>
                  <a:lnTo>
                    <a:pt x="0" y="250049"/>
                  </a:ln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960599" y="4658500"/>
              <a:ext cx="415925" cy="457834"/>
            </a:xfrm>
            <a:custGeom>
              <a:avLst/>
              <a:gdLst/>
              <a:ahLst/>
              <a:cxnLst/>
              <a:rect l="l" t="t" r="r" b="b"/>
              <a:pathLst>
                <a:path w="415925" h="457835">
                  <a:moveTo>
                    <a:pt x="0" y="250049"/>
                  </a:moveTo>
                  <a:lnTo>
                    <a:pt x="103874" y="250049"/>
                  </a:lnTo>
                  <a:lnTo>
                    <a:pt x="103874" y="0"/>
                  </a:lnTo>
                  <a:lnTo>
                    <a:pt x="311624" y="0"/>
                  </a:lnTo>
                  <a:lnTo>
                    <a:pt x="311624" y="250049"/>
                  </a:lnTo>
                  <a:lnTo>
                    <a:pt x="415499" y="250049"/>
                  </a:lnTo>
                  <a:lnTo>
                    <a:pt x="207749" y="457799"/>
                  </a:lnTo>
                  <a:lnTo>
                    <a:pt x="0" y="2500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9029287" y="5298562"/>
            <a:ext cx="2278380" cy="826769"/>
            <a:chOff x="9029287" y="5298562"/>
            <a:chExt cx="2278380" cy="826769"/>
          </a:xfrm>
        </p:grpSpPr>
        <p:sp>
          <p:nvSpPr>
            <p:cNvPr id="51" name="object 51"/>
            <p:cNvSpPr/>
            <p:nvPr/>
          </p:nvSpPr>
          <p:spPr>
            <a:xfrm>
              <a:off x="9034050" y="5303325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2132447" y="816899"/>
                  </a:move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7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34050" y="5303325"/>
              <a:ext cx="2268855" cy="817244"/>
            </a:xfrm>
            <a:custGeom>
              <a:avLst/>
              <a:gdLst/>
              <a:ahLst/>
              <a:cxnLst/>
              <a:rect l="l" t="t" r="r" b="b"/>
              <a:pathLst>
                <a:path w="2268854" h="817245">
                  <a:moveTo>
                    <a:pt x="0" y="136152"/>
                  </a:moveTo>
                  <a:lnTo>
                    <a:pt x="6941" y="93117"/>
                  </a:lnTo>
                  <a:lnTo>
                    <a:pt x="26269" y="55742"/>
                  </a:lnTo>
                  <a:lnTo>
                    <a:pt x="55742" y="26269"/>
                  </a:lnTo>
                  <a:lnTo>
                    <a:pt x="93117" y="6941"/>
                  </a:lnTo>
                  <a:lnTo>
                    <a:pt x="136152" y="0"/>
                  </a:lnTo>
                  <a:lnTo>
                    <a:pt x="2132447" y="0"/>
                  </a:lnTo>
                  <a:lnTo>
                    <a:pt x="2184550" y="10363"/>
                  </a:lnTo>
                  <a:lnTo>
                    <a:pt x="2228721" y="39877"/>
                  </a:lnTo>
                  <a:lnTo>
                    <a:pt x="2258236" y="84049"/>
                  </a:lnTo>
                  <a:lnTo>
                    <a:pt x="2268599" y="136152"/>
                  </a:lnTo>
                  <a:lnTo>
                    <a:pt x="2268599" y="680747"/>
                  </a:lnTo>
                  <a:lnTo>
                    <a:pt x="2261658" y="723782"/>
                  </a:lnTo>
                  <a:lnTo>
                    <a:pt x="2242330" y="761157"/>
                  </a:lnTo>
                  <a:lnTo>
                    <a:pt x="2212857" y="790630"/>
                  </a:lnTo>
                  <a:lnTo>
                    <a:pt x="2175482" y="809958"/>
                  </a:lnTo>
                  <a:lnTo>
                    <a:pt x="2132447" y="816899"/>
                  </a:lnTo>
                  <a:lnTo>
                    <a:pt x="136152" y="816899"/>
                  </a:lnTo>
                  <a:lnTo>
                    <a:pt x="93117" y="809958"/>
                  </a:lnTo>
                  <a:lnTo>
                    <a:pt x="55742" y="790630"/>
                  </a:lnTo>
                  <a:lnTo>
                    <a:pt x="26269" y="761157"/>
                  </a:lnTo>
                  <a:lnTo>
                    <a:pt x="6941" y="723782"/>
                  </a:lnTo>
                  <a:lnTo>
                    <a:pt x="0" y="680747"/>
                  </a:lnTo>
                  <a:lnTo>
                    <a:pt x="0" y="136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358469" y="5482413"/>
            <a:ext cx="16192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5179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Roboto"/>
                <a:cs typeface="Roboto"/>
              </a:rPr>
              <a:t>Онтологии Принятие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решений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675385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0" dirty="0">
                <a:latin typeface="Microsoft Sans Serif"/>
                <a:cs typeface="Microsoft Sans Serif"/>
              </a:rPr>
              <a:t>Рекомендательные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системы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625" y="2731594"/>
            <a:ext cx="6069965" cy="292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5060">
              <a:lnSpc>
                <a:spcPct val="113999"/>
              </a:lnSpc>
              <a:spcBef>
                <a:spcPts val="100"/>
              </a:spcBef>
            </a:pPr>
            <a:r>
              <a:rPr sz="1700" spc="-35" dirty="0">
                <a:latin typeface="Roboto"/>
                <a:cs typeface="Roboto"/>
              </a:rPr>
              <a:t>Задача: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рекомендовать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пользователю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сервиса </a:t>
            </a:r>
            <a:r>
              <a:rPr sz="1700" spc="-30" dirty="0">
                <a:latin typeface="Roboto"/>
                <a:cs typeface="Roboto"/>
              </a:rPr>
              <a:t>фильмы/книги/музыку,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которая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ему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понравится</a:t>
            </a:r>
            <a:endParaRPr sz="17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10" dirty="0">
                <a:latin typeface="Roboto"/>
                <a:cs typeface="Roboto"/>
              </a:rPr>
              <a:t>Формально:</a:t>
            </a:r>
            <a:endParaRPr sz="17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Roboto"/>
              <a:cs typeface="Roboto"/>
            </a:endParaRPr>
          </a:p>
          <a:p>
            <a:pPr marL="469900" marR="103505" indent="-288290">
              <a:lnSpc>
                <a:spcPct val="113999"/>
              </a:lnSpc>
              <a:buChar char="-"/>
              <a:tabLst>
                <a:tab pos="469900" algn="l"/>
              </a:tabLst>
            </a:pPr>
            <a:r>
              <a:rPr sz="1700" dirty="0">
                <a:latin typeface="Roboto"/>
                <a:cs typeface="Roboto"/>
              </a:rPr>
              <a:t>есть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две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группы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объектов,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65" dirty="0">
                <a:latin typeface="Roboto"/>
                <a:cs typeface="Roboto"/>
              </a:rPr>
              <a:t>какие-</a:t>
            </a:r>
            <a:r>
              <a:rPr sz="1700" dirty="0">
                <a:latin typeface="Roboto"/>
                <a:cs typeface="Roboto"/>
              </a:rPr>
              <a:t>то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из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них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уже </a:t>
            </a:r>
            <a:r>
              <a:rPr sz="1700" spc="-20" dirty="0">
                <a:latin typeface="Roboto"/>
                <a:cs typeface="Roboto"/>
              </a:rPr>
              <a:t>связаны,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нужно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предположить,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где</a:t>
            </a:r>
            <a:r>
              <a:rPr sz="1700" spc="-2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еще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должны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быть </a:t>
            </a:r>
            <a:r>
              <a:rPr sz="1700" spc="-10" dirty="0">
                <a:latin typeface="Roboto"/>
                <a:cs typeface="Roboto"/>
              </a:rPr>
              <a:t>связи</a:t>
            </a:r>
            <a:endParaRPr sz="1700" dirty="0">
              <a:latin typeface="Roboto"/>
              <a:cs typeface="Roboto"/>
            </a:endParaRPr>
          </a:p>
          <a:p>
            <a:pPr marL="469900" marR="5080" lvl="4" indent="-288290">
              <a:lnSpc>
                <a:spcPct val="113999"/>
              </a:lnSpc>
              <a:buChar char="-"/>
              <a:tabLst>
                <a:tab pos="469900" algn="l"/>
              </a:tabLst>
            </a:pPr>
            <a:r>
              <a:rPr sz="1700" dirty="0">
                <a:latin typeface="Roboto"/>
                <a:cs typeface="Roboto"/>
              </a:rPr>
              <a:t>есть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объект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набор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возможных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рекомендаций,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нужно </a:t>
            </a:r>
            <a:r>
              <a:rPr sz="1700" spc="-20" dirty="0">
                <a:latin typeface="Roboto"/>
                <a:cs typeface="Roboto"/>
              </a:rPr>
              <a:t>выбрать</a:t>
            </a:r>
            <a:r>
              <a:rPr sz="1700" spc="-6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лучшую</a:t>
            </a:r>
            <a:endParaRPr sz="170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1949" y="2258300"/>
            <a:ext cx="4117259" cy="38783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1950" y="6604279"/>
            <a:ext cx="6539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Roboto"/>
                <a:cs typeface="Roboto"/>
              </a:rPr>
              <a:t>Источник</a:t>
            </a:r>
            <a:r>
              <a:rPr sz="1200" spc="195" dirty="0">
                <a:latin typeface="Roboto"/>
                <a:cs typeface="Roboto"/>
              </a:rPr>
              <a:t> </a:t>
            </a:r>
            <a:r>
              <a:rPr sz="1200" spc="-35" dirty="0">
                <a:latin typeface="Roboto"/>
                <a:cs typeface="Roboto"/>
              </a:rPr>
              <a:t>графики:</a:t>
            </a:r>
            <a:r>
              <a:rPr sz="1200" spc="195" dirty="0">
                <a:latin typeface="Roboto"/>
                <a:cs typeface="Roboto"/>
              </a:rPr>
              <a:t> </a:t>
            </a:r>
            <a:r>
              <a:rPr sz="1200" spc="-35" dirty="0">
                <a:latin typeface="Roboto"/>
                <a:cs typeface="Roboto"/>
              </a:rPr>
              <a:t>https://vitalflux.com/recommender-</a:t>
            </a:r>
            <a:r>
              <a:rPr sz="1200" spc="-45" dirty="0">
                <a:latin typeface="Roboto"/>
                <a:cs typeface="Roboto"/>
              </a:rPr>
              <a:t>systems-</a:t>
            </a:r>
            <a:r>
              <a:rPr sz="1200" spc="-40" dirty="0">
                <a:latin typeface="Roboto"/>
                <a:cs typeface="Roboto"/>
              </a:rPr>
              <a:t>in-</a:t>
            </a:r>
            <a:r>
              <a:rPr sz="1200" spc="-45" dirty="0">
                <a:latin typeface="Roboto"/>
                <a:cs typeface="Roboto"/>
              </a:rPr>
              <a:t>machine-</a:t>
            </a:r>
            <a:r>
              <a:rPr sz="1200" spc="-40" dirty="0">
                <a:latin typeface="Roboto"/>
                <a:cs typeface="Roboto"/>
              </a:rPr>
              <a:t>learning-</a:t>
            </a:r>
            <a:r>
              <a:rPr sz="1200" spc="-10" dirty="0">
                <a:latin typeface="Roboto"/>
                <a:cs typeface="Roboto"/>
              </a:rPr>
              <a:t>examples/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51238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>
                <a:latin typeface="Verdana"/>
                <a:cs typeface="Verdana"/>
              </a:rPr>
              <a:t>Knowledge</a:t>
            </a:r>
            <a:r>
              <a:rPr sz="4000" spc="-270" dirty="0">
                <a:latin typeface="Verdana"/>
                <a:cs typeface="Verdana"/>
              </a:rPr>
              <a:t> </a:t>
            </a:r>
            <a:r>
              <a:rPr sz="4000" spc="-35" dirty="0">
                <a:latin typeface="Verdana"/>
                <a:cs typeface="Verdana"/>
              </a:rPr>
              <a:t>Retrieval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625" y="2731594"/>
            <a:ext cx="6116320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spc="-35" dirty="0">
                <a:latin typeface="Roboto"/>
                <a:cs typeface="Roboto"/>
              </a:rPr>
              <a:t>Задача: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автоматически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35" dirty="0">
                <a:latin typeface="Roboto"/>
                <a:cs typeface="Roboto"/>
              </a:rPr>
              <a:t>сформировать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на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основе </a:t>
            </a:r>
            <a:r>
              <a:rPr sz="1700" spc="-25" dirty="0">
                <a:latin typeface="Roboto"/>
                <a:cs typeface="Roboto"/>
              </a:rPr>
              <a:t>информации/данных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80" dirty="0">
                <a:latin typeface="Roboto"/>
                <a:cs typeface="Roboto"/>
              </a:rPr>
              <a:t>какую-</a:t>
            </a:r>
            <a:r>
              <a:rPr sz="1700" dirty="0">
                <a:latin typeface="Roboto"/>
                <a:cs typeface="Roboto"/>
              </a:rPr>
              <a:t>то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систему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знаний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(часто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граф)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Roboto"/>
                <a:cs typeface="Roboto"/>
              </a:rPr>
              <a:t>Формально: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выделить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объекты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и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отношения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между</a:t>
            </a:r>
            <a:r>
              <a:rPr sz="1700" spc="-40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ними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5625" y="4748989"/>
            <a:ext cx="4019550" cy="846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Roboto"/>
                <a:cs typeface="Roboto"/>
              </a:rPr>
              <a:t>Какие</a:t>
            </a:r>
            <a:r>
              <a:rPr sz="1700" spc="-7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здесь</a:t>
            </a:r>
            <a:r>
              <a:rPr sz="1700" spc="-6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могут</a:t>
            </a:r>
            <a:r>
              <a:rPr sz="1700" spc="-6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быть</a:t>
            </a:r>
            <a:r>
              <a:rPr sz="1700" spc="-6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сложности?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90" dirty="0">
                <a:latin typeface="Roboto"/>
                <a:cs typeface="Roboto"/>
              </a:rPr>
              <a:t>Где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может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требоваться</a:t>
            </a:r>
            <a:r>
              <a:rPr sz="1700" spc="-35" dirty="0">
                <a:latin typeface="Roboto"/>
                <a:cs typeface="Roboto"/>
              </a:rPr>
              <a:t> </a:t>
            </a:r>
            <a:r>
              <a:rPr sz="1700" spc="-20" dirty="0">
                <a:latin typeface="Roboto"/>
                <a:cs typeface="Roboto"/>
              </a:rPr>
              <a:t>такая</a:t>
            </a:r>
            <a:r>
              <a:rPr sz="1700" spc="-30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система?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5399" y="2417325"/>
            <a:ext cx="4556974" cy="3546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41950" y="6604279"/>
            <a:ext cx="5162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Roboto"/>
                <a:cs typeface="Roboto"/>
              </a:rPr>
              <a:t>Источник</a:t>
            </a:r>
            <a:r>
              <a:rPr sz="1200" spc="125" dirty="0">
                <a:latin typeface="Roboto"/>
                <a:cs typeface="Roboto"/>
              </a:rPr>
              <a:t> </a:t>
            </a:r>
            <a:r>
              <a:rPr sz="1200" spc="-35" dirty="0">
                <a:latin typeface="Roboto"/>
                <a:cs typeface="Roboto"/>
              </a:rPr>
              <a:t>графики:</a:t>
            </a:r>
            <a:r>
              <a:rPr sz="1200" spc="130" dirty="0">
                <a:latin typeface="Roboto"/>
                <a:cs typeface="Roboto"/>
              </a:rPr>
              <a:t> </a:t>
            </a:r>
            <a:r>
              <a:rPr sz="1200" spc="-40" dirty="0">
                <a:latin typeface="Roboto"/>
                <a:cs typeface="Roboto"/>
              </a:rPr>
              <a:t>https://enterprise-</a:t>
            </a:r>
            <a:r>
              <a:rPr sz="1200" spc="-45" dirty="0">
                <a:latin typeface="Roboto"/>
                <a:cs typeface="Roboto"/>
              </a:rPr>
              <a:t>knowledge.com/what-</a:t>
            </a:r>
            <a:r>
              <a:rPr sz="1200" spc="-35" dirty="0">
                <a:latin typeface="Roboto"/>
                <a:cs typeface="Roboto"/>
              </a:rPr>
              <a:t>is-</a:t>
            </a:r>
            <a:r>
              <a:rPr sz="1200" spc="-45" dirty="0">
                <a:latin typeface="Roboto"/>
                <a:cs typeface="Roboto"/>
              </a:rPr>
              <a:t>an-</a:t>
            </a:r>
            <a:r>
              <a:rPr sz="1200" spc="-10" dirty="0">
                <a:latin typeface="Roboto"/>
                <a:cs typeface="Roboto"/>
              </a:rPr>
              <a:t>ontology/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53670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Verdana"/>
                <a:cs typeface="Verdana"/>
              </a:rPr>
              <a:t>Information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40" dirty="0">
                <a:latin typeface="Verdana"/>
                <a:cs typeface="Verdana"/>
              </a:rPr>
              <a:t>Retrieval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79912" y="4188237"/>
            <a:ext cx="7071359" cy="757555"/>
            <a:chOff x="2679912" y="4188237"/>
            <a:chExt cx="7071359" cy="757555"/>
          </a:xfrm>
        </p:grpSpPr>
        <p:sp>
          <p:nvSpPr>
            <p:cNvPr id="9" name="object 9"/>
            <p:cNvSpPr/>
            <p:nvPr/>
          </p:nvSpPr>
          <p:spPr>
            <a:xfrm>
              <a:off x="2684675" y="4192999"/>
              <a:ext cx="7061834" cy="748030"/>
            </a:xfrm>
            <a:custGeom>
              <a:avLst/>
              <a:gdLst/>
              <a:ahLst/>
              <a:cxnLst/>
              <a:rect l="l" t="t" r="r" b="b"/>
              <a:pathLst>
                <a:path w="7061834" h="748029">
                  <a:moveTo>
                    <a:pt x="6936747" y="747899"/>
                  </a:moveTo>
                  <a:lnTo>
                    <a:pt x="124652" y="747899"/>
                  </a:lnTo>
                  <a:lnTo>
                    <a:pt x="76132" y="738104"/>
                  </a:lnTo>
                  <a:lnTo>
                    <a:pt x="36509" y="711390"/>
                  </a:lnTo>
                  <a:lnTo>
                    <a:pt x="9795" y="671767"/>
                  </a:lnTo>
                  <a:lnTo>
                    <a:pt x="0" y="623247"/>
                  </a:lnTo>
                  <a:lnTo>
                    <a:pt x="0" y="124652"/>
                  </a:lnTo>
                  <a:lnTo>
                    <a:pt x="9795" y="76132"/>
                  </a:lnTo>
                  <a:lnTo>
                    <a:pt x="36509" y="36509"/>
                  </a:lnTo>
                  <a:lnTo>
                    <a:pt x="76132" y="9795"/>
                  </a:lnTo>
                  <a:lnTo>
                    <a:pt x="124652" y="0"/>
                  </a:lnTo>
                  <a:lnTo>
                    <a:pt x="6936747" y="0"/>
                  </a:lnTo>
                  <a:lnTo>
                    <a:pt x="6984449" y="9488"/>
                  </a:lnTo>
                  <a:lnTo>
                    <a:pt x="7024889" y="36509"/>
                  </a:lnTo>
                  <a:lnTo>
                    <a:pt x="7051911" y="76949"/>
                  </a:lnTo>
                  <a:lnTo>
                    <a:pt x="7061399" y="124652"/>
                  </a:lnTo>
                  <a:lnTo>
                    <a:pt x="7061399" y="623247"/>
                  </a:lnTo>
                  <a:lnTo>
                    <a:pt x="7051604" y="671767"/>
                  </a:lnTo>
                  <a:lnTo>
                    <a:pt x="7024890" y="711390"/>
                  </a:lnTo>
                  <a:lnTo>
                    <a:pt x="6985267" y="738104"/>
                  </a:lnTo>
                  <a:lnTo>
                    <a:pt x="6936747" y="747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84675" y="4192999"/>
              <a:ext cx="7061834" cy="748030"/>
            </a:xfrm>
            <a:custGeom>
              <a:avLst/>
              <a:gdLst/>
              <a:ahLst/>
              <a:cxnLst/>
              <a:rect l="l" t="t" r="r" b="b"/>
              <a:pathLst>
                <a:path w="7061834" h="748029">
                  <a:moveTo>
                    <a:pt x="0" y="124652"/>
                  </a:moveTo>
                  <a:lnTo>
                    <a:pt x="9795" y="76132"/>
                  </a:lnTo>
                  <a:lnTo>
                    <a:pt x="36509" y="36509"/>
                  </a:lnTo>
                  <a:lnTo>
                    <a:pt x="76132" y="9795"/>
                  </a:lnTo>
                  <a:lnTo>
                    <a:pt x="124652" y="0"/>
                  </a:lnTo>
                  <a:lnTo>
                    <a:pt x="6936747" y="0"/>
                  </a:lnTo>
                  <a:lnTo>
                    <a:pt x="6984449" y="9488"/>
                  </a:lnTo>
                  <a:lnTo>
                    <a:pt x="7024889" y="36509"/>
                  </a:lnTo>
                  <a:lnTo>
                    <a:pt x="7051911" y="76949"/>
                  </a:lnTo>
                  <a:lnTo>
                    <a:pt x="7061399" y="124652"/>
                  </a:lnTo>
                  <a:lnTo>
                    <a:pt x="7061399" y="623247"/>
                  </a:lnTo>
                  <a:lnTo>
                    <a:pt x="7051604" y="671767"/>
                  </a:lnTo>
                  <a:lnTo>
                    <a:pt x="7024890" y="711390"/>
                  </a:lnTo>
                  <a:lnTo>
                    <a:pt x="6985267" y="738104"/>
                  </a:lnTo>
                  <a:lnTo>
                    <a:pt x="6936747" y="747899"/>
                  </a:lnTo>
                  <a:lnTo>
                    <a:pt x="124652" y="747899"/>
                  </a:lnTo>
                  <a:lnTo>
                    <a:pt x="76132" y="738104"/>
                  </a:lnTo>
                  <a:lnTo>
                    <a:pt x="36509" y="711390"/>
                  </a:lnTo>
                  <a:lnTo>
                    <a:pt x="9795" y="671767"/>
                  </a:lnTo>
                  <a:lnTo>
                    <a:pt x="0" y="623247"/>
                  </a:lnTo>
                  <a:lnTo>
                    <a:pt x="0" y="12465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65715" y="4241830"/>
            <a:ext cx="6693534" cy="533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3865" marR="5080" indent="-2971800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</a:t>
            </a:r>
            <a:r>
              <a:rPr sz="1500" spc="-8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чуть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менее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Roboto"/>
                <a:cs typeface="Roboto"/>
              </a:rPr>
              <a:t>широком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ru-RU" sz="1500" spc="-45" dirty="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выделение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информации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из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неструктурированных данных.</a:t>
            </a:r>
            <a:endParaRPr sz="1500" dirty="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44912" y="2525437"/>
            <a:ext cx="7341234" cy="1061085"/>
            <a:chOff x="2544912" y="2525437"/>
            <a:chExt cx="7341234" cy="1061085"/>
          </a:xfrm>
        </p:grpSpPr>
        <p:sp>
          <p:nvSpPr>
            <p:cNvPr id="13" name="object 13"/>
            <p:cNvSpPr/>
            <p:nvPr/>
          </p:nvSpPr>
          <p:spPr>
            <a:xfrm>
              <a:off x="2549674" y="2530200"/>
              <a:ext cx="7331709" cy="1051560"/>
            </a:xfrm>
            <a:custGeom>
              <a:avLst/>
              <a:gdLst/>
              <a:ahLst/>
              <a:cxnLst/>
              <a:rect l="l" t="t" r="r" b="b"/>
              <a:pathLst>
                <a:path w="7331709" h="1051560">
                  <a:moveTo>
                    <a:pt x="7156196" y="1051199"/>
                  </a:moveTo>
                  <a:lnTo>
                    <a:pt x="175203" y="1051199"/>
                  </a:lnTo>
                  <a:lnTo>
                    <a:pt x="128627" y="1044941"/>
                  </a:lnTo>
                  <a:lnTo>
                    <a:pt x="86774" y="1027279"/>
                  </a:lnTo>
                  <a:lnTo>
                    <a:pt x="51315" y="999883"/>
                  </a:lnTo>
                  <a:lnTo>
                    <a:pt x="23920" y="964424"/>
                  </a:lnTo>
                  <a:lnTo>
                    <a:pt x="6258" y="922572"/>
                  </a:lnTo>
                  <a:lnTo>
                    <a:pt x="0" y="875996"/>
                  </a:lnTo>
                  <a:lnTo>
                    <a:pt x="0" y="175203"/>
                  </a:lnTo>
                  <a:lnTo>
                    <a:pt x="6258" y="128627"/>
                  </a:lnTo>
                  <a:lnTo>
                    <a:pt x="23920" y="86774"/>
                  </a:lnTo>
                  <a:lnTo>
                    <a:pt x="51315" y="51315"/>
                  </a:lnTo>
                  <a:lnTo>
                    <a:pt x="86774" y="23920"/>
                  </a:lnTo>
                  <a:lnTo>
                    <a:pt x="128627" y="6258"/>
                  </a:lnTo>
                  <a:lnTo>
                    <a:pt x="175203" y="0"/>
                  </a:lnTo>
                  <a:lnTo>
                    <a:pt x="7156196" y="0"/>
                  </a:lnTo>
                  <a:lnTo>
                    <a:pt x="7223244" y="13336"/>
                  </a:lnTo>
                  <a:lnTo>
                    <a:pt x="7280084" y="51315"/>
                  </a:lnTo>
                  <a:lnTo>
                    <a:pt x="7318063" y="108156"/>
                  </a:lnTo>
                  <a:lnTo>
                    <a:pt x="7331399" y="175203"/>
                  </a:lnTo>
                  <a:lnTo>
                    <a:pt x="7331399" y="875996"/>
                  </a:lnTo>
                  <a:lnTo>
                    <a:pt x="7325141" y="922572"/>
                  </a:lnTo>
                  <a:lnTo>
                    <a:pt x="7307479" y="964424"/>
                  </a:lnTo>
                  <a:lnTo>
                    <a:pt x="7280084" y="999883"/>
                  </a:lnTo>
                  <a:lnTo>
                    <a:pt x="7244625" y="1027279"/>
                  </a:lnTo>
                  <a:lnTo>
                    <a:pt x="7202772" y="1044941"/>
                  </a:lnTo>
                  <a:lnTo>
                    <a:pt x="7156196" y="10511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49674" y="2530200"/>
              <a:ext cx="7331709" cy="1051560"/>
            </a:xfrm>
            <a:custGeom>
              <a:avLst/>
              <a:gdLst/>
              <a:ahLst/>
              <a:cxnLst/>
              <a:rect l="l" t="t" r="r" b="b"/>
              <a:pathLst>
                <a:path w="7331709" h="1051560">
                  <a:moveTo>
                    <a:pt x="0" y="175203"/>
                  </a:moveTo>
                  <a:lnTo>
                    <a:pt x="6258" y="128627"/>
                  </a:lnTo>
                  <a:lnTo>
                    <a:pt x="23920" y="86774"/>
                  </a:lnTo>
                  <a:lnTo>
                    <a:pt x="51315" y="51315"/>
                  </a:lnTo>
                  <a:lnTo>
                    <a:pt x="86774" y="23920"/>
                  </a:lnTo>
                  <a:lnTo>
                    <a:pt x="128627" y="6258"/>
                  </a:lnTo>
                  <a:lnTo>
                    <a:pt x="175203" y="0"/>
                  </a:lnTo>
                  <a:lnTo>
                    <a:pt x="7156196" y="0"/>
                  </a:lnTo>
                  <a:lnTo>
                    <a:pt x="7223244" y="13336"/>
                  </a:lnTo>
                  <a:lnTo>
                    <a:pt x="7280084" y="51315"/>
                  </a:lnTo>
                  <a:lnTo>
                    <a:pt x="7318063" y="108156"/>
                  </a:lnTo>
                  <a:lnTo>
                    <a:pt x="7331399" y="175203"/>
                  </a:lnTo>
                  <a:lnTo>
                    <a:pt x="7331399" y="875996"/>
                  </a:lnTo>
                  <a:lnTo>
                    <a:pt x="7325141" y="922572"/>
                  </a:lnTo>
                  <a:lnTo>
                    <a:pt x="7307479" y="964424"/>
                  </a:lnTo>
                  <a:lnTo>
                    <a:pt x="7280084" y="999883"/>
                  </a:lnTo>
                  <a:lnTo>
                    <a:pt x="7244625" y="1027279"/>
                  </a:lnTo>
                  <a:lnTo>
                    <a:pt x="7202772" y="1044941"/>
                  </a:lnTo>
                  <a:lnTo>
                    <a:pt x="7156196" y="1051199"/>
                  </a:lnTo>
                  <a:lnTo>
                    <a:pt x="175203" y="1051199"/>
                  </a:lnTo>
                  <a:lnTo>
                    <a:pt x="128627" y="1044941"/>
                  </a:lnTo>
                  <a:lnTo>
                    <a:pt x="86774" y="1027279"/>
                  </a:lnTo>
                  <a:lnTo>
                    <a:pt x="51315" y="999883"/>
                  </a:lnTo>
                  <a:lnTo>
                    <a:pt x="23920" y="964424"/>
                  </a:lnTo>
                  <a:lnTo>
                    <a:pt x="6258" y="922572"/>
                  </a:lnTo>
                  <a:lnTo>
                    <a:pt x="0" y="875996"/>
                  </a:lnTo>
                  <a:lnTo>
                    <a:pt x="0" y="17520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41211" y="2730680"/>
            <a:ext cx="6942455" cy="5588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0"/>
              </a:spcBef>
            </a:pP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очень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широком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Roboto"/>
                <a:cs typeface="Roboto"/>
              </a:rPr>
              <a:t>смысле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ru-RU" sz="1500" spc="-25" dirty="0">
                <a:solidFill>
                  <a:srgbClr val="FFFFFF"/>
                </a:solidFill>
                <a:latin typeface="Roboto"/>
                <a:cs typeface="Roboto"/>
              </a:rPr>
              <a:t>— </a:t>
            </a:r>
            <a:r>
              <a:rPr sz="1500" dirty="0" err="1">
                <a:solidFill>
                  <a:srgbClr val="FFFFFF"/>
                </a:solidFill>
                <a:latin typeface="Roboto"/>
                <a:cs typeface="Roboto"/>
              </a:rPr>
              <a:t>поиск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объектов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массиве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по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условию.</a:t>
            </a:r>
            <a:endParaRPr sz="150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Теоретически,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многие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Roboto"/>
                <a:cs typeface="Roboto"/>
              </a:rPr>
              <a:t>задачи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NLP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можно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сформулировать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подобном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виде.</a:t>
            </a:r>
            <a:endParaRPr sz="1500" dirty="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18912" y="5472862"/>
            <a:ext cx="5793105" cy="514984"/>
            <a:chOff x="3318912" y="5472862"/>
            <a:chExt cx="5793105" cy="514984"/>
          </a:xfrm>
        </p:grpSpPr>
        <p:sp>
          <p:nvSpPr>
            <p:cNvPr id="17" name="object 17"/>
            <p:cNvSpPr/>
            <p:nvPr/>
          </p:nvSpPr>
          <p:spPr>
            <a:xfrm>
              <a:off x="3323675" y="5477624"/>
              <a:ext cx="5783580" cy="505459"/>
            </a:xfrm>
            <a:custGeom>
              <a:avLst/>
              <a:gdLst/>
              <a:ahLst/>
              <a:cxnLst/>
              <a:rect l="l" t="t" r="r" b="b"/>
              <a:pathLst>
                <a:path w="5783580" h="505460">
                  <a:moveTo>
                    <a:pt x="5699198" y="505199"/>
                  </a:moveTo>
                  <a:lnTo>
                    <a:pt x="84201" y="505199"/>
                  </a:lnTo>
                  <a:lnTo>
                    <a:pt x="51426" y="498582"/>
                  </a:lnTo>
                  <a:lnTo>
                    <a:pt x="24662" y="480537"/>
                  </a:lnTo>
                  <a:lnTo>
                    <a:pt x="6616" y="453773"/>
                  </a:lnTo>
                  <a:lnTo>
                    <a:pt x="0" y="420998"/>
                  </a:lnTo>
                  <a:lnTo>
                    <a:pt x="0" y="84201"/>
                  </a:lnTo>
                  <a:lnTo>
                    <a:pt x="6616" y="51426"/>
                  </a:lnTo>
                  <a:lnTo>
                    <a:pt x="24662" y="24662"/>
                  </a:lnTo>
                  <a:lnTo>
                    <a:pt x="51426" y="6616"/>
                  </a:lnTo>
                  <a:lnTo>
                    <a:pt x="84201" y="0"/>
                  </a:lnTo>
                  <a:lnTo>
                    <a:pt x="5699198" y="0"/>
                  </a:lnTo>
                  <a:lnTo>
                    <a:pt x="5745913" y="14146"/>
                  </a:lnTo>
                  <a:lnTo>
                    <a:pt x="5776990" y="51979"/>
                  </a:lnTo>
                  <a:lnTo>
                    <a:pt x="5783399" y="84201"/>
                  </a:lnTo>
                  <a:lnTo>
                    <a:pt x="5783399" y="420998"/>
                  </a:lnTo>
                  <a:lnTo>
                    <a:pt x="5776782" y="453773"/>
                  </a:lnTo>
                  <a:lnTo>
                    <a:pt x="5758737" y="480537"/>
                  </a:lnTo>
                  <a:lnTo>
                    <a:pt x="5731973" y="498582"/>
                  </a:lnTo>
                  <a:lnTo>
                    <a:pt x="5699198" y="5051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23675" y="5477624"/>
              <a:ext cx="5783580" cy="505459"/>
            </a:xfrm>
            <a:custGeom>
              <a:avLst/>
              <a:gdLst/>
              <a:ahLst/>
              <a:cxnLst/>
              <a:rect l="l" t="t" r="r" b="b"/>
              <a:pathLst>
                <a:path w="5783580" h="505460">
                  <a:moveTo>
                    <a:pt x="0" y="84201"/>
                  </a:moveTo>
                  <a:lnTo>
                    <a:pt x="6616" y="51426"/>
                  </a:lnTo>
                  <a:lnTo>
                    <a:pt x="24662" y="24662"/>
                  </a:lnTo>
                  <a:lnTo>
                    <a:pt x="51426" y="6616"/>
                  </a:lnTo>
                  <a:lnTo>
                    <a:pt x="84201" y="0"/>
                  </a:lnTo>
                  <a:lnTo>
                    <a:pt x="5699198" y="0"/>
                  </a:lnTo>
                  <a:lnTo>
                    <a:pt x="5745913" y="14146"/>
                  </a:lnTo>
                  <a:lnTo>
                    <a:pt x="5776990" y="51979"/>
                  </a:lnTo>
                  <a:lnTo>
                    <a:pt x="5783399" y="84201"/>
                  </a:lnTo>
                  <a:lnTo>
                    <a:pt x="5783399" y="420998"/>
                  </a:lnTo>
                  <a:lnTo>
                    <a:pt x="5776782" y="453773"/>
                  </a:lnTo>
                  <a:lnTo>
                    <a:pt x="5758737" y="480537"/>
                  </a:lnTo>
                  <a:lnTo>
                    <a:pt x="5731973" y="498582"/>
                  </a:lnTo>
                  <a:lnTo>
                    <a:pt x="5699198" y="505199"/>
                  </a:lnTo>
                  <a:lnTo>
                    <a:pt x="84201" y="505199"/>
                  </a:lnTo>
                  <a:lnTo>
                    <a:pt x="51426" y="498582"/>
                  </a:lnTo>
                  <a:lnTo>
                    <a:pt x="24662" y="480537"/>
                  </a:lnTo>
                  <a:lnTo>
                    <a:pt x="6616" y="453773"/>
                  </a:lnTo>
                  <a:lnTo>
                    <a:pt x="0" y="420998"/>
                  </a:lnTo>
                  <a:lnTo>
                    <a:pt x="0" y="8420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07798" y="5576554"/>
            <a:ext cx="5031402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</a:t>
            </a:r>
            <a:r>
              <a:rPr sz="150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контексте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NLP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ru-RU" sz="1500" spc="-30" dirty="0">
                <a:solidFill>
                  <a:srgbClr val="FFFFFF"/>
                </a:solidFill>
                <a:latin typeface="Roboto"/>
                <a:cs typeface="Roboto"/>
              </a:rPr>
              <a:t>— </a:t>
            </a:r>
            <a:r>
              <a:rPr sz="1500" dirty="0" err="1">
                <a:solidFill>
                  <a:srgbClr val="FFFFFF"/>
                </a:solidFill>
                <a:latin typeface="Roboto"/>
                <a:cs typeface="Roboto"/>
              </a:rPr>
              <a:t>извлечение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информации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из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текста.</a:t>
            </a:r>
            <a:endParaRPr sz="1500" dirty="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39062" y="3759737"/>
            <a:ext cx="1353185" cy="255270"/>
            <a:chOff x="5539062" y="3759737"/>
            <a:chExt cx="1353185" cy="255270"/>
          </a:xfrm>
        </p:grpSpPr>
        <p:sp>
          <p:nvSpPr>
            <p:cNvPr id="21" name="object 21"/>
            <p:cNvSpPr/>
            <p:nvPr/>
          </p:nvSpPr>
          <p:spPr>
            <a:xfrm>
              <a:off x="5543824" y="3764500"/>
              <a:ext cx="1343660" cy="245745"/>
            </a:xfrm>
            <a:custGeom>
              <a:avLst/>
              <a:gdLst/>
              <a:ahLst/>
              <a:cxnLst/>
              <a:rect l="l" t="t" r="r" b="b"/>
              <a:pathLst>
                <a:path w="1343659" h="245745">
                  <a:moveTo>
                    <a:pt x="671549" y="245399"/>
                  </a:moveTo>
                  <a:lnTo>
                    <a:pt x="0" y="122699"/>
                  </a:lnTo>
                  <a:lnTo>
                    <a:pt x="335774" y="122699"/>
                  </a:lnTo>
                  <a:lnTo>
                    <a:pt x="335774" y="0"/>
                  </a:lnTo>
                  <a:lnTo>
                    <a:pt x="1007324" y="0"/>
                  </a:lnTo>
                  <a:lnTo>
                    <a:pt x="1007324" y="122699"/>
                  </a:lnTo>
                  <a:lnTo>
                    <a:pt x="1343099" y="122699"/>
                  </a:lnTo>
                  <a:lnTo>
                    <a:pt x="671549" y="245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3824" y="3764500"/>
              <a:ext cx="1343660" cy="245745"/>
            </a:xfrm>
            <a:custGeom>
              <a:avLst/>
              <a:gdLst/>
              <a:ahLst/>
              <a:cxnLst/>
              <a:rect l="l" t="t" r="r" b="b"/>
              <a:pathLst>
                <a:path w="1343659" h="245745">
                  <a:moveTo>
                    <a:pt x="0" y="122699"/>
                  </a:moveTo>
                  <a:lnTo>
                    <a:pt x="335774" y="122699"/>
                  </a:lnTo>
                  <a:lnTo>
                    <a:pt x="335774" y="0"/>
                  </a:lnTo>
                  <a:lnTo>
                    <a:pt x="1007324" y="0"/>
                  </a:lnTo>
                  <a:lnTo>
                    <a:pt x="1007324" y="122699"/>
                  </a:lnTo>
                  <a:lnTo>
                    <a:pt x="1343099" y="122699"/>
                  </a:lnTo>
                  <a:lnTo>
                    <a:pt x="671549" y="245399"/>
                  </a:lnTo>
                  <a:lnTo>
                    <a:pt x="0" y="1226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539062" y="5081799"/>
            <a:ext cx="1353185" cy="255270"/>
            <a:chOff x="5539062" y="5081799"/>
            <a:chExt cx="1353185" cy="255270"/>
          </a:xfrm>
        </p:grpSpPr>
        <p:sp>
          <p:nvSpPr>
            <p:cNvPr id="24" name="object 24"/>
            <p:cNvSpPr/>
            <p:nvPr/>
          </p:nvSpPr>
          <p:spPr>
            <a:xfrm>
              <a:off x="5543824" y="5086562"/>
              <a:ext cx="1343660" cy="245745"/>
            </a:xfrm>
            <a:custGeom>
              <a:avLst/>
              <a:gdLst/>
              <a:ahLst/>
              <a:cxnLst/>
              <a:rect l="l" t="t" r="r" b="b"/>
              <a:pathLst>
                <a:path w="1343659" h="245745">
                  <a:moveTo>
                    <a:pt x="671549" y="245399"/>
                  </a:moveTo>
                  <a:lnTo>
                    <a:pt x="0" y="122699"/>
                  </a:lnTo>
                  <a:lnTo>
                    <a:pt x="335774" y="122699"/>
                  </a:lnTo>
                  <a:lnTo>
                    <a:pt x="335774" y="0"/>
                  </a:lnTo>
                  <a:lnTo>
                    <a:pt x="1007324" y="0"/>
                  </a:lnTo>
                  <a:lnTo>
                    <a:pt x="1007324" y="122699"/>
                  </a:lnTo>
                  <a:lnTo>
                    <a:pt x="1343099" y="122699"/>
                  </a:lnTo>
                  <a:lnTo>
                    <a:pt x="671549" y="245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43824" y="5086562"/>
              <a:ext cx="1343660" cy="245745"/>
            </a:xfrm>
            <a:custGeom>
              <a:avLst/>
              <a:gdLst/>
              <a:ahLst/>
              <a:cxnLst/>
              <a:rect l="l" t="t" r="r" b="b"/>
              <a:pathLst>
                <a:path w="1343659" h="245745">
                  <a:moveTo>
                    <a:pt x="0" y="122699"/>
                  </a:moveTo>
                  <a:lnTo>
                    <a:pt x="335774" y="122699"/>
                  </a:lnTo>
                  <a:lnTo>
                    <a:pt x="335774" y="0"/>
                  </a:lnTo>
                  <a:lnTo>
                    <a:pt x="1007324" y="0"/>
                  </a:lnTo>
                  <a:lnTo>
                    <a:pt x="1007324" y="122699"/>
                  </a:lnTo>
                  <a:lnTo>
                    <a:pt x="1343099" y="122699"/>
                  </a:lnTo>
                  <a:lnTo>
                    <a:pt x="671549" y="245399"/>
                  </a:lnTo>
                  <a:lnTo>
                    <a:pt x="0" y="1226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989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Типы</a:t>
            </a:r>
            <a:r>
              <a:rPr sz="4000" spc="-204" dirty="0">
                <a:latin typeface="Microsoft Sans Serif"/>
                <a:cs typeface="Microsoft Sans Serif"/>
              </a:rPr>
              <a:t> </a:t>
            </a:r>
            <a:r>
              <a:rPr sz="4000" spc="-30" dirty="0">
                <a:latin typeface="Microsoft Sans Serif"/>
                <a:cs typeface="Microsoft Sans Serif"/>
              </a:rPr>
              <a:t>поиска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862" y="2670062"/>
            <a:ext cx="2552700" cy="763905"/>
            <a:chOff x="2509862" y="2670062"/>
            <a:chExt cx="2552700" cy="763905"/>
          </a:xfrm>
        </p:grpSpPr>
        <p:sp>
          <p:nvSpPr>
            <p:cNvPr id="9" name="object 9"/>
            <p:cNvSpPr/>
            <p:nvPr/>
          </p:nvSpPr>
          <p:spPr>
            <a:xfrm>
              <a:off x="2514624" y="2674824"/>
              <a:ext cx="2543175" cy="754380"/>
            </a:xfrm>
            <a:custGeom>
              <a:avLst/>
              <a:gdLst/>
              <a:ahLst/>
              <a:cxnLst/>
              <a:rect l="l" t="t" r="r" b="b"/>
              <a:pathLst>
                <a:path w="2543175" h="754379">
                  <a:moveTo>
                    <a:pt x="24170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2417097" y="0"/>
                  </a:lnTo>
                  <a:lnTo>
                    <a:pt x="2465201" y="9568"/>
                  </a:lnTo>
                  <a:lnTo>
                    <a:pt x="2505982" y="36817"/>
                  </a:lnTo>
                  <a:lnTo>
                    <a:pt x="2533231" y="77598"/>
                  </a:lnTo>
                  <a:lnTo>
                    <a:pt x="2542799" y="125702"/>
                  </a:lnTo>
                  <a:lnTo>
                    <a:pt x="2542799" y="628497"/>
                  </a:lnTo>
                  <a:lnTo>
                    <a:pt x="2532921" y="677426"/>
                  </a:lnTo>
                  <a:lnTo>
                    <a:pt x="2505982" y="717382"/>
                  </a:lnTo>
                  <a:lnTo>
                    <a:pt x="2466026" y="744321"/>
                  </a:lnTo>
                  <a:lnTo>
                    <a:pt x="2417097" y="7541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14624" y="2674824"/>
              <a:ext cx="2543175" cy="754380"/>
            </a:xfrm>
            <a:custGeom>
              <a:avLst/>
              <a:gdLst/>
              <a:ahLst/>
              <a:cxnLst/>
              <a:rect l="l" t="t" r="r" b="b"/>
              <a:pathLst>
                <a:path w="254317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2417097" y="0"/>
                  </a:lnTo>
                  <a:lnTo>
                    <a:pt x="2465201" y="9568"/>
                  </a:lnTo>
                  <a:lnTo>
                    <a:pt x="2505982" y="36817"/>
                  </a:lnTo>
                  <a:lnTo>
                    <a:pt x="2533231" y="77598"/>
                  </a:lnTo>
                  <a:lnTo>
                    <a:pt x="2542799" y="125702"/>
                  </a:lnTo>
                  <a:lnTo>
                    <a:pt x="2542799" y="628497"/>
                  </a:lnTo>
                  <a:lnTo>
                    <a:pt x="2532921" y="677426"/>
                  </a:lnTo>
                  <a:lnTo>
                    <a:pt x="2505982" y="717382"/>
                  </a:lnTo>
                  <a:lnTo>
                    <a:pt x="2466026" y="744321"/>
                  </a:lnTo>
                  <a:lnTo>
                    <a:pt x="24170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33041" y="2891968"/>
            <a:ext cx="1705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По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типу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данных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220587" y="2670062"/>
            <a:ext cx="2552700" cy="763905"/>
            <a:chOff x="7220587" y="2670062"/>
            <a:chExt cx="2552700" cy="763905"/>
          </a:xfrm>
        </p:grpSpPr>
        <p:sp>
          <p:nvSpPr>
            <p:cNvPr id="13" name="object 13"/>
            <p:cNvSpPr/>
            <p:nvPr/>
          </p:nvSpPr>
          <p:spPr>
            <a:xfrm>
              <a:off x="7225349" y="2674824"/>
              <a:ext cx="2543175" cy="754380"/>
            </a:xfrm>
            <a:custGeom>
              <a:avLst/>
              <a:gdLst/>
              <a:ahLst/>
              <a:cxnLst/>
              <a:rect l="l" t="t" r="r" b="b"/>
              <a:pathLst>
                <a:path w="2543175" h="754379">
                  <a:moveTo>
                    <a:pt x="24170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2417097" y="0"/>
                  </a:lnTo>
                  <a:lnTo>
                    <a:pt x="2465201" y="9568"/>
                  </a:lnTo>
                  <a:lnTo>
                    <a:pt x="2505982" y="36817"/>
                  </a:lnTo>
                  <a:lnTo>
                    <a:pt x="2533231" y="77598"/>
                  </a:lnTo>
                  <a:lnTo>
                    <a:pt x="2542799" y="125702"/>
                  </a:lnTo>
                  <a:lnTo>
                    <a:pt x="2542799" y="628497"/>
                  </a:lnTo>
                  <a:lnTo>
                    <a:pt x="2532921" y="677426"/>
                  </a:lnTo>
                  <a:lnTo>
                    <a:pt x="2505982" y="717382"/>
                  </a:lnTo>
                  <a:lnTo>
                    <a:pt x="2466026" y="744321"/>
                  </a:lnTo>
                  <a:lnTo>
                    <a:pt x="2417097" y="7541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25349" y="2674824"/>
              <a:ext cx="2543175" cy="754380"/>
            </a:xfrm>
            <a:custGeom>
              <a:avLst/>
              <a:gdLst/>
              <a:ahLst/>
              <a:cxnLst/>
              <a:rect l="l" t="t" r="r" b="b"/>
              <a:pathLst>
                <a:path w="254317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2417097" y="0"/>
                  </a:lnTo>
                  <a:lnTo>
                    <a:pt x="2465201" y="9568"/>
                  </a:lnTo>
                  <a:lnTo>
                    <a:pt x="2505982" y="36817"/>
                  </a:lnTo>
                  <a:lnTo>
                    <a:pt x="2533231" y="77598"/>
                  </a:lnTo>
                  <a:lnTo>
                    <a:pt x="2542799" y="125702"/>
                  </a:lnTo>
                  <a:lnTo>
                    <a:pt x="2542799" y="628497"/>
                  </a:lnTo>
                  <a:lnTo>
                    <a:pt x="2532921" y="677426"/>
                  </a:lnTo>
                  <a:lnTo>
                    <a:pt x="2505982" y="717382"/>
                  </a:lnTo>
                  <a:lnTo>
                    <a:pt x="2466026" y="744321"/>
                  </a:lnTo>
                  <a:lnTo>
                    <a:pt x="24170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57415" y="2891968"/>
            <a:ext cx="2077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По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условию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поиска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6715" y="3818139"/>
            <a:ext cx="244094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Char char="-"/>
              <a:tabLst>
                <a:tab pos="300355" algn="l"/>
              </a:tabLst>
            </a:pPr>
            <a:r>
              <a:rPr sz="1700" spc="-10" dirty="0">
                <a:latin typeface="Roboto"/>
                <a:cs typeface="Roboto"/>
              </a:rPr>
              <a:t>Текстовый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По</a:t>
            </a:r>
            <a:r>
              <a:rPr sz="1700" spc="-10" dirty="0">
                <a:latin typeface="Roboto"/>
                <a:cs typeface="Roboto"/>
              </a:rPr>
              <a:t> картинкам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По</a:t>
            </a:r>
            <a:r>
              <a:rPr sz="1700" spc="-10" dirty="0">
                <a:latin typeface="Roboto"/>
                <a:cs typeface="Roboto"/>
              </a:rPr>
              <a:t> аудио</a:t>
            </a:r>
            <a:endParaRPr sz="1700">
              <a:latin typeface="Roboto"/>
              <a:cs typeface="Roboto"/>
            </a:endParaRPr>
          </a:p>
          <a:p>
            <a:pPr marL="300355" indent="-287655">
              <a:lnSpc>
                <a:spcPct val="100000"/>
              </a:lnSpc>
              <a:buChar char="-"/>
              <a:tabLst>
                <a:tab pos="300355" algn="l"/>
              </a:tabLst>
            </a:pPr>
            <a:r>
              <a:rPr sz="1700" dirty="0">
                <a:latin typeface="Roboto"/>
                <a:cs typeface="Roboto"/>
              </a:rPr>
              <a:t>По</a:t>
            </a:r>
            <a:r>
              <a:rPr sz="1700" spc="-10" dirty="0">
                <a:latin typeface="Roboto"/>
                <a:cs typeface="Roboto"/>
              </a:rPr>
              <a:t> </a:t>
            </a:r>
            <a:r>
              <a:rPr sz="1700" spc="-25" dirty="0">
                <a:latin typeface="Roboto"/>
                <a:cs typeface="Roboto"/>
              </a:rPr>
              <a:t>метаинформации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70930" y="3818647"/>
            <a:ext cx="26803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Char char="-"/>
              <a:tabLst>
                <a:tab pos="297180" algn="l"/>
              </a:tabLst>
            </a:pPr>
            <a:r>
              <a:rPr sz="1600" dirty="0">
                <a:latin typeface="Roboto"/>
                <a:cs typeface="Roboto"/>
              </a:rPr>
              <a:t>Булев</a:t>
            </a:r>
            <a:r>
              <a:rPr sz="1600" spc="-8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поиск</a:t>
            </a:r>
            <a:endParaRPr sz="1600">
              <a:latin typeface="Roboto"/>
              <a:cs typeface="Roboto"/>
            </a:endParaRPr>
          </a:p>
          <a:p>
            <a:pPr marL="297180" indent="-284480">
              <a:lnSpc>
                <a:spcPct val="100000"/>
              </a:lnSpc>
              <a:buChar char="-"/>
              <a:tabLst>
                <a:tab pos="297180" algn="l"/>
              </a:tabLst>
            </a:pPr>
            <a:r>
              <a:rPr sz="1600" dirty="0">
                <a:latin typeface="Roboto"/>
                <a:cs typeface="Roboto"/>
              </a:rPr>
              <a:t>Поиск</a:t>
            </a:r>
            <a:r>
              <a:rPr sz="1600" spc="-2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по</a:t>
            </a:r>
            <a:r>
              <a:rPr sz="1600" spc="-1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сходству</a:t>
            </a:r>
            <a:endParaRPr sz="1600">
              <a:latin typeface="Roboto"/>
              <a:cs typeface="Roboto"/>
            </a:endParaRPr>
          </a:p>
          <a:p>
            <a:pPr marL="297180" indent="-284480">
              <a:lnSpc>
                <a:spcPct val="100000"/>
              </a:lnSpc>
              <a:buChar char="-"/>
              <a:tabLst>
                <a:tab pos="297180" algn="l"/>
              </a:tabLst>
            </a:pPr>
            <a:r>
              <a:rPr sz="1600" dirty="0">
                <a:latin typeface="Roboto"/>
                <a:cs typeface="Roboto"/>
              </a:rPr>
              <a:t>Поиск</a:t>
            </a:r>
            <a:r>
              <a:rPr sz="1600" spc="-2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по</a:t>
            </a:r>
            <a:r>
              <a:rPr sz="1600" spc="-1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релевантности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3066" y="4196168"/>
            <a:ext cx="2062842" cy="552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5455" y="4126000"/>
            <a:ext cx="2126581" cy="6926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32075" y="5174600"/>
            <a:ext cx="2560475" cy="12098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29025" y="4957224"/>
            <a:ext cx="3696380" cy="126292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855725" y="1821725"/>
            <a:ext cx="5063490" cy="2096770"/>
            <a:chOff x="5855725" y="1821725"/>
            <a:chExt cx="5063490" cy="209677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5725" y="2655363"/>
              <a:ext cx="3712330" cy="12629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3150" y="1821725"/>
              <a:ext cx="3005775" cy="833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97050" y="1465205"/>
            <a:ext cx="3787140" cy="163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тексту</a:t>
            </a:r>
            <a:endParaRPr sz="4000" dirty="0">
              <a:latin typeface="Microsoft Sans Serif"/>
              <a:cs typeface="Microsoft Sans Serif"/>
            </a:endParaRPr>
          </a:p>
          <a:p>
            <a:pPr marL="12700" marR="564515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Roboto"/>
                <a:cs typeface="Roboto"/>
              </a:rPr>
              <a:t>Чаще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полнотекстовый </a:t>
            </a:r>
            <a:r>
              <a:rPr sz="1800" dirty="0" err="1">
                <a:latin typeface="Roboto"/>
                <a:cs typeface="Roboto"/>
              </a:rPr>
              <a:t>поиск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lang="ru-RU" sz="1800" dirty="0">
                <a:latin typeface="Roboto"/>
                <a:cs typeface="Roboto"/>
              </a:rPr>
              <a:t>— </a:t>
            </a:r>
            <a:r>
              <a:rPr sz="1800" dirty="0" err="1">
                <a:latin typeface="Roboto"/>
                <a:cs typeface="Roboto"/>
              </a:rPr>
              <a:t>поиск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содержанию документа.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4396740" cy="163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45" dirty="0">
                <a:latin typeface="Microsoft Sans Serif"/>
                <a:cs typeface="Microsoft Sans Serif"/>
              </a:rPr>
              <a:t>картинке</a:t>
            </a:r>
            <a:endParaRPr sz="4000">
              <a:latin typeface="Microsoft Sans Serif"/>
              <a:cs typeface="Microsoft Sans Serif"/>
            </a:endParaRPr>
          </a:p>
          <a:p>
            <a:pPr marL="12700" marR="1045844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том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числе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задачи </a:t>
            </a:r>
            <a:r>
              <a:rPr sz="1800" spc="-25" dirty="0">
                <a:latin typeface="Roboto"/>
                <a:cs typeface="Roboto"/>
              </a:rPr>
              <a:t>классификации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сегментации изображений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03974" y="2773124"/>
            <a:ext cx="2726055" cy="3622040"/>
            <a:chOff x="5603974" y="2773124"/>
            <a:chExt cx="2726055" cy="36220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025" y="2792175"/>
              <a:ext cx="2687675" cy="35835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613499" y="2782649"/>
              <a:ext cx="2707005" cy="3602990"/>
            </a:xfrm>
            <a:custGeom>
              <a:avLst/>
              <a:gdLst/>
              <a:ahLst/>
              <a:cxnLst/>
              <a:rect l="l" t="t" r="r" b="b"/>
              <a:pathLst>
                <a:path w="2707004" h="3602990">
                  <a:moveTo>
                    <a:pt x="0" y="0"/>
                  </a:moveTo>
                  <a:lnTo>
                    <a:pt x="2706725" y="0"/>
                  </a:lnTo>
                  <a:lnTo>
                    <a:pt x="2706725" y="3602598"/>
                  </a:lnTo>
                  <a:lnTo>
                    <a:pt x="0" y="36025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028924" y="1566037"/>
            <a:ext cx="2350135" cy="4829175"/>
            <a:chOff x="9028924" y="1566037"/>
            <a:chExt cx="2350135" cy="48291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7975" y="1585087"/>
              <a:ext cx="2311499" cy="47906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038449" y="1575562"/>
              <a:ext cx="2331085" cy="4810125"/>
            </a:xfrm>
            <a:custGeom>
              <a:avLst/>
              <a:gdLst/>
              <a:ahLst/>
              <a:cxnLst/>
              <a:rect l="l" t="t" r="r" b="b"/>
              <a:pathLst>
                <a:path w="2331084" h="4810125">
                  <a:moveTo>
                    <a:pt x="0" y="0"/>
                  </a:moveTo>
                  <a:lnTo>
                    <a:pt x="2330549" y="0"/>
                  </a:lnTo>
                  <a:lnTo>
                    <a:pt x="2330549" y="4809699"/>
                  </a:lnTo>
                  <a:lnTo>
                    <a:pt x="0" y="4809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559075" y="3467737"/>
            <a:ext cx="240665" cy="1025525"/>
            <a:chOff x="8559075" y="3467737"/>
            <a:chExt cx="240665" cy="1025525"/>
          </a:xfrm>
        </p:grpSpPr>
        <p:sp>
          <p:nvSpPr>
            <p:cNvPr id="15" name="object 15"/>
            <p:cNvSpPr/>
            <p:nvPr/>
          </p:nvSpPr>
          <p:spPr>
            <a:xfrm>
              <a:off x="8563837" y="3472500"/>
              <a:ext cx="231140" cy="1016000"/>
            </a:xfrm>
            <a:custGeom>
              <a:avLst/>
              <a:gdLst/>
              <a:ahLst/>
              <a:cxnLst/>
              <a:rect l="l" t="t" r="r" b="b"/>
              <a:pathLst>
                <a:path w="231140" h="1016000">
                  <a:moveTo>
                    <a:pt x="115499" y="1015799"/>
                  </a:moveTo>
                  <a:lnTo>
                    <a:pt x="115499" y="761849"/>
                  </a:lnTo>
                  <a:lnTo>
                    <a:pt x="0" y="761849"/>
                  </a:lnTo>
                  <a:lnTo>
                    <a:pt x="0" y="253949"/>
                  </a:lnTo>
                  <a:lnTo>
                    <a:pt x="115499" y="253949"/>
                  </a:lnTo>
                  <a:lnTo>
                    <a:pt x="115499" y="0"/>
                  </a:lnTo>
                  <a:lnTo>
                    <a:pt x="230999" y="507899"/>
                  </a:lnTo>
                  <a:lnTo>
                    <a:pt x="115499" y="10157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63837" y="3472500"/>
              <a:ext cx="231140" cy="1016000"/>
            </a:xfrm>
            <a:custGeom>
              <a:avLst/>
              <a:gdLst/>
              <a:ahLst/>
              <a:cxnLst/>
              <a:rect l="l" t="t" r="r" b="b"/>
              <a:pathLst>
                <a:path w="231140" h="1016000">
                  <a:moveTo>
                    <a:pt x="0" y="253949"/>
                  </a:moveTo>
                  <a:lnTo>
                    <a:pt x="115499" y="253949"/>
                  </a:lnTo>
                  <a:lnTo>
                    <a:pt x="115499" y="0"/>
                  </a:lnTo>
                  <a:lnTo>
                    <a:pt x="230999" y="507899"/>
                  </a:lnTo>
                  <a:lnTo>
                    <a:pt x="115499" y="1015799"/>
                  </a:lnTo>
                  <a:lnTo>
                    <a:pt x="115499" y="761849"/>
                  </a:lnTo>
                  <a:lnTo>
                    <a:pt x="0" y="761849"/>
                  </a:lnTo>
                  <a:lnTo>
                    <a:pt x="0" y="2539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9150" y="3798225"/>
            <a:ext cx="3090250" cy="25774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9263380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Sans Serif"/>
                <a:cs typeface="Microsoft Sans Serif"/>
              </a:rPr>
              <a:t>Поиск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по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метаинформации</a:t>
            </a: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1800" dirty="0" err="1">
                <a:latin typeface="Roboto"/>
                <a:cs typeface="Roboto"/>
              </a:rPr>
              <a:t>Фактически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lang="ru-RU" sz="1800" dirty="0">
                <a:latin typeface="Roboto"/>
                <a:cs typeface="Roboto"/>
              </a:rPr>
              <a:t>— </a:t>
            </a:r>
            <a:r>
              <a:rPr sz="1800" dirty="0" err="1">
                <a:latin typeface="Roboto"/>
                <a:cs typeface="Roboto"/>
              </a:rPr>
              <a:t>поиск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информации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информации,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представленной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другом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формате.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49924" y="3331024"/>
            <a:ext cx="6072505" cy="2918460"/>
            <a:chOff x="2949924" y="3331024"/>
            <a:chExt cx="6072505" cy="29184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8975" y="3350075"/>
              <a:ext cx="6033849" cy="28798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59449" y="3340549"/>
              <a:ext cx="6053455" cy="2899410"/>
            </a:xfrm>
            <a:custGeom>
              <a:avLst/>
              <a:gdLst/>
              <a:ahLst/>
              <a:cxnLst/>
              <a:rect l="l" t="t" r="r" b="b"/>
              <a:pathLst>
                <a:path w="6053455" h="2899410">
                  <a:moveTo>
                    <a:pt x="0" y="0"/>
                  </a:moveTo>
                  <a:lnTo>
                    <a:pt x="6052899" y="0"/>
                  </a:lnTo>
                  <a:lnTo>
                    <a:pt x="6052899" y="2898949"/>
                  </a:lnTo>
                  <a:lnTo>
                    <a:pt x="0" y="28989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660255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Булев</a:t>
            </a:r>
            <a:r>
              <a:rPr sz="4000" spc="-13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endParaRPr sz="4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sz="1800" spc="-25" dirty="0">
                <a:latin typeface="Roboto"/>
                <a:cs typeface="Roboto"/>
              </a:rPr>
              <a:t>Используются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0" dirty="0" err="1">
                <a:latin typeface="Roboto"/>
                <a:cs typeface="Roboto"/>
              </a:rPr>
              <a:t>операторы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0" dirty="0" err="1">
                <a:latin typeface="Roboto"/>
                <a:cs typeface="Roboto"/>
              </a:rPr>
              <a:t>алгебры</a:t>
            </a:r>
            <a:r>
              <a:rPr lang="ru-RU" sz="1800" spc="-30" dirty="0">
                <a:latin typeface="Roboto"/>
                <a:cs typeface="Roboto"/>
              </a:rPr>
              <a:t> </a:t>
            </a:r>
            <a:r>
              <a:rPr sz="1800" spc="-35" dirty="0" err="1">
                <a:latin typeface="Roboto"/>
                <a:cs typeface="Roboto"/>
              </a:rPr>
              <a:t>логики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(or,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and,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xor).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только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два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варианта: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объект </a:t>
            </a:r>
            <a:r>
              <a:rPr sz="1800" dirty="0">
                <a:latin typeface="Roboto"/>
                <a:cs typeface="Roboto"/>
              </a:rPr>
              <a:t>либо</a:t>
            </a:r>
            <a:r>
              <a:rPr sz="1800" spc="-40" dirty="0">
                <a:latin typeface="Roboto"/>
                <a:cs typeface="Roboto"/>
              </a:rPr>
              <a:t> подходит </a:t>
            </a:r>
            <a:r>
              <a:rPr sz="1800" spc="-10" dirty="0">
                <a:latin typeface="Roboto"/>
                <a:cs typeface="Roboto"/>
              </a:rPr>
              <a:t>под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запрос,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либо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нет.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6037" y="3157112"/>
            <a:ext cx="4225925" cy="958215"/>
            <a:chOff x="1096037" y="3157112"/>
            <a:chExt cx="4225925" cy="958215"/>
          </a:xfrm>
        </p:grpSpPr>
        <p:sp>
          <p:nvSpPr>
            <p:cNvPr id="9" name="object 9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2817" y="33217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4749" y="3301887"/>
            <a:ext cx="2938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вредная,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мы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все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117" y="3511438"/>
            <a:ext cx="36023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равно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любили.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Звали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Кусей,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она </a:t>
            </a:r>
            <a:r>
              <a:rPr sz="1400" dirty="0">
                <a:latin typeface="Microsoft Sans Serif"/>
                <a:cs typeface="Microsoft Sans Serif"/>
              </a:rPr>
              <a:t>рыжая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черную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полоску.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6037" y="4201162"/>
            <a:ext cx="4225925" cy="958215"/>
            <a:chOff x="1096037" y="4201162"/>
            <a:chExt cx="4225925" cy="958215"/>
          </a:xfrm>
        </p:grpSpPr>
        <p:sp>
          <p:nvSpPr>
            <p:cNvPr id="15" name="object 15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6117" y="4365750"/>
              <a:ext cx="1694180" cy="213360"/>
            </a:xfrm>
            <a:custGeom>
              <a:avLst/>
              <a:gdLst/>
              <a:ahLst/>
              <a:cxnLst/>
              <a:rect l="l" t="t" r="r" b="b"/>
              <a:pathLst>
                <a:path w="1694179" h="213360">
                  <a:moveTo>
                    <a:pt x="1693880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693880" y="0"/>
                  </a:lnTo>
                  <a:lnTo>
                    <a:pt x="1693880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32817" y="436575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94749" y="4345938"/>
            <a:ext cx="33966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домашнее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животное,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из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наиболее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0117" y="4555488"/>
            <a:ext cx="36271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популярных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(наряду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собакой)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«животных- компаньонов»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96037" y="5245212"/>
            <a:ext cx="4225925" cy="958215"/>
            <a:chOff x="1096037" y="5245212"/>
            <a:chExt cx="4225925" cy="958215"/>
          </a:xfrm>
        </p:grpSpPr>
        <p:sp>
          <p:nvSpPr>
            <p:cNvPr id="22" name="object 22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32817" y="5514575"/>
            <a:ext cx="1725295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20" dirty="0">
                <a:latin typeface="Microsoft Sans Serif"/>
                <a:cs typeface="Microsoft Sans Serif"/>
              </a:rPr>
              <a:t>Домашнее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животное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81905" y="5494763"/>
            <a:ext cx="1786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важная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часть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жизни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0117" y="5704313"/>
            <a:ext cx="38595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ребенка,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так</a:t>
            </a:r>
            <a:r>
              <a:rPr sz="1400" spc="-35" dirty="0">
                <a:latin typeface="Microsoft Sans Serif"/>
                <a:cs typeface="Microsoft Sans Serif"/>
              </a:rPr>
              <a:t> как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учит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его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ответственности.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7062" y="4201162"/>
            <a:ext cx="2244725" cy="958215"/>
            <a:chOff x="5687062" y="4201162"/>
            <a:chExt cx="2244725" cy="958215"/>
          </a:xfrm>
        </p:grpSpPr>
        <p:sp>
          <p:nvSpPr>
            <p:cNvPr id="28" name="object 28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2076646" y="948299"/>
                  </a:move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890359" y="4345938"/>
            <a:ext cx="183832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Microsoft Sans Serif"/>
                <a:cs typeface="Microsoft Sans Serif"/>
              </a:rPr>
              <a:t>“домашнее животное” </a:t>
            </a:r>
            <a:r>
              <a:rPr sz="1400" spc="-25" dirty="0">
                <a:latin typeface="Microsoft Sans Serif"/>
                <a:cs typeface="Microsoft Sans Serif"/>
              </a:rPr>
              <a:t>AND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ts val="1600"/>
              </a:lnSpc>
            </a:pPr>
            <a:r>
              <a:rPr sz="1400" spc="-10" dirty="0">
                <a:latin typeface="Microsoft Sans Serif"/>
                <a:cs typeface="Microsoft Sans Serif"/>
              </a:rPr>
              <a:t>“кошка”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296587" y="3861562"/>
            <a:ext cx="2685415" cy="1637030"/>
            <a:chOff x="8296587" y="3861562"/>
            <a:chExt cx="2685415" cy="1637030"/>
          </a:xfrm>
        </p:grpSpPr>
        <p:sp>
          <p:nvSpPr>
            <p:cNvPr id="32" name="object 32"/>
            <p:cNvSpPr/>
            <p:nvPr/>
          </p:nvSpPr>
          <p:spPr>
            <a:xfrm>
              <a:off x="8301349" y="3866324"/>
              <a:ext cx="2675890" cy="1627505"/>
            </a:xfrm>
            <a:custGeom>
              <a:avLst/>
              <a:gdLst/>
              <a:ahLst/>
              <a:cxnLst/>
              <a:rect l="l" t="t" r="r" b="b"/>
              <a:pathLst>
                <a:path w="2675890" h="1627504">
                  <a:moveTo>
                    <a:pt x="2404444" y="1627499"/>
                  </a:moveTo>
                  <a:lnTo>
                    <a:pt x="271255" y="1627499"/>
                  </a:lnTo>
                  <a:lnTo>
                    <a:pt x="222496" y="1623129"/>
                  </a:lnTo>
                  <a:lnTo>
                    <a:pt x="176605" y="1610529"/>
                  </a:lnTo>
                  <a:lnTo>
                    <a:pt x="134347" y="1590465"/>
                  </a:lnTo>
                  <a:lnTo>
                    <a:pt x="96488" y="1563704"/>
                  </a:lnTo>
                  <a:lnTo>
                    <a:pt x="63795" y="1531010"/>
                  </a:lnTo>
                  <a:lnTo>
                    <a:pt x="37034" y="1493152"/>
                  </a:lnTo>
                  <a:lnTo>
                    <a:pt x="16970" y="1450894"/>
                  </a:lnTo>
                  <a:lnTo>
                    <a:pt x="4370" y="1405003"/>
                  </a:lnTo>
                  <a:lnTo>
                    <a:pt x="0" y="1356244"/>
                  </a:lnTo>
                  <a:lnTo>
                    <a:pt x="0" y="271255"/>
                  </a:lnTo>
                  <a:lnTo>
                    <a:pt x="4370" y="222496"/>
                  </a:lnTo>
                  <a:lnTo>
                    <a:pt x="16970" y="176605"/>
                  </a:lnTo>
                  <a:lnTo>
                    <a:pt x="37034" y="134347"/>
                  </a:lnTo>
                  <a:lnTo>
                    <a:pt x="63795" y="96489"/>
                  </a:lnTo>
                  <a:lnTo>
                    <a:pt x="96488" y="63795"/>
                  </a:lnTo>
                  <a:lnTo>
                    <a:pt x="134347" y="37034"/>
                  </a:lnTo>
                  <a:lnTo>
                    <a:pt x="176605" y="16970"/>
                  </a:lnTo>
                  <a:lnTo>
                    <a:pt x="222496" y="4370"/>
                  </a:lnTo>
                  <a:lnTo>
                    <a:pt x="271255" y="0"/>
                  </a:lnTo>
                  <a:lnTo>
                    <a:pt x="2404444" y="0"/>
                  </a:lnTo>
                  <a:lnTo>
                    <a:pt x="2457611" y="5260"/>
                  </a:lnTo>
                  <a:lnTo>
                    <a:pt x="2508249" y="20648"/>
                  </a:lnTo>
                  <a:lnTo>
                    <a:pt x="2554937" y="45573"/>
                  </a:lnTo>
                  <a:lnTo>
                    <a:pt x="2596250" y="79448"/>
                  </a:lnTo>
                  <a:lnTo>
                    <a:pt x="2630125" y="120762"/>
                  </a:lnTo>
                  <a:lnTo>
                    <a:pt x="2655051" y="167450"/>
                  </a:lnTo>
                  <a:lnTo>
                    <a:pt x="2670439" y="218089"/>
                  </a:lnTo>
                  <a:lnTo>
                    <a:pt x="2675699" y="271255"/>
                  </a:lnTo>
                  <a:lnTo>
                    <a:pt x="2675699" y="1356244"/>
                  </a:lnTo>
                  <a:lnTo>
                    <a:pt x="2671329" y="1405003"/>
                  </a:lnTo>
                  <a:lnTo>
                    <a:pt x="2658729" y="1450894"/>
                  </a:lnTo>
                  <a:lnTo>
                    <a:pt x="2638665" y="1493152"/>
                  </a:lnTo>
                  <a:lnTo>
                    <a:pt x="2611904" y="1531010"/>
                  </a:lnTo>
                  <a:lnTo>
                    <a:pt x="2579211" y="1563704"/>
                  </a:lnTo>
                  <a:lnTo>
                    <a:pt x="2541352" y="1590465"/>
                  </a:lnTo>
                  <a:lnTo>
                    <a:pt x="2499094" y="1610529"/>
                  </a:lnTo>
                  <a:lnTo>
                    <a:pt x="2453203" y="1623129"/>
                  </a:lnTo>
                  <a:lnTo>
                    <a:pt x="2404444" y="162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01349" y="3866324"/>
              <a:ext cx="2675890" cy="1627505"/>
            </a:xfrm>
            <a:custGeom>
              <a:avLst/>
              <a:gdLst/>
              <a:ahLst/>
              <a:cxnLst/>
              <a:rect l="l" t="t" r="r" b="b"/>
              <a:pathLst>
                <a:path w="2675890" h="1627504">
                  <a:moveTo>
                    <a:pt x="0" y="271255"/>
                  </a:moveTo>
                  <a:lnTo>
                    <a:pt x="4370" y="222496"/>
                  </a:lnTo>
                  <a:lnTo>
                    <a:pt x="16970" y="176605"/>
                  </a:lnTo>
                  <a:lnTo>
                    <a:pt x="37034" y="134347"/>
                  </a:lnTo>
                  <a:lnTo>
                    <a:pt x="63795" y="96489"/>
                  </a:lnTo>
                  <a:lnTo>
                    <a:pt x="96488" y="63795"/>
                  </a:lnTo>
                  <a:lnTo>
                    <a:pt x="134347" y="37034"/>
                  </a:lnTo>
                  <a:lnTo>
                    <a:pt x="176605" y="16970"/>
                  </a:lnTo>
                  <a:lnTo>
                    <a:pt x="222496" y="4370"/>
                  </a:lnTo>
                  <a:lnTo>
                    <a:pt x="271255" y="0"/>
                  </a:lnTo>
                  <a:lnTo>
                    <a:pt x="2404444" y="0"/>
                  </a:lnTo>
                  <a:lnTo>
                    <a:pt x="2457611" y="5260"/>
                  </a:lnTo>
                  <a:lnTo>
                    <a:pt x="2508249" y="20648"/>
                  </a:lnTo>
                  <a:lnTo>
                    <a:pt x="2554937" y="45573"/>
                  </a:lnTo>
                  <a:lnTo>
                    <a:pt x="2596250" y="79448"/>
                  </a:lnTo>
                  <a:lnTo>
                    <a:pt x="2630125" y="120762"/>
                  </a:lnTo>
                  <a:lnTo>
                    <a:pt x="2655051" y="167450"/>
                  </a:lnTo>
                  <a:lnTo>
                    <a:pt x="2670439" y="218089"/>
                  </a:lnTo>
                  <a:lnTo>
                    <a:pt x="2675699" y="271255"/>
                  </a:lnTo>
                  <a:lnTo>
                    <a:pt x="2675699" y="1356244"/>
                  </a:lnTo>
                  <a:lnTo>
                    <a:pt x="2671329" y="1405003"/>
                  </a:lnTo>
                  <a:lnTo>
                    <a:pt x="2658729" y="1450894"/>
                  </a:lnTo>
                  <a:lnTo>
                    <a:pt x="2638665" y="1493152"/>
                  </a:lnTo>
                  <a:lnTo>
                    <a:pt x="2611904" y="1531010"/>
                  </a:lnTo>
                  <a:lnTo>
                    <a:pt x="2579211" y="1563704"/>
                  </a:lnTo>
                  <a:lnTo>
                    <a:pt x="2541352" y="1590465"/>
                  </a:lnTo>
                  <a:lnTo>
                    <a:pt x="2499094" y="1610529"/>
                  </a:lnTo>
                  <a:lnTo>
                    <a:pt x="2453203" y="1623129"/>
                  </a:lnTo>
                  <a:lnTo>
                    <a:pt x="2404444" y="1627499"/>
                  </a:lnTo>
                  <a:lnTo>
                    <a:pt x="271255" y="1627499"/>
                  </a:lnTo>
                  <a:lnTo>
                    <a:pt x="222496" y="1623129"/>
                  </a:lnTo>
                  <a:lnTo>
                    <a:pt x="176605" y="1610529"/>
                  </a:lnTo>
                  <a:lnTo>
                    <a:pt x="134347" y="1590465"/>
                  </a:lnTo>
                  <a:lnTo>
                    <a:pt x="96488" y="1563704"/>
                  </a:lnTo>
                  <a:lnTo>
                    <a:pt x="63795" y="1531010"/>
                  </a:lnTo>
                  <a:lnTo>
                    <a:pt x="37034" y="1493152"/>
                  </a:lnTo>
                  <a:lnTo>
                    <a:pt x="16970" y="1450894"/>
                  </a:lnTo>
                  <a:lnTo>
                    <a:pt x="4370" y="1405003"/>
                  </a:lnTo>
                  <a:lnTo>
                    <a:pt x="0" y="1356244"/>
                  </a:lnTo>
                  <a:lnTo>
                    <a:pt x="0" y="27125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466523" y="41562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28455" y="4136388"/>
            <a:ext cx="8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icrosoft Sans Serif"/>
                <a:cs typeface="Microsoft Sans Serif"/>
              </a:rPr>
              <a:t>-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9822" y="4156200"/>
            <a:ext cx="87503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10" dirty="0">
                <a:latin typeface="Microsoft Sans Serif"/>
                <a:cs typeface="Microsoft Sans Serif"/>
              </a:rPr>
              <a:t>домашнее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66523" y="4369560"/>
            <a:ext cx="795655" cy="20955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10" dirty="0">
                <a:latin typeface="Microsoft Sans Serif"/>
                <a:cs typeface="Microsoft Sans Serif"/>
              </a:rPr>
              <a:t>животное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6467" y="4345938"/>
            <a:ext cx="749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из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53823" y="4555488"/>
            <a:ext cx="216090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30607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наиболее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популярных </a:t>
            </a:r>
            <a:r>
              <a:rPr sz="1400" dirty="0">
                <a:latin typeface="Microsoft Sans Serif"/>
                <a:cs typeface="Microsoft Sans Serif"/>
              </a:rPr>
              <a:t>(наряду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 </a:t>
            </a:r>
            <a:r>
              <a:rPr sz="1400" spc="-10" dirty="0">
                <a:latin typeface="Microsoft Sans Serif"/>
                <a:cs typeface="Microsoft Sans Serif"/>
              </a:rPr>
              <a:t>собакой)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ts val="1600"/>
              </a:lnSpc>
            </a:pPr>
            <a:r>
              <a:rPr sz="1400" spc="-30" dirty="0">
                <a:latin typeface="Microsoft Sans Serif"/>
                <a:cs typeface="Microsoft Sans Serif"/>
              </a:rPr>
              <a:t>«животных-</a:t>
            </a:r>
            <a:r>
              <a:rPr sz="1400" spc="-10" dirty="0">
                <a:latin typeface="Microsoft Sans Serif"/>
                <a:cs typeface="Microsoft Sans Serif"/>
              </a:rPr>
              <a:t>компаньонов»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22537" y="4305862"/>
            <a:ext cx="163830" cy="748665"/>
            <a:chOff x="5422537" y="4305862"/>
            <a:chExt cx="163830" cy="748665"/>
          </a:xfrm>
        </p:grpSpPr>
        <p:sp>
          <p:nvSpPr>
            <p:cNvPr id="41" name="object 41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8032062" y="4305862"/>
            <a:ext cx="163830" cy="748665"/>
            <a:chOff x="8032062" y="4305862"/>
            <a:chExt cx="163830" cy="748665"/>
          </a:xfrm>
        </p:grpSpPr>
        <p:sp>
          <p:nvSpPr>
            <p:cNvPr id="44" name="object 44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647555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сходству</a:t>
            </a:r>
            <a:endParaRPr sz="4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sz="1800" spc="-20" dirty="0">
                <a:latin typeface="Roboto"/>
                <a:cs typeface="Roboto"/>
              </a:rPr>
              <a:t>Надстройка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над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булевым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поиском: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допускаются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отклонения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запроса.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Чаще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оно </a:t>
            </a:r>
            <a:r>
              <a:rPr sz="1800" spc="-20" dirty="0">
                <a:latin typeface="Roboto"/>
                <a:cs typeface="Roboto"/>
              </a:rPr>
              <a:t>ограничивается </a:t>
            </a:r>
            <a:r>
              <a:rPr sz="1800" dirty="0">
                <a:latin typeface="Roboto"/>
                <a:cs typeface="Roboto"/>
              </a:rPr>
              <a:t>небольшим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расстоянием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Левенштейна.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6037" y="3157112"/>
            <a:ext cx="4225925" cy="958215"/>
            <a:chOff x="1096037" y="3157112"/>
            <a:chExt cx="4225925" cy="958215"/>
          </a:xfrm>
        </p:grpSpPr>
        <p:sp>
          <p:nvSpPr>
            <p:cNvPr id="9" name="object 9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2817" y="33217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4749" y="3301887"/>
            <a:ext cx="2938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вредная,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мы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все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117" y="3511438"/>
            <a:ext cx="36023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равно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любили.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Звали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Кусей,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она </a:t>
            </a:r>
            <a:r>
              <a:rPr sz="1400" dirty="0">
                <a:latin typeface="Microsoft Sans Serif"/>
                <a:cs typeface="Microsoft Sans Serif"/>
              </a:rPr>
              <a:t>рыжая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черную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полоску.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6037" y="4201162"/>
            <a:ext cx="4225925" cy="958215"/>
            <a:chOff x="1096037" y="4201162"/>
            <a:chExt cx="4225925" cy="958215"/>
          </a:xfrm>
        </p:grpSpPr>
        <p:sp>
          <p:nvSpPr>
            <p:cNvPr id="15" name="object 15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32817" y="4365750"/>
            <a:ext cx="52197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60" dirty="0">
                <a:latin typeface="Microsoft Sans Serif"/>
                <a:cs typeface="Microsoft Sans Serif"/>
              </a:rPr>
              <a:t>Кошки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91277" y="4345938"/>
            <a:ext cx="2967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очень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хитрые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опасные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хищники,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117" y="4555488"/>
            <a:ext cx="36785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Microsoft Sans Serif"/>
                <a:cs typeface="Microsoft Sans Serif"/>
              </a:rPr>
              <a:t>которые,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несмотря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свои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малые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размеры, </a:t>
            </a:r>
            <a:r>
              <a:rPr sz="1400" dirty="0">
                <a:latin typeface="Microsoft Sans Serif"/>
                <a:cs typeface="Microsoft Sans Serif"/>
              </a:rPr>
              <a:t>успешно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охотятся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крупных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птиц.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96037" y="5245212"/>
            <a:ext cx="4225925" cy="958215"/>
            <a:chOff x="1096037" y="5245212"/>
            <a:chExt cx="4225925" cy="958215"/>
          </a:xfrm>
        </p:grpSpPr>
        <p:sp>
          <p:nvSpPr>
            <p:cNvPr id="21" name="object 21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32817" y="5514575"/>
              <a:ext cx="1966595" cy="213360"/>
            </a:xfrm>
            <a:custGeom>
              <a:avLst/>
              <a:gdLst/>
              <a:ahLst/>
              <a:cxnLst/>
              <a:rect l="l" t="t" r="r" b="b"/>
              <a:pathLst>
                <a:path w="1966595" h="213360">
                  <a:moveTo>
                    <a:pt x="1966066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966066" y="0"/>
                  </a:lnTo>
                  <a:lnTo>
                    <a:pt x="1966066" y="213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98883" y="5514575"/>
              <a:ext cx="590550" cy="213360"/>
            </a:xfrm>
            <a:custGeom>
              <a:avLst/>
              <a:gdLst/>
              <a:ahLst/>
              <a:cxnLst/>
              <a:rect l="l" t="t" r="r" b="b"/>
              <a:pathLst>
                <a:path w="590550" h="213360">
                  <a:moveTo>
                    <a:pt x="590459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590459" y="0"/>
                  </a:lnTo>
                  <a:lnTo>
                    <a:pt x="590459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32814" y="5514581"/>
              <a:ext cx="3678554" cy="422909"/>
            </a:xfrm>
            <a:custGeom>
              <a:avLst/>
              <a:gdLst/>
              <a:ahLst/>
              <a:cxnLst/>
              <a:rect l="l" t="t" r="r" b="b"/>
              <a:pathLst>
                <a:path w="3678554" h="422910">
                  <a:moveTo>
                    <a:pt x="2224709" y="209550"/>
                  </a:moveTo>
                  <a:lnTo>
                    <a:pt x="0" y="209550"/>
                  </a:lnTo>
                  <a:lnTo>
                    <a:pt x="0" y="422910"/>
                  </a:lnTo>
                  <a:lnTo>
                    <a:pt x="2224709" y="422910"/>
                  </a:lnTo>
                  <a:lnTo>
                    <a:pt x="2224709" y="209550"/>
                  </a:lnTo>
                  <a:close/>
                </a:path>
                <a:path w="3678554" h="422910">
                  <a:moveTo>
                    <a:pt x="3678428" y="0"/>
                  </a:moveTo>
                  <a:lnTo>
                    <a:pt x="2556522" y="0"/>
                  </a:lnTo>
                  <a:lnTo>
                    <a:pt x="2556522" y="213360"/>
                  </a:lnTo>
                  <a:lnTo>
                    <a:pt x="3678428" y="213360"/>
                  </a:lnTo>
                  <a:lnTo>
                    <a:pt x="3678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20117" y="5494763"/>
            <a:ext cx="37039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всегда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много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читал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кошках,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меня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даже </a:t>
            </a:r>
            <a:r>
              <a:rPr sz="1400" dirty="0">
                <a:latin typeface="Microsoft Sans Serif"/>
                <a:cs typeface="Microsoft Sans Serif"/>
              </a:rPr>
              <a:t>есть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целая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коллекция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книг.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7062" y="4201162"/>
            <a:ext cx="2244725" cy="958215"/>
            <a:chOff x="5687062" y="4201162"/>
            <a:chExt cx="2244725" cy="958215"/>
          </a:xfrm>
        </p:grpSpPr>
        <p:sp>
          <p:nvSpPr>
            <p:cNvPr id="28" name="object 28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2076646" y="948299"/>
                  </a:move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86495" y="4555488"/>
            <a:ext cx="645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“кошка”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537" y="4305862"/>
            <a:ext cx="163830" cy="748665"/>
            <a:chOff x="5422537" y="4305862"/>
            <a:chExt cx="163830" cy="748665"/>
          </a:xfrm>
        </p:grpSpPr>
        <p:sp>
          <p:nvSpPr>
            <p:cNvPr id="32" name="object 32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8032062" y="4305862"/>
            <a:ext cx="163830" cy="748665"/>
            <a:chOff x="8032062" y="4305862"/>
            <a:chExt cx="163830" cy="748665"/>
          </a:xfrm>
        </p:grpSpPr>
        <p:sp>
          <p:nvSpPr>
            <p:cNvPr id="35" name="object 35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296562" y="3261812"/>
            <a:ext cx="3003550" cy="748665"/>
            <a:chOff x="8296562" y="3261812"/>
            <a:chExt cx="3003550" cy="748665"/>
          </a:xfrm>
        </p:grpSpPr>
        <p:sp>
          <p:nvSpPr>
            <p:cNvPr id="38" name="object 38"/>
            <p:cNvSpPr/>
            <p:nvPr/>
          </p:nvSpPr>
          <p:spPr>
            <a:xfrm>
              <a:off x="8301325" y="32665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2870247" y="738899"/>
                  </a:move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301325" y="32665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0" y="123152"/>
                  </a:move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423120" y="3531249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85053" y="3511438"/>
            <a:ext cx="1946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55" dirty="0">
                <a:latin typeface="Microsoft Sans Serif"/>
                <a:cs typeface="Microsoft Sans Serif"/>
              </a:rPr>
              <a:t>вредная…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96562" y="4105412"/>
            <a:ext cx="3003550" cy="748665"/>
            <a:chOff x="8296562" y="4105412"/>
            <a:chExt cx="3003550" cy="748665"/>
          </a:xfrm>
        </p:grpSpPr>
        <p:sp>
          <p:nvSpPr>
            <p:cNvPr id="43" name="object 43"/>
            <p:cNvSpPr/>
            <p:nvPr/>
          </p:nvSpPr>
          <p:spPr>
            <a:xfrm>
              <a:off x="8301325" y="41101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2870247" y="738899"/>
                  </a:move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01325" y="41101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0" y="123152"/>
                  </a:move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423120" y="4374850"/>
            <a:ext cx="52197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60" dirty="0">
                <a:latin typeface="Microsoft Sans Serif"/>
                <a:cs typeface="Microsoft Sans Serif"/>
              </a:rPr>
              <a:t>Кошки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81580" y="4355038"/>
            <a:ext cx="15817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очень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хитрые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260" dirty="0">
                <a:latin typeface="Microsoft Sans Serif"/>
                <a:cs typeface="Microsoft Sans Serif"/>
              </a:rPr>
              <a:t>и…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296562" y="4949012"/>
            <a:ext cx="3003550" cy="748665"/>
            <a:chOff x="8296562" y="4949012"/>
            <a:chExt cx="3003550" cy="748665"/>
          </a:xfrm>
        </p:grpSpPr>
        <p:sp>
          <p:nvSpPr>
            <p:cNvPr id="48" name="object 48"/>
            <p:cNvSpPr/>
            <p:nvPr/>
          </p:nvSpPr>
          <p:spPr>
            <a:xfrm>
              <a:off x="8301325" y="49537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2870247" y="738899"/>
                  </a:move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01325" y="49537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0" y="123152"/>
                  </a:move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423120" y="5218449"/>
              <a:ext cx="1966595" cy="213360"/>
            </a:xfrm>
            <a:custGeom>
              <a:avLst/>
              <a:gdLst/>
              <a:ahLst/>
              <a:cxnLst/>
              <a:rect l="l" t="t" r="r" b="b"/>
              <a:pathLst>
                <a:path w="1966595" h="213360">
                  <a:moveTo>
                    <a:pt x="1966066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966066" y="0"/>
                  </a:lnTo>
                  <a:lnTo>
                    <a:pt x="1966066" y="213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389186" y="5218449"/>
              <a:ext cx="590550" cy="213360"/>
            </a:xfrm>
            <a:custGeom>
              <a:avLst/>
              <a:gdLst/>
              <a:ahLst/>
              <a:cxnLst/>
              <a:rect l="l" t="t" r="r" b="b"/>
              <a:pathLst>
                <a:path w="590550" h="213360">
                  <a:moveTo>
                    <a:pt x="590459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590459" y="0"/>
                  </a:lnTo>
                  <a:lnTo>
                    <a:pt x="590459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410420" y="5198637"/>
            <a:ext cx="276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всегда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много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читал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кошках…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8296909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релевантности</a:t>
            </a:r>
            <a:endParaRPr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1800" spc="-10" dirty="0">
                <a:latin typeface="Roboto"/>
                <a:cs typeface="Roboto"/>
              </a:rPr>
              <a:t>Каждому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документу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присваивается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 err="1">
                <a:latin typeface="Roboto"/>
                <a:cs typeface="Roboto"/>
              </a:rPr>
              <a:t>число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lang="ru-RU" sz="1800" dirty="0">
                <a:latin typeface="Roboto"/>
                <a:cs typeface="Roboto"/>
              </a:rPr>
              <a:t>— </a:t>
            </a:r>
            <a:r>
              <a:rPr sz="1800" dirty="0" err="1">
                <a:latin typeface="Roboto"/>
                <a:cs typeface="Roboto"/>
              </a:rPr>
              <a:t>мера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его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релевантности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запросу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6037" y="3157112"/>
            <a:ext cx="4225925" cy="958215"/>
            <a:chOff x="1096037" y="3157112"/>
            <a:chExt cx="4225925" cy="958215"/>
          </a:xfrm>
        </p:grpSpPr>
        <p:sp>
          <p:nvSpPr>
            <p:cNvPr id="9" name="object 9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2817" y="33217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4749" y="3301887"/>
            <a:ext cx="2938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вредная,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мы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все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117" y="3511438"/>
            <a:ext cx="36023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равно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любили.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Звали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Кусей,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она </a:t>
            </a:r>
            <a:r>
              <a:rPr sz="1400" dirty="0">
                <a:latin typeface="Microsoft Sans Serif"/>
                <a:cs typeface="Microsoft Sans Serif"/>
              </a:rPr>
              <a:t>рыжая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черную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полоску.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6037" y="4201162"/>
            <a:ext cx="4225925" cy="958215"/>
            <a:chOff x="1096037" y="4201162"/>
            <a:chExt cx="4225925" cy="958215"/>
          </a:xfrm>
        </p:grpSpPr>
        <p:sp>
          <p:nvSpPr>
            <p:cNvPr id="15" name="object 15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6117" y="4365750"/>
              <a:ext cx="1694180" cy="213360"/>
            </a:xfrm>
            <a:custGeom>
              <a:avLst/>
              <a:gdLst/>
              <a:ahLst/>
              <a:cxnLst/>
              <a:rect l="l" t="t" r="r" b="b"/>
              <a:pathLst>
                <a:path w="1694179" h="213360">
                  <a:moveTo>
                    <a:pt x="1693880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693880" y="0"/>
                  </a:lnTo>
                  <a:lnTo>
                    <a:pt x="1693880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32817" y="436575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94749" y="4345938"/>
            <a:ext cx="33966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домашнее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животное,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из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наиболее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0117" y="4555488"/>
            <a:ext cx="36271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популярных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(наряду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собакой)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«животных- компаньонов»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96037" y="5245212"/>
            <a:ext cx="4225925" cy="958215"/>
            <a:chOff x="1096037" y="5245212"/>
            <a:chExt cx="4225925" cy="958215"/>
          </a:xfrm>
        </p:grpSpPr>
        <p:sp>
          <p:nvSpPr>
            <p:cNvPr id="22" name="object 22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32817" y="5514575"/>
            <a:ext cx="1725295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20" dirty="0">
                <a:latin typeface="Microsoft Sans Serif"/>
                <a:cs typeface="Microsoft Sans Serif"/>
              </a:rPr>
              <a:t>Домашнее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животное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81905" y="5494763"/>
            <a:ext cx="1786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важная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часть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жизни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0117" y="5704313"/>
            <a:ext cx="38595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ребенка,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так</a:t>
            </a:r>
            <a:r>
              <a:rPr sz="1400" spc="-35" dirty="0">
                <a:latin typeface="Microsoft Sans Serif"/>
                <a:cs typeface="Microsoft Sans Serif"/>
              </a:rPr>
              <a:t> как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учит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его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ответственности.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7062" y="4201162"/>
            <a:ext cx="2244725" cy="958215"/>
            <a:chOff x="5687062" y="4201162"/>
            <a:chExt cx="2244725" cy="958215"/>
          </a:xfrm>
        </p:grpSpPr>
        <p:sp>
          <p:nvSpPr>
            <p:cNvPr id="28" name="object 28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2076646" y="948299"/>
                  </a:move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890359" y="4345938"/>
            <a:ext cx="183832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Microsoft Sans Serif"/>
                <a:cs typeface="Microsoft Sans Serif"/>
              </a:rPr>
              <a:t>“домашнее животное” </a:t>
            </a:r>
            <a:r>
              <a:rPr sz="1400" spc="-25" dirty="0">
                <a:latin typeface="Microsoft Sans Serif"/>
                <a:cs typeface="Microsoft Sans Serif"/>
              </a:rPr>
              <a:t>AND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ts val="1600"/>
              </a:lnSpc>
            </a:pPr>
            <a:r>
              <a:rPr sz="1400" spc="-10" dirty="0">
                <a:latin typeface="Microsoft Sans Serif"/>
                <a:cs typeface="Microsoft Sans Serif"/>
              </a:rPr>
              <a:t>“кошка”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537" y="4305862"/>
            <a:ext cx="163830" cy="748665"/>
            <a:chOff x="5422537" y="4305862"/>
            <a:chExt cx="163830" cy="748665"/>
          </a:xfrm>
        </p:grpSpPr>
        <p:sp>
          <p:nvSpPr>
            <p:cNvPr id="32" name="object 32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8032062" y="4305862"/>
            <a:ext cx="163830" cy="748665"/>
            <a:chOff x="8032062" y="4305862"/>
            <a:chExt cx="163830" cy="748665"/>
          </a:xfrm>
        </p:grpSpPr>
        <p:sp>
          <p:nvSpPr>
            <p:cNvPr id="35" name="object 35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296587" y="3629162"/>
            <a:ext cx="1828800" cy="645795"/>
            <a:chOff x="8296587" y="3629162"/>
            <a:chExt cx="1828800" cy="645795"/>
          </a:xfrm>
        </p:grpSpPr>
        <p:sp>
          <p:nvSpPr>
            <p:cNvPr id="38" name="object 38"/>
            <p:cNvSpPr/>
            <p:nvPr/>
          </p:nvSpPr>
          <p:spPr>
            <a:xfrm>
              <a:off x="8301349" y="3633925"/>
              <a:ext cx="1819275" cy="636270"/>
            </a:xfrm>
            <a:custGeom>
              <a:avLst/>
              <a:gdLst/>
              <a:ahLst/>
              <a:cxnLst/>
              <a:rect l="l" t="t" r="r" b="b"/>
              <a:pathLst>
                <a:path w="1819275" h="636270">
                  <a:moveTo>
                    <a:pt x="1713197" y="635999"/>
                  </a:moveTo>
                  <a:lnTo>
                    <a:pt x="106002" y="635999"/>
                  </a:lnTo>
                  <a:lnTo>
                    <a:pt x="64741" y="627669"/>
                  </a:lnTo>
                  <a:lnTo>
                    <a:pt x="31047" y="604952"/>
                  </a:lnTo>
                  <a:lnTo>
                    <a:pt x="8330" y="571258"/>
                  </a:lnTo>
                  <a:lnTo>
                    <a:pt x="0" y="529997"/>
                  </a:lnTo>
                  <a:lnTo>
                    <a:pt x="0" y="106001"/>
                  </a:lnTo>
                  <a:lnTo>
                    <a:pt x="8330" y="64741"/>
                  </a:lnTo>
                  <a:lnTo>
                    <a:pt x="31047" y="31047"/>
                  </a:lnTo>
                  <a:lnTo>
                    <a:pt x="64741" y="8330"/>
                  </a:lnTo>
                  <a:lnTo>
                    <a:pt x="106002" y="0"/>
                  </a:lnTo>
                  <a:lnTo>
                    <a:pt x="1713197" y="0"/>
                  </a:lnTo>
                  <a:lnTo>
                    <a:pt x="1753763" y="8068"/>
                  </a:lnTo>
                  <a:lnTo>
                    <a:pt x="1788152" y="31047"/>
                  </a:lnTo>
                  <a:lnTo>
                    <a:pt x="1811131" y="65436"/>
                  </a:lnTo>
                  <a:lnTo>
                    <a:pt x="1819199" y="106001"/>
                  </a:lnTo>
                  <a:lnTo>
                    <a:pt x="1819199" y="529997"/>
                  </a:lnTo>
                  <a:lnTo>
                    <a:pt x="1810869" y="571258"/>
                  </a:lnTo>
                  <a:lnTo>
                    <a:pt x="1788152" y="604952"/>
                  </a:lnTo>
                  <a:lnTo>
                    <a:pt x="1754458" y="627669"/>
                  </a:lnTo>
                  <a:lnTo>
                    <a:pt x="1713197" y="63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301349" y="3633925"/>
              <a:ext cx="1819275" cy="636270"/>
            </a:xfrm>
            <a:custGeom>
              <a:avLst/>
              <a:gdLst/>
              <a:ahLst/>
              <a:cxnLst/>
              <a:rect l="l" t="t" r="r" b="b"/>
              <a:pathLst>
                <a:path w="1819275" h="636270">
                  <a:moveTo>
                    <a:pt x="0" y="106001"/>
                  </a:moveTo>
                  <a:lnTo>
                    <a:pt x="8330" y="64741"/>
                  </a:lnTo>
                  <a:lnTo>
                    <a:pt x="31047" y="31047"/>
                  </a:lnTo>
                  <a:lnTo>
                    <a:pt x="64741" y="8330"/>
                  </a:lnTo>
                  <a:lnTo>
                    <a:pt x="106002" y="0"/>
                  </a:lnTo>
                  <a:lnTo>
                    <a:pt x="1713197" y="0"/>
                  </a:lnTo>
                  <a:lnTo>
                    <a:pt x="1753763" y="8068"/>
                  </a:lnTo>
                  <a:lnTo>
                    <a:pt x="1788152" y="31047"/>
                  </a:lnTo>
                  <a:lnTo>
                    <a:pt x="1811131" y="65436"/>
                  </a:lnTo>
                  <a:lnTo>
                    <a:pt x="1819199" y="106001"/>
                  </a:lnTo>
                  <a:lnTo>
                    <a:pt x="1819199" y="529997"/>
                  </a:lnTo>
                  <a:lnTo>
                    <a:pt x="1810869" y="571258"/>
                  </a:lnTo>
                  <a:lnTo>
                    <a:pt x="1788152" y="604952"/>
                  </a:lnTo>
                  <a:lnTo>
                    <a:pt x="1754458" y="627669"/>
                  </a:lnTo>
                  <a:lnTo>
                    <a:pt x="1713197" y="635999"/>
                  </a:lnTo>
                  <a:lnTo>
                    <a:pt x="106002" y="635999"/>
                  </a:lnTo>
                  <a:lnTo>
                    <a:pt x="64741" y="627669"/>
                  </a:lnTo>
                  <a:lnTo>
                    <a:pt x="31047" y="604952"/>
                  </a:lnTo>
                  <a:lnTo>
                    <a:pt x="8330" y="571258"/>
                  </a:lnTo>
                  <a:lnTo>
                    <a:pt x="0" y="529997"/>
                  </a:lnTo>
                  <a:lnTo>
                    <a:pt x="0" y="1060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025321" y="3827338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0.33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296562" y="4389312"/>
            <a:ext cx="1828800" cy="645795"/>
            <a:chOff x="8296562" y="4389312"/>
            <a:chExt cx="1828800" cy="645795"/>
          </a:xfrm>
        </p:grpSpPr>
        <p:sp>
          <p:nvSpPr>
            <p:cNvPr id="42" name="object 42"/>
            <p:cNvSpPr/>
            <p:nvPr/>
          </p:nvSpPr>
          <p:spPr>
            <a:xfrm>
              <a:off x="8301325" y="4394074"/>
              <a:ext cx="1819275" cy="636270"/>
            </a:xfrm>
            <a:custGeom>
              <a:avLst/>
              <a:gdLst/>
              <a:ahLst/>
              <a:cxnLst/>
              <a:rect l="l" t="t" r="r" b="b"/>
              <a:pathLst>
                <a:path w="1819275" h="636270">
                  <a:moveTo>
                    <a:pt x="1713197" y="635999"/>
                  </a:moveTo>
                  <a:lnTo>
                    <a:pt x="106002" y="635999"/>
                  </a:lnTo>
                  <a:lnTo>
                    <a:pt x="64741" y="627669"/>
                  </a:lnTo>
                  <a:lnTo>
                    <a:pt x="31047" y="604952"/>
                  </a:lnTo>
                  <a:lnTo>
                    <a:pt x="8330" y="571258"/>
                  </a:lnTo>
                  <a:lnTo>
                    <a:pt x="0" y="529997"/>
                  </a:lnTo>
                  <a:lnTo>
                    <a:pt x="0" y="106001"/>
                  </a:lnTo>
                  <a:lnTo>
                    <a:pt x="8330" y="64741"/>
                  </a:lnTo>
                  <a:lnTo>
                    <a:pt x="31047" y="31047"/>
                  </a:lnTo>
                  <a:lnTo>
                    <a:pt x="64741" y="8330"/>
                  </a:lnTo>
                  <a:lnTo>
                    <a:pt x="106002" y="0"/>
                  </a:lnTo>
                  <a:lnTo>
                    <a:pt x="1713197" y="0"/>
                  </a:lnTo>
                  <a:lnTo>
                    <a:pt x="1753763" y="8068"/>
                  </a:lnTo>
                  <a:lnTo>
                    <a:pt x="1788152" y="31047"/>
                  </a:lnTo>
                  <a:lnTo>
                    <a:pt x="1811131" y="65436"/>
                  </a:lnTo>
                  <a:lnTo>
                    <a:pt x="1819199" y="106001"/>
                  </a:lnTo>
                  <a:lnTo>
                    <a:pt x="1819199" y="529997"/>
                  </a:lnTo>
                  <a:lnTo>
                    <a:pt x="1810869" y="571258"/>
                  </a:lnTo>
                  <a:lnTo>
                    <a:pt x="1788152" y="604952"/>
                  </a:lnTo>
                  <a:lnTo>
                    <a:pt x="1754458" y="627669"/>
                  </a:lnTo>
                  <a:lnTo>
                    <a:pt x="1713197" y="63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01325" y="4394074"/>
              <a:ext cx="1819275" cy="636270"/>
            </a:xfrm>
            <a:custGeom>
              <a:avLst/>
              <a:gdLst/>
              <a:ahLst/>
              <a:cxnLst/>
              <a:rect l="l" t="t" r="r" b="b"/>
              <a:pathLst>
                <a:path w="1819275" h="636270">
                  <a:moveTo>
                    <a:pt x="0" y="106001"/>
                  </a:moveTo>
                  <a:lnTo>
                    <a:pt x="8330" y="64741"/>
                  </a:lnTo>
                  <a:lnTo>
                    <a:pt x="31047" y="31047"/>
                  </a:lnTo>
                  <a:lnTo>
                    <a:pt x="64741" y="8330"/>
                  </a:lnTo>
                  <a:lnTo>
                    <a:pt x="106002" y="0"/>
                  </a:lnTo>
                  <a:lnTo>
                    <a:pt x="1713197" y="0"/>
                  </a:lnTo>
                  <a:lnTo>
                    <a:pt x="1753763" y="8068"/>
                  </a:lnTo>
                  <a:lnTo>
                    <a:pt x="1788152" y="31047"/>
                  </a:lnTo>
                  <a:lnTo>
                    <a:pt x="1811131" y="65436"/>
                  </a:lnTo>
                  <a:lnTo>
                    <a:pt x="1819199" y="106001"/>
                  </a:lnTo>
                  <a:lnTo>
                    <a:pt x="1819199" y="529997"/>
                  </a:lnTo>
                  <a:lnTo>
                    <a:pt x="1810869" y="571258"/>
                  </a:lnTo>
                  <a:lnTo>
                    <a:pt x="1788152" y="604952"/>
                  </a:lnTo>
                  <a:lnTo>
                    <a:pt x="1754458" y="627669"/>
                  </a:lnTo>
                  <a:lnTo>
                    <a:pt x="1713197" y="635999"/>
                  </a:lnTo>
                  <a:lnTo>
                    <a:pt x="106002" y="635999"/>
                  </a:lnTo>
                  <a:lnTo>
                    <a:pt x="64741" y="627669"/>
                  </a:lnTo>
                  <a:lnTo>
                    <a:pt x="31047" y="604952"/>
                  </a:lnTo>
                  <a:lnTo>
                    <a:pt x="8330" y="571258"/>
                  </a:lnTo>
                  <a:lnTo>
                    <a:pt x="0" y="529997"/>
                  </a:lnTo>
                  <a:lnTo>
                    <a:pt x="0" y="1060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025297" y="4587488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0.99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296587" y="5149462"/>
            <a:ext cx="1828800" cy="645795"/>
            <a:chOff x="8296587" y="5149462"/>
            <a:chExt cx="1828800" cy="645795"/>
          </a:xfrm>
        </p:grpSpPr>
        <p:sp>
          <p:nvSpPr>
            <p:cNvPr id="46" name="object 46"/>
            <p:cNvSpPr/>
            <p:nvPr/>
          </p:nvSpPr>
          <p:spPr>
            <a:xfrm>
              <a:off x="8301349" y="5154224"/>
              <a:ext cx="1819275" cy="636270"/>
            </a:xfrm>
            <a:custGeom>
              <a:avLst/>
              <a:gdLst/>
              <a:ahLst/>
              <a:cxnLst/>
              <a:rect l="l" t="t" r="r" b="b"/>
              <a:pathLst>
                <a:path w="1819275" h="636270">
                  <a:moveTo>
                    <a:pt x="1713197" y="635999"/>
                  </a:moveTo>
                  <a:lnTo>
                    <a:pt x="106002" y="635999"/>
                  </a:lnTo>
                  <a:lnTo>
                    <a:pt x="64741" y="627669"/>
                  </a:lnTo>
                  <a:lnTo>
                    <a:pt x="31047" y="604952"/>
                  </a:lnTo>
                  <a:lnTo>
                    <a:pt x="8330" y="571258"/>
                  </a:lnTo>
                  <a:lnTo>
                    <a:pt x="0" y="529997"/>
                  </a:lnTo>
                  <a:lnTo>
                    <a:pt x="0" y="106001"/>
                  </a:lnTo>
                  <a:lnTo>
                    <a:pt x="8330" y="64741"/>
                  </a:lnTo>
                  <a:lnTo>
                    <a:pt x="31047" y="31047"/>
                  </a:lnTo>
                  <a:lnTo>
                    <a:pt x="64741" y="8330"/>
                  </a:lnTo>
                  <a:lnTo>
                    <a:pt x="106002" y="0"/>
                  </a:lnTo>
                  <a:lnTo>
                    <a:pt x="1713197" y="0"/>
                  </a:lnTo>
                  <a:lnTo>
                    <a:pt x="1753763" y="8068"/>
                  </a:lnTo>
                  <a:lnTo>
                    <a:pt x="1788152" y="31047"/>
                  </a:lnTo>
                  <a:lnTo>
                    <a:pt x="1811131" y="65436"/>
                  </a:lnTo>
                  <a:lnTo>
                    <a:pt x="1819199" y="106001"/>
                  </a:lnTo>
                  <a:lnTo>
                    <a:pt x="1819199" y="529997"/>
                  </a:lnTo>
                  <a:lnTo>
                    <a:pt x="1810869" y="571258"/>
                  </a:lnTo>
                  <a:lnTo>
                    <a:pt x="1788152" y="604952"/>
                  </a:lnTo>
                  <a:lnTo>
                    <a:pt x="1754458" y="627669"/>
                  </a:lnTo>
                  <a:lnTo>
                    <a:pt x="1713197" y="63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01349" y="5154224"/>
              <a:ext cx="1819275" cy="636270"/>
            </a:xfrm>
            <a:custGeom>
              <a:avLst/>
              <a:gdLst/>
              <a:ahLst/>
              <a:cxnLst/>
              <a:rect l="l" t="t" r="r" b="b"/>
              <a:pathLst>
                <a:path w="1819275" h="636270">
                  <a:moveTo>
                    <a:pt x="0" y="106001"/>
                  </a:moveTo>
                  <a:lnTo>
                    <a:pt x="8330" y="64741"/>
                  </a:lnTo>
                  <a:lnTo>
                    <a:pt x="31047" y="31047"/>
                  </a:lnTo>
                  <a:lnTo>
                    <a:pt x="64741" y="8330"/>
                  </a:lnTo>
                  <a:lnTo>
                    <a:pt x="106002" y="0"/>
                  </a:lnTo>
                  <a:lnTo>
                    <a:pt x="1713197" y="0"/>
                  </a:lnTo>
                  <a:lnTo>
                    <a:pt x="1753763" y="8068"/>
                  </a:lnTo>
                  <a:lnTo>
                    <a:pt x="1788152" y="31047"/>
                  </a:lnTo>
                  <a:lnTo>
                    <a:pt x="1811131" y="65436"/>
                  </a:lnTo>
                  <a:lnTo>
                    <a:pt x="1819199" y="106001"/>
                  </a:lnTo>
                  <a:lnTo>
                    <a:pt x="1819199" y="529997"/>
                  </a:lnTo>
                  <a:lnTo>
                    <a:pt x="1810869" y="571258"/>
                  </a:lnTo>
                  <a:lnTo>
                    <a:pt x="1788152" y="604952"/>
                  </a:lnTo>
                  <a:lnTo>
                    <a:pt x="1754458" y="627669"/>
                  </a:lnTo>
                  <a:lnTo>
                    <a:pt x="1713197" y="635999"/>
                  </a:lnTo>
                  <a:lnTo>
                    <a:pt x="106002" y="635999"/>
                  </a:lnTo>
                  <a:lnTo>
                    <a:pt x="64741" y="627669"/>
                  </a:lnTo>
                  <a:lnTo>
                    <a:pt x="31047" y="604952"/>
                  </a:lnTo>
                  <a:lnTo>
                    <a:pt x="8330" y="571258"/>
                  </a:lnTo>
                  <a:lnTo>
                    <a:pt x="0" y="529997"/>
                  </a:lnTo>
                  <a:lnTo>
                    <a:pt x="0" y="1060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025321" y="5347638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0.66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8011159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Примеры</a:t>
            </a:r>
            <a:r>
              <a:rPr sz="4000" spc="-14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задач</a:t>
            </a:r>
            <a:endParaRPr sz="4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1800" dirty="0">
                <a:latin typeface="Roboto"/>
                <a:cs typeface="Roboto"/>
              </a:rPr>
              <a:t>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точнее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проблемы,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необходимо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использование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методов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инфопоиска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71362" y="3157112"/>
            <a:ext cx="3268345" cy="2451735"/>
            <a:chOff x="2171362" y="3157112"/>
            <a:chExt cx="3268345" cy="2451735"/>
          </a:xfrm>
        </p:grpSpPr>
        <p:sp>
          <p:nvSpPr>
            <p:cNvPr id="9" name="object 9"/>
            <p:cNvSpPr/>
            <p:nvPr/>
          </p:nvSpPr>
          <p:spPr>
            <a:xfrm>
              <a:off x="2176124" y="3161875"/>
              <a:ext cx="3258820" cy="2442210"/>
            </a:xfrm>
            <a:custGeom>
              <a:avLst/>
              <a:gdLst/>
              <a:ahLst/>
              <a:cxnLst/>
              <a:rect l="l" t="t" r="r" b="b"/>
              <a:pathLst>
                <a:path w="3258820" h="2442210">
                  <a:moveTo>
                    <a:pt x="2851641" y="2441699"/>
                  </a:moveTo>
                  <a:lnTo>
                    <a:pt x="406958" y="2441699"/>
                  </a:lnTo>
                  <a:lnTo>
                    <a:pt x="359498" y="2438962"/>
                  </a:lnTo>
                  <a:lnTo>
                    <a:pt x="313646" y="2430951"/>
                  </a:lnTo>
                  <a:lnTo>
                    <a:pt x="269707" y="2417974"/>
                  </a:lnTo>
                  <a:lnTo>
                    <a:pt x="227988" y="2400336"/>
                  </a:lnTo>
                  <a:lnTo>
                    <a:pt x="188792" y="2378341"/>
                  </a:lnTo>
                  <a:lnTo>
                    <a:pt x="152426" y="2352295"/>
                  </a:lnTo>
                  <a:lnTo>
                    <a:pt x="119195" y="2322504"/>
                  </a:lnTo>
                  <a:lnTo>
                    <a:pt x="89404" y="2289273"/>
                  </a:lnTo>
                  <a:lnTo>
                    <a:pt x="63358" y="2252907"/>
                  </a:lnTo>
                  <a:lnTo>
                    <a:pt x="41363" y="2213711"/>
                  </a:lnTo>
                  <a:lnTo>
                    <a:pt x="23725" y="2171992"/>
                  </a:lnTo>
                  <a:lnTo>
                    <a:pt x="10748" y="2128053"/>
                  </a:lnTo>
                  <a:lnTo>
                    <a:pt x="2737" y="2082201"/>
                  </a:lnTo>
                  <a:lnTo>
                    <a:pt x="0" y="2034741"/>
                  </a:lnTo>
                  <a:lnTo>
                    <a:pt x="0" y="406958"/>
                  </a:lnTo>
                  <a:lnTo>
                    <a:pt x="2737" y="359498"/>
                  </a:lnTo>
                  <a:lnTo>
                    <a:pt x="10748" y="313646"/>
                  </a:lnTo>
                  <a:lnTo>
                    <a:pt x="23725" y="269707"/>
                  </a:lnTo>
                  <a:lnTo>
                    <a:pt x="41363" y="227988"/>
                  </a:lnTo>
                  <a:lnTo>
                    <a:pt x="63358" y="188792"/>
                  </a:lnTo>
                  <a:lnTo>
                    <a:pt x="89404" y="152426"/>
                  </a:lnTo>
                  <a:lnTo>
                    <a:pt x="119195" y="119195"/>
                  </a:lnTo>
                  <a:lnTo>
                    <a:pt x="152426" y="89404"/>
                  </a:lnTo>
                  <a:lnTo>
                    <a:pt x="188792" y="63358"/>
                  </a:lnTo>
                  <a:lnTo>
                    <a:pt x="227988" y="41363"/>
                  </a:lnTo>
                  <a:lnTo>
                    <a:pt x="269707" y="23725"/>
                  </a:lnTo>
                  <a:lnTo>
                    <a:pt x="313646" y="10748"/>
                  </a:lnTo>
                  <a:lnTo>
                    <a:pt x="359498" y="2737"/>
                  </a:lnTo>
                  <a:lnTo>
                    <a:pt x="406958" y="0"/>
                  </a:lnTo>
                  <a:lnTo>
                    <a:pt x="2851641" y="0"/>
                  </a:lnTo>
                  <a:lnTo>
                    <a:pt x="2905133" y="3529"/>
                  </a:lnTo>
                  <a:lnTo>
                    <a:pt x="2957256" y="13942"/>
                  </a:lnTo>
                  <a:lnTo>
                    <a:pt x="3007377" y="30977"/>
                  </a:lnTo>
                  <a:lnTo>
                    <a:pt x="3054864" y="54372"/>
                  </a:lnTo>
                  <a:lnTo>
                    <a:pt x="3099084" y="83866"/>
                  </a:lnTo>
                  <a:lnTo>
                    <a:pt x="3139404" y="119195"/>
                  </a:lnTo>
                  <a:lnTo>
                    <a:pt x="3174733" y="159515"/>
                  </a:lnTo>
                  <a:lnTo>
                    <a:pt x="3204226" y="203735"/>
                  </a:lnTo>
                  <a:lnTo>
                    <a:pt x="3227622" y="251222"/>
                  </a:lnTo>
                  <a:lnTo>
                    <a:pt x="3244657" y="301343"/>
                  </a:lnTo>
                  <a:lnTo>
                    <a:pt x="3255070" y="353466"/>
                  </a:lnTo>
                  <a:lnTo>
                    <a:pt x="3258599" y="406958"/>
                  </a:lnTo>
                  <a:lnTo>
                    <a:pt x="3258599" y="2034741"/>
                  </a:lnTo>
                  <a:lnTo>
                    <a:pt x="3255862" y="2082201"/>
                  </a:lnTo>
                  <a:lnTo>
                    <a:pt x="3247851" y="2128053"/>
                  </a:lnTo>
                  <a:lnTo>
                    <a:pt x="3234874" y="2171992"/>
                  </a:lnTo>
                  <a:lnTo>
                    <a:pt x="3217236" y="2213711"/>
                  </a:lnTo>
                  <a:lnTo>
                    <a:pt x="3195241" y="2252907"/>
                  </a:lnTo>
                  <a:lnTo>
                    <a:pt x="3169195" y="2289273"/>
                  </a:lnTo>
                  <a:lnTo>
                    <a:pt x="3139404" y="2322504"/>
                  </a:lnTo>
                  <a:lnTo>
                    <a:pt x="3106173" y="2352295"/>
                  </a:lnTo>
                  <a:lnTo>
                    <a:pt x="3069807" y="2378341"/>
                  </a:lnTo>
                  <a:lnTo>
                    <a:pt x="3030611" y="2400336"/>
                  </a:lnTo>
                  <a:lnTo>
                    <a:pt x="2988892" y="2417974"/>
                  </a:lnTo>
                  <a:lnTo>
                    <a:pt x="2944953" y="2430951"/>
                  </a:lnTo>
                  <a:lnTo>
                    <a:pt x="2899101" y="2438962"/>
                  </a:lnTo>
                  <a:lnTo>
                    <a:pt x="2851641" y="2441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76124" y="3161875"/>
              <a:ext cx="3258820" cy="2442210"/>
            </a:xfrm>
            <a:custGeom>
              <a:avLst/>
              <a:gdLst/>
              <a:ahLst/>
              <a:cxnLst/>
              <a:rect l="l" t="t" r="r" b="b"/>
              <a:pathLst>
                <a:path w="3258820" h="2442210">
                  <a:moveTo>
                    <a:pt x="0" y="406958"/>
                  </a:moveTo>
                  <a:lnTo>
                    <a:pt x="2737" y="359498"/>
                  </a:lnTo>
                  <a:lnTo>
                    <a:pt x="10748" y="313646"/>
                  </a:lnTo>
                  <a:lnTo>
                    <a:pt x="23725" y="269707"/>
                  </a:lnTo>
                  <a:lnTo>
                    <a:pt x="41363" y="227988"/>
                  </a:lnTo>
                  <a:lnTo>
                    <a:pt x="63358" y="188792"/>
                  </a:lnTo>
                  <a:lnTo>
                    <a:pt x="89404" y="152426"/>
                  </a:lnTo>
                  <a:lnTo>
                    <a:pt x="119195" y="119195"/>
                  </a:lnTo>
                  <a:lnTo>
                    <a:pt x="152426" y="89404"/>
                  </a:lnTo>
                  <a:lnTo>
                    <a:pt x="188792" y="63358"/>
                  </a:lnTo>
                  <a:lnTo>
                    <a:pt x="227988" y="41363"/>
                  </a:lnTo>
                  <a:lnTo>
                    <a:pt x="269707" y="23725"/>
                  </a:lnTo>
                  <a:lnTo>
                    <a:pt x="313646" y="10748"/>
                  </a:lnTo>
                  <a:lnTo>
                    <a:pt x="359498" y="2737"/>
                  </a:lnTo>
                  <a:lnTo>
                    <a:pt x="406958" y="0"/>
                  </a:lnTo>
                  <a:lnTo>
                    <a:pt x="2851641" y="0"/>
                  </a:lnTo>
                  <a:lnTo>
                    <a:pt x="2905133" y="3529"/>
                  </a:lnTo>
                  <a:lnTo>
                    <a:pt x="2957256" y="13942"/>
                  </a:lnTo>
                  <a:lnTo>
                    <a:pt x="3007377" y="30977"/>
                  </a:lnTo>
                  <a:lnTo>
                    <a:pt x="3054864" y="54372"/>
                  </a:lnTo>
                  <a:lnTo>
                    <a:pt x="3099084" y="83866"/>
                  </a:lnTo>
                  <a:lnTo>
                    <a:pt x="3139404" y="119195"/>
                  </a:lnTo>
                  <a:lnTo>
                    <a:pt x="3174733" y="159515"/>
                  </a:lnTo>
                  <a:lnTo>
                    <a:pt x="3204226" y="203735"/>
                  </a:lnTo>
                  <a:lnTo>
                    <a:pt x="3227622" y="251222"/>
                  </a:lnTo>
                  <a:lnTo>
                    <a:pt x="3244657" y="301343"/>
                  </a:lnTo>
                  <a:lnTo>
                    <a:pt x="3255070" y="353466"/>
                  </a:lnTo>
                  <a:lnTo>
                    <a:pt x="3258599" y="406958"/>
                  </a:lnTo>
                  <a:lnTo>
                    <a:pt x="3258599" y="2034741"/>
                  </a:lnTo>
                  <a:lnTo>
                    <a:pt x="3255862" y="2082201"/>
                  </a:lnTo>
                  <a:lnTo>
                    <a:pt x="3247851" y="2128053"/>
                  </a:lnTo>
                  <a:lnTo>
                    <a:pt x="3234874" y="2171992"/>
                  </a:lnTo>
                  <a:lnTo>
                    <a:pt x="3217236" y="2213711"/>
                  </a:lnTo>
                  <a:lnTo>
                    <a:pt x="3195241" y="2252907"/>
                  </a:lnTo>
                  <a:lnTo>
                    <a:pt x="3169195" y="2289273"/>
                  </a:lnTo>
                  <a:lnTo>
                    <a:pt x="3139404" y="2322504"/>
                  </a:lnTo>
                  <a:lnTo>
                    <a:pt x="3106173" y="2352295"/>
                  </a:lnTo>
                  <a:lnTo>
                    <a:pt x="3069807" y="2378341"/>
                  </a:lnTo>
                  <a:lnTo>
                    <a:pt x="3030611" y="2400336"/>
                  </a:lnTo>
                  <a:lnTo>
                    <a:pt x="2988892" y="2417974"/>
                  </a:lnTo>
                  <a:lnTo>
                    <a:pt x="2944953" y="2430951"/>
                  </a:lnTo>
                  <a:lnTo>
                    <a:pt x="2899101" y="2438962"/>
                  </a:lnTo>
                  <a:lnTo>
                    <a:pt x="2851641" y="2441699"/>
                  </a:lnTo>
                  <a:lnTo>
                    <a:pt x="406958" y="2441699"/>
                  </a:lnTo>
                  <a:lnTo>
                    <a:pt x="359498" y="2438962"/>
                  </a:lnTo>
                  <a:lnTo>
                    <a:pt x="313646" y="2430951"/>
                  </a:lnTo>
                  <a:lnTo>
                    <a:pt x="269707" y="2417974"/>
                  </a:lnTo>
                  <a:lnTo>
                    <a:pt x="227988" y="2400336"/>
                  </a:lnTo>
                  <a:lnTo>
                    <a:pt x="188792" y="2378341"/>
                  </a:lnTo>
                  <a:lnTo>
                    <a:pt x="152426" y="2352295"/>
                  </a:lnTo>
                  <a:lnTo>
                    <a:pt x="119195" y="2322504"/>
                  </a:lnTo>
                  <a:lnTo>
                    <a:pt x="89404" y="2289273"/>
                  </a:lnTo>
                  <a:lnTo>
                    <a:pt x="63358" y="2252907"/>
                  </a:lnTo>
                  <a:lnTo>
                    <a:pt x="41363" y="2213711"/>
                  </a:lnTo>
                  <a:lnTo>
                    <a:pt x="23725" y="2171992"/>
                  </a:lnTo>
                  <a:lnTo>
                    <a:pt x="10748" y="2128053"/>
                  </a:lnTo>
                  <a:lnTo>
                    <a:pt x="2737" y="2082201"/>
                  </a:lnTo>
                  <a:lnTo>
                    <a:pt x="0" y="2034741"/>
                  </a:lnTo>
                  <a:lnTo>
                    <a:pt x="0" y="406958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68344" y="3629488"/>
            <a:ext cx="2771140" cy="17056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0604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Ты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шеф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большой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компании.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У </a:t>
            </a:r>
            <a:r>
              <a:rPr sz="1400" dirty="0">
                <a:latin typeface="Microsoft Sans Serif"/>
                <a:cs typeface="Microsoft Sans Serif"/>
              </a:rPr>
              <a:t>тебя</a:t>
            </a:r>
            <a:r>
              <a:rPr sz="1400" spc="-7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много</a:t>
            </a:r>
            <a:r>
              <a:rPr sz="1400" spc="-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разных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отделов.</a:t>
            </a:r>
            <a:endParaRPr sz="1400">
              <a:latin typeface="Microsoft Sans Serif"/>
              <a:cs typeface="Microsoft Sans Serif"/>
            </a:endParaRPr>
          </a:p>
          <a:p>
            <a:pPr marL="12700" marR="5080">
              <a:lnSpc>
                <a:spcPts val="1650"/>
              </a:lnSpc>
            </a:pPr>
            <a:r>
              <a:rPr sz="1400" spc="-10" dirty="0">
                <a:latin typeface="Microsoft Sans Serif"/>
                <a:cs typeface="Microsoft Sans Serif"/>
              </a:rPr>
              <a:t>Твоему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стажеру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надо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узнать,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как </a:t>
            </a:r>
            <a:r>
              <a:rPr sz="1400" spc="-10" dirty="0">
                <a:latin typeface="Microsoft Sans Serif"/>
                <a:cs typeface="Microsoft Sans Serif"/>
              </a:rPr>
              <a:t>работает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нечто,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разработанное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в </a:t>
            </a:r>
            <a:r>
              <a:rPr sz="1400" spc="-10" dirty="0">
                <a:latin typeface="Microsoft Sans Serif"/>
                <a:cs typeface="Microsoft Sans Serif"/>
              </a:rPr>
              <a:t>другом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отделе.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Он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знает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кому </a:t>
            </a:r>
            <a:r>
              <a:rPr sz="1400" dirty="0">
                <a:latin typeface="Microsoft Sans Serif"/>
                <a:cs typeface="Microsoft Sans Serif"/>
              </a:rPr>
              <a:t>писать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или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боится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спрашивать, </a:t>
            </a:r>
            <a:r>
              <a:rPr sz="1400" dirty="0">
                <a:latin typeface="Microsoft Sans Serif"/>
                <a:cs typeface="Microsoft Sans Serif"/>
              </a:rPr>
              <a:t>но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итоге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как-</a:t>
            </a:r>
            <a:r>
              <a:rPr sz="1400" dirty="0">
                <a:latin typeface="Microsoft Sans Serif"/>
                <a:cs typeface="Microsoft Sans Serif"/>
              </a:rPr>
              <a:t>то</a:t>
            </a:r>
            <a:r>
              <a:rPr sz="1400" spc="-10" dirty="0">
                <a:latin typeface="Microsoft Sans Serif"/>
                <a:cs typeface="Microsoft Sans Serif"/>
              </a:rPr>
              <a:t> находит </a:t>
            </a:r>
            <a:r>
              <a:rPr sz="1400" spc="-20" dirty="0">
                <a:latin typeface="Microsoft Sans Serif"/>
                <a:cs typeface="Microsoft Sans Serif"/>
              </a:rPr>
              <a:t>источник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информации.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85262" y="3157112"/>
            <a:ext cx="3268345" cy="2451735"/>
            <a:chOff x="6985262" y="3157112"/>
            <a:chExt cx="3268345" cy="2451735"/>
          </a:xfrm>
        </p:grpSpPr>
        <p:sp>
          <p:nvSpPr>
            <p:cNvPr id="13" name="object 13"/>
            <p:cNvSpPr/>
            <p:nvPr/>
          </p:nvSpPr>
          <p:spPr>
            <a:xfrm>
              <a:off x="6990025" y="3161875"/>
              <a:ext cx="3258820" cy="2442210"/>
            </a:xfrm>
            <a:custGeom>
              <a:avLst/>
              <a:gdLst/>
              <a:ahLst/>
              <a:cxnLst/>
              <a:rect l="l" t="t" r="r" b="b"/>
              <a:pathLst>
                <a:path w="3258820" h="2442210">
                  <a:moveTo>
                    <a:pt x="2851642" y="2441699"/>
                  </a:moveTo>
                  <a:lnTo>
                    <a:pt x="406957" y="2441699"/>
                  </a:lnTo>
                  <a:lnTo>
                    <a:pt x="359497" y="2438962"/>
                  </a:lnTo>
                  <a:lnTo>
                    <a:pt x="313646" y="2430951"/>
                  </a:lnTo>
                  <a:lnTo>
                    <a:pt x="269707" y="2417974"/>
                  </a:lnTo>
                  <a:lnTo>
                    <a:pt x="227988" y="2400336"/>
                  </a:lnTo>
                  <a:lnTo>
                    <a:pt x="188792" y="2378341"/>
                  </a:lnTo>
                  <a:lnTo>
                    <a:pt x="152426" y="2352295"/>
                  </a:lnTo>
                  <a:lnTo>
                    <a:pt x="119195" y="2322504"/>
                  </a:lnTo>
                  <a:lnTo>
                    <a:pt x="89404" y="2289273"/>
                  </a:lnTo>
                  <a:lnTo>
                    <a:pt x="63358" y="2252907"/>
                  </a:lnTo>
                  <a:lnTo>
                    <a:pt x="41363" y="2213711"/>
                  </a:lnTo>
                  <a:lnTo>
                    <a:pt x="23725" y="2171992"/>
                  </a:lnTo>
                  <a:lnTo>
                    <a:pt x="10748" y="2128053"/>
                  </a:lnTo>
                  <a:lnTo>
                    <a:pt x="2737" y="2082201"/>
                  </a:lnTo>
                  <a:lnTo>
                    <a:pt x="0" y="2034741"/>
                  </a:lnTo>
                  <a:lnTo>
                    <a:pt x="0" y="406958"/>
                  </a:lnTo>
                  <a:lnTo>
                    <a:pt x="2737" y="359498"/>
                  </a:lnTo>
                  <a:lnTo>
                    <a:pt x="10748" y="313646"/>
                  </a:lnTo>
                  <a:lnTo>
                    <a:pt x="23725" y="269707"/>
                  </a:lnTo>
                  <a:lnTo>
                    <a:pt x="41363" y="227988"/>
                  </a:lnTo>
                  <a:lnTo>
                    <a:pt x="63358" y="188792"/>
                  </a:lnTo>
                  <a:lnTo>
                    <a:pt x="89404" y="152426"/>
                  </a:lnTo>
                  <a:lnTo>
                    <a:pt x="119195" y="119195"/>
                  </a:lnTo>
                  <a:lnTo>
                    <a:pt x="152426" y="89404"/>
                  </a:lnTo>
                  <a:lnTo>
                    <a:pt x="188792" y="63358"/>
                  </a:lnTo>
                  <a:lnTo>
                    <a:pt x="227988" y="41363"/>
                  </a:lnTo>
                  <a:lnTo>
                    <a:pt x="269707" y="23725"/>
                  </a:lnTo>
                  <a:lnTo>
                    <a:pt x="313646" y="10748"/>
                  </a:lnTo>
                  <a:lnTo>
                    <a:pt x="359497" y="2737"/>
                  </a:lnTo>
                  <a:lnTo>
                    <a:pt x="406957" y="0"/>
                  </a:lnTo>
                  <a:lnTo>
                    <a:pt x="2851642" y="0"/>
                  </a:lnTo>
                  <a:lnTo>
                    <a:pt x="2905134" y="3529"/>
                  </a:lnTo>
                  <a:lnTo>
                    <a:pt x="2957257" y="13942"/>
                  </a:lnTo>
                  <a:lnTo>
                    <a:pt x="3007378" y="30977"/>
                  </a:lnTo>
                  <a:lnTo>
                    <a:pt x="3054864" y="54372"/>
                  </a:lnTo>
                  <a:lnTo>
                    <a:pt x="3099084" y="83866"/>
                  </a:lnTo>
                  <a:lnTo>
                    <a:pt x="3139404" y="119195"/>
                  </a:lnTo>
                  <a:lnTo>
                    <a:pt x="3174733" y="159515"/>
                  </a:lnTo>
                  <a:lnTo>
                    <a:pt x="3204227" y="203735"/>
                  </a:lnTo>
                  <a:lnTo>
                    <a:pt x="3227622" y="251222"/>
                  </a:lnTo>
                  <a:lnTo>
                    <a:pt x="3244657" y="301343"/>
                  </a:lnTo>
                  <a:lnTo>
                    <a:pt x="3255070" y="353466"/>
                  </a:lnTo>
                  <a:lnTo>
                    <a:pt x="3258599" y="406958"/>
                  </a:lnTo>
                  <a:lnTo>
                    <a:pt x="3258599" y="2034741"/>
                  </a:lnTo>
                  <a:lnTo>
                    <a:pt x="3255862" y="2082201"/>
                  </a:lnTo>
                  <a:lnTo>
                    <a:pt x="3247851" y="2128053"/>
                  </a:lnTo>
                  <a:lnTo>
                    <a:pt x="3234874" y="2171992"/>
                  </a:lnTo>
                  <a:lnTo>
                    <a:pt x="3217236" y="2213711"/>
                  </a:lnTo>
                  <a:lnTo>
                    <a:pt x="3195241" y="2252907"/>
                  </a:lnTo>
                  <a:lnTo>
                    <a:pt x="3169195" y="2289273"/>
                  </a:lnTo>
                  <a:lnTo>
                    <a:pt x="3139404" y="2322504"/>
                  </a:lnTo>
                  <a:lnTo>
                    <a:pt x="3106173" y="2352295"/>
                  </a:lnTo>
                  <a:lnTo>
                    <a:pt x="3069807" y="2378341"/>
                  </a:lnTo>
                  <a:lnTo>
                    <a:pt x="3030611" y="2400336"/>
                  </a:lnTo>
                  <a:lnTo>
                    <a:pt x="2988892" y="2417974"/>
                  </a:lnTo>
                  <a:lnTo>
                    <a:pt x="2944953" y="2430951"/>
                  </a:lnTo>
                  <a:lnTo>
                    <a:pt x="2899102" y="2438962"/>
                  </a:lnTo>
                  <a:lnTo>
                    <a:pt x="2851642" y="2441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90025" y="3161875"/>
              <a:ext cx="3258820" cy="2442210"/>
            </a:xfrm>
            <a:custGeom>
              <a:avLst/>
              <a:gdLst/>
              <a:ahLst/>
              <a:cxnLst/>
              <a:rect l="l" t="t" r="r" b="b"/>
              <a:pathLst>
                <a:path w="3258820" h="2442210">
                  <a:moveTo>
                    <a:pt x="0" y="406958"/>
                  </a:moveTo>
                  <a:lnTo>
                    <a:pt x="2737" y="359498"/>
                  </a:lnTo>
                  <a:lnTo>
                    <a:pt x="10748" y="313646"/>
                  </a:lnTo>
                  <a:lnTo>
                    <a:pt x="23725" y="269707"/>
                  </a:lnTo>
                  <a:lnTo>
                    <a:pt x="41363" y="227988"/>
                  </a:lnTo>
                  <a:lnTo>
                    <a:pt x="63358" y="188792"/>
                  </a:lnTo>
                  <a:lnTo>
                    <a:pt x="89404" y="152426"/>
                  </a:lnTo>
                  <a:lnTo>
                    <a:pt x="119195" y="119195"/>
                  </a:lnTo>
                  <a:lnTo>
                    <a:pt x="152426" y="89404"/>
                  </a:lnTo>
                  <a:lnTo>
                    <a:pt x="188792" y="63358"/>
                  </a:lnTo>
                  <a:lnTo>
                    <a:pt x="227988" y="41363"/>
                  </a:lnTo>
                  <a:lnTo>
                    <a:pt x="269707" y="23725"/>
                  </a:lnTo>
                  <a:lnTo>
                    <a:pt x="313646" y="10748"/>
                  </a:lnTo>
                  <a:lnTo>
                    <a:pt x="359497" y="2737"/>
                  </a:lnTo>
                  <a:lnTo>
                    <a:pt x="406957" y="0"/>
                  </a:lnTo>
                  <a:lnTo>
                    <a:pt x="2851642" y="0"/>
                  </a:lnTo>
                  <a:lnTo>
                    <a:pt x="2905134" y="3529"/>
                  </a:lnTo>
                  <a:lnTo>
                    <a:pt x="2957257" y="13942"/>
                  </a:lnTo>
                  <a:lnTo>
                    <a:pt x="3007378" y="30977"/>
                  </a:lnTo>
                  <a:lnTo>
                    <a:pt x="3054864" y="54372"/>
                  </a:lnTo>
                  <a:lnTo>
                    <a:pt x="3099084" y="83866"/>
                  </a:lnTo>
                  <a:lnTo>
                    <a:pt x="3139404" y="119195"/>
                  </a:lnTo>
                  <a:lnTo>
                    <a:pt x="3174733" y="159515"/>
                  </a:lnTo>
                  <a:lnTo>
                    <a:pt x="3204227" y="203735"/>
                  </a:lnTo>
                  <a:lnTo>
                    <a:pt x="3227622" y="251222"/>
                  </a:lnTo>
                  <a:lnTo>
                    <a:pt x="3244657" y="301343"/>
                  </a:lnTo>
                  <a:lnTo>
                    <a:pt x="3255070" y="353466"/>
                  </a:lnTo>
                  <a:lnTo>
                    <a:pt x="3258599" y="406958"/>
                  </a:lnTo>
                  <a:lnTo>
                    <a:pt x="3258599" y="2034741"/>
                  </a:lnTo>
                  <a:lnTo>
                    <a:pt x="3255862" y="2082201"/>
                  </a:lnTo>
                  <a:lnTo>
                    <a:pt x="3247851" y="2128053"/>
                  </a:lnTo>
                  <a:lnTo>
                    <a:pt x="3234874" y="2171992"/>
                  </a:lnTo>
                  <a:lnTo>
                    <a:pt x="3217236" y="2213711"/>
                  </a:lnTo>
                  <a:lnTo>
                    <a:pt x="3195241" y="2252907"/>
                  </a:lnTo>
                  <a:lnTo>
                    <a:pt x="3169195" y="2289273"/>
                  </a:lnTo>
                  <a:lnTo>
                    <a:pt x="3139404" y="2322504"/>
                  </a:lnTo>
                  <a:lnTo>
                    <a:pt x="3106173" y="2352295"/>
                  </a:lnTo>
                  <a:lnTo>
                    <a:pt x="3069807" y="2378341"/>
                  </a:lnTo>
                  <a:lnTo>
                    <a:pt x="3030611" y="2400336"/>
                  </a:lnTo>
                  <a:lnTo>
                    <a:pt x="2988892" y="2417974"/>
                  </a:lnTo>
                  <a:lnTo>
                    <a:pt x="2944953" y="2430951"/>
                  </a:lnTo>
                  <a:lnTo>
                    <a:pt x="2899102" y="2438962"/>
                  </a:lnTo>
                  <a:lnTo>
                    <a:pt x="2851642" y="2441699"/>
                  </a:lnTo>
                  <a:lnTo>
                    <a:pt x="406957" y="2441699"/>
                  </a:lnTo>
                  <a:lnTo>
                    <a:pt x="359497" y="2438962"/>
                  </a:lnTo>
                  <a:lnTo>
                    <a:pt x="313646" y="2430951"/>
                  </a:lnTo>
                  <a:lnTo>
                    <a:pt x="269707" y="2417974"/>
                  </a:lnTo>
                  <a:lnTo>
                    <a:pt x="227988" y="2400336"/>
                  </a:lnTo>
                  <a:lnTo>
                    <a:pt x="188792" y="2378341"/>
                  </a:lnTo>
                  <a:lnTo>
                    <a:pt x="152426" y="2352295"/>
                  </a:lnTo>
                  <a:lnTo>
                    <a:pt x="119195" y="2322504"/>
                  </a:lnTo>
                  <a:lnTo>
                    <a:pt x="89404" y="2289273"/>
                  </a:lnTo>
                  <a:lnTo>
                    <a:pt x="63358" y="2252907"/>
                  </a:lnTo>
                  <a:lnTo>
                    <a:pt x="41363" y="2213711"/>
                  </a:lnTo>
                  <a:lnTo>
                    <a:pt x="23725" y="2171992"/>
                  </a:lnTo>
                  <a:lnTo>
                    <a:pt x="10748" y="2128053"/>
                  </a:lnTo>
                  <a:lnTo>
                    <a:pt x="2737" y="2082201"/>
                  </a:lnTo>
                  <a:lnTo>
                    <a:pt x="0" y="2034741"/>
                  </a:lnTo>
                  <a:lnTo>
                    <a:pt x="0" y="406958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82244" y="3629488"/>
            <a:ext cx="2761615" cy="14960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Ты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РЖД.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тебя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есть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колл-</a:t>
            </a:r>
            <a:r>
              <a:rPr sz="1400" spc="-10" dirty="0">
                <a:latin typeface="Microsoft Sans Serif"/>
                <a:cs typeface="Microsoft Sans Serif"/>
              </a:rPr>
              <a:t>центр. </a:t>
            </a:r>
            <a:r>
              <a:rPr sz="1400" dirty="0">
                <a:latin typeface="Microsoft Sans Serif"/>
                <a:cs typeface="Microsoft Sans Serif"/>
              </a:rPr>
              <a:t>Его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задача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отвечать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вопросы </a:t>
            </a:r>
            <a:r>
              <a:rPr sz="1400" dirty="0">
                <a:latin typeface="Microsoft Sans Serif"/>
                <a:cs typeface="Microsoft Sans Serif"/>
              </a:rPr>
              <a:t>клиентов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РЖД.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Ты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знаешь,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что </a:t>
            </a:r>
            <a:r>
              <a:rPr sz="1400" dirty="0">
                <a:latin typeface="Microsoft Sans Serif"/>
                <a:cs typeface="Microsoft Sans Serif"/>
              </a:rPr>
              <a:t>60%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вопросов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повторяются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из </a:t>
            </a:r>
            <a:r>
              <a:rPr sz="1400" dirty="0">
                <a:latin typeface="Microsoft Sans Serif"/>
                <a:cs typeface="Microsoft Sans Serif"/>
              </a:rPr>
              <a:t>раза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раз.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Использовать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для </a:t>
            </a:r>
            <a:r>
              <a:rPr sz="1400" dirty="0">
                <a:latin typeface="Microsoft Sans Serif"/>
                <a:cs typeface="Microsoft Sans Serif"/>
              </a:rPr>
              <a:t>этого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человеческие </a:t>
            </a:r>
            <a:r>
              <a:rPr sz="1400" dirty="0">
                <a:latin typeface="Microsoft Sans Serif"/>
                <a:cs typeface="Microsoft Sans Serif"/>
              </a:rPr>
              <a:t>ресурсы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- </a:t>
            </a:r>
            <a:r>
              <a:rPr sz="1400" dirty="0">
                <a:latin typeface="Microsoft Sans Serif"/>
                <a:cs typeface="Microsoft Sans Serif"/>
              </a:rPr>
              <a:t>дорого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малоэффективно.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49745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-30" dirty="0">
                <a:latin typeface="Microsoft Sans Serif"/>
                <a:cs typeface="Microsoft Sans Serif"/>
              </a:rPr>
              <a:t>Последовательность </a:t>
            </a:r>
            <a:r>
              <a:rPr sz="4000" spc="-10" dirty="0">
                <a:latin typeface="Microsoft Sans Serif"/>
                <a:cs typeface="Microsoft Sans Serif"/>
              </a:rPr>
              <a:t>действий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7720" y="2902050"/>
            <a:ext cx="7616553" cy="31863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62725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Общая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постановка</a:t>
            </a:r>
            <a:r>
              <a:rPr sz="4000" spc="-100" dirty="0">
                <a:latin typeface="Microsoft Sans Serif"/>
                <a:cs typeface="Microsoft Sans Serif"/>
              </a:rPr>
              <a:t> </a:t>
            </a:r>
            <a:r>
              <a:rPr sz="4000" spc="-25" dirty="0">
                <a:latin typeface="Microsoft Sans Serif"/>
                <a:cs typeface="Microsoft Sans Serif"/>
              </a:rPr>
              <a:t>задачи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362" y="4001680"/>
            <a:ext cx="298958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612775" indent="-344170">
              <a:lnSpc>
                <a:spcPct val="116700"/>
              </a:lnSpc>
              <a:spcBef>
                <a:spcPts val="100"/>
              </a:spcBef>
              <a:buFont typeface="Microsoft Sans Serif"/>
              <a:buChar char="●"/>
              <a:tabLst>
                <a:tab pos="356235" algn="l"/>
              </a:tabLst>
            </a:pPr>
            <a:r>
              <a:rPr sz="1500" dirty="0">
                <a:latin typeface="Roboto"/>
                <a:cs typeface="Roboto"/>
              </a:rPr>
              <a:t>Набор</a:t>
            </a:r>
            <a:r>
              <a:rPr sz="1500" spc="-2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корпоративных документов</a:t>
            </a:r>
            <a:endParaRPr sz="1500">
              <a:latin typeface="Roboto"/>
              <a:cs typeface="Roboto"/>
            </a:endParaRPr>
          </a:p>
          <a:p>
            <a:pPr marL="356235" marR="78105" indent="-344170">
              <a:lnSpc>
                <a:spcPct val="116700"/>
              </a:lnSpc>
              <a:buFont typeface="Microsoft Sans Serif"/>
              <a:buChar char="●"/>
              <a:tabLst>
                <a:tab pos="356235" algn="l"/>
              </a:tabLst>
            </a:pPr>
            <a:r>
              <a:rPr sz="1500" dirty="0">
                <a:latin typeface="Roboto"/>
                <a:cs typeface="Roboto"/>
              </a:rPr>
              <a:t>Набор</a:t>
            </a:r>
            <a:r>
              <a:rPr sz="1500" spc="-3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типичных</a:t>
            </a:r>
            <a:r>
              <a:rPr sz="1500" spc="-3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вопросов</a:t>
            </a:r>
            <a:r>
              <a:rPr sz="1500" spc="-30" dirty="0">
                <a:latin typeface="Roboto"/>
                <a:cs typeface="Roboto"/>
              </a:rPr>
              <a:t> </a:t>
            </a:r>
            <a:r>
              <a:rPr sz="1500" spc="-50" dirty="0">
                <a:latin typeface="Roboto"/>
                <a:cs typeface="Roboto"/>
              </a:rPr>
              <a:t>и </a:t>
            </a:r>
            <a:r>
              <a:rPr sz="1500" spc="-20" dirty="0">
                <a:latin typeface="Roboto"/>
                <a:cs typeface="Roboto"/>
              </a:rPr>
              <a:t>ответов</a:t>
            </a:r>
            <a:r>
              <a:rPr sz="1500" spc="-2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на</a:t>
            </a:r>
            <a:r>
              <a:rPr sz="1500" spc="-25" dirty="0">
                <a:latin typeface="Roboto"/>
                <a:cs typeface="Roboto"/>
              </a:rPr>
              <a:t> них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295"/>
              </a:spcBef>
              <a:buFont typeface="Microsoft Sans Serif"/>
              <a:buChar char="●"/>
              <a:tabLst>
                <a:tab pos="356235" algn="l"/>
              </a:tabLst>
            </a:pPr>
            <a:r>
              <a:rPr sz="1500" dirty="0">
                <a:latin typeface="Roboto"/>
                <a:cs typeface="Roboto"/>
              </a:rPr>
              <a:t>Набор</a:t>
            </a:r>
            <a:r>
              <a:rPr sz="1500" spc="-30" dirty="0">
                <a:latin typeface="Roboto"/>
                <a:cs typeface="Roboto"/>
              </a:rPr>
              <a:t> </a:t>
            </a:r>
            <a:r>
              <a:rPr sz="1500" spc="-20" dirty="0">
                <a:latin typeface="Roboto"/>
                <a:cs typeface="Roboto"/>
              </a:rPr>
              <a:t>продаваемых</a:t>
            </a:r>
            <a:r>
              <a:rPr sz="1500" spc="-30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товаров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48137" y="2599862"/>
            <a:ext cx="2607945" cy="516255"/>
            <a:chOff x="2148137" y="2599862"/>
            <a:chExt cx="2607945" cy="516255"/>
          </a:xfrm>
        </p:grpSpPr>
        <p:sp>
          <p:nvSpPr>
            <p:cNvPr id="10" name="object 10"/>
            <p:cNvSpPr/>
            <p:nvPr/>
          </p:nvSpPr>
          <p:spPr>
            <a:xfrm>
              <a:off x="2152899" y="2604624"/>
              <a:ext cx="2598420" cy="506730"/>
            </a:xfrm>
            <a:custGeom>
              <a:avLst/>
              <a:gdLst/>
              <a:ahLst/>
              <a:cxnLst/>
              <a:rect l="l" t="t" r="r" b="b"/>
              <a:pathLst>
                <a:path w="2598420" h="506730">
                  <a:moveTo>
                    <a:pt x="2513598" y="506399"/>
                  </a:moveTo>
                  <a:lnTo>
                    <a:pt x="84401" y="506399"/>
                  </a:lnTo>
                  <a:lnTo>
                    <a:pt x="51548" y="499767"/>
                  </a:lnTo>
                  <a:lnTo>
                    <a:pt x="24720" y="481679"/>
                  </a:lnTo>
                  <a:lnTo>
                    <a:pt x="6632" y="454851"/>
                  </a:lnTo>
                  <a:lnTo>
                    <a:pt x="0" y="421998"/>
                  </a:lnTo>
                  <a:lnTo>
                    <a:pt x="0" y="84401"/>
                  </a:lnTo>
                  <a:lnTo>
                    <a:pt x="24720" y="24720"/>
                  </a:lnTo>
                  <a:lnTo>
                    <a:pt x="84401" y="0"/>
                  </a:lnTo>
                  <a:lnTo>
                    <a:pt x="2513598" y="0"/>
                  </a:lnTo>
                  <a:lnTo>
                    <a:pt x="2560424" y="14180"/>
                  </a:lnTo>
                  <a:lnTo>
                    <a:pt x="2591575" y="52102"/>
                  </a:lnTo>
                  <a:lnTo>
                    <a:pt x="2597999" y="84401"/>
                  </a:lnTo>
                  <a:lnTo>
                    <a:pt x="2597999" y="421998"/>
                  </a:lnTo>
                  <a:lnTo>
                    <a:pt x="2591367" y="454851"/>
                  </a:lnTo>
                  <a:lnTo>
                    <a:pt x="2573279" y="481679"/>
                  </a:lnTo>
                  <a:lnTo>
                    <a:pt x="2546451" y="499767"/>
                  </a:lnTo>
                  <a:lnTo>
                    <a:pt x="2513598" y="506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52899" y="2604624"/>
              <a:ext cx="2598420" cy="506730"/>
            </a:xfrm>
            <a:custGeom>
              <a:avLst/>
              <a:gdLst/>
              <a:ahLst/>
              <a:cxnLst/>
              <a:rect l="l" t="t" r="r" b="b"/>
              <a:pathLst>
                <a:path w="2598420" h="506730">
                  <a:moveTo>
                    <a:pt x="0" y="84401"/>
                  </a:moveTo>
                  <a:lnTo>
                    <a:pt x="6632" y="51548"/>
                  </a:lnTo>
                  <a:lnTo>
                    <a:pt x="24720" y="24720"/>
                  </a:lnTo>
                  <a:lnTo>
                    <a:pt x="51548" y="6632"/>
                  </a:lnTo>
                  <a:lnTo>
                    <a:pt x="84401" y="0"/>
                  </a:lnTo>
                  <a:lnTo>
                    <a:pt x="2513598" y="0"/>
                  </a:lnTo>
                  <a:lnTo>
                    <a:pt x="2560424" y="14180"/>
                  </a:lnTo>
                  <a:lnTo>
                    <a:pt x="2591575" y="52102"/>
                  </a:lnTo>
                  <a:lnTo>
                    <a:pt x="2597999" y="84401"/>
                  </a:lnTo>
                  <a:lnTo>
                    <a:pt x="2597999" y="421998"/>
                  </a:lnTo>
                  <a:lnTo>
                    <a:pt x="2591367" y="454851"/>
                  </a:lnTo>
                  <a:lnTo>
                    <a:pt x="2573279" y="481679"/>
                  </a:lnTo>
                  <a:lnTo>
                    <a:pt x="2546451" y="499767"/>
                  </a:lnTo>
                  <a:lnTo>
                    <a:pt x="2513598" y="506399"/>
                  </a:lnTo>
                  <a:lnTo>
                    <a:pt x="84401" y="506399"/>
                  </a:lnTo>
                  <a:lnTo>
                    <a:pt x="51548" y="499767"/>
                  </a:lnTo>
                  <a:lnTo>
                    <a:pt x="24720" y="481679"/>
                  </a:lnTo>
                  <a:lnTo>
                    <a:pt x="6632" y="454851"/>
                  </a:lnTo>
                  <a:lnTo>
                    <a:pt x="0" y="421998"/>
                  </a:lnTo>
                  <a:lnTo>
                    <a:pt x="0" y="844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55347" y="2697868"/>
            <a:ext cx="592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Дано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19050" y="3340412"/>
            <a:ext cx="3665854" cy="506730"/>
          </a:xfrm>
          <a:custGeom>
            <a:avLst/>
            <a:gdLst/>
            <a:ahLst/>
            <a:cxnLst/>
            <a:rect l="l" t="t" r="r" b="b"/>
            <a:pathLst>
              <a:path w="3665854" h="506729">
                <a:moveTo>
                  <a:pt x="0" y="84401"/>
                </a:moveTo>
                <a:lnTo>
                  <a:pt x="6632" y="51548"/>
                </a:lnTo>
                <a:lnTo>
                  <a:pt x="24720" y="24720"/>
                </a:lnTo>
                <a:lnTo>
                  <a:pt x="51548" y="6632"/>
                </a:lnTo>
                <a:lnTo>
                  <a:pt x="84401" y="0"/>
                </a:lnTo>
                <a:lnTo>
                  <a:pt x="3581298" y="0"/>
                </a:lnTo>
                <a:lnTo>
                  <a:pt x="3628124" y="14180"/>
                </a:lnTo>
                <a:lnTo>
                  <a:pt x="3659275" y="52102"/>
                </a:lnTo>
                <a:lnTo>
                  <a:pt x="3665699" y="84401"/>
                </a:lnTo>
                <a:lnTo>
                  <a:pt x="3665699" y="421998"/>
                </a:lnTo>
                <a:lnTo>
                  <a:pt x="3659067" y="454851"/>
                </a:lnTo>
                <a:lnTo>
                  <a:pt x="3640979" y="481679"/>
                </a:lnTo>
                <a:lnTo>
                  <a:pt x="3614151" y="499767"/>
                </a:lnTo>
                <a:lnTo>
                  <a:pt x="3581298" y="506399"/>
                </a:lnTo>
                <a:lnTo>
                  <a:pt x="84401" y="506399"/>
                </a:lnTo>
                <a:lnTo>
                  <a:pt x="51548" y="499767"/>
                </a:lnTo>
                <a:lnTo>
                  <a:pt x="24720" y="481679"/>
                </a:lnTo>
                <a:lnTo>
                  <a:pt x="6632" y="454851"/>
                </a:lnTo>
                <a:lnTo>
                  <a:pt x="0" y="421998"/>
                </a:lnTo>
                <a:lnTo>
                  <a:pt x="0" y="84401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14940" y="3448959"/>
            <a:ext cx="32734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Microsoft Sans Serif"/>
                <a:cs typeface="Microsoft Sans Serif"/>
              </a:rPr>
              <a:t>Набор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объектов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=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база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данных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(1)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08362" y="2599862"/>
            <a:ext cx="2607945" cy="516255"/>
            <a:chOff x="7008362" y="2599862"/>
            <a:chExt cx="2607945" cy="516255"/>
          </a:xfrm>
        </p:grpSpPr>
        <p:sp>
          <p:nvSpPr>
            <p:cNvPr id="16" name="object 16"/>
            <p:cNvSpPr/>
            <p:nvPr/>
          </p:nvSpPr>
          <p:spPr>
            <a:xfrm>
              <a:off x="7013124" y="2604624"/>
              <a:ext cx="2598420" cy="506730"/>
            </a:xfrm>
            <a:custGeom>
              <a:avLst/>
              <a:gdLst/>
              <a:ahLst/>
              <a:cxnLst/>
              <a:rect l="l" t="t" r="r" b="b"/>
              <a:pathLst>
                <a:path w="2598420" h="506730">
                  <a:moveTo>
                    <a:pt x="2513598" y="506399"/>
                  </a:moveTo>
                  <a:lnTo>
                    <a:pt x="84401" y="506399"/>
                  </a:lnTo>
                  <a:lnTo>
                    <a:pt x="51548" y="499767"/>
                  </a:lnTo>
                  <a:lnTo>
                    <a:pt x="24720" y="481679"/>
                  </a:lnTo>
                  <a:lnTo>
                    <a:pt x="6632" y="454851"/>
                  </a:lnTo>
                  <a:lnTo>
                    <a:pt x="0" y="421998"/>
                  </a:lnTo>
                  <a:lnTo>
                    <a:pt x="0" y="84401"/>
                  </a:lnTo>
                  <a:lnTo>
                    <a:pt x="24720" y="24720"/>
                  </a:lnTo>
                  <a:lnTo>
                    <a:pt x="84401" y="0"/>
                  </a:lnTo>
                  <a:lnTo>
                    <a:pt x="2513598" y="0"/>
                  </a:lnTo>
                  <a:lnTo>
                    <a:pt x="2560424" y="14180"/>
                  </a:lnTo>
                  <a:lnTo>
                    <a:pt x="2591575" y="52102"/>
                  </a:lnTo>
                  <a:lnTo>
                    <a:pt x="2597999" y="84401"/>
                  </a:lnTo>
                  <a:lnTo>
                    <a:pt x="2597999" y="421998"/>
                  </a:lnTo>
                  <a:lnTo>
                    <a:pt x="2591367" y="454851"/>
                  </a:lnTo>
                  <a:lnTo>
                    <a:pt x="2573279" y="481679"/>
                  </a:lnTo>
                  <a:lnTo>
                    <a:pt x="2546451" y="499767"/>
                  </a:lnTo>
                  <a:lnTo>
                    <a:pt x="2513598" y="506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13124" y="2604624"/>
              <a:ext cx="2598420" cy="506730"/>
            </a:xfrm>
            <a:custGeom>
              <a:avLst/>
              <a:gdLst/>
              <a:ahLst/>
              <a:cxnLst/>
              <a:rect l="l" t="t" r="r" b="b"/>
              <a:pathLst>
                <a:path w="2598420" h="506730">
                  <a:moveTo>
                    <a:pt x="0" y="84401"/>
                  </a:moveTo>
                  <a:lnTo>
                    <a:pt x="6632" y="51548"/>
                  </a:lnTo>
                  <a:lnTo>
                    <a:pt x="24720" y="24720"/>
                  </a:lnTo>
                  <a:lnTo>
                    <a:pt x="51548" y="6632"/>
                  </a:lnTo>
                  <a:lnTo>
                    <a:pt x="84401" y="0"/>
                  </a:lnTo>
                  <a:lnTo>
                    <a:pt x="2513598" y="0"/>
                  </a:lnTo>
                  <a:lnTo>
                    <a:pt x="2560424" y="14180"/>
                  </a:lnTo>
                  <a:lnTo>
                    <a:pt x="2591575" y="52102"/>
                  </a:lnTo>
                  <a:lnTo>
                    <a:pt x="2597999" y="84401"/>
                  </a:lnTo>
                  <a:lnTo>
                    <a:pt x="2597999" y="421998"/>
                  </a:lnTo>
                  <a:lnTo>
                    <a:pt x="2591367" y="454851"/>
                  </a:lnTo>
                  <a:lnTo>
                    <a:pt x="2573279" y="481679"/>
                  </a:lnTo>
                  <a:lnTo>
                    <a:pt x="2546451" y="499767"/>
                  </a:lnTo>
                  <a:lnTo>
                    <a:pt x="2513598" y="506399"/>
                  </a:lnTo>
                  <a:lnTo>
                    <a:pt x="84401" y="506399"/>
                  </a:lnTo>
                  <a:lnTo>
                    <a:pt x="51548" y="499767"/>
                  </a:lnTo>
                  <a:lnTo>
                    <a:pt x="24720" y="481679"/>
                  </a:lnTo>
                  <a:lnTo>
                    <a:pt x="6632" y="454851"/>
                  </a:lnTo>
                  <a:lnTo>
                    <a:pt x="0" y="421998"/>
                  </a:lnTo>
                  <a:lnTo>
                    <a:pt x="0" y="844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01049" y="2697868"/>
            <a:ext cx="822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Задача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9275" y="3340412"/>
            <a:ext cx="3665854" cy="506730"/>
          </a:xfrm>
          <a:custGeom>
            <a:avLst/>
            <a:gdLst/>
            <a:ahLst/>
            <a:cxnLst/>
            <a:rect l="l" t="t" r="r" b="b"/>
            <a:pathLst>
              <a:path w="3665854" h="506729">
                <a:moveTo>
                  <a:pt x="0" y="84401"/>
                </a:moveTo>
                <a:lnTo>
                  <a:pt x="6632" y="51548"/>
                </a:lnTo>
                <a:lnTo>
                  <a:pt x="24720" y="24720"/>
                </a:lnTo>
                <a:lnTo>
                  <a:pt x="51548" y="6632"/>
                </a:lnTo>
                <a:lnTo>
                  <a:pt x="84401" y="0"/>
                </a:lnTo>
                <a:lnTo>
                  <a:pt x="3581298" y="0"/>
                </a:lnTo>
                <a:lnTo>
                  <a:pt x="3628124" y="14180"/>
                </a:lnTo>
                <a:lnTo>
                  <a:pt x="3659275" y="52102"/>
                </a:lnTo>
                <a:lnTo>
                  <a:pt x="3665699" y="84401"/>
                </a:lnTo>
                <a:lnTo>
                  <a:pt x="3665699" y="421998"/>
                </a:lnTo>
                <a:lnTo>
                  <a:pt x="3659067" y="454851"/>
                </a:lnTo>
                <a:lnTo>
                  <a:pt x="3640979" y="481679"/>
                </a:lnTo>
                <a:lnTo>
                  <a:pt x="3614151" y="499767"/>
                </a:lnTo>
                <a:lnTo>
                  <a:pt x="3581298" y="506399"/>
                </a:lnTo>
                <a:lnTo>
                  <a:pt x="84401" y="506399"/>
                </a:lnTo>
                <a:lnTo>
                  <a:pt x="51548" y="499767"/>
                </a:lnTo>
                <a:lnTo>
                  <a:pt x="24720" y="481679"/>
                </a:lnTo>
                <a:lnTo>
                  <a:pt x="6632" y="454851"/>
                </a:lnTo>
                <a:lnTo>
                  <a:pt x="0" y="421998"/>
                </a:lnTo>
                <a:lnTo>
                  <a:pt x="0" y="84401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78735" y="3448959"/>
            <a:ext cx="326580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Microsoft Sans Serif"/>
                <a:cs typeface="Microsoft Sans Serif"/>
              </a:rPr>
              <a:t>Пришел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новый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объект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-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запрос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(6)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94412" y="4001680"/>
            <a:ext cx="310451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>
              <a:lnSpc>
                <a:spcPct val="116700"/>
              </a:lnSpc>
              <a:spcBef>
                <a:spcPts val="100"/>
              </a:spcBef>
              <a:buFont typeface="Microsoft Sans Serif"/>
              <a:buChar char="●"/>
              <a:tabLst>
                <a:tab pos="356235" algn="l"/>
              </a:tabLst>
            </a:pPr>
            <a:r>
              <a:rPr sz="1500" dirty="0">
                <a:latin typeface="Roboto"/>
                <a:cs typeface="Roboto"/>
              </a:rPr>
              <a:t>Описание</a:t>
            </a:r>
            <a:r>
              <a:rPr sz="1500" spc="-3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сервиса,</a:t>
            </a:r>
            <a:r>
              <a:rPr sz="1500" spc="-3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к</a:t>
            </a:r>
            <a:r>
              <a:rPr sz="1500" spc="-3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которому </a:t>
            </a:r>
            <a:r>
              <a:rPr sz="1500" dirty="0">
                <a:latin typeface="Roboto"/>
                <a:cs typeface="Roboto"/>
              </a:rPr>
              <a:t>ищем</a:t>
            </a:r>
            <a:r>
              <a:rPr sz="1500" spc="-5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документацию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300"/>
              </a:spcBef>
              <a:buFont typeface="Microsoft Sans Serif"/>
              <a:buChar char="●"/>
              <a:tabLst>
                <a:tab pos="356235" algn="l"/>
              </a:tabLst>
            </a:pPr>
            <a:r>
              <a:rPr sz="1500" dirty="0">
                <a:latin typeface="Roboto"/>
                <a:cs typeface="Roboto"/>
              </a:rPr>
              <a:t>Новый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вопрос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от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юзера</a:t>
            </a:r>
            <a:endParaRPr sz="1500">
              <a:latin typeface="Roboto"/>
              <a:cs typeface="Roboto"/>
            </a:endParaRPr>
          </a:p>
          <a:p>
            <a:pPr marL="356235" marR="113664" indent="-344170">
              <a:lnSpc>
                <a:spcPct val="116700"/>
              </a:lnSpc>
              <a:buFont typeface="Microsoft Sans Serif"/>
              <a:buChar char="●"/>
              <a:tabLst>
                <a:tab pos="356235" algn="l"/>
              </a:tabLst>
            </a:pPr>
            <a:r>
              <a:rPr sz="1500" dirty="0">
                <a:latin typeface="Roboto"/>
                <a:cs typeface="Roboto"/>
              </a:rPr>
              <a:t>Фото</a:t>
            </a:r>
            <a:r>
              <a:rPr sz="1500" spc="-5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штанов,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spc="-20" dirty="0">
                <a:latin typeface="Roboto"/>
                <a:cs typeface="Roboto"/>
              </a:rPr>
              <a:t>которые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нужно </a:t>
            </a:r>
            <a:r>
              <a:rPr sz="1500" dirty="0">
                <a:latin typeface="Roboto"/>
                <a:cs typeface="Roboto"/>
              </a:rPr>
              <a:t>найти</a:t>
            </a:r>
            <a:r>
              <a:rPr sz="1500" spc="-7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среди</a:t>
            </a:r>
            <a:r>
              <a:rPr sz="1500" spc="-6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товаров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30162" y="5795337"/>
            <a:ext cx="6504305" cy="516255"/>
            <a:chOff x="2830162" y="5795337"/>
            <a:chExt cx="6504305" cy="516255"/>
          </a:xfrm>
        </p:grpSpPr>
        <p:sp>
          <p:nvSpPr>
            <p:cNvPr id="23" name="object 23"/>
            <p:cNvSpPr/>
            <p:nvPr/>
          </p:nvSpPr>
          <p:spPr>
            <a:xfrm>
              <a:off x="2834925" y="5800099"/>
              <a:ext cx="6494780" cy="506730"/>
            </a:xfrm>
            <a:custGeom>
              <a:avLst/>
              <a:gdLst/>
              <a:ahLst/>
              <a:cxnLst/>
              <a:rect l="l" t="t" r="r" b="b"/>
              <a:pathLst>
                <a:path w="6494780" h="506729">
                  <a:moveTo>
                    <a:pt x="6410298" y="506399"/>
                  </a:moveTo>
                  <a:lnTo>
                    <a:pt x="84401" y="506399"/>
                  </a:lnTo>
                  <a:lnTo>
                    <a:pt x="51548" y="499767"/>
                  </a:lnTo>
                  <a:lnTo>
                    <a:pt x="24720" y="481679"/>
                  </a:lnTo>
                  <a:lnTo>
                    <a:pt x="6632" y="454851"/>
                  </a:lnTo>
                  <a:lnTo>
                    <a:pt x="0" y="421998"/>
                  </a:lnTo>
                  <a:lnTo>
                    <a:pt x="0" y="84401"/>
                  </a:lnTo>
                  <a:lnTo>
                    <a:pt x="6632" y="51548"/>
                  </a:lnTo>
                  <a:lnTo>
                    <a:pt x="24720" y="24720"/>
                  </a:lnTo>
                  <a:lnTo>
                    <a:pt x="51548" y="6632"/>
                  </a:lnTo>
                  <a:lnTo>
                    <a:pt x="84401" y="0"/>
                  </a:lnTo>
                  <a:lnTo>
                    <a:pt x="6410298" y="0"/>
                  </a:lnTo>
                  <a:lnTo>
                    <a:pt x="6457124" y="14180"/>
                  </a:lnTo>
                  <a:lnTo>
                    <a:pt x="6488275" y="52102"/>
                  </a:lnTo>
                  <a:lnTo>
                    <a:pt x="6494699" y="84401"/>
                  </a:lnTo>
                  <a:lnTo>
                    <a:pt x="6494699" y="421998"/>
                  </a:lnTo>
                  <a:lnTo>
                    <a:pt x="6488067" y="454851"/>
                  </a:lnTo>
                  <a:lnTo>
                    <a:pt x="6469979" y="481679"/>
                  </a:lnTo>
                  <a:lnTo>
                    <a:pt x="6443151" y="499767"/>
                  </a:lnTo>
                  <a:lnTo>
                    <a:pt x="6410298" y="5063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34925" y="5800099"/>
              <a:ext cx="6494780" cy="506730"/>
            </a:xfrm>
            <a:custGeom>
              <a:avLst/>
              <a:gdLst/>
              <a:ahLst/>
              <a:cxnLst/>
              <a:rect l="l" t="t" r="r" b="b"/>
              <a:pathLst>
                <a:path w="6494780" h="506729">
                  <a:moveTo>
                    <a:pt x="0" y="84401"/>
                  </a:moveTo>
                  <a:lnTo>
                    <a:pt x="6632" y="51548"/>
                  </a:lnTo>
                  <a:lnTo>
                    <a:pt x="24720" y="24720"/>
                  </a:lnTo>
                  <a:lnTo>
                    <a:pt x="51548" y="6632"/>
                  </a:lnTo>
                  <a:lnTo>
                    <a:pt x="84401" y="0"/>
                  </a:lnTo>
                  <a:lnTo>
                    <a:pt x="6410298" y="0"/>
                  </a:lnTo>
                  <a:lnTo>
                    <a:pt x="6457124" y="14180"/>
                  </a:lnTo>
                  <a:lnTo>
                    <a:pt x="6488275" y="52102"/>
                  </a:lnTo>
                  <a:lnTo>
                    <a:pt x="6494699" y="84401"/>
                  </a:lnTo>
                  <a:lnTo>
                    <a:pt x="6494699" y="421998"/>
                  </a:lnTo>
                  <a:lnTo>
                    <a:pt x="6488067" y="454851"/>
                  </a:lnTo>
                  <a:lnTo>
                    <a:pt x="6469979" y="481679"/>
                  </a:lnTo>
                  <a:lnTo>
                    <a:pt x="6443151" y="499767"/>
                  </a:lnTo>
                  <a:lnTo>
                    <a:pt x="6410298" y="506399"/>
                  </a:lnTo>
                  <a:lnTo>
                    <a:pt x="84401" y="506399"/>
                  </a:lnTo>
                  <a:lnTo>
                    <a:pt x="51548" y="499767"/>
                  </a:lnTo>
                  <a:lnTo>
                    <a:pt x="24720" y="481679"/>
                  </a:lnTo>
                  <a:lnTo>
                    <a:pt x="6632" y="454851"/>
                  </a:lnTo>
                  <a:lnTo>
                    <a:pt x="0" y="421998"/>
                  </a:lnTo>
                  <a:lnTo>
                    <a:pt x="0" y="844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932670" y="5893343"/>
            <a:ext cx="580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Надо</a:t>
            </a:r>
            <a:r>
              <a:rPr sz="18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найти</a:t>
            </a:r>
            <a:r>
              <a:rPr sz="18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самый</a:t>
            </a:r>
            <a:r>
              <a:rPr sz="18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подходящий</a:t>
            </a:r>
            <a:r>
              <a:rPr sz="1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к</a:t>
            </a:r>
            <a:r>
              <a:rPr sz="18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нему</a:t>
            </a:r>
            <a:r>
              <a:rPr sz="1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объект</a:t>
            </a:r>
            <a:r>
              <a:rPr sz="1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из</a:t>
            </a:r>
            <a:r>
              <a:rPr sz="1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базы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4822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Шаг</a:t>
            </a:r>
            <a:r>
              <a:rPr sz="4000" spc="-100" dirty="0">
                <a:latin typeface="Microsoft Sans Serif"/>
                <a:cs typeface="Microsoft Sans Serif"/>
              </a:rPr>
              <a:t> </a:t>
            </a:r>
            <a:r>
              <a:rPr sz="4000" spc="-540" dirty="0">
                <a:latin typeface="Verdana"/>
                <a:cs typeface="Verdana"/>
              </a:rPr>
              <a:t>1.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30" dirty="0">
                <a:latin typeface="Microsoft Sans Serif"/>
                <a:cs typeface="Microsoft Sans Serif"/>
              </a:rPr>
              <a:t>Индексируем</a:t>
            </a:r>
            <a:r>
              <a:rPr sz="4000" spc="-1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данные</a:t>
            </a:r>
            <a:r>
              <a:rPr sz="4000" spc="-15" dirty="0">
                <a:latin typeface="Microsoft Sans Serif"/>
                <a:cs typeface="Microsoft Sans Serif"/>
              </a:rPr>
              <a:t> </a:t>
            </a:r>
            <a:r>
              <a:rPr sz="4000" spc="-375" dirty="0">
                <a:latin typeface="Verdana"/>
                <a:cs typeface="Verdana"/>
              </a:rPr>
              <a:t>(2)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95450"/>
            <a:ext cx="7821295" cy="209931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20"/>
              </a:spcBef>
            </a:pPr>
            <a:r>
              <a:rPr sz="2000" b="1" dirty="0">
                <a:latin typeface="Roboto"/>
                <a:cs typeface="Roboto"/>
              </a:rPr>
              <a:t>Что</a:t>
            </a:r>
            <a:r>
              <a:rPr sz="2000" b="1" spc="-100" dirty="0">
                <a:latin typeface="Roboto"/>
                <a:cs typeface="Roboto"/>
              </a:rPr>
              <a:t> </a:t>
            </a:r>
            <a:r>
              <a:rPr sz="2000" b="1" spc="-10" dirty="0">
                <a:latin typeface="Roboto"/>
                <a:cs typeface="Roboto"/>
              </a:rPr>
              <a:t>значит</a:t>
            </a:r>
            <a:r>
              <a:rPr sz="2000" b="1" spc="-95" dirty="0">
                <a:latin typeface="Roboto"/>
                <a:cs typeface="Roboto"/>
              </a:rPr>
              <a:t> </a:t>
            </a:r>
            <a:r>
              <a:rPr sz="2000" b="1" spc="-10" dirty="0">
                <a:latin typeface="Roboto"/>
                <a:cs typeface="Roboto"/>
              </a:rPr>
              <a:t>“индексируем”?</a:t>
            </a:r>
            <a:endParaRPr sz="2000" dirty="0">
              <a:latin typeface="Roboto"/>
              <a:cs typeface="Roboto"/>
            </a:endParaRPr>
          </a:p>
          <a:p>
            <a:pPr marL="12700" marR="5080" algn="just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latin typeface="Roboto"/>
                <a:cs typeface="Roboto"/>
              </a:rPr>
              <a:t>Ищем,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обрабатываем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сохраняем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данные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таким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образом,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чтобы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потом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ним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было</a:t>
            </a:r>
            <a:r>
              <a:rPr sz="1800" spc="-25" dirty="0">
                <a:latin typeface="Roboto"/>
                <a:cs typeface="Roboto"/>
              </a:rPr>
              <a:t> удобно </a:t>
            </a:r>
            <a:r>
              <a:rPr sz="1800" spc="-10" dirty="0">
                <a:latin typeface="Roboto"/>
                <a:cs typeface="Roboto"/>
              </a:rPr>
              <a:t>искать.</a:t>
            </a:r>
            <a:endParaRPr sz="1800" dirty="0">
              <a:latin typeface="Roboto"/>
              <a:cs typeface="Roboto"/>
            </a:endParaRPr>
          </a:p>
          <a:p>
            <a:pPr marL="12700" marR="122555" algn="just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Индекси́рование,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совершаемое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поисковой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машиной,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—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процесс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сбора, </a:t>
            </a:r>
            <a:r>
              <a:rPr sz="1800" spc="-20" dirty="0">
                <a:latin typeface="Roboto"/>
                <a:cs typeface="Roboto"/>
              </a:rPr>
              <a:t>сортировки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хранения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данных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целью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обеспечить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быстрый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точный </a:t>
            </a:r>
            <a:r>
              <a:rPr sz="1800" dirty="0">
                <a:latin typeface="Roboto"/>
                <a:cs typeface="Roboto"/>
              </a:rPr>
              <a:t>поиск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информации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(то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же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самое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языке </a:t>
            </a:r>
            <a:r>
              <a:rPr sz="1800" spc="-10" dirty="0">
                <a:latin typeface="Roboto"/>
                <a:cs typeface="Roboto"/>
              </a:rPr>
              <a:t>Википедии)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68376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Шаг</a:t>
            </a:r>
            <a:r>
              <a:rPr sz="4000" spc="-150" dirty="0">
                <a:latin typeface="Microsoft Sans Serif"/>
                <a:cs typeface="Microsoft Sans Serif"/>
              </a:rPr>
              <a:t> </a:t>
            </a:r>
            <a:r>
              <a:rPr sz="4000" spc="-459" dirty="0">
                <a:latin typeface="Verdana"/>
                <a:cs typeface="Verdana"/>
              </a:rPr>
              <a:t>2.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Сохраняем</a:t>
            </a:r>
            <a:r>
              <a:rPr sz="4000" spc="-3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индекс</a:t>
            </a:r>
            <a:r>
              <a:rPr sz="4000" spc="-40" dirty="0">
                <a:latin typeface="Microsoft Sans Serif"/>
                <a:cs typeface="Microsoft Sans Serif"/>
              </a:rPr>
              <a:t> </a:t>
            </a:r>
            <a:r>
              <a:rPr sz="4000" spc="-420" dirty="0">
                <a:latin typeface="Verdana"/>
                <a:cs typeface="Verdana"/>
              </a:rPr>
              <a:t>(3)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95450"/>
            <a:ext cx="7805420" cy="222631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b="1" dirty="0">
                <a:latin typeface="Roboto"/>
                <a:cs typeface="Roboto"/>
              </a:rPr>
              <a:t>Что</a:t>
            </a:r>
            <a:r>
              <a:rPr sz="2000" b="1" spc="-105" dirty="0">
                <a:latin typeface="Roboto"/>
                <a:cs typeface="Roboto"/>
              </a:rPr>
              <a:t> </a:t>
            </a:r>
            <a:r>
              <a:rPr sz="2000" b="1" dirty="0">
                <a:latin typeface="Roboto"/>
                <a:cs typeface="Roboto"/>
              </a:rPr>
              <a:t>такое</a:t>
            </a:r>
            <a:r>
              <a:rPr sz="2000" b="1" spc="-105" dirty="0">
                <a:latin typeface="Roboto"/>
                <a:cs typeface="Roboto"/>
              </a:rPr>
              <a:t> </a:t>
            </a:r>
            <a:r>
              <a:rPr sz="2000" b="1" spc="-10" dirty="0">
                <a:latin typeface="Roboto"/>
                <a:cs typeface="Roboto"/>
              </a:rPr>
              <a:t>индекс?</a:t>
            </a:r>
            <a:endParaRPr sz="2000" dirty="0">
              <a:latin typeface="Roboto"/>
              <a:cs typeface="Roboto"/>
            </a:endParaRPr>
          </a:p>
          <a:p>
            <a:pPr marL="12700" marR="14859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результате </a:t>
            </a:r>
            <a:r>
              <a:rPr sz="1800" spc="-10" dirty="0">
                <a:latin typeface="Roboto"/>
                <a:cs typeface="Roboto"/>
              </a:rPr>
              <a:t>индексирования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получаются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структурированные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данные </a:t>
            </a:r>
            <a:r>
              <a:rPr sz="1800" dirty="0">
                <a:latin typeface="Roboto"/>
                <a:cs typeface="Roboto"/>
              </a:rPr>
              <a:t>или</a:t>
            </a:r>
            <a:r>
              <a:rPr sz="1800" spc="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индекс.</a:t>
            </a:r>
            <a:endParaRPr sz="1800" dirty="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Именно</a:t>
            </a:r>
            <a:r>
              <a:rPr sz="1800" spc="-10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этим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 err="1">
                <a:latin typeface="Roboto"/>
                <a:cs typeface="Roboto"/>
              </a:rPr>
              <a:t>данным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lang="ru-RU" sz="1800" dirty="0">
                <a:latin typeface="Roboto"/>
                <a:cs typeface="Roboto"/>
              </a:rPr>
              <a:t>—</a:t>
            </a:r>
            <a:r>
              <a:rPr lang="ru-RU" spc="-5" dirty="0">
                <a:latin typeface="Roboto"/>
                <a:cs typeface="Roboto"/>
              </a:rPr>
              <a:t> </a:t>
            </a:r>
            <a:r>
              <a:rPr sz="1800" spc="-25" dirty="0" err="1">
                <a:latin typeface="Roboto"/>
                <a:cs typeface="Roboto"/>
              </a:rPr>
              <a:t>индексу</a:t>
            </a:r>
            <a:r>
              <a:rPr sz="1800" spc="-25" dirty="0">
                <a:latin typeface="Roboto"/>
                <a:cs typeface="Roboto"/>
              </a:rPr>
              <a:t>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мы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обращаемся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время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поиска. </a:t>
            </a:r>
            <a:r>
              <a:rPr sz="1800" spc="-20" dirty="0">
                <a:latin typeface="Roboto"/>
                <a:cs typeface="Roboto"/>
              </a:rPr>
              <a:t>Исходные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данные,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которых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он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был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получен,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использовать.</a:t>
            </a:r>
            <a:endParaRPr sz="18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Почему?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Смотри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определение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индекса.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924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Шаг</a:t>
            </a:r>
            <a:r>
              <a:rPr sz="4000" spc="-195" dirty="0">
                <a:latin typeface="Microsoft Sans Serif"/>
                <a:cs typeface="Microsoft Sans Serif"/>
              </a:rPr>
              <a:t> </a:t>
            </a:r>
            <a:r>
              <a:rPr sz="4000" spc="-500" dirty="0">
                <a:latin typeface="Verdana"/>
                <a:cs typeface="Verdana"/>
              </a:rPr>
              <a:t>3.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Выбираем</a:t>
            </a:r>
            <a:r>
              <a:rPr sz="4000" spc="-65" dirty="0">
                <a:latin typeface="Microsoft Sans Serif"/>
                <a:cs typeface="Microsoft Sans Serif"/>
              </a:rPr>
              <a:t> </a:t>
            </a:r>
            <a:r>
              <a:rPr sz="4000" spc="-35" dirty="0">
                <a:latin typeface="Microsoft Sans Serif"/>
                <a:cs typeface="Microsoft Sans Serif"/>
              </a:rPr>
              <a:t>метрику</a:t>
            </a:r>
            <a:r>
              <a:rPr sz="4000" spc="-65" dirty="0">
                <a:latin typeface="Microsoft Sans Serif"/>
                <a:cs typeface="Microsoft Sans Serif"/>
              </a:rPr>
              <a:t> </a:t>
            </a:r>
            <a:r>
              <a:rPr sz="4000" spc="-25" dirty="0">
                <a:latin typeface="Microsoft Sans Serif"/>
                <a:cs typeface="Microsoft Sans Serif"/>
              </a:rPr>
              <a:t>близости</a:t>
            </a:r>
            <a:r>
              <a:rPr sz="4000" spc="-60" dirty="0">
                <a:latin typeface="Microsoft Sans Serif"/>
                <a:cs typeface="Microsoft Sans Serif"/>
              </a:rPr>
              <a:t> </a:t>
            </a:r>
            <a:r>
              <a:rPr sz="4000" spc="-295" dirty="0">
                <a:latin typeface="Verdana"/>
                <a:cs typeface="Verdana"/>
              </a:rPr>
              <a:t>(4)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95450"/>
            <a:ext cx="7011034" cy="277495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b="1" dirty="0">
                <a:latin typeface="Roboto"/>
                <a:cs typeface="Roboto"/>
              </a:rPr>
              <a:t>Что</a:t>
            </a:r>
            <a:r>
              <a:rPr sz="2000" b="1" spc="-105" dirty="0">
                <a:latin typeface="Roboto"/>
                <a:cs typeface="Roboto"/>
              </a:rPr>
              <a:t> </a:t>
            </a:r>
            <a:r>
              <a:rPr sz="2000" b="1" dirty="0">
                <a:latin typeface="Roboto"/>
                <a:cs typeface="Roboto"/>
              </a:rPr>
              <a:t>такое</a:t>
            </a:r>
            <a:r>
              <a:rPr sz="2000" b="1" spc="-105" dirty="0">
                <a:latin typeface="Roboto"/>
                <a:cs typeface="Roboto"/>
              </a:rPr>
              <a:t> </a:t>
            </a:r>
            <a:r>
              <a:rPr sz="2000" b="1" spc="-10" dirty="0">
                <a:latin typeface="Roboto"/>
                <a:cs typeface="Roboto"/>
              </a:rPr>
              <a:t>метрика?</a:t>
            </a:r>
            <a:endParaRPr sz="20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latin typeface="Roboto"/>
                <a:cs typeface="Roboto"/>
              </a:rPr>
              <a:t>Любая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(функция)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близости,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подходящая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измерения </a:t>
            </a:r>
            <a:r>
              <a:rPr sz="1800" dirty="0">
                <a:latin typeface="Roboto"/>
                <a:cs typeface="Roboto"/>
              </a:rPr>
              <a:t>схожести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тех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объектов,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которыми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мы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работаем.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Это</a:t>
            </a:r>
            <a:r>
              <a:rPr sz="1800" spc="3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может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быть:</a:t>
            </a:r>
            <a:endParaRPr sz="1800">
              <a:latin typeface="Roboto"/>
              <a:cs typeface="Roboto"/>
            </a:endParaRPr>
          </a:p>
          <a:p>
            <a:pPr marL="9264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926465" algn="l"/>
              </a:tabLst>
            </a:pPr>
            <a:r>
              <a:rPr sz="1800" dirty="0">
                <a:latin typeface="Roboto"/>
                <a:cs typeface="Roboto"/>
              </a:rPr>
              <a:t>Сумма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среднее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отклонений</a:t>
            </a:r>
            <a:endParaRPr sz="1800">
              <a:latin typeface="Roboto"/>
              <a:cs typeface="Roboto"/>
            </a:endParaRPr>
          </a:p>
          <a:p>
            <a:pPr marL="926465" indent="-456565">
              <a:lnSpc>
                <a:spcPct val="100000"/>
              </a:lnSpc>
              <a:buFont typeface="MS PGothic"/>
              <a:buChar char="❖"/>
              <a:tabLst>
                <a:tab pos="926465" algn="l"/>
              </a:tabLst>
            </a:pPr>
            <a:r>
              <a:rPr sz="1800" dirty="0">
                <a:latin typeface="Roboto"/>
                <a:cs typeface="Roboto"/>
              </a:rPr>
              <a:t>Или </a:t>
            </a:r>
            <a:r>
              <a:rPr sz="1800" spc="-25" dirty="0">
                <a:latin typeface="Roboto"/>
                <a:cs typeface="Roboto"/>
              </a:rPr>
              <a:t>квадратов</a:t>
            </a:r>
            <a:r>
              <a:rPr sz="180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отклонений</a:t>
            </a:r>
            <a:endParaRPr sz="1800">
              <a:latin typeface="Roboto"/>
              <a:cs typeface="Roboto"/>
            </a:endParaRPr>
          </a:p>
          <a:p>
            <a:pPr marL="926465" indent="-456565">
              <a:lnSpc>
                <a:spcPct val="100000"/>
              </a:lnSpc>
              <a:buFont typeface="MS PGothic"/>
              <a:buChar char="❖"/>
              <a:tabLst>
                <a:tab pos="926465" algn="l"/>
              </a:tabLst>
            </a:pPr>
            <a:r>
              <a:rPr sz="1800" spc="-10" dirty="0">
                <a:latin typeface="Roboto"/>
                <a:cs typeface="Roboto"/>
              </a:rPr>
              <a:t>Косинусная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близость</a:t>
            </a:r>
            <a:endParaRPr sz="1800">
              <a:latin typeface="Roboto"/>
              <a:cs typeface="Roboto"/>
            </a:endParaRPr>
          </a:p>
          <a:p>
            <a:pPr marL="926465" indent="-456565">
              <a:lnSpc>
                <a:spcPct val="100000"/>
              </a:lnSpc>
              <a:buFont typeface="MS PGothic"/>
              <a:buChar char="❖"/>
              <a:tabLst>
                <a:tab pos="926465" algn="l"/>
              </a:tabLst>
            </a:pPr>
            <a:r>
              <a:rPr sz="1800" dirty="0">
                <a:latin typeface="Roboto"/>
                <a:cs typeface="Roboto"/>
              </a:rPr>
              <a:t>И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т.д.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92543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Шаг</a:t>
            </a:r>
            <a:r>
              <a:rPr sz="4000" spc="-114" dirty="0">
                <a:latin typeface="Microsoft Sans Serif"/>
                <a:cs typeface="Microsoft Sans Serif"/>
              </a:rPr>
              <a:t> </a:t>
            </a:r>
            <a:r>
              <a:rPr sz="4000" spc="-300" dirty="0">
                <a:latin typeface="Verdana"/>
                <a:cs typeface="Verdana"/>
              </a:rPr>
              <a:t>4.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35" dirty="0">
                <a:latin typeface="Microsoft Sans Serif"/>
                <a:cs typeface="Microsoft Sans Serif"/>
              </a:rPr>
              <a:t>Ранжируем</a:t>
            </a:r>
            <a:r>
              <a:rPr sz="4000" spc="-25" dirty="0">
                <a:latin typeface="Microsoft Sans Serif"/>
                <a:cs typeface="Microsoft Sans Serif"/>
              </a:rPr>
              <a:t> </a:t>
            </a:r>
            <a:r>
              <a:rPr sz="4000" spc="-70" dirty="0">
                <a:latin typeface="Microsoft Sans Serif"/>
                <a:cs typeface="Microsoft Sans Serif"/>
              </a:rPr>
              <a:t>результаты</a:t>
            </a:r>
            <a:r>
              <a:rPr sz="4000" spc="-30" dirty="0">
                <a:latin typeface="Microsoft Sans Serif"/>
                <a:cs typeface="Microsoft Sans Serif"/>
              </a:rPr>
              <a:t> </a:t>
            </a:r>
            <a:r>
              <a:rPr sz="4000" spc="-355" dirty="0">
                <a:latin typeface="Verdana"/>
                <a:cs typeface="Verdana"/>
              </a:rPr>
              <a:t>(5)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95450"/>
            <a:ext cx="7816850" cy="182498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b="1" dirty="0">
                <a:latin typeface="Roboto"/>
                <a:cs typeface="Roboto"/>
              </a:rPr>
              <a:t>Что</a:t>
            </a:r>
            <a:r>
              <a:rPr sz="2000" b="1" spc="-100" dirty="0">
                <a:latin typeface="Roboto"/>
                <a:cs typeface="Roboto"/>
              </a:rPr>
              <a:t> </a:t>
            </a:r>
            <a:r>
              <a:rPr sz="2000" b="1" spc="-10" dirty="0">
                <a:latin typeface="Roboto"/>
                <a:cs typeface="Roboto"/>
              </a:rPr>
              <a:t>значит</a:t>
            </a:r>
            <a:r>
              <a:rPr sz="2000" b="1" spc="-95" dirty="0">
                <a:latin typeface="Roboto"/>
                <a:cs typeface="Roboto"/>
              </a:rPr>
              <a:t> </a:t>
            </a:r>
            <a:r>
              <a:rPr sz="2000" b="1" spc="-10" dirty="0">
                <a:latin typeface="Roboto"/>
                <a:cs typeface="Roboto"/>
              </a:rPr>
              <a:t>“ранжируем”?</a:t>
            </a:r>
            <a:endParaRPr sz="2000">
              <a:latin typeface="Roboto"/>
              <a:cs typeface="Roboto"/>
            </a:endParaRPr>
          </a:p>
          <a:p>
            <a:pPr marL="12700" marR="462280">
              <a:lnSpc>
                <a:spcPct val="100000"/>
              </a:lnSpc>
              <a:spcBef>
                <a:spcPts val="1005"/>
              </a:spcBef>
            </a:pPr>
            <a:r>
              <a:rPr sz="1800" spc="-25" dirty="0">
                <a:latin typeface="Roboto"/>
                <a:cs typeface="Roboto"/>
              </a:rPr>
              <a:t>Сортируем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соответствии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значением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метрики.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первом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месте </a:t>
            </a:r>
            <a:r>
              <a:rPr sz="1800" dirty="0">
                <a:latin typeface="Roboto"/>
                <a:cs typeface="Roboto"/>
              </a:rPr>
              <a:t>должен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оказаться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самый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релевантный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объект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запросу.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Ранжи́рование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—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сортировка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сайтов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поисковой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выдаче,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применяемая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поисковых</a:t>
            </a:r>
            <a:r>
              <a:rPr sz="1800" spc="-20" dirty="0">
                <a:latin typeface="Roboto"/>
                <a:cs typeface="Roboto"/>
              </a:rPr>
              <a:t> системах </a:t>
            </a:r>
            <a:r>
              <a:rPr sz="1800" dirty="0">
                <a:latin typeface="Roboto"/>
                <a:cs typeface="Roboto"/>
              </a:rPr>
              <a:t>(и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снова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мнение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википедии).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6239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Прямой</a:t>
            </a:r>
            <a:r>
              <a:rPr sz="4000" spc="-25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индекс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457556"/>
            <a:ext cx="5133975" cy="2981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состоящий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нескольких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текстов:</a:t>
            </a:r>
            <a:endParaRPr sz="1800">
              <a:latin typeface="Roboto"/>
              <a:cs typeface="Roboto"/>
            </a:endParaRPr>
          </a:p>
          <a:p>
            <a:pPr marL="12700" marR="1655445">
              <a:lnSpc>
                <a:spcPct val="146300"/>
              </a:lnSpc>
            </a:pPr>
            <a:r>
              <a:rPr sz="1800" i="1" spc="-20" dirty="0">
                <a:latin typeface="Roboto"/>
                <a:cs typeface="Roboto"/>
              </a:rPr>
              <a:t>doc_1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45" dirty="0">
                <a:latin typeface="Roboto"/>
                <a:cs typeface="Roboto"/>
              </a:rPr>
              <a:t>Буря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мглою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небо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кроет </a:t>
            </a:r>
            <a:r>
              <a:rPr sz="1800" i="1" spc="-20" dirty="0">
                <a:latin typeface="Roboto"/>
                <a:cs typeface="Roboto"/>
              </a:rPr>
              <a:t>doc_2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Вихри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снежные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крутя doc_3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35" dirty="0">
                <a:latin typeface="Roboto"/>
                <a:cs typeface="Roboto"/>
              </a:rPr>
              <a:t>То,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как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зверь,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она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30" dirty="0">
                <a:latin typeface="Roboto"/>
                <a:cs typeface="Roboto"/>
              </a:rPr>
              <a:t>завоет </a:t>
            </a:r>
            <a:r>
              <a:rPr sz="1800" i="1" spc="-20" dirty="0">
                <a:latin typeface="Roboto"/>
                <a:cs typeface="Roboto"/>
              </a:rPr>
              <a:t>doc_4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spc="-50" dirty="0">
                <a:latin typeface="Roboto"/>
                <a:cs typeface="Roboto"/>
              </a:rPr>
              <a:t>То</a:t>
            </a:r>
            <a:r>
              <a:rPr sz="1800" i="1" spc="-55" dirty="0">
                <a:latin typeface="Roboto"/>
                <a:cs typeface="Roboto"/>
              </a:rPr>
              <a:t> </a:t>
            </a:r>
            <a:r>
              <a:rPr sz="1800" i="1" spc="-35" dirty="0">
                <a:latin typeface="Roboto"/>
                <a:cs typeface="Roboto"/>
              </a:rPr>
              <a:t>заплачет,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как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дитя</a:t>
            </a:r>
            <a:endParaRPr sz="1800">
              <a:latin typeface="Roboto"/>
              <a:cs typeface="Roboto"/>
            </a:endParaRPr>
          </a:p>
          <a:p>
            <a:pPr marL="12700" marR="2540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Прямой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ставит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каждому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документу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в </a:t>
            </a:r>
            <a:r>
              <a:rPr sz="1800" spc="-25" dirty="0">
                <a:latin typeface="Roboto"/>
                <a:cs typeface="Roboto"/>
              </a:rPr>
              <a:t>соответствие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слова,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содержащиеся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нем.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Например,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виде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списка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40593"/>
              </p:ext>
            </p:extLst>
          </p:nvPr>
        </p:nvGraphicFramePr>
        <p:xfrm>
          <a:off x="6661574" y="3041960"/>
          <a:ext cx="4752340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9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Документ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 err="1">
                          <a:latin typeface="Courier New"/>
                          <a:cs typeface="Courier New"/>
                        </a:rPr>
                        <a:t>Спис</a:t>
                      </a:r>
                      <a:r>
                        <a:rPr lang="ru-RU" sz="1400" dirty="0">
                          <a:latin typeface="Courier New"/>
                          <a:cs typeface="Courier New"/>
                        </a:rPr>
                        <a:t>о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0" dirty="0">
                          <a:latin typeface="Courier New"/>
                          <a:cs typeface="Courier New"/>
                        </a:rPr>
                        <a:t>слов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буря,</a:t>
                      </a:r>
                      <a:r>
                        <a:rPr sz="14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кроет,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мглою,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вихри,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крутя,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завоет,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зверь,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как,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она,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то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дитя,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заплачет,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как,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то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27525" y="4093735"/>
          <a:ext cx="6764015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буря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мглою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кроет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вихри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крутя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72275" y="3095130"/>
            <a:ext cx="1747520" cy="347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виде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словаря: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400" spc="-50" dirty="0"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"буря":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"doc_1"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"то":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927100" marR="15367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"doc_3", "doc_4"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0" dirty="0">
                <a:latin typeface="Microsoft Sans Serif"/>
                <a:cs typeface="Microsoft Sans Serif"/>
              </a:rPr>
              <a:t>"как":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927100" marR="15367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"doc_3", "doc_4"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111125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...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3875" y="3095130"/>
            <a:ext cx="3521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виде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65" dirty="0">
                <a:latin typeface="Roboto"/>
                <a:cs typeface="Roboto"/>
              </a:rPr>
              <a:t>Document-</a:t>
            </a:r>
            <a:r>
              <a:rPr sz="1800" spc="-20" dirty="0">
                <a:latin typeface="Roboto"/>
                <a:cs typeface="Roboto"/>
              </a:rPr>
              <a:t>Term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матрицы: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7050" y="1465205"/>
            <a:ext cx="9563735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Обратный</a:t>
            </a:r>
            <a:r>
              <a:rPr sz="4000" spc="-15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индекс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2155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обратном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каждому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ставится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соответствие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набор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документов,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оно встречается.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Может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представлен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(как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прямой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индекс):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10384790" cy="3738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И</a:t>
            </a:r>
            <a:r>
              <a:rPr sz="4000" spc="-9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другие</a:t>
            </a:r>
            <a:r>
              <a:rPr sz="4000" spc="-9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индексы</a:t>
            </a:r>
            <a:r>
              <a:rPr sz="4000" spc="-10" dirty="0">
                <a:latin typeface="Verdana"/>
                <a:cs typeface="Verdana"/>
              </a:rPr>
              <a:t>…</a:t>
            </a:r>
            <a:endParaRPr sz="4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55"/>
              </a:spcBef>
            </a:pPr>
            <a:r>
              <a:rPr sz="1800" dirty="0">
                <a:latin typeface="Roboto"/>
                <a:cs typeface="Roboto"/>
              </a:rPr>
              <a:t>При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выборе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индекса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важно</a:t>
            </a:r>
            <a:r>
              <a:rPr sz="1800" spc="-35" dirty="0">
                <a:latin typeface="Roboto"/>
                <a:cs typeface="Roboto"/>
              </a:rPr>
              <a:t> учитывать </a:t>
            </a:r>
            <a:r>
              <a:rPr sz="1800" spc="-10" dirty="0">
                <a:latin typeface="Roboto"/>
                <a:cs typeface="Roboto"/>
              </a:rPr>
              <a:t>следующие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характеристики:</a:t>
            </a:r>
            <a:endParaRPr sz="1800" dirty="0">
              <a:latin typeface="Roboto"/>
              <a:cs typeface="Roboto"/>
            </a:endParaRPr>
          </a:p>
          <a:p>
            <a:pPr marL="469900" marR="74803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spc="-25" dirty="0">
                <a:latin typeface="Roboto"/>
                <a:cs typeface="Roboto"/>
              </a:rPr>
              <a:t>Быстродействие: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как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долго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выполняется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(почему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важно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 err="1">
                <a:latin typeface="Roboto"/>
                <a:cs typeface="Roboto"/>
              </a:rPr>
              <a:t>время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 err="1">
                <a:latin typeface="Roboto"/>
                <a:cs typeface="Roboto"/>
              </a:rPr>
              <a:t>построени</a:t>
            </a:r>
            <a:r>
              <a:rPr lang="ru-RU" sz="1800" spc="-10" dirty="0">
                <a:latin typeface="Roboto"/>
                <a:cs typeface="Roboto"/>
              </a:rPr>
              <a:t>я</a:t>
            </a:r>
            <a:r>
              <a:rPr sz="1800" spc="-10" dirty="0">
                <a:latin typeface="Roboto"/>
                <a:cs typeface="Roboto"/>
              </a:rPr>
              <a:t> индекса?)</a:t>
            </a:r>
            <a:endParaRPr sz="1800" dirty="0">
              <a:latin typeface="Roboto"/>
              <a:cs typeface="Roboto"/>
            </a:endParaRPr>
          </a:p>
          <a:p>
            <a:pPr marL="469900" marR="508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spc="-30" dirty="0">
                <a:latin typeface="Roboto"/>
                <a:cs typeface="Roboto"/>
              </a:rPr>
              <a:t>Отказоустойчивость: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насколько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легко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случайно/специально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сломать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систему,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как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она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себя </a:t>
            </a:r>
            <a:r>
              <a:rPr sz="1800" spc="-10" dirty="0">
                <a:latin typeface="Roboto"/>
                <a:cs typeface="Roboto"/>
              </a:rPr>
              <a:t>ведет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случае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поломки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Объем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памяти: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чаще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нас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ограничения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количеству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памяти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сервере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20" dirty="0">
                <a:latin typeface="Roboto"/>
                <a:cs typeface="Roboto"/>
              </a:rPr>
              <a:t>Простота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поддержки: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насколько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легко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удалять/добавлять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элементы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Универсальность: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использовать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повторно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других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задачах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10346055" cy="420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110" dirty="0">
                <a:latin typeface="Verdana"/>
                <a:cs typeface="Verdana"/>
              </a:rPr>
              <a:t>ML</a:t>
            </a:r>
            <a:r>
              <a:rPr sz="4000" spc="-355" dirty="0">
                <a:latin typeface="Verdana"/>
                <a:cs typeface="Verdana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постановка</a:t>
            </a:r>
            <a:r>
              <a:rPr sz="4000" spc="-70" dirty="0">
                <a:latin typeface="Microsoft Sans Serif"/>
                <a:cs typeface="Microsoft Sans Serif"/>
              </a:rPr>
              <a:t> </a:t>
            </a:r>
            <a:r>
              <a:rPr sz="4000" spc="-190" dirty="0">
                <a:latin typeface="Microsoft Sans Serif"/>
                <a:cs typeface="Microsoft Sans Serif"/>
              </a:rPr>
              <a:t>задачи</a:t>
            </a:r>
            <a:r>
              <a:rPr sz="4000" spc="-19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85" dirty="0">
                <a:latin typeface="Verdana"/>
                <a:cs typeface="Verdana"/>
              </a:rPr>
              <a:t>Document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10" dirty="0">
                <a:latin typeface="Verdana"/>
                <a:cs typeface="Verdana"/>
              </a:rPr>
              <a:t>Ranking</a:t>
            </a:r>
            <a:endParaRPr sz="4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sz="1900" b="1" dirty="0">
                <a:solidFill>
                  <a:srgbClr val="2A2A2A"/>
                </a:solidFill>
                <a:latin typeface="Arial"/>
                <a:cs typeface="Arial"/>
              </a:rPr>
              <a:t>У</a:t>
            </a:r>
            <a:r>
              <a:rPr sz="1900" b="1" spc="-114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2A2A"/>
                </a:solidFill>
                <a:latin typeface="Arial"/>
                <a:cs typeface="Arial"/>
              </a:rPr>
              <a:t>нас</a:t>
            </a:r>
            <a:r>
              <a:rPr sz="1900" b="1" spc="-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2A2A"/>
                </a:solidFill>
                <a:latin typeface="Arial"/>
                <a:cs typeface="Arial"/>
              </a:rPr>
              <a:t>есть</a:t>
            </a:r>
            <a:r>
              <a:rPr sz="1900" b="1" spc="-1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2A2A2A"/>
                </a:solidFill>
                <a:latin typeface="Arial"/>
                <a:cs typeface="Arial"/>
              </a:rPr>
              <a:t>данные:</a:t>
            </a:r>
            <a:endParaRPr sz="1900" dirty="0">
              <a:latin typeface="Arial"/>
              <a:cs typeface="Arial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Char char="●"/>
              <a:tabLst>
                <a:tab pos="469265" algn="l"/>
              </a:tabLst>
            </a:pPr>
            <a:r>
              <a:rPr lang="ru-RU"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Список</a:t>
            </a:r>
            <a:r>
              <a:rPr lang="ru-RU"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документов</a:t>
            </a:r>
            <a:endParaRPr lang="ru-RU" sz="1900" dirty="0">
              <a:latin typeface="Microsoft Sans Serif"/>
              <a:cs typeface="Microsoft Sans Serif"/>
            </a:endParaRPr>
          </a:p>
          <a:p>
            <a:pPr marL="469265" indent="-374015">
              <a:lnSpc>
                <a:spcPct val="100000"/>
              </a:lnSpc>
              <a:spcBef>
                <a:spcPts val="345"/>
              </a:spcBef>
              <a:buChar char="●"/>
              <a:tabLst>
                <a:tab pos="469265" algn="l"/>
              </a:tabLst>
            </a:pPr>
            <a:r>
              <a:rPr lang="ru-RU"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Список</a:t>
            </a:r>
            <a:r>
              <a:rPr lang="ru-RU"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запросов</a:t>
            </a:r>
            <a:endParaRPr lang="ru-RU" sz="1900" dirty="0">
              <a:latin typeface="Microsoft Sans Serif"/>
              <a:cs typeface="Microsoft Sans Serif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Char char="●"/>
              <a:tabLst>
                <a:tab pos="469265" algn="l"/>
              </a:tabLst>
            </a:pPr>
            <a:r>
              <a:rPr lang="ru-RU"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Тройки </a:t>
            </a:r>
            <a:r>
              <a:rPr lang="ru-RU"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вида</a:t>
            </a:r>
            <a:r>
              <a:rPr lang="ru-RU"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140" dirty="0">
                <a:solidFill>
                  <a:srgbClr val="2A2A2A"/>
                </a:solidFill>
                <a:latin typeface="Arial MT"/>
                <a:cs typeface="Arial MT"/>
              </a:rPr>
              <a:t>(q,</a:t>
            </a:r>
            <a:r>
              <a:rPr lang="ru-RU"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254" dirty="0">
                <a:solidFill>
                  <a:srgbClr val="2A2A2A"/>
                </a:solidFill>
                <a:latin typeface="Arial MT"/>
                <a:cs typeface="Arial MT"/>
              </a:rPr>
              <a:t>d1,</a:t>
            </a:r>
            <a:r>
              <a:rPr lang="ru-RU"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145" dirty="0">
                <a:solidFill>
                  <a:srgbClr val="2A2A2A"/>
                </a:solidFill>
                <a:latin typeface="Arial MT"/>
                <a:cs typeface="Arial MT"/>
              </a:rPr>
              <a:t>d2),</a:t>
            </a:r>
            <a:r>
              <a:rPr lang="ru-RU"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где</a:t>
            </a:r>
            <a:r>
              <a:rPr lang="ru-RU"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70" dirty="0">
                <a:solidFill>
                  <a:srgbClr val="2A2A2A"/>
                </a:solidFill>
                <a:latin typeface="Arial MT"/>
                <a:cs typeface="Arial MT"/>
              </a:rPr>
              <a:t>q</a:t>
            </a:r>
            <a:r>
              <a:rPr lang="ru-RU"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2000" dirty="0">
                <a:latin typeface="Roboto"/>
                <a:cs typeface="Roboto"/>
              </a:rPr>
              <a:t>—</a:t>
            </a:r>
            <a:r>
              <a:rPr lang="ru-RU"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</a:t>
            </a:r>
            <a:r>
              <a:rPr lang="ru-RU"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запрос</a:t>
            </a:r>
            <a:r>
              <a:rPr lang="ru-RU" sz="1900" spc="-6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lang="ru-RU"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270" dirty="0">
                <a:solidFill>
                  <a:srgbClr val="2A2A2A"/>
                </a:solidFill>
                <a:latin typeface="Arial MT"/>
                <a:cs typeface="Arial MT"/>
              </a:rPr>
              <a:t>d1</a:t>
            </a:r>
            <a:r>
              <a:rPr lang="ru-RU"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2000" dirty="0">
                <a:latin typeface="Roboto"/>
                <a:cs typeface="Roboto"/>
              </a:rPr>
              <a:t>—</a:t>
            </a:r>
            <a:r>
              <a:rPr lang="ru-RU"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более</a:t>
            </a:r>
            <a:r>
              <a:rPr lang="ru-RU"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релевантный</a:t>
            </a:r>
            <a:r>
              <a:rPr lang="ru-RU"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запросу</a:t>
            </a:r>
            <a:r>
              <a:rPr lang="ru-RU"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</a:t>
            </a:r>
            <a:r>
              <a:rPr lang="ru-RU" sz="1900" spc="-5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lang="ru-RU"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114" dirty="0">
                <a:solidFill>
                  <a:srgbClr val="2A2A2A"/>
                </a:solidFill>
                <a:latin typeface="Arial MT"/>
                <a:cs typeface="Arial MT"/>
              </a:rPr>
              <a:t>d2</a:t>
            </a:r>
            <a:r>
              <a:rPr lang="ru-RU"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1900" spc="-50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endParaRPr lang="ru-RU" sz="19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45"/>
              </a:spcBef>
            </a:pPr>
            <a:r>
              <a:rPr lang="ru-RU"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менее</a:t>
            </a:r>
            <a:r>
              <a:rPr lang="ru-RU" sz="1900" spc="-10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релевантный</a:t>
            </a:r>
            <a:r>
              <a:rPr lang="ru-RU" sz="1900" spc="-1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endParaRPr lang="ru-RU"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00" b="1" spc="-10" dirty="0">
                <a:solidFill>
                  <a:srgbClr val="2A2A2A"/>
                </a:solidFill>
                <a:latin typeface="Arial"/>
                <a:cs typeface="Arial"/>
              </a:rPr>
              <a:t>Задача:</a:t>
            </a:r>
            <a:endParaRPr sz="1900" dirty="0">
              <a:latin typeface="Arial"/>
              <a:cs typeface="Arial"/>
            </a:endParaRPr>
          </a:p>
          <a:p>
            <a:pPr marL="12700" marR="821055" algn="just">
              <a:lnSpc>
                <a:spcPct val="114999"/>
              </a:lnSpc>
            </a:pP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каждого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A2A2A"/>
                </a:solidFill>
                <a:latin typeface="Arial MT"/>
                <a:cs typeface="Arial MT"/>
              </a:rPr>
              <a:t>q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упорядочить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документы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35" dirty="0">
                <a:solidFill>
                  <a:srgbClr val="2A2A2A"/>
                </a:solidFill>
                <a:latin typeface="Arial MT"/>
                <a:cs typeface="Arial MT"/>
              </a:rPr>
              <a:t>d1…dn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</a:t>
            </a:r>
            <a:r>
              <a:rPr sz="1900" spc="-9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чтобы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точнее</a:t>
            </a:r>
            <a:r>
              <a:rPr sz="1900" spc="-1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соответствовало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соотношениям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5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тройках</a:t>
            </a:r>
            <a:r>
              <a:rPr sz="1900" spc="-5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90" dirty="0" err="1">
                <a:solidFill>
                  <a:srgbClr val="2A2A2A"/>
                </a:solidFill>
                <a:latin typeface="Microsoft Sans Serif"/>
                <a:cs typeface="Microsoft Sans Serif"/>
              </a:rPr>
              <a:t>То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 err="1">
                <a:solidFill>
                  <a:srgbClr val="2A2A2A"/>
                </a:solidFill>
                <a:latin typeface="Microsoft Sans Serif"/>
                <a:cs typeface="Microsoft Sans Serif"/>
              </a:rPr>
              <a:t>есть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нужна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6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которая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" dirty="0">
                <a:solidFill>
                  <a:srgbClr val="2A2A2A"/>
                </a:solidFill>
                <a:latin typeface="Microsoft Sans Serif"/>
                <a:cs typeface="Microsoft Sans Serif"/>
              </a:rPr>
              <a:t>дл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менее</a:t>
            </a:r>
            <a:r>
              <a:rPr sz="1900" spc="-1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релевантного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5" dirty="0">
                <a:solidFill>
                  <a:srgbClr val="2A2A2A"/>
                </a:solidFill>
                <a:latin typeface="Microsoft Sans Serif"/>
                <a:cs typeface="Microsoft Sans Serif"/>
              </a:rPr>
              <a:t>выдаст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5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меньшую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оценку</a:t>
            </a:r>
            <a:r>
              <a:rPr sz="1900" spc="-6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4399" y="1465205"/>
            <a:ext cx="10202545" cy="440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sz="4000" spc="-75" dirty="0">
                <a:latin typeface="Microsoft Sans Serif"/>
                <a:cs typeface="Microsoft Sans Serif"/>
              </a:rPr>
              <a:t>Другая</a:t>
            </a:r>
            <a:r>
              <a:rPr sz="4000" spc="-19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постановка</a:t>
            </a:r>
            <a:r>
              <a:rPr sz="4000" spc="-229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задачи</a:t>
            </a:r>
            <a:endParaRPr sz="4000" dirty="0">
              <a:latin typeface="Microsoft Sans Serif"/>
              <a:cs typeface="Microsoft Sans Serif"/>
            </a:endParaRPr>
          </a:p>
          <a:p>
            <a:pPr marL="24765" marR="412115">
              <a:lnSpc>
                <a:spcPct val="114999"/>
              </a:lnSpc>
              <a:spcBef>
                <a:spcPts val="2425"/>
              </a:spcBef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парами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документов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неудобно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работать</a:t>
            </a:r>
            <a:r>
              <a:rPr sz="1900" spc="-50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непонятно</a:t>
            </a:r>
            <a:r>
              <a:rPr sz="1900" spc="-3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формализовать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такой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формат данных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функции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потерь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900" dirty="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</a:pP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Будем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работать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35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другому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900" dirty="0">
              <a:latin typeface="Arial MT"/>
              <a:cs typeface="Arial MT"/>
            </a:endParaRPr>
          </a:p>
          <a:p>
            <a:pPr marL="481965" indent="-469265">
              <a:lnSpc>
                <a:spcPct val="100000"/>
              </a:lnSpc>
              <a:buFont typeface="MS PGothic"/>
              <a:buChar char="❖"/>
              <a:tabLst>
                <a:tab pos="481965" algn="l"/>
              </a:tabLst>
            </a:pP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Объекты</a:t>
            </a:r>
            <a:r>
              <a:rPr sz="1900" spc="-55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пары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из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запроса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документа</a:t>
            </a:r>
            <a:endParaRPr sz="1900" dirty="0">
              <a:latin typeface="Microsoft Sans Serif"/>
              <a:cs typeface="Microsoft Sans Serif"/>
            </a:endParaRPr>
          </a:p>
          <a:p>
            <a:pPr marL="481965" marR="107950" indent="-469900">
              <a:lnSpc>
                <a:spcPct val="114999"/>
              </a:lnSpc>
              <a:buFont typeface="MS PGothic"/>
              <a:buChar char="❖"/>
              <a:tabLst>
                <a:tab pos="481965" algn="l"/>
              </a:tabLst>
            </a:pP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Ответы</a:t>
            </a:r>
            <a:r>
              <a:rPr sz="1900" spc="-55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такие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числа</a:t>
            </a:r>
            <a:r>
              <a:rPr sz="1900" spc="-5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большему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 err="1">
                <a:solidFill>
                  <a:srgbClr val="2A2A2A"/>
                </a:solidFill>
                <a:latin typeface="Microsoft Sans Serif"/>
                <a:cs typeface="Microsoft Sans Serif"/>
              </a:rPr>
              <a:t>числу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lang="ru-RU"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соответствует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большая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релевантность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(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должна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соответствовать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большая</a:t>
            </a:r>
            <a:r>
              <a:rPr sz="1900" spc="-4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обязательно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такая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же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оценка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от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)</a:t>
            </a:r>
            <a:endParaRPr sz="1900" dirty="0">
              <a:latin typeface="Arial MT"/>
              <a:cs typeface="Arial MT"/>
            </a:endParaRPr>
          </a:p>
          <a:p>
            <a:pPr marL="24765" marR="5080">
              <a:lnSpc>
                <a:spcPct val="114999"/>
              </a:lnSpc>
              <a:spcBef>
                <a:spcPts val="2100"/>
              </a:spcBef>
            </a:pP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Фактически</a:t>
            </a:r>
            <a:r>
              <a:rPr sz="1900" spc="-7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вместо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того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чтобы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руками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определить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меру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релевантности</a:t>
            </a:r>
            <a:r>
              <a:rPr sz="1900" spc="-3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учим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этого модель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10243820" cy="406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Варианты</a:t>
            </a:r>
            <a:r>
              <a:rPr sz="4000" spc="-15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задачи</a:t>
            </a:r>
            <a:endParaRPr sz="4000">
              <a:latin typeface="Microsoft Sans Serif"/>
              <a:cs typeface="Microsoft Sans Serif"/>
            </a:endParaRPr>
          </a:p>
          <a:p>
            <a:pPr marL="440690" indent="-343535">
              <a:lnSpc>
                <a:spcPct val="100000"/>
              </a:lnSpc>
              <a:spcBef>
                <a:spcPts val="2765"/>
              </a:spcBef>
              <a:buAutoNum type="arabicPeriod"/>
              <a:tabLst>
                <a:tab pos="440690" algn="l"/>
              </a:tabLst>
            </a:pPr>
            <a:r>
              <a:rPr sz="1900" spc="-75" dirty="0">
                <a:solidFill>
                  <a:srgbClr val="2A2A2A"/>
                </a:solidFill>
                <a:latin typeface="Arial MT"/>
                <a:cs typeface="Arial MT"/>
              </a:rPr>
              <a:t>Pointwise</a:t>
            </a:r>
            <a:r>
              <a:rPr sz="1900" spc="-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(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поточечная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):</a:t>
            </a:r>
            <a:endParaRPr sz="1900">
              <a:latin typeface="Arial MT"/>
              <a:cs typeface="Arial MT"/>
            </a:endParaRPr>
          </a:p>
          <a:p>
            <a:pPr marL="897890" lvl="1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897890" algn="l"/>
              </a:tabLst>
            </a:pP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Предсказываем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конкретное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число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  <a:p>
            <a:pPr marL="897890" lvl="1" indent="-469265">
              <a:lnSpc>
                <a:spcPct val="100000"/>
              </a:lnSpc>
              <a:spcBef>
                <a:spcPts val="345"/>
              </a:spcBef>
              <a:buFont typeface="MS PGothic"/>
              <a:buChar char="➢"/>
              <a:tabLst>
                <a:tab pos="897890" algn="l"/>
              </a:tabLst>
            </a:pP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использовать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любую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задачи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регрессии</a:t>
            </a:r>
            <a:endParaRPr sz="1900">
              <a:latin typeface="Microsoft Sans Serif"/>
              <a:cs typeface="Microsoft Sans Serif"/>
            </a:endParaRPr>
          </a:p>
          <a:p>
            <a:pPr marL="897890" lvl="1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897890" algn="l"/>
              </a:tabLst>
            </a:pP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Проблема</a:t>
            </a:r>
            <a:r>
              <a:rPr sz="1900" spc="-55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r>
              <a:rPr sz="1900" spc="-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никак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учитывается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порядок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относительность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оценок</a:t>
            </a:r>
            <a:endParaRPr sz="1900">
              <a:latin typeface="Microsoft Sans Serif"/>
              <a:cs typeface="Microsoft Sans Serif"/>
            </a:endParaRPr>
          </a:p>
          <a:p>
            <a:pPr marL="440690" indent="-384175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440690" algn="l"/>
              </a:tabLst>
            </a:pPr>
            <a:r>
              <a:rPr sz="1900" spc="-100" dirty="0">
                <a:solidFill>
                  <a:srgbClr val="2A2A2A"/>
                </a:solidFill>
                <a:latin typeface="Arial MT"/>
                <a:cs typeface="Arial MT"/>
              </a:rPr>
              <a:t>Pairwise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(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попарная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):</a:t>
            </a:r>
            <a:endParaRPr sz="1900">
              <a:latin typeface="Arial MT"/>
              <a:cs typeface="Arial MT"/>
            </a:endParaRPr>
          </a:p>
          <a:p>
            <a:pPr marL="898525" marR="5080" lvl="1" indent="-469900">
              <a:lnSpc>
                <a:spcPct val="114999"/>
              </a:lnSpc>
              <a:buFont typeface="MS PGothic"/>
              <a:buChar char="➢"/>
              <a:tabLst>
                <a:tab pos="898525" algn="l"/>
              </a:tabLst>
            </a:pP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Предсказываем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конкретное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число</a:t>
            </a:r>
            <a:r>
              <a:rPr sz="1900" spc="-5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учимся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парах</a:t>
            </a:r>
            <a:r>
              <a:rPr sz="1900" spc="-45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штрафуем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неправильную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разницу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паре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предсказаний</a:t>
            </a:r>
            <a:endParaRPr sz="1900">
              <a:latin typeface="Microsoft Sans Serif"/>
              <a:cs typeface="Microsoft Sans Serif"/>
            </a:endParaRPr>
          </a:p>
          <a:p>
            <a:pPr marL="897890" lvl="1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897890" algn="l"/>
              </a:tabLst>
            </a:pP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Сложнее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постановка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задачи</a:t>
            </a:r>
            <a:r>
              <a:rPr sz="1900" spc="-6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сложнее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оптимизировать</a:t>
            </a:r>
            <a:endParaRPr sz="1900">
              <a:latin typeface="Microsoft Sans Serif"/>
              <a:cs typeface="Microsoft Sans Serif"/>
            </a:endParaRPr>
          </a:p>
          <a:p>
            <a:pPr marL="897890" lvl="1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897890" algn="l"/>
              </a:tabLst>
            </a:pP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Обычно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дает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более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высокое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качество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412" y="3103012"/>
            <a:ext cx="4161413" cy="1008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425" y="4941570"/>
            <a:ext cx="7636397" cy="1096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432" y="6132297"/>
            <a:ext cx="2624191" cy="398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25625" y="1177539"/>
            <a:ext cx="8081645" cy="2011045"/>
          </a:xfrm>
          <a:prstGeom prst="rect">
            <a:avLst/>
          </a:prstGeom>
        </p:spPr>
        <p:txBody>
          <a:bodyPr vert="horz" wrap="square" lIns="0" tIns="300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65"/>
              </a:spcBef>
            </a:pPr>
            <a:r>
              <a:rPr sz="4000" spc="-10" dirty="0">
                <a:latin typeface="Verdana"/>
                <a:cs typeface="Verdana"/>
              </a:rPr>
              <a:t>Pairwise</a:t>
            </a:r>
            <a:r>
              <a:rPr sz="4000" spc="-285" dirty="0">
                <a:latin typeface="Verdana"/>
                <a:cs typeface="Verdana"/>
              </a:rPr>
              <a:t> </a:t>
            </a:r>
            <a:r>
              <a:rPr sz="4000" spc="-20" dirty="0">
                <a:latin typeface="Verdana"/>
                <a:cs typeface="Verdana"/>
              </a:rPr>
              <a:t>Loss</a:t>
            </a:r>
            <a:endParaRPr sz="4000" dirty="0">
              <a:latin typeface="Verdana"/>
              <a:cs typeface="Verdana"/>
            </a:endParaRPr>
          </a:p>
          <a:p>
            <a:pPr marL="41275">
              <a:lnSpc>
                <a:spcPct val="100000"/>
              </a:lnSpc>
              <a:spcBef>
                <a:spcPts val="790"/>
              </a:spcBef>
            </a:pPr>
            <a:r>
              <a:rPr sz="14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Источник</a:t>
            </a:r>
            <a:r>
              <a:rPr sz="1400" spc="2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формул</a:t>
            </a:r>
            <a:r>
              <a:rPr sz="1400" spc="-35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r>
              <a:rPr sz="1400" spc="2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2A2A2A"/>
                </a:solidFill>
                <a:latin typeface="Arial MT"/>
                <a:cs typeface="Arial MT"/>
              </a:rPr>
              <a:t>https://github.com/hse-ds/iad-intro-</a:t>
            </a:r>
            <a:r>
              <a:rPr sz="1400" spc="-35" dirty="0">
                <a:solidFill>
                  <a:srgbClr val="2A2A2A"/>
                </a:solidFill>
                <a:latin typeface="Arial MT"/>
                <a:cs typeface="Arial MT"/>
              </a:rPr>
              <a:t>ds/blob/master/2023/lectures/lecture18-</a:t>
            </a:r>
            <a:r>
              <a:rPr sz="1400" spc="-10" dirty="0">
                <a:solidFill>
                  <a:srgbClr val="2A2A2A"/>
                </a:solidFill>
                <a:latin typeface="Arial MT"/>
                <a:cs typeface="Arial MT"/>
              </a:rPr>
              <a:t>ranking.pdf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400" dirty="0">
              <a:latin typeface="Arial MT"/>
              <a:cs typeface="Arial MT"/>
            </a:endParaRPr>
          </a:p>
          <a:p>
            <a:pPr marL="41275" marR="3797935">
              <a:lnSpc>
                <a:spcPct val="100000"/>
              </a:lnSpc>
            </a:pPr>
            <a:r>
              <a:rPr sz="18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Сначала</a:t>
            </a:r>
            <a:r>
              <a:rPr sz="18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запишем</a:t>
            </a:r>
            <a:r>
              <a:rPr sz="18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8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том</a:t>
            </a:r>
            <a:r>
              <a:rPr sz="18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виде</a:t>
            </a:r>
            <a:r>
              <a:rPr sz="1800" spc="-5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8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8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котором сформулировали</a:t>
            </a:r>
            <a:r>
              <a:rPr sz="1800" spc="-10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4449" y="4266543"/>
            <a:ext cx="748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Неприятно</a:t>
            </a:r>
            <a:r>
              <a:rPr sz="1800" spc="-3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8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</a:t>
            </a:r>
            <a:r>
              <a:rPr sz="18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полученная</a:t>
            </a:r>
            <a:r>
              <a:rPr sz="18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штука</a:t>
            </a:r>
            <a:r>
              <a:rPr sz="18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дискретна</a:t>
            </a:r>
            <a:r>
              <a:rPr sz="18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8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производную</a:t>
            </a:r>
            <a:r>
              <a:rPr sz="18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посчитать </a:t>
            </a:r>
            <a:r>
              <a:rPr sz="18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8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получится</a:t>
            </a:r>
            <a:r>
              <a:rPr sz="1800" spc="-4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r>
              <a:rPr sz="18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Сделаем</a:t>
            </a:r>
            <a:r>
              <a:rPr sz="18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</a:t>
            </a:r>
            <a:r>
              <a:rPr sz="1800" spc="-95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8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чтобы</a:t>
            </a:r>
            <a:r>
              <a:rPr sz="18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A2A2A"/>
                </a:solidFill>
                <a:latin typeface="Microsoft Sans Serif"/>
                <a:cs typeface="Microsoft Sans Serif"/>
              </a:rPr>
              <a:t>было</a:t>
            </a:r>
            <a:r>
              <a:rPr sz="18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</a:t>
            </a:r>
            <a:r>
              <a:rPr sz="1800" spc="-10" dirty="0">
                <a:solidFill>
                  <a:srgbClr val="2A2A2A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70225" y="2707975"/>
            <a:ext cx="2941955" cy="2446020"/>
            <a:chOff x="8770225" y="2707975"/>
            <a:chExt cx="2941955" cy="244602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0225" y="2707975"/>
              <a:ext cx="2941676" cy="24457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8970" y="2739323"/>
              <a:ext cx="2624191" cy="398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10323195" cy="4691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70" dirty="0">
                <a:latin typeface="Microsoft Sans Serif"/>
                <a:cs typeface="Microsoft Sans Serif"/>
              </a:rPr>
              <a:t>Метрики</a:t>
            </a:r>
            <a:r>
              <a:rPr sz="4000" spc="-170" dirty="0">
                <a:latin typeface="Verdana"/>
                <a:cs typeface="Verdana"/>
              </a:rPr>
              <a:t>:</a:t>
            </a:r>
            <a:r>
              <a:rPr sz="4000" spc="-285" dirty="0">
                <a:latin typeface="Verdana"/>
                <a:cs typeface="Verdana"/>
              </a:rPr>
              <a:t> </a:t>
            </a:r>
            <a:r>
              <a:rPr sz="4000" spc="-10" dirty="0">
                <a:latin typeface="Verdana"/>
                <a:cs typeface="Verdana"/>
              </a:rPr>
              <a:t>Precision</a:t>
            </a:r>
            <a:endParaRPr sz="4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1900" spc="-65" dirty="0">
                <a:solidFill>
                  <a:srgbClr val="2A2A2A"/>
                </a:solidFill>
                <a:latin typeface="Arial MT"/>
                <a:cs typeface="Arial MT"/>
              </a:rPr>
              <a:t>k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ru-RU" sz="2000" dirty="0">
                <a:latin typeface="Roboto"/>
                <a:cs typeface="Roboto"/>
              </a:rPr>
              <a:t>—</a:t>
            </a:r>
            <a:r>
              <a:rPr sz="1900" spc="-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скольки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первых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документов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считаем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оценку</a:t>
            </a:r>
            <a:endParaRPr sz="19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9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Precision-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top-</a:t>
            </a:r>
            <a:r>
              <a:rPr sz="1900" spc="-75" dirty="0">
                <a:solidFill>
                  <a:srgbClr val="2A2A2A"/>
                </a:solidFill>
                <a:latin typeface="Arial MT"/>
                <a:cs typeface="Arial MT"/>
              </a:rPr>
              <a:t>k: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доля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документов</a:t>
            </a:r>
            <a:r>
              <a:rPr sz="1900" spc="-5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где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хотя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бы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одно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из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A2A2A"/>
                </a:solidFill>
                <a:latin typeface="Arial MT"/>
                <a:cs typeface="Arial MT"/>
              </a:rPr>
              <a:t>k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предсказаний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оказалось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релевантным</a:t>
            </a:r>
            <a:endParaRPr sz="19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9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900" spc="-135" dirty="0">
                <a:solidFill>
                  <a:srgbClr val="2A2A2A"/>
                </a:solidFill>
                <a:latin typeface="Arial MT"/>
                <a:cs typeface="Arial MT"/>
              </a:rPr>
              <a:t>Precision@k: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средняя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доля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документов</a:t>
            </a:r>
            <a:r>
              <a:rPr sz="1900" spc="-5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которые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оказались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релевантны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запросу</a:t>
            </a:r>
            <a:endParaRPr sz="1900" dirty="0">
              <a:latin typeface="Microsoft Sans Serif"/>
              <a:cs typeface="Microsoft Sans Serif"/>
            </a:endParaRPr>
          </a:p>
          <a:p>
            <a:pPr marL="12700" marR="320040">
              <a:lnSpc>
                <a:spcPct val="207100"/>
              </a:lnSpc>
            </a:pPr>
            <a:r>
              <a:rPr sz="1900" spc="-105" dirty="0">
                <a:solidFill>
                  <a:srgbClr val="2A2A2A"/>
                </a:solidFill>
                <a:latin typeface="Arial MT"/>
                <a:cs typeface="Arial MT"/>
              </a:rPr>
              <a:t>Average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35" dirty="0">
                <a:solidFill>
                  <a:srgbClr val="2A2A2A"/>
                </a:solidFill>
                <a:latin typeface="Arial MT"/>
                <a:cs typeface="Arial MT"/>
              </a:rPr>
              <a:t>Precision@k: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среднее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значение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2A2A2A"/>
                </a:solidFill>
                <a:latin typeface="Arial MT"/>
                <a:cs typeface="Arial MT"/>
              </a:rPr>
              <a:t>Precision@i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Arial MT"/>
                <a:cs typeface="Arial MT"/>
              </a:rPr>
              <a:t>i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75" dirty="0">
                <a:solidFill>
                  <a:srgbClr val="2A2A2A"/>
                </a:solidFill>
                <a:latin typeface="Arial MT"/>
                <a:cs typeface="Arial MT"/>
              </a:rPr>
              <a:t>=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45" dirty="0">
                <a:solidFill>
                  <a:srgbClr val="2A2A2A"/>
                </a:solidFill>
                <a:latin typeface="Arial MT"/>
                <a:cs typeface="Arial MT"/>
              </a:rPr>
              <a:t>1..k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Arial MT"/>
                <a:cs typeface="Arial MT"/>
              </a:rPr>
              <a:t>(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считается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одного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запроса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) </a:t>
            </a:r>
            <a:r>
              <a:rPr sz="1900" spc="-125" dirty="0">
                <a:solidFill>
                  <a:srgbClr val="2A2A2A"/>
                </a:solidFill>
                <a:latin typeface="Arial MT"/>
                <a:cs typeface="Arial MT"/>
              </a:rPr>
              <a:t>Mean</a:t>
            </a:r>
            <a:r>
              <a:rPr sz="190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05" dirty="0">
                <a:solidFill>
                  <a:srgbClr val="2A2A2A"/>
                </a:solidFill>
                <a:latin typeface="Arial MT"/>
                <a:cs typeface="Arial MT"/>
              </a:rPr>
              <a:t>Average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35" dirty="0">
                <a:solidFill>
                  <a:srgbClr val="2A2A2A"/>
                </a:solidFill>
                <a:latin typeface="Arial MT"/>
                <a:cs typeface="Arial MT"/>
              </a:rPr>
              <a:t>Precision@k: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среднее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5" dirty="0">
                <a:solidFill>
                  <a:srgbClr val="2A2A2A"/>
                </a:solidFill>
                <a:latin typeface="Arial MT"/>
                <a:cs typeface="Arial MT"/>
              </a:rPr>
              <a:t>Average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2A2A2A"/>
                </a:solidFill>
                <a:latin typeface="Arial MT"/>
                <a:cs typeface="Arial MT"/>
              </a:rPr>
              <a:t>Precision@k</a:t>
            </a:r>
            <a:r>
              <a:rPr sz="19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всем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запросам</a:t>
            </a:r>
            <a:endParaRPr sz="1900" dirty="0">
              <a:latin typeface="Microsoft Sans Serif"/>
              <a:cs typeface="Microsoft Sans Serif"/>
            </a:endParaRPr>
          </a:p>
          <a:p>
            <a:pPr marL="12700" marR="2819400">
              <a:lnSpc>
                <a:spcPct val="114999"/>
              </a:lnSpc>
              <a:spcBef>
                <a:spcPts val="2100"/>
              </a:spcBef>
            </a:pP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Вот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тут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почитать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картинками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: </a:t>
            </a:r>
            <a:r>
              <a:rPr sz="1900" u="heavy" spc="-6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https://www.evidentlyai.com/ranking-</a:t>
            </a:r>
            <a:r>
              <a:rPr sz="1900" u="heavy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metrics/mean-average-</a:t>
            </a:r>
            <a:r>
              <a:rPr sz="1900" u="heavy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precision-</a:t>
            </a:r>
            <a:r>
              <a:rPr sz="1900" u="heavy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map</a:t>
            </a:r>
            <a:endParaRPr sz="1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8521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5" dirty="0">
                <a:latin typeface="Verdana"/>
                <a:cs typeface="Verdana"/>
              </a:rPr>
              <a:t>DCG</a:t>
            </a:r>
            <a:r>
              <a:rPr sz="4000" spc="-280" dirty="0">
                <a:latin typeface="Verdana"/>
                <a:cs typeface="Verdana"/>
              </a:rPr>
              <a:t> </a:t>
            </a:r>
            <a:r>
              <a:rPr sz="4000" spc="-90" dirty="0">
                <a:latin typeface="Verdana"/>
                <a:cs typeface="Verdana"/>
              </a:rPr>
              <a:t>(Discounted</a:t>
            </a:r>
            <a:r>
              <a:rPr sz="4000" spc="-275" dirty="0">
                <a:latin typeface="Verdana"/>
                <a:cs typeface="Verdana"/>
              </a:rPr>
              <a:t> </a:t>
            </a:r>
            <a:r>
              <a:rPr sz="4000" spc="-65" dirty="0">
                <a:latin typeface="Verdana"/>
                <a:cs typeface="Verdana"/>
              </a:rPr>
              <a:t>cumulative</a:t>
            </a:r>
            <a:r>
              <a:rPr sz="4000" spc="-280" dirty="0">
                <a:latin typeface="Verdana"/>
                <a:cs typeface="Verdana"/>
              </a:rPr>
              <a:t> </a:t>
            </a:r>
            <a:r>
              <a:rPr sz="4000" spc="-10" dirty="0">
                <a:latin typeface="Verdana"/>
                <a:cs typeface="Verdana"/>
              </a:rPr>
              <a:t>gain)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950" y="2603363"/>
            <a:ext cx="5538470" cy="327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17780">
              <a:lnSpc>
                <a:spcPct val="115100"/>
              </a:lnSpc>
              <a:spcBef>
                <a:spcPts val="95"/>
              </a:spcBef>
            </a:pP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Формула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взята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вот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отсюда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здесь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же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почитать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подробнее</a:t>
            </a: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: </a:t>
            </a:r>
            <a:r>
              <a:rPr sz="18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https://www.evidentlyai.com/ranking-metrics/ndcg-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metric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Arial MT"/>
              <a:cs typeface="Arial MT"/>
            </a:endParaRPr>
          </a:p>
          <a:p>
            <a:pPr marL="50800" marR="233045">
              <a:lnSpc>
                <a:spcPct val="114999"/>
              </a:lnSpc>
            </a:pPr>
            <a:r>
              <a:rPr sz="1900" spc="-65" dirty="0">
                <a:solidFill>
                  <a:srgbClr val="2A2A2A"/>
                </a:solidFill>
                <a:latin typeface="Arial MT"/>
                <a:cs typeface="Arial MT"/>
              </a:rPr>
              <a:t>k</a:t>
            </a:r>
            <a:r>
              <a:rPr sz="19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r>
              <a:rPr sz="1900" spc="-1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скольки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первых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документов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считаем оценку</a:t>
            </a:r>
            <a:endParaRPr sz="19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2A2A2A"/>
                </a:solidFill>
                <a:latin typeface="Arial MT"/>
                <a:cs typeface="Arial MT"/>
              </a:rPr>
              <a:t>i</a:t>
            </a:r>
            <a:r>
              <a:rPr sz="1900" spc="-1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r>
              <a:rPr sz="1900" spc="-10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позиция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объекта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предсказанном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рейтинге</a:t>
            </a:r>
            <a:endParaRPr sz="19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340"/>
              </a:spcBef>
            </a:pPr>
            <a:r>
              <a:rPr sz="1900" spc="-10" dirty="0">
                <a:solidFill>
                  <a:srgbClr val="2A2A2A"/>
                </a:solidFill>
                <a:latin typeface="Arial MT"/>
                <a:cs typeface="Arial MT"/>
              </a:rPr>
              <a:t>rel</a:t>
            </a:r>
            <a:r>
              <a:rPr sz="1875" spc="-15" baseline="-31111" dirty="0">
                <a:solidFill>
                  <a:srgbClr val="2A2A2A"/>
                </a:solidFill>
                <a:latin typeface="Arial MT"/>
                <a:cs typeface="Arial MT"/>
              </a:rPr>
              <a:t>i</a:t>
            </a:r>
            <a:r>
              <a:rPr sz="1875" spc="67" baseline="-31111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r>
              <a:rPr sz="1900" spc="-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оценка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релевантности</a:t>
            </a:r>
            <a:r>
              <a:rPr sz="1900" spc="-10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от</a:t>
            </a:r>
            <a:r>
              <a:rPr sz="1900" spc="-10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Усредняются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получения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общей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оценки</a:t>
            </a:r>
            <a:endParaRPr sz="19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6507" y="2846850"/>
            <a:ext cx="4748076" cy="26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10994</TotalTime>
  <Words>2458</Words>
  <Application>Microsoft Office PowerPoint</Application>
  <PresentationFormat>Широкоэкранный</PresentationFormat>
  <Paragraphs>519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8" baseType="lpstr">
      <vt:lpstr>MS PGothic</vt:lpstr>
      <vt:lpstr>Arial</vt:lpstr>
      <vt:lpstr>Arial MT</vt:lpstr>
      <vt:lpstr>Calibri</vt:lpstr>
      <vt:lpstr>Courier New</vt:lpstr>
      <vt:lpstr>Microsoft Sans Serif</vt:lpstr>
      <vt:lpstr>Roboto</vt:lpstr>
      <vt:lpstr>Tahoma</vt:lpstr>
      <vt:lpstr>Times New Roman</vt:lpstr>
      <vt:lpstr>Verdana</vt:lpstr>
      <vt:lpstr>Office Theme</vt:lpstr>
      <vt:lpstr>Информационный поиск</vt:lpstr>
      <vt:lpstr>Презентация PowerPoint</vt:lpstr>
      <vt:lpstr>Презентация PowerPoint</vt:lpstr>
      <vt:lpstr>Презентация PowerPoint</vt:lpstr>
      <vt:lpstr>Home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infopoisk_1</dc:title>
  <cp:lastModifiedBy>Даниил Трошин</cp:lastModifiedBy>
  <cp:revision>3</cp:revision>
  <dcterms:created xsi:type="dcterms:W3CDTF">2026-01-13T05:27:05Z</dcterms:created>
  <dcterms:modified xsi:type="dcterms:W3CDTF">2026-01-22T07:46:37Z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2026-01-13T00:00:00Z</vt:filetime>
  </property>
</Properties>
</file>
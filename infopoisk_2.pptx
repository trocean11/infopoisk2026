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4" r:id="rId3"/>
    <p:sldId id="275" r:id="rId4"/>
    <p:sldId id="276" r:id="rId5"/>
    <p:sldId id="278" r:id="rId6"/>
    <p:sldId id="283" r:id="rId7"/>
    <p:sldId id="279" r:id="rId8"/>
    <p:sldId id="290" r:id="rId9"/>
    <p:sldId id="280" r:id="rId10"/>
    <p:sldId id="281" r:id="rId11"/>
    <p:sldId id="282" r:id="rId12"/>
    <p:sldId id="284" r:id="rId13"/>
    <p:sldId id="285" r:id="rId14"/>
    <p:sldId id="286" r:id="rId15"/>
    <p:sldId id="287" r:id="rId16"/>
    <p:sldId id="289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2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96158" y="1739051"/>
            <a:ext cx="7599683" cy="1949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89535"/>
            <a:ext cx="12192000" cy="6768465"/>
          </a:xfrm>
          <a:custGeom>
            <a:avLst/>
            <a:gdLst/>
            <a:ahLst/>
            <a:cxnLst/>
            <a:rect l="l" t="t" r="r" b="b"/>
            <a:pathLst>
              <a:path w="12192000" h="6768465">
                <a:moveTo>
                  <a:pt x="12191999" y="6768464"/>
                </a:moveTo>
                <a:lnTo>
                  <a:pt x="0" y="6768464"/>
                </a:lnTo>
                <a:lnTo>
                  <a:pt x="1901" y="382904"/>
                </a:lnTo>
                <a:lnTo>
                  <a:pt x="765806" y="381951"/>
                </a:lnTo>
                <a:lnTo>
                  <a:pt x="817122" y="375656"/>
                </a:lnTo>
                <a:lnTo>
                  <a:pt x="852008" y="355877"/>
                </a:lnTo>
                <a:lnTo>
                  <a:pt x="871891" y="321274"/>
                </a:lnTo>
                <a:lnTo>
                  <a:pt x="878201" y="270509"/>
                </a:lnTo>
                <a:lnTo>
                  <a:pt x="878201" y="99059"/>
                </a:lnTo>
                <a:lnTo>
                  <a:pt x="884943" y="57462"/>
                </a:lnTo>
                <a:lnTo>
                  <a:pt x="904276" y="26312"/>
                </a:lnTo>
                <a:lnTo>
                  <a:pt x="934861" y="6771"/>
                </a:lnTo>
                <a:lnTo>
                  <a:pt x="975356" y="0"/>
                </a:lnTo>
                <a:lnTo>
                  <a:pt x="3478526" y="0"/>
                </a:lnTo>
                <a:lnTo>
                  <a:pt x="3517936" y="6875"/>
                </a:lnTo>
                <a:lnTo>
                  <a:pt x="3548059" y="26431"/>
                </a:lnTo>
                <a:lnTo>
                  <a:pt x="3567466" y="57060"/>
                </a:lnTo>
                <a:lnTo>
                  <a:pt x="3574729" y="97154"/>
                </a:lnTo>
                <a:lnTo>
                  <a:pt x="3574729" y="274319"/>
                </a:lnTo>
                <a:lnTo>
                  <a:pt x="3581099" y="323031"/>
                </a:lnTo>
                <a:lnTo>
                  <a:pt x="3600685" y="356830"/>
                </a:lnTo>
                <a:lnTo>
                  <a:pt x="3634201" y="376520"/>
                </a:lnTo>
                <a:lnTo>
                  <a:pt x="3682361" y="382904"/>
                </a:lnTo>
                <a:lnTo>
                  <a:pt x="9047794" y="382904"/>
                </a:lnTo>
                <a:lnTo>
                  <a:pt x="9055816" y="383053"/>
                </a:lnTo>
                <a:lnTo>
                  <a:pt x="9064106" y="383380"/>
                </a:lnTo>
                <a:lnTo>
                  <a:pt x="9072574" y="383708"/>
                </a:lnTo>
                <a:lnTo>
                  <a:pt x="9081131" y="383856"/>
                </a:lnTo>
                <a:lnTo>
                  <a:pt x="9081131" y="382101"/>
                </a:lnTo>
                <a:lnTo>
                  <a:pt x="12191996" y="382101"/>
                </a:lnTo>
                <a:lnTo>
                  <a:pt x="12191999" y="676846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30054" y="209438"/>
            <a:ext cx="110045" cy="11004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-1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0264" y="202172"/>
            <a:ext cx="144582" cy="14566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973" y="203258"/>
            <a:ext cx="140234" cy="14023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0079" y="203258"/>
            <a:ext cx="140233" cy="14023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129196" y="182589"/>
            <a:ext cx="157039" cy="156977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-1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FFFFFF">
              <a:alpha val="2625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21548" y="206716"/>
            <a:ext cx="110045" cy="110045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0" y="69803"/>
            <a:ext cx="12192000" cy="6788784"/>
          </a:xfrm>
          <a:custGeom>
            <a:avLst/>
            <a:gdLst/>
            <a:ahLst/>
            <a:cxnLst/>
            <a:rect l="l" t="t" r="r" b="b"/>
            <a:pathLst>
              <a:path w="12192000" h="6788784">
                <a:moveTo>
                  <a:pt x="0" y="6788196"/>
                </a:moveTo>
                <a:lnTo>
                  <a:pt x="0" y="397488"/>
                </a:lnTo>
                <a:lnTo>
                  <a:pt x="6151430" y="382634"/>
                </a:lnTo>
                <a:lnTo>
                  <a:pt x="6202746" y="376328"/>
                </a:lnTo>
                <a:lnTo>
                  <a:pt x="6237632" y="356513"/>
                </a:lnTo>
                <a:lnTo>
                  <a:pt x="6257515" y="321849"/>
                </a:lnTo>
                <a:lnTo>
                  <a:pt x="6263826" y="270993"/>
                </a:lnTo>
                <a:lnTo>
                  <a:pt x="6263826" y="99236"/>
                </a:lnTo>
                <a:lnTo>
                  <a:pt x="6270568" y="57565"/>
                </a:lnTo>
                <a:lnTo>
                  <a:pt x="6289901" y="26359"/>
                </a:lnTo>
                <a:lnTo>
                  <a:pt x="6320485" y="6783"/>
                </a:lnTo>
                <a:lnTo>
                  <a:pt x="6360981" y="0"/>
                </a:lnTo>
                <a:lnTo>
                  <a:pt x="8864150" y="0"/>
                </a:lnTo>
                <a:lnTo>
                  <a:pt x="8903560" y="6888"/>
                </a:lnTo>
                <a:lnTo>
                  <a:pt x="8933683" y="26479"/>
                </a:lnTo>
                <a:lnTo>
                  <a:pt x="8953090" y="57162"/>
                </a:lnTo>
                <a:lnTo>
                  <a:pt x="8960353" y="97329"/>
                </a:lnTo>
                <a:lnTo>
                  <a:pt x="8960353" y="274810"/>
                </a:lnTo>
                <a:lnTo>
                  <a:pt x="8966723" y="323608"/>
                </a:lnTo>
                <a:lnTo>
                  <a:pt x="8986309" y="357468"/>
                </a:lnTo>
                <a:lnTo>
                  <a:pt x="9019825" y="377193"/>
                </a:lnTo>
                <a:lnTo>
                  <a:pt x="9067985" y="383589"/>
                </a:lnTo>
                <a:lnTo>
                  <a:pt x="12191999" y="383157"/>
                </a:lnTo>
                <a:lnTo>
                  <a:pt x="12191999" y="6782251"/>
                </a:lnTo>
                <a:lnTo>
                  <a:pt x="0" y="6788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275347" y="582328"/>
            <a:ext cx="10152380" cy="360045"/>
          </a:xfrm>
          <a:custGeom>
            <a:avLst/>
            <a:gdLst/>
            <a:ahLst/>
            <a:cxnLst/>
            <a:rect l="l" t="t" r="r" b="b"/>
            <a:pathLst>
              <a:path w="10152380" h="360044">
                <a:moveTo>
                  <a:pt x="9971999" y="359999"/>
                </a:moveTo>
                <a:lnTo>
                  <a:pt x="179999" y="359999"/>
                </a:lnTo>
                <a:lnTo>
                  <a:pt x="132148" y="353570"/>
                </a:lnTo>
                <a:lnTo>
                  <a:pt x="89150" y="335424"/>
                </a:lnTo>
                <a:lnTo>
                  <a:pt x="52720" y="307279"/>
                </a:lnTo>
                <a:lnTo>
                  <a:pt x="24575" y="270849"/>
                </a:lnTo>
                <a:lnTo>
                  <a:pt x="6429" y="227851"/>
                </a:lnTo>
                <a:lnTo>
                  <a:pt x="0" y="179999"/>
                </a:lnTo>
                <a:lnTo>
                  <a:pt x="6429" y="132148"/>
                </a:lnTo>
                <a:lnTo>
                  <a:pt x="24575" y="89150"/>
                </a:lnTo>
                <a:lnTo>
                  <a:pt x="52720" y="52720"/>
                </a:lnTo>
                <a:lnTo>
                  <a:pt x="89150" y="24575"/>
                </a:lnTo>
                <a:lnTo>
                  <a:pt x="132148" y="6429"/>
                </a:lnTo>
                <a:lnTo>
                  <a:pt x="179999" y="0"/>
                </a:lnTo>
                <a:lnTo>
                  <a:pt x="9971999" y="0"/>
                </a:lnTo>
                <a:lnTo>
                  <a:pt x="10040882" y="13701"/>
                </a:lnTo>
                <a:lnTo>
                  <a:pt x="10099279" y="52720"/>
                </a:lnTo>
                <a:lnTo>
                  <a:pt x="10138298" y="111116"/>
                </a:lnTo>
                <a:lnTo>
                  <a:pt x="10151999" y="179999"/>
                </a:lnTo>
                <a:lnTo>
                  <a:pt x="10145570" y="227851"/>
                </a:lnTo>
                <a:lnTo>
                  <a:pt x="10127424" y="270849"/>
                </a:lnTo>
                <a:lnTo>
                  <a:pt x="10099279" y="307279"/>
                </a:lnTo>
                <a:lnTo>
                  <a:pt x="10062849" y="335424"/>
                </a:lnTo>
                <a:lnTo>
                  <a:pt x="10019851" y="353570"/>
                </a:lnTo>
                <a:lnTo>
                  <a:pt x="9971999" y="3599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0" y="582328"/>
            <a:ext cx="12192000" cy="454025"/>
          </a:xfrm>
          <a:custGeom>
            <a:avLst/>
            <a:gdLst/>
            <a:ahLst/>
            <a:cxnLst/>
            <a:rect l="l" t="t" r="r" b="b"/>
            <a:pathLst>
              <a:path w="12192000" h="454025">
                <a:moveTo>
                  <a:pt x="1275346" y="179999"/>
                </a:moveTo>
                <a:lnTo>
                  <a:pt x="1281776" y="132148"/>
                </a:lnTo>
                <a:lnTo>
                  <a:pt x="1299922" y="89150"/>
                </a:lnTo>
                <a:lnTo>
                  <a:pt x="1328067" y="52720"/>
                </a:lnTo>
                <a:lnTo>
                  <a:pt x="1364497" y="24575"/>
                </a:lnTo>
                <a:lnTo>
                  <a:pt x="1407495" y="6429"/>
                </a:lnTo>
                <a:lnTo>
                  <a:pt x="1455346" y="0"/>
                </a:lnTo>
                <a:lnTo>
                  <a:pt x="11247346" y="0"/>
                </a:lnTo>
                <a:lnTo>
                  <a:pt x="11316229" y="13701"/>
                </a:lnTo>
                <a:lnTo>
                  <a:pt x="11374626" y="52720"/>
                </a:lnTo>
                <a:lnTo>
                  <a:pt x="11413645" y="111116"/>
                </a:lnTo>
                <a:lnTo>
                  <a:pt x="11427346" y="179999"/>
                </a:lnTo>
                <a:lnTo>
                  <a:pt x="11420917" y="227851"/>
                </a:lnTo>
                <a:lnTo>
                  <a:pt x="11402771" y="270849"/>
                </a:lnTo>
                <a:lnTo>
                  <a:pt x="11374626" y="307279"/>
                </a:lnTo>
                <a:lnTo>
                  <a:pt x="11338196" y="335424"/>
                </a:lnTo>
                <a:lnTo>
                  <a:pt x="11295198" y="353570"/>
                </a:lnTo>
                <a:lnTo>
                  <a:pt x="11247346" y="359999"/>
                </a:lnTo>
                <a:lnTo>
                  <a:pt x="1455346" y="359999"/>
                </a:lnTo>
                <a:lnTo>
                  <a:pt x="1407495" y="353570"/>
                </a:lnTo>
                <a:lnTo>
                  <a:pt x="1364497" y="335424"/>
                </a:lnTo>
                <a:lnTo>
                  <a:pt x="1328067" y="307279"/>
                </a:lnTo>
                <a:lnTo>
                  <a:pt x="1299922" y="270849"/>
                </a:lnTo>
                <a:lnTo>
                  <a:pt x="1281776" y="227851"/>
                </a:lnTo>
                <a:lnTo>
                  <a:pt x="1275346" y="179999"/>
                </a:lnTo>
                <a:close/>
              </a:path>
              <a:path w="12192000" h="454025">
                <a:moveTo>
                  <a:pt x="0" y="453991"/>
                </a:moveTo>
                <a:lnTo>
                  <a:pt x="12191999" y="453991"/>
                </a:lnTo>
              </a:path>
            </a:pathLst>
          </a:custGeom>
          <a:ln w="952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9118" y="666656"/>
            <a:ext cx="208279" cy="200971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1978390" y="641507"/>
            <a:ext cx="52705" cy="41275"/>
          </a:xfrm>
          <a:custGeom>
            <a:avLst/>
            <a:gdLst/>
            <a:ahLst/>
            <a:cxnLst/>
            <a:rect l="l" t="t" r="r" b="b"/>
            <a:pathLst>
              <a:path w="52704" h="41275">
                <a:moveTo>
                  <a:pt x="20421" y="40843"/>
                </a:moveTo>
                <a:lnTo>
                  <a:pt x="14897" y="37991"/>
                </a:lnTo>
                <a:lnTo>
                  <a:pt x="9732" y="32387"/>
                </a:lnTo>
                <a:lnTo>
                  <a:pt x="4806" y="25587"/>
                </a:lnTo>
                <a:lnTo>
                  <a:pt x="0" y="19145"/>
                </a:lnTo>
                <a:lnTo>
                  <a:pt x="5743" y="13461"/>
                </a:lnTo>
                <a:lnTo>
                  <a:pt x="11487" y="7179"/>
                </a:lnTo>
                <a:lnTo>
                  <a:pt x="17230" y="2094"/>
                </a:lnTo>
                <a:lnTo>
                  <a:pt x="22974" y="0"/>
                </a:lnTo>
                <a:lnTo>
                  <a:pt x="28279" y="1954"/>
                </a:lnTo>
                <a:lnTo>
                  <a:pt x="34781" y="7020"/>
                </a:lnTo>
                <a:lnTo>
                  <a:pt x="42718" y="13999"/>
                </a:lnTo>
                <a:lnTo>
                  <a:pt x="52331" y="21697"/>
                </a:lnTo>
                <a:lnTo>
                  <a:pt x="41960" y="29176"/>
                </a:lnTo>
                <a:lnTo>
                  <a:pt x="33504" y="35578"/>
                </a:lnTo>
                <a:lnTo>
                  <a:pt x="26484" y="39826"/>
                </a:lnTo>
                <a:lnTo>
                  <a:pt x="20421" y="40843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0540" y="690773"/>
            <a:ext cx="199479" cy="178698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4852" y="689158"/>
            <a:ext cx="199479" cy="178698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12004356" y="1037271"/>
            <a:ext cx="12700" cy="5793740"/>
          </a:xfrm>
          <a:custGeom>
            <a:avLst/>
            <a:gdLst/>
            <a:ahLst/>
            <a:cxnLst/>
            <a:rect l="l" t="t" r="r" b="b"/>
            <a:pathLst>
              <a:path w="12700" h="5793740">
                <a:moveTo>
                  <a:pt x="8572" y="5793371"/>
                </a:moveTo>
                <a:lnTo>
                  <a:pt x="3810" y="5791934"/>
                </a:lnTo>
                <a:lnTo>
                  <a:pt x="0" y="5791934"/>
                </a:lnTo>
                <a:lnTo>
                  <a:pt x="148" y="5774899"/>
                </a:lnTo>
                <a:lnTo>
                  <a:pt x="804" y="5741368"/>
                </a:lnTo>
                <a:lnTo>
                  <a:pt x="952" y="5724334"/>
                </a:lnTo>
                <a:lnTo>
                  <a:pt x="952" y="63284"/>
                </a:lnTo>
                <a:lnTo>
                  <a:pt x="804" y="47328"/>
                </a:lnTo>
                <a:lnTo>
                  <a:pt x="148" y="15956"/>
                </a:lnTo>
                <a:lnTo>
                  <a:pt x="0" y="0"/>
                </a:lnTo>
                <a:lnTo>
                  <a:pt x="3810" y="5753"/>
                </a:lnTo>
                <a:lnTo>
                  <a:pt x="10477" y="10068"/>
                </a:lnTo>
                <a:lnTo>
                  <a:pt x="11429" y="15821"/>
                </a:lnTo>
                <a:lnTo>
                  <a:pt x="12382" y="28743"/>
                </a:lnTo>
                <a:lnTo>
                  <a:pt x="12621" y="41530"/>
                </a:lnTo>
                <a:lnTo>
                  <a:pt x="12502" y="54048"/>
                </a:lnTo>
                <a:lnTo>
                  <a:pt x="12382" y="66160"/>
                </a:lnTo>
                <a:lnTo>
                  <a:pt x="12382" y="5791934"/>
                </a:lnTo>
                <a:lnTo>
                  <a:pt x="8572" y="5793371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978386" y="716813"/>
            <a:ext cx="52705" cy="116205"/>
          </a:xfrm>
          <a:custGeom>
            <a:avLst/>
            <a:gdLst/>
            <a:ahLst/>
            <a:cxnLst/>
            <a:rect l="l" t="t" r="r" b="b"/>
            <a:pathLst>
              <a:path w="52704" h="116205">
                <a:moveTo>
                  <a:pt x="52324" y="97015"/>
                </a:moveTo>
                <a:lnTo>
                  <a:pt x="42722" y="89331"/>
                </a:lnTo>
                <a:lnTo>
                  <a:pt x="34785" y="82486"/>
                </a:lnTo>
                <a:lnTo>
                  <a:pt x="28282" y="77800"/>
                </a:lnTo>
                <a:lnTo>
                  <a:pt x="22974" y="76593"/>
                </a:lnTo>
                <a:lnTo>
                  <a:pt x="16687" y="78676"/>
                </a:lnTo>
                <a:lnTo>
                  <a:pt x="11010" y="83769"/>
                </a:lnTo>
                <a:lnTo>
                  <a:pt x="5562" y="90043"/>
                </a:lnTo>
                <a:lnTo>
                  <a:pt x="0" y="95732"/>
                </a:lnTo>
                <a:lnTo>
                  <a:pt x="4800" y="101434"/>
                </a:lnTo>
                <a:lnTo>
                  <a:pt x="9728" y="107861"/>
                </a:lnTo>
                <a:lnTo>
                  <a:pt x="14897" y="113322"/>
                </a:lnTo>
                <a:lnTo>
                  <a:pt x="20421" y="116154"/>
                </a:lnTo>
                <a:lnTo>
                  <a:pt x="26657" y="114960"/>
                </a:lnTo>
                <a:lnTo>
                  <a:pt x="33985" y="110413"/>
                </a:lnTo>
                <a:lnTo>
                  <a:pt x="42494" y="103949"/>
                </a:lnTo>
                <a:lnTo>
                  <a:pt x="52324" y="97015"/>
                </a:lnTo>
                <a:close/>
              </a:path>
              <a:path w="52704" h="116205">
                <a:moveTo>
                  <a:pt x="52324" y="21704"/>
                </a:moveTo>
                <a:lnTo>
                  <a:pt x="42722" y="14008"/>
                </a:lnTo>
                <a:lnTo>
                  <a:pt x="34785" y="7023"/>
                </a:lnTo>
                <a:lnTo>
                  <a:pt x="28282" y="1955"/>
                </a:lnTo>
                <a:lnTo>
                  <a:pt x="22974" y="0"/>
                </a:lnTo>
                <a:lnTo>
                  <a:pt x="17233" y="2641"/>
                </a:lnTo>
                <a:lnTo>
                  <a:pt x="11480" y="7658"/>
                </a:lnTo>
                <a:lnTo>
                  <a:pt x="5740" y="13652"/>
                </a:lnTo>
                <a:lnTo>
                  <a:pt x="0" y="19151"/>
                </a:lnTo>
                <a:lnTo>
                  <a:pt x="4800" y="24853"/>
                </a:lnTo>
                <a:lnTo>
                  <a:pt x="9728" y="31280"/>
                </a:lnTo>
                <a:lnTo>
                  <a:pt x="14897" y="36741"/>
                </a:lnTo>
                <a:lnTo>
                  <a:pt x="20421" y="39573"/>
                </a:lnTo>
                <a:lnTo>
                  <a:pt x="26479" y="38569"/>
                </a:lnTo>
                <a:lnTo>
                  <a:pt x="33502" y="34467"/>
                </a:lnTo>
                <a:lnTo>
                  <a:pt x="41960" y="28448"/>
                </a:lnTo>
                <a:lnTo>
                  <a:pt x="52324" y="21704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bg object 3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727454" y="208222"/>
            <a:ext cx="110044" cy="110045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12031980" y="1086731"/>
            <a:ext cx="133350" cy="2268220"/>
          </a:xfrm>
          <a:custGeom>
            <a:avLst/>
            <a:gdLst/>
            <a:ahLst/>
            <a:cxnLst/>
            <a:rect l="l" t="t" r="r" b="b"/>
            <a:pathLst>
              <a:path w="133350" h="2268220">
                <a:moveTo>
                  <a:pt x="66408" y="2267755"/>
                </a:moveTo>
                <a:lnTo>
                  <a:pt x="23173" y="2257464"/>
                </a:lnTo>
                <a:lnTo>
                  <a:pt x="1383" y="2220310"/>
                </a:lnTo>
                <a:lnTo>
                  <a:pt x="1037" y="2211755"/>
                </a:lnTo>
                <a:lnTo>
                  <a:pt x="1209" y="2203199"/>
                </a:lnTo>
                <a:lnTo>
                  <a:pt x="1382" y="2195003"/>
                </a:lnTo>
                <a:lnTo>
                  <a:pt x="1194" y="2144541"/>
                </a:lnTo>
                <a:lnTo>
                  <a:pt x="1024" y="2094079"/>
                </a:lnTo>
                <a:lnTo>
                  <a:pt x="870" y="2043616"/>
                </a:lnTo>
                <a:lnTo>
                  <a:pt x="733" y="1993151"/>
                </a:lnTo>
                <a:lnTo>
                  <a:pt x="611" y="1942683"/>
                </a:lnTo>
                <a:lnTo>
                  <a:pt x="503" y="1892212"/>
                </a:lnTo>
                <a:lnTo>
                  <a:pt x="409" y="1841737"/>
                </a:lnTo>
                <a:lnTo>
                  <a:pt x="328" y="1791259"/>
                </a:lnTo>
                <a:lnTo>
                  <a:pt x="258" y="1740775"/>
                </a:lnTo>
                <a:lnTo>
                  <a:pt x="198" y="1690285"/>
                </a:lnTo>
                <a:lnTo>
                  <a:pt x="149" y="1639790"/>
                </a:lnTo>
                <a:lnTo>
                  <a:pt x="108" y="1589287"/>
                </a:lnTo>
                <a:lnTo>
                  <a:pt x="76" y="1538777"/>
                </a:lnTo>
                <a:lnTo>
                  <a:pt x="51" y="1488259"/>
                </a:lnTo>
                <a:lnTo>
                  <a:pt x="32" y="1437733"/>
                </a:lnTo>
                <a:lnTo>
                  <a:pt x="18" y="1387197"/>
                </a:lnTo>
                <a:lnTo>
                  <a:pt x="9" y="1336651"/>
                </a:lnTo>
                <a:lnTo>
                  <a:pt x="4" y="1286095"/>
                </a:lnTo>
                <a:lnTo>
                  <a:pt x="1" y="1235527"/>
                </a:lnTo>
                <a:lnTo>
                  <a:pt x="0" y="1184948"/>
                </a:lnTo>
                <a:lnTo>
                  <a:pt x="0" y="1134356"/>
                </a:lnTo>
                <a:lnTo>
                  <a:pt x="0" y="67966"/>
                </a:lnTo>
                <a:lnTo>
                  <a:pt x="3934" y="37961"/>
                </a:lnTo>
                <a:lnTo>
                  <a:pt x="15910" y="16752"/>
                </a:lnTo>
                <a:lnTo>
                  <a:pt x="36188" y="4158"/>
                </a:lnTo>
                <a:lnTo>
                  <a:pt x="65025" y="0"/>
                </a:lnTo>
                <a:lnTo>
                  <a:pt x="94079" y="4023"/>
                </a:lnTo>
                <a:lnTo>
                  <a:pt x="114831" y="16393"/>
                </a:lnTo>
                <a:lnTo>
                  <a:pt x="127283" y="37557"/>
                </a:lnTo>
                <a:lnTo>
                  <a:pt x="131433" y="67966"/>
                </a:lnTo>
                <a:lnTo>
                  <a:pt x="131433" y="2212234"/>
                </a:lnTo>
                <a:lnTo>
                  <a:pt x="132816" y="2220848"/>
                </a:lnTo>
                <a:lnTo>
                  <a:pt x="130049" y="2228506"/>
                </a:lnTo>
                <a:lnTo>
                  <a:pt x="122829" y="2245139"/>
                </a:lnTo>
                <a:lnTo>
                  <a:pt x="109643" y="2257464"/>
                </a:lnTo>
                <a:lnTo>
                  <a:pt x="90749" y="2265122"/>
                </a:lnTo>
                <a:lnTo>
                  <a:pt x="66408" y="226775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567159" y="612648"/>
            <a:ext cx="266065" cy="266065"/>
          </a:xfrm>
          <a:custGeom>
            <a:avLst/>
            <a:gdLst/>
            <a:ahLst/>
            <a:cxnLst/>
            <a:rect l="l" t="t" r="r" b="b"/>
            <a:pathLst>
              <a:path w="266065" h="266065">
                <a:moveTo>
                  <a:pt x="132986" y="265973"/>
                </a:moveTo>
                <a:lnTo>
                  <a:pt x="90952" y="259193"/>
                </a:lnTo>
                <a:lnTo>
                  <a:pt x="54446" y="240314"/>
                </a:lnTo>
                <a:lnTo>
                  <a:pt x="25658" y="211526"/>
                </a:lnTo>
                <a:lnTo>
                  <a:pt x="6779" y="175020"/>
                </a:lnTo>
                <a:lnTo>
                  <a:pt x="0" y="132986"/>
                </a:lnTo>
                <a:lnTo>
                  <a:pt x="6779" y="90952"/>
                </a:lnTo>
                <a:lnTo>
                  <a:pt x="25658" y="54446"/>
                </a:lnTo>
                <a:lnTo>
                  <a:pt x="54446" y="25658"/>
                </a:lnTo>
                <a:lnTo>
                  <a:pt x="90952" y="6779"/>
                </a:lnTo>
                <a:lnTo>
                  <a:pt x="132986" y="0"/>
                </a:lnTo>
                <a:lnTo>
                  <a:pt x="159052" y="2578"/>
                </a:lnTo>
                <a:lnTo>
                  <a:pt x="206768" y="22343"/>
                </a:lnTo>
                <a:lnTo>
                  <a:pt x="243630" y="59205"/>
                </a:lnTo>
                <a:lnTo>
                  <a:pt x="263394" y="106921"/>
                </a:lnTo>
                <a:lnTo>
                  <a:pt x="265973" y="132986"/>
                </a:lnTo>
                <a:lnTo>
                  <a:pt x="259193" y="175020"/>
                </a:lnTo>
                <a:lnTo>
                  <a:pt x="240314" y="211526"/>
                </a:lnTo>
                <a:lnTo>
                  <a:pt x="211526" y="240314"/>
                </a:lnTo>
                <a:lnTo>
                  <a:pt x="175020" y="259193"/>
                </a:lnTo>
                <a:lnTo>
                  <a:pt x="132986" y="265973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624270" y="669524"/>
            <a:ext cx="152699" cy="162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ru/articles/114997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89535"/>
            <a:ext cx="12192000" cy="6768465"/>
            <a:chOff x="0" y="89535"/>
            <a:chExt cx="12192000" cy="6768465"/>
          </a:xfrm>
        </p:grpSpPr>
        <p:sp>
          <p:nvSpPr>
            <p:cNvPr id="4" name="object 4"/>
            <p:cNvSpPr/>
            <p:nvPr/>
          </p:nvSpPr>
          <p:spPr>
            <a:xfrm>
              <a:off x="0" y="89535"/>
              <a:ext cx="12192000" cy="6768465"/>
            </a:xfrm>
            <a:custGeom>
              <a:avLst/>
              <a:gdLst/>
              <a:ahLst/>
              <a:cxnLst/>
              <a:rect l="l" t="t" r="r" b="b"/>
              <a:pathLst>
                <a:path w="12192000" h="6768465">
                  <a:moveTo>
                    <a:pt x="12191999" y="6768464"/>
                  </a:moveTo>
                  <a:lnTo>
                    <a:pt x="0" y="6768464"/>
                  </a:lnTo>
                  <a:lnTo>
                    <a:pt x="1901" y="382904"/>
                  </a:lnTo>
                  <a:lnTo>
                    <a:pt x="765806" y="381951"/>
                  </a:lnTo>
                  <a:lnTo>
                    <a:pt x="817122" y="375656"/>
                  </a:lnTo>
                  <a:lnTo>
                    <a:pt x="852008" y="355877"/>
                  </a:lnTo>
                  <a:lnTo>
                    <a:pt x="871891" y="321274"/>
                  </a:lnTo>
                  <a:lnTo>
                    <a:pt x="878201" y="270509"/>
                  </a:lnTo>
                  <a:lnTo>
                    <a:pt x="878201" y="99059"/>
                  </a:lnTo>
                  <a:lnTo>
                    <a:pt x="884943" y="57462"/>
                  </a:lnTo>
                  <a:lnTo>
                    <a:pt x="904276" y="26312"/>
                  </a:lnTo>
                  <a:lnTo>
                    <a:pt x="934861" y="6771"/>
                  </a:lnTo>
                  <a:lnTo>
                    <a:pt x="975356" y="0"/>
                  </a:lnTo>
                  <a:lnTo>
                    <a:pt x="3478526" y="0"/>
                  </a:lnTo>
                  <a:lnTo>
                    <a:pt x="3517936" y="6875"/>
                  </a:lnTo>
                  <a:lnTo>
                    <a:pt x="3548059" y="26431"/>
                  </a:lnTo>
                  <a:lnTo>
                    <a:pt x="3567466" y="57060"/>
                  </a:lnTo>
                  <a:lnTo>
                    <a:pt x="3574729" y="97154"/>
                  </a:lnTo>
                  <a:lnTo>
                    <a:pt x="3574729" y="274319"/>
                  </a:lnTo>
                  <a:lnTo>
                    <a:pt x="3581099" y="323031"/>
                  </a:lnTo>
                  <a:lnTo>
                    <a:pt x="3600685" y="356830"/>
                  </a:lnTo>
                  <a:lnTo>
                    <a:pt x="3634201" y="376520"/>
                  </a:lnTo>
                  <a:lnTo>
                    <a:pt x="3682361" y="382904"/>
                  </a:lnTo>
                  <a:lnTo>
                    <a:pt x="9047794" y="382904"/>
                  </a:lnTo>
                  <a:lnTo>
                    <a:pt x="9055816" y="383053"/>
                  </a:lnTo>
                  <a:lnTo>
                    <a:pt x="9064106" y="383380"/>
                  </a:lnTo>
                  <a:lnTo>
                    <a:pt x="9072574" y="383708"/>
                  </a:lnTo>
                  <a:lnTo>
                    <a:pt x="9081131" y="383856"/>
                  </a:lnTo>
                  <a:lnTo>
                    <a:pt x="9081131" y="382101"/>
                  </a:lnTo>
                  <a:lnTo>
                    <a:pt x="12191996" y="382101"/>
                  </a:lnTo>
                  <a:lnTo>
                    <a:pt x="12191999" y="6768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264" y="202172"/>
              <a:ext cx="144582" cy="1456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79" y="203258"/>
              <a:ext cx="140233" cy="1402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73" y="203258"/>
              <a:ext cx="140234" cy="1402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0054" y="209438"/>
              <a:ext cx="110045" cy="1100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3860" y="197219"/>
              <a:ext cx="157040" cy="15697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75346" y="582327"/>
              <a:ext cx="10152380" cy="360045"/>
            </a:xfrm>
            <a:custGeom>
              <a:avLst/>
              <a:gdLst/>
              <a:ahLst/>
              <a:cxnLst/>
              <a:rect l="l" t="t" r="r" b="b"/>
              <a:pathLst>
                <a:path w="10152380" h="360044">
                  <a:moveTo>
                    <a:pt x="9971999" y="359999"/>
                  </a:moveTo>
                  <a:lnTo>
                    <a:pt x="179999" y="359999"/>
                  </a:lnTo>
                  <a:lnTo>
                    <a:pt x="132148" y="353570"/>
                  </a:lnTo>
                  <a:lnTo>
                    <a:pt x="89150" y="335424"/>
                  </a:lnTo>
                  <a:lnTo>
                    <a:pt x="52720" y="307279"/>
                  </a:lnTo>
                  <a:lnTo>
                    <a:pt x="24575" y="270849"/>
                  </a:lnTo>
                  <a:lnTo>
                    <a:pt x="6429" y="227851"/>
                  </a:lnTo>
                  <a:lnTo>
                    <a:pt x="0" y="179999"/>
                  </a:lnTo>
                  <a:lnTo>
                    <a:pt x="6429" y="132148"/>
                  </a:lnTo>
                  <a:lnTo>
                    <a:pt x="24575" y="89150"/>
                  </a:lnTo>
                  <a:lnTo>
                    <a:pt x="52720" y="52720"/>
                  </a:lnTo>
                  <a:lnTo>
                    <a:pt x="89150" y="24575"/>
                  </a:lnTo>
                  <a:lnTo>
                    <a:pt x="132148" y="6429"/>
                  </a:lnTo>
                  <a:lnTo>
                    <a:pt x="179999" y="0"/>
                  </a:lnTo>
                  <a:lnTo>
                    <a:pt x="9971999" y="0"/>
                  </a:lnTo>
                  <a:lnTo>
                    <a:pt x="10040882" y="13701"/>
                  </a:lnTo>
                  <a:lnTo>
                    <a:pt x="10099279" y="52720"/>
                  </a:lnTo>
                  <a:lnTo>
                    <a:pt x="10138298" y="111116"/>
                  </a:lnTo>
                  <a:lnTo>
                    <a:pt x="10151999" y="179999"/>
                  </a:lnTo>
                  <a:lnTo>
                    <a:pt x="10145570" y="227851"/>
                  </a:lnTo>
                  <a:lnTo>
                    <a:pt x="10127424" y="270849"/>
                  </a:lnTo>
                  <a:lnTo>
                    <a:pt x="10099279" y="307279"/>
                  </a:lnTo>
                  <a:lnTo>
                    <a:pt x="10062849" y="335424"/>
                  </a:lnTo>
                  <a:lnTo>
                    <a:pt x="10019851" y="353570"/>
                  </a:lnTo>
                  <a:lnTo>
                    <a:pt x="9971999" y="359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582327"/>
              <a:ext cx="12192000" cy="454025"/>
            </a:xfrm>
            <a:custGeom>
              <a:avLst/>
              <a:gdLst/>
              <a:ahLst/>
              <a:cxnLst/>
              <a:rect l="l" t="t" r="r" b="b"/>
              <a:pathLst>
                <a:path w="12192000" h="454025">
                  <a:moveTo>
                    <a:pt x="1275346" y="179999"/>
                  </a:moveTo>
                  <a:lnTo>
                    <a:pt x="1281776" y="132148"/>
                  </a:lnTo>
                  <a:lnTo>
                    <a:pt x="1299922" y="89150"/>
                  </a:lnTo>
                  <a:lnTo>
                    <a:pt x="1328067" y="52720"/>
                  </a:lnTo>
                  <a:lnTo>
                    <a:pt x="1364497" y="24575"/>
                  </a:lnTo>
                  <a:lnTo>
                    <a:pt x="1407495" y="6429"/>
                  </a:lnTo>
                  <a:lnTo>
                    <a:pt x="1455346" y="0"/>
                  </a:lnTo>
                  <a:lnTo>
                    <a:pt x="11247346" y="0"/>
                  </a:lnTo>
                  <a:lnTo>
                    <a:pt x="11316229" y="13701"/>
                  </a:lnTo>
                  <a:lnTo>
                    <a:pt x="11374626" y="52720"/>
                  </a:lnTo>
                  <a:lnTo>
                    <a:pt x="11413645" y="111116"/>
                  </a:lnTo>
                  <a:lnTo>
                    <a:pt x="11427346" y="179999"/>
                  </a:lnTo>
                  <a:lnTo>
                    <a:pt x="11420917" y="227851"/>
                  </a:lnTo>
                  <a:lnTo>
                    <a:pt x="11402771" y="270849"/>
                  </a:lnTo>
                  <a:lnTo>
                    <a:pt x="11374626" y="307279"/>
                  </a:lnTo>
                  <a:lnTo>
                    <a:pt x="11338196" y="335424"/>
                  </a:lnTo>
                  <a:lnTo>
                    <a:pt x="11295198" y="353570"/>
                  </a:lnTo>
                  <a:lnTo>
                    <a:pt x="11247346" y="359999"/>
                  </a:lnTo>
                  <a:lnTo>
                    <a:pt x="1455346" y="359999"/>
                  </a:lnTo>
                  <a:lnTo>
                    <a:pt x="1407495" y="353570"/>
                  </a:lnTo>
                  <a:lnTo>
                    <a:pt x="1364497" y="335424"/>
                  </a:lnTo>
                  <a:lnTo>
                    <a:pt x="1328067" y="307279"/>
                  </a:lnTo>
                  <a:lnTo>
                    <a:pt x="1299922" y="270849"/>
                  </a:lnTo>
                  <a:lnTo>
                    <a:pt x="1281776" y="227851"/>
                  </a:lnTo>
                  <a:lnTo>
                    <a:pt x="1275346" y="179999"/>
                  </a:lnTo>
                  <a:close/>
                </a:path>
                <a:path w="12192000" h="454025">
                  <a:moveTo>
                    <a:pt x="0" y="453991"/>
                  </a:moveTo>
                  <a:lnTo>
                    <a:pt x="12191999" y="453991"/>
                  </a:lnTo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117" y="666656"/>
              <a:ext cx="208279" cy="20097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031981" y="1086731"/>
              <a:ext cx="133350" cy="2268220"/>
            </a:xfrm>
            <a:custGeom>
              <a:avLst/>
              <a:gdLst/>
              <a:ahLst/>
              <a:cxnLst/>
              <a:rect l="l" t="t" r="r" b="b"/>
              <a:pathLst>
                <a:path w="133350" h="2268220">
                  <a:moveTo>
                    <a:pt x="66408" y="2267755"/>
                  </a:moveTo>
                  <a:lnTo>
                    <a:pt x="23173" y="2257464"/>
                  </a:lnTo>
                  <a:lnTo>
                    <a:pt x="1383" y="2220310"/>
                  </a:lnTo>
                  <a:lnTo>
                    <a:pt x="1037" y="2211755"/>
                  </a:lnTo>
                  <a:lnTo>
                    <a:pt x="1209" y="2203199"/>
                  </a:lnTo>
                  <a:lnTo>
                    <a:pt x="1382" y="2195003"/>
                  </a:lnTo>
                  <a:lnTo>
                    <a:pt x="1194" y="2144541"/>
                  </a:lnTo>
                  <a:lnTo>
                    <a:pt x="1024" y="2094079"/>
                  </a:lnTo>
                  <a:lnTo>
                    <a:pt x="870" y="2043616"/>
                  </a:lnTo>
                  <a:lnTo>
                    <a:pt x="733" y="1993151"/>
                  </a:lnTo>
                  <a:lnTo>
                    <a:pt x="611" y="1942683"/>
                  </a:lnTo>
                  <a:lnTo>
                    <a:pt x="503" y="1892212"/>
                  </a:lnTo>
                  <a:lnTo>
                    <a:pt x="409" y="1841737"/>
                  </a:lnTo>
                  <a:lnTo>
                    <a:pt x="328" y="1791259"/>
                  </a:lnTo>
                  <a:lnTo>
                    <a:pt x="258" y="1740775"/>
                  </a:lnTo>
                  <a:lnTo>
                    <a:pt x="198" y="1690285"/>
                  </a:lnTo>
                  <a:lnTo>
                    <a:pt x="149" y="1639790"/>
                  </a:lnTo>
                  <a:lnTo>
                    <a:pt x="108" y="1589287"/>
                  </a:lnTo>
                  <a:lnTo>
                    <a:pt x="76" y="1538777"/>
                  </a:lnTo>
                  <a:lnTo>
                    <a:pt x="51" y="1488259"/>
                  </a:lnTo>
                  <a:lnTo>
                    <a:pt x="32" y="1437733"/>
                  </a:lnTo>
                  <a:lnTo>
                    <a:pt x="18" y="1387197"/>
                  </a:lnTo>
                  <a:lnTo>
                    <a:pt x="9" y="1336651"/>
                  </a:lnTo>
                  <a:lnTo>
                    <a:pt x="4" y="1286095"/>
                  </a:lnTo>
                  <a:lnTo>
                    <a:pt x="1" y="1235527"/>
                  </a:lnTo>
                  <a:lnTo>
                    <a:pt x="0" y="1184948"/>
                  </a:lnTo>
                  <a:lnTo>
                    <a:pt x="0" y="1134356"/>
                  </a:lnTo>
                  <a:lnTo>
                    <a:pt x="0" y="67966"/>
                  </a:lnTo>
                  <a:lnTo>
                    <a:pt x="3934" y="37961"/>
                  </a:lnTo>
                  <a:lnTo>
                    <a:pt x="15910" y="16752"/>
                  </a:lnTo>
                  <a:lnTo>
                    <a:pt x="36188" y="4158"/>
                  </a:lnTo>
                  <a:lnTo>
                    <a:pt x="65025" y="0"/>
                  </a:lnTo>
                  <a:lnTo>
                    <a:pt x="94079" y="4023"/>
                  </a:lnTo>
                  <a:lnTo>
                    <a:pt x="114831" y="16393"/>
                  </a:lnTo>
                  <a:lnTo>
                    <a:pt x="127283" y="37557"/>
                  </a:lnTo>
                  <a:lnTo>
                    <a:pt x="131433" y="67966"/>
                  </a:lnTo>
                  <a:lnTo>
                    <a:pt x="131433" y="2212234"/>
                  </a:lnTo>
                  <a:lnTo>
                    <a:pt x="132816" y="2220848"/>
                  </a:lnTo>
                  <a:lnTo>
                    <a:pt x="130049" y="2228506"/>
                  </a:lnTo>
                  <a:lnTo>
                    <a:pt x="122829" y="2245139"/>
                  </a:lnTo>
                  <a:lnTo>
                    <a:pt x="109643" y="2257464"/>
                  </a:lnTo>
                  <a:lnTo>
                    <a:pt x="90749" y="2265122"/>
                  </a:lnTo>
                  <a:lnTo>
                    <a:pt x="66408" y="226775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004357" y="1037272"/>
              <a:ext cx="12700" cy="5793740"/>
            </a:xfrm>
            <a:custGeom>
              <a:avLst/>
              <a:gdLst/>
              <a:ahLst/>
              <a:cxnLst/>
              <a:rect l="l" t="t" r="r" b="b"/>
              <a:pathLst>
                <a:path w="12700" h="5793740">
                  <a:moveTo>
                    <a:pt x="8572" y="5793371"/>
                  </a:moveTo>
                  <a:lnTo>
                    <a:pt x="3810" y="5791934"/>
                  </a:lnTo>
                  <a:lnTo>
                    <a:pt x="0" y="5791934"/>
                  </a:lnTo>
                  <a:lnTo>
                    <a:pt x="148" y="5774899"/>
                  </a:lnTo>
                  <a:lnTo>
                    <a:pt x="804" y="5741368"/>
                  </a:lnTo>
                  <a:lnTo>
                    <a:pt x="952" y="5724334"/>
                  </a:lnTo>
                  <a:lnTo>
                    <a:pt x="952" y="63284"/>
                  </a:lnTo>
                  <a:lnTo>
                    <a:pt x="804" y="47328"/>
                  </a:lnTo>
                  <a:lnTo>
                    <a:pt x="148" y="15956"/>
                  </a:lnTo>
                  <a:lnTo>
                    <a:pt x="0" y="0"/>
                  </a:lnTo>
                  <a:lnTo>
                    <a:pt x="3810" y="5753"/>
                  </a:lnTo>
                  <a:lnTo>
                    <a:pt x="10477" y="10068"/>
                  </a:lnTo>
                  <a:lnTo>
                    <a:pt x="11429" y="15821"/>
                  </a:lnTo>
                  <a:lnTo>
                    <a:pt x="12382" y="28743"/>
                  </a:lnTo>
                  <a:lnTo>
                    <a:pt x="12621" y="41530"/>
                  </a:lnTo>
                  <a:lnTo>
                    <a:pt x="12502" y="54048"/>
                  </a:lnTo>
                  <a:lnTo>
                    <a:pt x="12382" y="66160"/>
                  </a:lnTo>
                  <a:lnTo>
                    <a:pt x="12382" y="5791934"/>
                  </a:lnTo>
                  <a:lnTo>
                    <a:pt x="8572" y="5793371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978386" y="641514"/>
              <a:ext cx="52705" cy="191770"/>
            </a:xfrm>
            <a:custGeom>
              <a:avLst/>
              <a:gdLst/>
              <a:ahLst/>
              <a:cxnLst/>
              <a:rect l="l" t="t" r="r" b="b"/>
              <a:pathLst>
                <a:path w="52704" h="191769">
                  <a:moveTo>
                    <a:pt x="52324" y="172313"/>
                  </a:moveTo>
                  <a:lnTo>
                    <a:pt x="42722" y="164630"/>
                  </a:lnTo>
                  <a:lnTo>
                    <a:pt x="34785" y="157784"/>
                  </a:lnTo>
                  <a:lnTo>
                    <a:pt x="28282" y="153098"/>
                  </a:lnTo>
                  <a:lnTo>
                    <a:pt x="22974" y="151892"/>
                  </a:lnTo>
                  <a:lnTo>
                    <a:pt x="16687" y="153974"/>
                  </a:lnTo>
                  <a:lnTo>
                    <a:pt x="11010" y="159067"/>
                  </a:lnTo>
                  <a:lnTo>
                    <a:pt x="5562" y="165341"/>
                  </a:lnTo>
                  <a:lnTo>
                    <a:pt x="0" y="171030"/>
                  </a:lnTo>
                  <a:lnTo>
                    <a:pt x="4800" y="176733"/>
                  </a:lnTo>
                  <a:lnTo>
                    <a:pt x="9728" y="183159"/>
                  </a:lnTo>
                  <a:lnTo>
                    <a:pt x="14897" y="188620"/>
                  </a:lnTo>
                  <a:lnTo>
                    <a:pt x="20421" y="191452"/>
                  </a:lnTo>
                  <a:lnTo>
                    <a:pt x="26657" y="190258"/>
                  </a:lnTo>
                  <a:lnTo>
                    <a:pt x="33985" y="185712"/>
                  </a:lnTo>
                  <a:lnTo>
                    <a:pt x="42494" y="179247"/>
                  </a:lnTo>
                  <a:lnTo>
                    <a:pt x="52324" y="172313"/>
                  </a:lnTo>
                  <a:close/>
                </a:path>
                <a:path w="52704" h="191769">
                  <a:moveTo>
                    <a:pt x="52324" y="97002"/>
                  </a:moveTo>
                  <a:lnTo>
                    <a:pt x="42722" y="89306"/>
                  </a:lnTo>
                  <a:lnTo>
                    <a:pt x="34785" y="82321"/>
                  </a:lnTo>
                  <a:lnTo>
                    <a:pt x="28282" y="77254"/>
                  </a:lnTo>
                  <a:lnTo>
                    <a:pt x="22974" y="75298"/>
                  </a:lnTo>
                  <a:lnTo>
                    <a:pt x="17233" y="77939"/>
                  </a:lnTo>
                  <a:lnTo>
                    <a:pt x="11480" y="82956"/>
                  </a:lnTo>
                  <a:lnTo>
                    <a:pt x="5740" y="88950"/>
                  </a:lnTo>
                  <a:lnTo>
                    <a:pt x="0" y="94449"/>
                  </a:lnTo>
                  <a:lnTo>
                    <a:pt x="4800" y="100152"/>
                  </a:lnTo>
                  <a:lnTo>
                    <a:pt x="9728" y="106578"/>
                  </a:lnTo>
                  <a:lnTo>
                    <a:pt x="14897" y="112039"/>
                  </a:lnTo>
                  <a:lnTo>
                    <a:pt x="20421" y="114871"/>
                  </a:lnTo>
                  <a:lnTo>
                    <a:pt x="26479" y="113868"/>
                  </a:lnTo>
                  <a:lnTo>
                    <a:pt x="33502" y="109766"/>
                  </a:lnTo>
                  <a:lnTo>
                    <a:pt x="41960" y="103746"/>
                  </a:lnTo>
                  <a:lnTo>
                    <a:pt x="52324" y="97002"/>
                  </a:lnTo>
                  <a:close/>
                </a:path>
                <a:path w="52704" h="191769">
                  <a:moveTo>
                    <a:pt x="52324" y="21691"/>
                  </a:moveTo>
                  <a:lnTo>
                    <a:pt x="42722" y="13995"/>
                  </a:lnTo>
                  <a:lnTo>
                    <a:pt x="34785" y="7023"/>
                  </a:lnTo>
                  <a:lnTo>
                    <a:pt x="28282" y="1955"/>
                  </a:lnTo>
                  <a:lnTo>
                    <a:pt x="22974" y="0"/>
                  </a:lnTo>
                  <a:lnTo>
                    <a:pt x="17233" y="2095"/>
                  </a:lnTo>
                  <a:lnTo>
                    <a:pt x="11480" y="7175"/>
                  </a:lnTo>
                  <a:lnTo>
                    <a:pt x="5740" y="13462"/>
                  </a:lnTo>
                  <a:lnTo>
                    <a:pt x="0" y="19138"/>
                  </a:lnTo>
                  <a:lnTo>
                    <a:pt x="4800" y="25590"/>
                  </a:lnTo>
                  <a:lnTo>
                    <a:pt x="9728" y="32385"/>
                  </a:lnTo>
                  <a:lnTo>
                    <a:pt x="14897" y="37985"/>
                  </a:lnTo>
                  <a:lnTo>
                    <a:pt x="20421" y="40843"/>
                  </a:lnTo>
                  <a:lnTo>
                    <a:pt x="26479" y="39827"/>
                  </a:lnTo>
                  <a:lnTo>
                    <a:pt x="33502" y="35572"/>
                  </a:lnTo>
                  <a:lnTo>
                    <a:pt x="41960" y="29171"/>
                  </a:lnTo>
                  <a:lnTo>
                    <a:pt x="52324" y="21691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540" y="690773"/>
              <a:ext cx="199479" cy="1786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852" y="689158"/>
              <a:ext cx="199479" cy="1786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1347" y="3787096"/>
              <a:ext cx="7589300" cy="7919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428346" y="3914096"/>
              <a:ext cx="7335520" cy="538480"/>
            </a:xfrm>
            <a:custGeom>
              <a:avLst/>
              <a:gdLst/>
              <a:ahLst/>
              <a:cxnLst/>
              <a:rect l="l" t="t" r="r" b="b"/>
              <a:pathLst>
                <a:path w="7335520" h="538479">
                  <a:moveTo>
                    <a:pt x="7066349" y="537899"/>
                  </a:moveTo>
                  <a:lnTo>
                    <a:pt x="268949" y="537899"/>
                  </a:lnTo>
                  <a:lnTo>
                    <a:pt x="220605" y="533566"/>
                  </a:lnTo>
                  <a:lnTo>
                    <a:pt x="175104" y="521073"/>
                  </a:lnTo>
                  <a:lnTo>
                    <a:pt x="133205" y="501180"/>
                  </a:lnTo>
                  <a:lnTo>
                    <a:pt x="95669" y="474646"/>
                  </a:lnTo>
                  <a:lnTo>
                    <a:pt x="63253" y="442231"/>
                  </a:lnTo>
                  <a:lnTo>
                    <a:pt x="36719" y="404694"/>
                  </a:lnTo>
                  <a:lnTo>
                    <a:pt x="16826" y="362795"/>
                  </a:lnTo>
                  <a:lnTo>
                    <a:pt x="4333" y="317294"/>
                  </a:lnTo>
                  <a:lnTo>
                    <a:pt x="0" y="268949"/>
                  </a:lnTo>
                  <a:lnTo>
                    <a:pt x="4333" y="220605"/>
                  </a:lnTo>
                  <a:lnTo>
                    <a:pt x="16826" y="175104"/>
                  </a:lnTo>
                  <a:lnTo>
                    <a:pt x="36719" y="133205"/>
                  </a:lnTo>
                  <a:lnTo>
                    <a:pt x="63253" y="95668"/>
                  </a:lnTo>
                  <a:lnTo>
                    <a:pt x="95669" y="63253"/>
                  </a:lnTo>
                  <a:lnTo>
                    <a:pt x="133205" y="36719"/>
                  </a:lnTo>
                  <a:lnTo>
                    <a:pt x="175104" y="16826"/>
                  </a:lnTo>
                  <a:lnTo>
                    <a:pt x="220605" y="4333"/>
                  </a:lnTo>
                  <a:lnTo>
                    <a:pt x="268949" y="0"/>
                  </a:lnTo>
                  <a:lnTo>
                    <a:pt x="7066349" y="0"/>
                  </a:lnTo>
                  <a:lnTo>
                    <a:pt x="7119064" y="5215"/>
                  </a:lnTo>
                  <a:lnTo>
                    <a:pt x="7169272" y="20472"/>
                  </a:lnTo>
                  <a:lnTo>
                    <a:pt x="7215563" y="45186"/>
                  </a:lnTo>
                  <a:lnTo>
                    <a:pt x="7256526" y="78773"/>
                  </a:lnTo>
                  <a:lnTo>
                    <a:pt x="7290113" y="119736"/>
                  </a:lnTo>
                  <a:lnTo>
                    <a:pt x="7314827" y="166027"/>
                  </a:lnTo>
                  <a:lnTo>
                    <a:pt x="7330084" y="216235"/>
                  </a:lnTo>
                  <a:lnTo>
                    <a:pt x="7335299" y="268949"/>
                  </a:lnTo>
                  <a:lnTo>
                    <a:pt x="7330966" y="317294"/>
                  </a:lnTo>
                  <a:lnTo>
                    <a:pt x="7318473" y="362795"/>
                  </a:lnTo>
                  <a:lnTo>
                    <a:pt x="7298580" y="404694"/>
                  </a:lnTo>
                  <a:lnTo>
                    <a:pt x="7272046" y="442231"/>
                  </a:lnTo>
                  <a:lnTo>
                    <a:pt x="7239631" y="474646"/>
                  </a:lnTo>
                  <a:lnTo>
                    <a:pt x="7202094" y="501180"/>
                  </a:lnTo>
                  <a:lnTo>
                    <a:pt x="7160195" y="521073"/>
                  </a:lnTo>
                  <a:lnTo>
                    <a:pt x="7114694" y="533566"/>
                  </a:lnTo>
                  <a:lnTo>
                    <a:pt x="7066349" y="53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73097" y="4073422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101441" y="202882"/>
                  </a:moveTo>
                  <a:lnTo>
                    <a:pt x="62053" y="194877"/>
                  </a:lnTo>
                  <a:lnTo>
                    <a:pt x="29798" y="173083"/>
                  </a:lnTo>
                  <a:lnTo>
                    <a:pt x="8004" y="140828"/>
                  </a:lnTo>
                  <a:lnTo>
                    <a:pt x="0" y="101441"/>
                  </a:lnTo>
                  <a:lnTo>
                    <a:pt x="8004" y="62053"/>
                  </a:lnTo>
                  <a:lnTo>
                    <a:pt x="29798" y="29798"/>
                  </a:lnTo>
                  <a:lnTo>
                    <a:pt x="62053" y="8004"/>
                  </a:lnTo>
                  <a:lnTo>
                    <a:pt x="101441" y="0"/>
                  </a:lnTo>
                  <a:lnTo>
                    <a:pt x="140828" y="8004"/>
                  </a:lnTo>
                  <a:lnTo>
                    <a:pt x="158508" y="19949"/>
                  </a:lnTo>
                  <a:lnTo>
                    <a:pt x="101103" y="19949"/>
                  </a:lnTo>
                  <a:lnTo>
                    <a:pt x="69592" y="26353"/>
                  </a:lnTo>
                  <a:lnTo>
                    <a:pt x="43788" y="43788"/>
                  </a:lnTo>
                  <a:lnTo>
                    <a:pt x="26353" y="69592"/>
                  </a:lnTo>
                  <a:lnTo>
                    <a:pt x="19949" y="101102"/>
                  </a:lnTo>
                  <a:lnTo>
                    <a:pt x="26353" y="132613"/>
                  </a:lnTo>
                  <a:lnTo>
                    <a:pt x="43788" y="158417"/>
                  </a:lnTo>
                  <a:lnTo>
                    <a:pt x="69592" y="175852"/>
                  </a:lnTo>
                  <a:lnTo>
                    <a:pt x="101103" y="182255"/>
                  </a:lnTo>
                  <a:lnTo>
                    <a:pt x="162460" y="182255"/>
                  </a:lnTo>
                  <a:lnTo>
                    <a:pt x="149324" y="190757"/>
                  </a:lnTo>
                  <a:lnTo>
                    <a:pt x="134367" y="197345"/>
                  </a:lnTo>
                  <a:lnTo>
                    <a:pt x="118332" y="201461"/>
                  </a:lnTo>
                  <a:lnTo>
                    <a:pt x="101441" y="202882"/>
                  </a:lnTo>
                  <a:close/>
                </a:path>
                <a:path w="267335" h="267335">
                  <a:moveTo>
                    <a:pt x="162460" y="182255"/>
                  </a:moveTo>
                  <a:lnTo>
                    <a:pt x="101103" y="182255"/>
                  </a:lnTo>
                  <a:lnTo>
                    <a:pt x="132613" y="175852"/>
                  </a:lnTo>
                  <a:lnTo>
                    <a:pt x="158417" y="158417"/>
                  </a:lnTo>
                  <a:lnTo>
                    <a:pt x="175852" y="132613"/>
                  </a:lnTo>
                  <a:lnTo>
                    <a:pt x="182187" y="101441"/>
                  </a:lnTo>
                  <a:lnTo>
                    <a:pt x="182256" y="101102"/>
                  </a:lnTo>
                  <a:lnTo>
                    <a:pt x="175852" y="69592"/>
                  </a:lnTo>
                  <a:lnTo>
                    <a:pt x="158417" y="43788"/>
                  </a:lnTo>
                  <a:lnTo>
                    <a:pt x="132613" y="26353"/>
                  </a:lnTo>
                  <a:lnTo>
                    <a:pt x="101103" y="19949"/>
                  </a:lnTo>
                  <a:lnTo>
                    <a:pt x="158508" y="19949"/>
                  </a:lnTo>
                  <a:lnTo>
                    <a:pt x="173084" y="29798"/>
                  </a:lnTo>
                  <a:lnTo>
                    <a:pt x="194878" y="62053"/>
                  </a:lnTo>
                  <a:lnTo>
                    <a:pt x="202813" y="101102"/>
                  </a:lnTo>
                  <a:lnTo>
                    <a:pt x="202882" y="101441"/>
                  </a:lnTo>
                  <a:lnTo>
                    <a:pt x="201461" y="118379"/>
                  </a:lnTo>
                  <a:lnTo>
                    <a:pt x="197345" y="134494"/>
                  </a:lnTo>
                  <a:lnTo>
                    <a:pt x="190757" y="149467"/>
                  </a:lnTo>
                  <a:lnTo>
                    <a:pt x="181917" y="162982"/>
                  </a:lnTo>
                  <a:lnTo>
                    <a:pt x="196796" y="177859"/>
                  </a:lnTo>
                  <a:lnTo>
                    <a:pt x="209418" y="177859"/>
                  </a:lnTo>
                  <a:lnTo>
                    <a:pt x="212012" y="178536"/>
                  </a:lnTo>
                  <a:lnTo>
                    <a:pt x="215393" y="181917"/>
                  </a:lnTo>
                  <a:lnTo>
                    <a:pt x="162982" y="181917"/>
                  </a:lnTo>
                  <a:lnTo>
                    <a:pt x="162460" y="182255"/>
                  </a:lnTo>
                  <a:close/>
                </a:path>
                <a:path w="267335" h="267335">
                  <a:moveTo>
                    <a:pt x="209418" y="177859"/>
                  </a:moveTo>
                  <a:lnTo>
                    <a:pt x="196796" y="177859"/>
                  </a:lnTo>
                  <a:lnTo>
                    <a:pt x="204234" y="176507"/>
                  </a:lnTo>
                  <a:lnTo>
                    <a:pt x="209418" y="177859"/>
                  </a:lnTo>
                  <a:close/>
                </a:path>
                <a:path w="267335" h="267335">
                  <a:moveTo>
                    <a:pt x="249545" y="267128"/>
                  </a:moveTo>
                  <a:lnTo>
                    <a:pt x="237372" y="267128"/>
                  </a:lnTo>
                  <a:lnTo>
                    <a:pt x="231286" y="264761"/>
                  </a:lnTo>
                  <a:lnTo>
                    <a:pt x="178536" y="212012"/>
                  </a:lnTo>
                  <a:lnTo>
                    <a:pt x="176507" y="204234"/>
                  </a:lnTo>
                  <a:lnTo>
                    <a:pt x="177760" y="197345"/>
                  </a:lnTo>
                  <a:lnTo>
                    <a:pt x="177860" y="196795"/>
                  </a:lnTo>
                  <a:lnTo>
                    <a:pt x="162982" y="181917"/>
                  </a:lnTo>
                  <a:lnTo>
                    <a:pt x="215393" y="181917"/>
                  </a:lnTo>
                  <a:lnTo>
                    <a:pt x="260027" y="226551"/>
                  </a:lnTo>
                  <a:lnTo>
                    <a:pt x="265168" y="234302"/>
                  </a:lnTo>
                  <a:lnTo>
                    <a:pt x="266917" y="243163"/>
                  </a:lnTo>
                  <a:lnTo>
                    <a:pt x="265305" y="252086"/>
                  </a:lnTo>
                  <a:lnTo>
                    <a:pt x="260365" y="260027"/>
                  </a:lnTo>
                  <a:lnTo>
                    <a:pt x="255631" y="264761"/>
                  </a:lnTo>
                  <a:lnTo>
                    <a:pt x="249545" y="2671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444521" y="4268715"/>
              <a:ext cx="22860" cy="72390"/>
            </a:xfrm>
            <a:custGeom>
              <a:avLst/>
              <a:gdLst/>
              <a:ahLst/>
              <a:cxnLst/>
              <a:rect l="l" t="t" r="r" b="b"/>
              <a:pathLst>
                <a:path w="22859" h="72389">
                  <a:moveTo>
                    <a:pt x="17327" y="72333"/>
                  </a:moveTo>
                  <a:lnTo>
                    <a:pt x="4997" y="72333"/>
                  </a:lnTo>
                  <a:lnTo>
                    <a:pt x="0" y="67336"/>
                  </a:lnTo>
                  <a:lnTo>
                    <a:pt x="0" y="11162"/>
                  </a:lnTo>
                  <a:lnTo>
                    <a:pt x="0" y="4997"/>
                  </a:lnTo>
                  <a:lnTo>
                    <a:pt x="4997" y="0"/>
                  </a:lnTo>
                  <a:lnTo>
                    <a:pt x="14122" y="0"/>
                  </a:lnTo>
                  <a:lnTo>
                    <a:pt x="16961" y="1176"/>
                  </a:lnTo>
                  <a:lnTo>
                    <a:pt x="19055" y="3269"/>
                  </a:lnTo>
                  <a:lnTo>
                    <a:pt x="21148" y="5362"/>
                  </a:lnTo>
                  <a:lnTo>
                    <a:pt x="22324" y="8202"/>
                  </a:lnTo>
                  <a:lnTo>
                    <a:pt x="22324" y="67336"/>
                  </a:lnTo>
                  <a:lnTo>
                    <a:pt x="17327" y="72333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80922" y="4164647"/>
              <a:ext cx="149603" cy="1066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15912" y="4047351"/>
              <a:ext cx="79530" cy="18874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567159" y="612647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132986" y="265973"/>
                  </a:moveTo>
                  <a:lnTo>
                    <a:pt x="90952" y="259193"/>
                  </a:lnTo>
                  <a:lnTo>
                    <a:pt x="54446" y="240314"/>
                  </a:lnTo>
                  <a:lnTo>
                    <a:pt x="25658" y="211526"/>
                  </a:lnTo>
                  <a:lnTo>
                    <a:pt x="6779" y="175020"/>
                  </a:lnTo>
                  <a:lnTo>
                    <a:pt x="0" y="132986"/>
                  </a:lnTo>
                  <a:lnTo>
                    <a:pt x="6779" y="90952"/>
                  </a:lnTo>
                  <a:lnTo>
                    <a:pt x="25658" y="54446"/>
                  </a:lnTo>
                  <a:lnTo>
                    <a:pt x="54446" y="25658"/>
                  </a:lnTo>
                  <a:lnTo>
                    <a:pt x="90952" y="6779"/>
                  </a:lnTo>
                  <a:lnTo>
                    <a:pt x="132986" y="0"/>
                  </a:lnTo>
                  <a:lnTo>
                    <a:pt x="159052" y="2578"/>
                  </a:lnTo>
                  <a:lnTo>
                    <a:pt x="206768" y="22343"/>
                  </a:lnTo>
                  <a:lnTo>
                    <a:pt x="243630" y="59205"/>
                  </a:lnTo>
                  <a:lnTo>
                    <a:pt x="263394" y="106921"/>
                  </a:lnTo>
                  <a:lnTo>
                    <a:pt x="265973" y="132986"/>
                  </a:lnTo>
                  <a:lnTo>
                    <a:pt x="259193" y="175020"/>
                  </a:lnTo>
                  <a:lnTo>
                    <a:pt x="240314" y="211526"/>
                  </a:lnTo>
                  <a:lnTo>
                    <a:pt x="211526" y="240314"/>
                  </a:lnTo>
                  <a:lnTo>
                    <a:pt x="175020" y="259193"/>
                  </a:lnTo>
                  <a:lnTo>
                    <a:pt x="132986" y="265973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4270" y="669524"/>
              <a:ext cx="152699" cy="16229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503986" y="6613304"/>
            <a:ext cx="1183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57070"/>
                </a:solidFill>
                <a:latin typeface="Roboto"/>
                <a:cs typeface="Roboto"/>
              </a:rPr>
              <a:t>slidesmania.com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12825" y="4028588"/>
            <a:ext cx="7899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 err="1">
                <a:solidFill>
                  <a:srgbClr val="595959"/>
                </a:solidFill>
                <a:latin typeface="Roboto"/>
                <a:cs typeface="Roboto"/>
              </a:rPr>
              <a:t>Лекция</a:t>
            </a:r>
            <a:r>
              <a:rPr sz="1400" spc="-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lang="ru-RU" sz="1400" spc="-50" dirty="0">
                <a:solidFill>
                  <a:srgbClr val="595959"/>
                </a:solidFill>
                <a:latin typeface="Roboto"/>
                <a:cs typeface="Roboto"/>
              </a:rPr>
              <a:t>2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2646680" marR="5080" indent="-2633980">
              <a:lnSpc>
                <a:spcPts val="6750"/>
              </a:lnSpc>
              <a:spcBef>
                <a:spcPts val="1700"/>
              </a:spcBef>
            </a:pP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н</a:t>
            </a:r>
            <a:r>
              <a:rPr sz="7000" spc="-30" dirty="0">
                <a:solidFill>
                  <a:srgbClr val="FABB05"/>
                </a:solidFill>
                <a:latin typeface="Microsoft Sans Serif"/>
                <a:cs typeface="Microsoft Sans Serif"/>
              </a:rPr>
              <a:t>ф</a:t>
            </a:r>
            <a:r>
              <a:rPr sz="7000" spc="-30" dirty="0">
                <a:solidFill>
                  <a:srgbClr val="34A853"/>
                </a:solidFill>
                <a:latin typeface="Microsoft Sans Serif"/>
                <a:cs typeface="Microsoft Sans Serif"/>
              </a:rPr>
              <a:t>о</a:t>
            </a: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р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м</a:t>
            </a:r>
            <a:r>
              <a:rPr sz="7000" spc="-30" dirty="0">
                <a:solidFill>
                  <a:srgbClr val="FABB05"/>
                </a:solidFill>
                <a:latin typeface="Microsoft Sans Serif"/>
                <a:cs typeface="Microsoft Sans Serif"/>
              </a:rPr>
              <a:t>а</a:t>
            </a:r>
            <a:r>
              <a:rPr sz="7000" spc="-30" dirty="0">
                <a:solidFill>
                  <a:srgbClr val="34A853"/>
                </a:solidFill>
                <a:latin typeface="Microsoft Sans Serif"/>
                <a:cs typeface="Microsoft Sans Serif"/>
              </a:rPr>
              <a:t>ц</a:t>
            </a: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о</a:t>
            </a:r>
            <a:r>
              <a:rPr sz="7000" spc="-30" dirty="0">
                <a:solidFill>
                  <a:srgbClr val="FABB05"/>
                </a:solidFill>
                <a:latin typeface="Microsoft Sans Serif"/>
                <a:cs typeface="Microsoft Sans Serif"/>
              </a:rPr>
              <a:t>н</a:t>
            </a:r>
            <a:r>
              <a:rPr sz="7000" spc="-30" dirty="0">
                <a:solidFill>
                  <a:srgbClr val="34A853"/>
                </a:solidFill>
                <a:latin typeface="Microsoft Sans Serif"/>
                <a:cs typeface="Microsoft Sans Serif"/>
              </a:rPr>
              <a:t>н</a:t>
            </a:r>
            <a:r>
              <a:rPr sz="7000" spc="-30" dirty="0">
                <a:solidFill>
                  <a:srgbClr val="4285F4"/>
                </a:solidFill>
                <a:latin typeface="Microsoft Sans Serif"/>
                <a:cs typeface="Microsoft Sans Serif"/>
              </a:rPr>
              <a:t>ы</a:t>
            </a:r>
            <a:r>
              <a:rPr sz="7000" spc="-30" dirty="0">
                <a:solidFill>
                  <a:srgbClr val="EA4335"/>
                </a:solidFill>
                <a:latin typeface="Microsoft Sans Serif"/>
                <a:cs typeface="Microsoft Sans Serif"/>
              </a:rPr>
              <a:t>й </a:t>
            </a:r>
            <a:r>
              <a:rPr sz="7000" spc="-10" dirty="0">
                <a:solidFill>
                  <a:srgbClr val="FABB05"/>
                </a:solidFill>
                <a:latin typeface="Microsoft Sans Serif"/>
                <a:cs typeface="Microsoft Sans Serif"/>
              </a:rPr>
              <a:t>п</a:t>
            </a:r>
            <a:r>
              <a:rPr sz="7000" spc="-10" dirty="0">
                <a:solidFill>
                  <a:srgbClr val="34A853"/>
                </a:solidFill>
                <a:latin typeface="Microsoft Sans Serif"/>
                <a:cs typeface="Microsoft Sans Serif"/>
              </a:rPr>
              <a:t>о</a:t>
            </a:r>
            <a:r>
              <a:rPr sz="7000" spc="-10" dirty="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sz="7000" spc="-10" dirty="0">
                <a:solidFill>
                  <a:srgbClr val="EA4335"/>
                </a:solidFill>
                <a:latin typeface="Microsoft Sans Serif"/>
                <a:cs typeface="Microsoft Sans Serif"/>
              </a:rPr>
              <a:t>с</a:t>
            </a:r>
            <a:r>
              <a:rPr sz="7000" spc="-10" dirty="0">
                <a:solidFill>
                  <a:srgbClr val="FABB05"/>
                </a:solidFill>
                <a:latin typeface="Microsoft Sans Serif"/>
                <a:cs typeface="Microsoft Sans Serif"/>
              </a:rPr>
              <a:t>к</a:t>
            </a:r>
            <a:endParaRPr sz="7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9660255" cy="1389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Microsoft Sans Serif"/>
                <a:cs typeface="Microsoft Sans Serif"/>
              </a:rPr>
              <a:t>Булев</a:t>
            </a:r>
            <a:r>
              <a:rPr sz="4000" spc="-130" dirty="0">
                <a:latin typeface="Microsoft Sans Serif"/>
                <a:cs typeface="Microsoft Sans Serif"/>
              </a:rPr>
              <a:t> </a:t>
            </a:r>
            <a:r>
              <a:rPr sz="4000" spc="-10" dirty="0">
                <a:latin typeface="Microsoft Sans Serif"/>
                <a:cs typeface="Microsoft Sans Serif"/>
              </a:rPr>
              <a:t>поиск</a:t>
            </a:r>
            <a:endParaRPr sz="4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614"/>
              </a:spcBef>
            </a:pPr>
            <a:r>
              <a:rPr sz="1800" spc="-25" dirty="0">
                <a:latin typeface="Roboto"/>
                <a:cs typeface="Roboto"/>
              </a:rPr>
              <a:t>Используются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20" dirty="0" err="1">
                <a:latin typeface="Roboto"/>
                <a:cs typeface="Roboto"/>
              </a:rPr>
              <a:t>операторы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30" dirty="0" err="1">
                <a:latin typeface="Roboto"/>
                <a:cs typeface="Roboto"/>
              </a:rPr>
              <a:t>алгебры</a:t>
            </a:r>
            <a:r>
              <a:rPr lang="ru-RU" sz="1800" spc="-30" dirty="0">
                <a:latin typeface="Roboto"/>
                <a:cs typeface="Roboto"/>
              </a:rPr>
              <a:t> </a:t>
            </a:r>
            <a:r>
              <a:rPr sz="1800" spc="-35" dirty="0" err="1">
                <a:latin typeface="Roboto"/>
                <a:cs typeface="Roboto"/>
              </a:rPr>
              <a:t>логики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(or,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and,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xor).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Есть</a:t>
            </a:r>
            <a:r>
              <a:rPr sz="1800" spc="-7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только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два</a:t>
            </a:r>
            <a:r>
              <a:rPr sz="1800" spc="-6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варианта:</a:t>
            </a:r>
            <a:r>
              <a:rPr sz="1800" spc="-20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объект </a:t>
            </a:r>
            <a:r>
              <a:rPr sz="1800" dirty="0">
                <a:latin typeface="Roboto"/>
                <a:cs typeface="Roboto"/>
              </a:rPr>
              <a:t>либо</a:t>
            </a:r>
            <a:r>
              <a:rPr sz="1800" spc="-40" dirty="0">
                <a:latin typeface="Roboto"/>
                <a:cs typeface="Roboto"/>
              </a:rPr>
              <a:t> подходит </a:t>
            </a:r>
            <a:r>
              <a:rPr sz="1800" spc="-10" dirty="0">
                <a:latin typeface="Roboto"/>
                <a:cs typeface="Roboto"/>
              </a:rPr>
              <a:t>под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запрос,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либо</a:t>
            </a:r>
            <a:r>
              <a:rPr sz="1800" spc="-40" dirty="0">
                <a:latin typeface="Roboto"/>
                <a:cs typeface="Roboto"/>
              </a:rPr>
              <a:t> </a:t>
            </a:r>
            <a:r>
              <a:rPr sz="1800" spc="-20" dirty="0">
                <a:latin typeface="Roboto"/>
                <a:cs typeface="Roboto"/>
              </a:rPr>
              <a:t>нет.</a:t>
            </a:r>
            <a:endParaRPr sz="1800" dirty="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96037" y="3157112"/>
            <a:ext cx="4225925" cy="958215"/>
            <a:chOff x="1096037" y="3157112"/>
            <a:chExt cx="4225925" cy="958215"/>
          </a:xfrm>
        </p:grpSpPr>
        <p:sp>
          <p:nvSpPr>
            <p:cNvPr id="9" name="object 9"/>
            <p:cNvSpPr/>
            <p:nvPr/>
          </p:nvSpPr>
          <p:spPr>
            <a:xfrm>
              <a:off x="1100799" y="316187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4058146" y="948299"/>
                  </a:move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0799" y="316187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32817" y="3321700"/>
            <a:ext cx="52578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50" dirty="0">
                <a:latin typeface="Microsoft Sans Serif"/>
                <a:cs typeface="Microsoft Sans Serif"/>
              </a:rPr>
              <a:t>Кошка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94749" y="3301887"/>
            <a:ext cx="29387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была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злая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вредная,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но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мы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ее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все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0117" y="3511438"/>
            <a:ext cx="3602354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Microsoft Sans Serif"/>
                <a:cs typeface="Microsoft Sans Serif"/>
              </a:rPr>
              <a:t>равно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любили.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Звали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Кусей,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была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она </a:t>
            </a:r>
            <a:r>
              <a:rPr sz="1400" dirty="0">
                <a:latin typeface="Microsoft Sans Serif"/>
                <a:cs typeface="Microsoft Sans Serif"/>
              </a:rPr>
              <a:t>рыжая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черную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полоску.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96037" y="4201162"/>
            <a:ext cx="4225925" cy="958215"/>
            <a:chOff x="1096037" y="4201162"/>
            <a:chExt cx="4225925" cy="958215"/>
          </a:xfrm>
        </p:grpSpPr>
        <p:sp>
          <p:nvSpPr>
            <p:cNvPr id="15" name="object 15"/>
            <p:cNvSpPr/>
            <p:nvPr/>
          </p:nvSpPr>
          <p:spPr>
            <a:xfrm>
              <a:off x="1100799" y="420592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4058146" y="948299"/>
                  </a:move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00799" y="420592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16117" y="4365750"/>
              <a:ext cx="1694180" cy="213360"/>
            </a:xfrm>
            <a:custGeom>
              <a:avLst/>
              <a:gdLst/>
              <a:ahLst/>
              <a:cxnLst/>
              <a:rect l="l" t="t" r="r" b="b"/>
              <a:pathLst>
                <a:path w="1694179" h="213360">
                  <a:moveTo>
                    <a:pt x="1693880" y="213359"/>
                  </a:moveTo>
                  <a:lnTo>
                    <a:pt x="0" y="213359"/>
                  </a:lnTo>
                  <a:lnTo>
                    <a:pt x="0" y="0"/>
                  </a:lnTo>
                  <a:lnTo>
                    <a:pt x="1693880" y="0"/>
                  </a:lnTo>
                  <a:lnTo>
                    <a:pt x="1693880" y="21335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32817" y="4365750"/>
            <a:ext cx="52578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50" dirty="0">
                <a:latin typeface="Microsoft Sans Serif"/>
                <a:cs typeface="Microsoft Sans Serif"/>
              </a:rPr>
              <a:t>Кошка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94749" y="4345938"/>
            <a:ext cx="33966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-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домашнее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животное,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одно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из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наиболее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20117" y="4555488"/>
            <a:ext cx="36271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Microsoft Sans Serif"/>
                <a:cs typeface="Microsoft Sans Serif"/>
              </a:rPr>
              <a:t>популярных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(наряду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собакой)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«животных- компаньонов»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96037" y="5245212"/>
            <a:ext cx="4225925" cy="958215"/>
            <a:chOff x="1096037" y="5245212"/>
            <a:chExt cx="4225925" cy="958215"/>
          </a:xfrm>
        </p:grpSpPr>
        <p:sp>
          <p:nvSpPr>
            <p:cNvPr id="22" name="object 22"/>
            <p:cNvSpPr/>
            <p:nvPr/>
          </p:nvSpPr>
          <p:spPr>
            <a:xfrm>
              <a:off x="1100799" y="5249974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4058146" y="948299"/>
                  </a:move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00799" y="5249974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232817" y="5514575"/>
            <a:ext cx="1725295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20" dirty="0">
                <a:latin typeface="Microsoft Sans Serif"/>
                <a:cs typeface="Microsoft Sans Serif"/>
              </a:rPr>
              <a:t>Домашнее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животное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81905" y="5494763"/>
            <a:ext cx="17862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-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важная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часть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жизни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20117" y="5704313"/>
            <a:ext cx="38595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ребенка,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так</a:t>
            </a:r>
            <a:r>
              <a:rPr sz="1400" spc="-35" dirty="0">
                <a:latin typeface="Microsoft Sans Serif"/>
                <a:cs typeface="Microsoft Sans Serif"/>
              </a:rPr>
              <a:t> как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это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учит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его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ответственности.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687062" y="4201162"/>
            <a:ext cx="2244725" cy="958215"/>
            <a:chOff x="5687062" y="4201162"/>
            <a:chExt cx="2244725" cy="958215"/>
          </a:xfrm>
        </p:grpSpPr>
        <p:sp>
          <p:nvSpPr>
            <p:cNvPr id="28" name="object 28"/>
            <p:cNvSpPr/>
            <p:nvPr/>
          </p:nvSpPr>
          <p:spPr>
            <a:xfrm>
              <a:off x="5691825" y="4205925"/>
              <a:ext cx="2235200" cy="948690"/>
            </a:xfrm>
            <a:custGeom>
              <a:avLst/>
              <a:gdLst/>
              <a:ahLst/>
              <a:cxnLst/>
              <a:rect l="l" t="t" r="r" b="b"/>
              <a:pathLst>
                <a:path w="2235200" h="948689">
                  <a:moveTo>
                    <a:pt x="2076646" y="948299"/>
                  </a:moveTo>
                  <a:lnTo>
                    <a:pt x="158052" y="948299"/>
                  </a:lnTo>
                  <a:lnTo>
                    <a:pt x="108096" y="940242"/>
                  </a:lnTo>
                  <a:lnTo>
                    <a:pt x="64709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9" y="30495"/>
                  </a:lnTo>
                  <a:lnTo>
                    <a:pt x="108096" y="8057"/>
                  </a:lnTo>
                  <a:lnTo>
                    <a:pt x="158052" y="0"/>
                  </a:lnTo>
                  <a:lnTo>
                    <a:pt x="2076646" y="0"/>
                  </a:lnTo>
                  <a:lnTo>
                    <a:pt x="2137131" y="12031"/>
                  </a:lnTo>
                  <a:lnTo>
                    <a:pt x="2188406" y="46292"/>
                  </a:lnTo>
                  <a:lnTo>
                    <a:pt x="2222668" y="97568"/>
                  </a:lnTo>
                  <a:lnTo>
                    <a:pt x="2234699" y="158052"/>
                  </a:lnTo>
                  <a:lnTo>
                    <a:pt x="2234699" y="790246"/>
                  </a:lnTo>
                  <a:lnTo>
                    <a:pt x="2226642" y="840203"/>
                  </a:lnTo>
                  <a:lnTo>
                    <a:pt x="2204204" y="883590"/>
                  </a:lnTo>
                  <a:lnTo>
                    <a:pt x="2169991" y="917804"/>
                  </a:lnTo>
                  <a:lnTo>
                    <a:pt x="2126604" y="940242"/>
                  </a:lnTo>
                  <a:lnTo>
                    <a:pt x="20766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91825" y="4205925"/>
              <a:ext cx="2235200" cy="948690"/>
            </a:xfrm>
            <a:custGeom>
              <a:avLst/>
              <a:gdLst/>
              <a:ahLst/>
              <a:cxnLst/>
              <a:rect l="l" t="t" r="r" b="b"/>
              <a:pathLst>
                <a:path w="22352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9" y="30495"/>
                  </a:lnTo>
                  <a:lnTo>
                    <a:pt x="108096" y="8057"/>
                  </a:lnTo>
                  <a:lnTo>
                    <a:pt x="158052" y="0"/>
                  </a:lnTo>
                  <a:lnTo>
                    <a:pt x="2076646" y="0"/>
                  </a:lnTo>
                  <a:lnTo>
                    <a:pt x="2137131" y="12031"/>
                  </a:lnTo>
                  <a:lnTo>
                    <a:pt x="2188406" y="46292"/>
                  </a:lnTo>
                  <a:lnTo>
                    <a:pt x="2222668" y="97568"/>
                  </a:lnTo>
                  <a:lnTo>
                    <a:pt x="2234699" y="158052"/>
                  </a:lnTo>
                  <a:lnTo>
                    <a:pt x="2234699" y="790246"/>
                  </a:lnTo>
                  <a:lnTo>
                    <a:pt x="2226642" y="840203"/>
                  </a:lnTo>
                  <a:lnTo>
                    <a:pt x="2204204" y="883590"/>
                  </a:lnTo>
                  <a:lnTo>
                    <a:pt x="2169991" y="917804"/>
                  </a:lnTo>
                  <a:lnTo>
                    <a:pt x="2126604" y="940242"/>
                  </a:lnTo>
                  <a:lnTo>
                    <a:pt x="2076646" y="948299"/>
                  </a:lnTo>
                  <a:lnTo>
                    <a:pt x="158052" y="948299"/>
                  </a:lnTo>
                  <a:lnTo>
                    <a:pt x="108096" y="940242"/>
                  </a:lnTo>
                  <a:lnTo>
                    <a:pt x="64709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890359" y="4345938"/>
            <a:ext cx="183832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Microsoft Sans Serif"/>
                <a:cs typeface="Microsoft Sans Serif"/>
              </a:rPr>
              <a:t>“домашнее животное” </a:t>
            </a:r>
            <a:r>
              <a:rPr sz="1400" spc="-25" dirty="0">
                <a:latin typeface="Microsoft Sans Serif"/>
                <a:cs typeface="Microsoft Sans Serif"/>
              </a:rPr>
              <a:t>AND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ts val="1600"/>
              </a:lnSpc>
            </a:pPr>
            <a:r>
              <a:rPr sz="1400" spc="-10" dirty="0">
                <a:latin typeface="Microsoft Sans Serif"/>
                <a:cs typeface="Microsoft Sans Serif"/>
              </a:rPr>
              <a:t>“кошка”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296587" y="3861562"/>
            <a:ext cx="2685415" cy="1637030"/>
            <a:chOff x="8296587" y="3861562"/>
            <a:chExt cx="2685415" cy="1637030"/>
          </a:xfrm>
        </p:grpSpPr>
        <p:sp>
          <p:nvSpPr>
            <p:cNvPr id="32" name="object 32"/>
            <p:cNvSpPr/>
            <p:nvPr/>
          </p:nvSpPr>
          <p:spPr>
            <a:xfrm>
              <a:off x="8301349" y="3866324"/>
              <a:ext cx="2675890" cy="1627505"/>
            </a:xfrm>
            <a:custGeom>
              <a:avLst/>
              <a:gdLst/>
              <a:ahLst/>
              <a:cxnLst/>
              <a:rect l="l" t="t" r="r" b="b"/>
              <a:pathLst>
                <a:path w="2675890" h="1627504">
                  <a:moveTo>
                    <a:pt x="2404444" y="1627499"/>
                  </a:moveTo>
                  <a:lnTo>
                    <a:pt x="271255" y="1627499"/>
                  </a:lnTo>
                  <a:lnTo>
                    <a:pt x="222496" y="1623129"/>
                  </a:lnTo>
                  <a:lnTo>
                    <a:pt x="176605" y="1610529"/>
                  </a:lnTo>
                  <a:lnTo>
                    <a:pt x="134347" y="1590465"/>
                  </a:lnTo>
                  <a:lnTo>
                    <a:pt x="96488" y="1563704"/>
                  </a:lnTo>
                  <a:lnTo>
                    <a:pt x="63795" y="1531010"/>
                  </a:lnTo>
                  <a:lnTo>
                    <a:pt x="37034" y="1493152"/>
                  </a:lnTo>
                  <a:lnTo>
                    <a:pt x="16970" y="1450894"/>
                  </a:lnTo>
                  <a:lnTo>
                    <a:pt x="4370" y="1405003"/>
                  </a:lnTo>
                  <a:lnTo>
                    <a:pt x="0" y="1356244"/>
                  </a:lnTo>
                  <a:lnTo>
                    <a:pt x="0" y="271255"/>
                  </a:lnTo>
                  <a:lnTo>
                    <a:pt x="4370" y="222496"/>
                  </a:lnTo>
                  <a:lnTo>
                    <a:pt x="16970" y="176605"/>
                  </a:lnTo>
                  <a:lnTo>
                    <a:pt x="37034" y="134347"/>
                  </a:lnTo>
                  <a:lnTo>
                    <a:pt x="63795" y="96489"/>
                  </a:lnTo>
                  <a:lnTo>
                    <a:pt x="96488" y="63795"/>
                  </a:lnTo>
                  <a:lnTo>
                    <a:pt x="134347" y="37034"/>
                  </a:lnTo>
                  <a:lnTo>
                    <a:pt x="176605" y="16970"/>
                  </a:lnTo>
                  <a:lnTo>
                    <a:pt x="222496" y="4370"/>
                  </a:lnTo>
                  <a:lnTo>
                    <a:pt x="271255" y="0"/>
                  </a:lnTo>
                  <a:lnTo>
                    <a:pt x="2404444" y="0"/>
                  </a:lnTo>
                  <a:lnTo>
                    <a:pt x="2457611" y="5260"/>
                  </a:lnTo>
                  <a:lnTo>
                    <a:pt x="2508249" y="20648"/>
                  </a:lnTo>
                  <a:lnTo>
                    <a:pt x="2554937" y="45573"/>
                  </a:lnTo>
                  <a:lnTo>
                    <a:pt x="2596250" y="79448"/>
                  </a:lnTo>
                  <a:lnTo>
                    <a:pt x="2630125" y="120762"/>
                  </a:lnTo>
                  <a:lnTo>
                    <a:pt x="2655051" y="167450"/>
                  </a:lnTo>
                  <a:lnTo>
                    <a:pt x="2670439" y="218089"/>
                  </a:lnTo>
                  <a:lnTo>
                    <a:pt x="2675699" y="271255"/>
                  </a:lnTo>
                  <a:lnTo>
                    <a:pt x="2675699" y="1356244"/>
                  </a:lnTo>
                  <a:lnTo>
                    <a:pt x="2671329" y="1405003"/>
                  </a:lnTo>
                  <a:lnTo>
                    <a:pt x="2658729" y="1450894"/>
                  </a:lnTo>
                  <a:lnTo>
                    <a:pt x="2638665" y="1493152"/>
                  </a:lnTo>
                  <a:lnTo>
                    <a:pt x="2611904" y="1531010"/>
                  </a:lnTo>
                  <a:lnTo>
                    <a:pt x="2579211" y="1563704"/>
                  </a:lnTo>
                  <a:lnTo>
                    <a:pt x="2541352" y="1590465"/>
                  </a:lnTo>
                  <a:lnTo>
                    <a:pt x="2499094" y="1610529"/>
                  </a:lnTo>
                  <a:lnTo>
                    <a:pt x="2453203" y="1623129"/>
                  </a:lnTo>
                  <a:lnTo>
                    <a:pt x="2404444" y="1627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301349" y="3866324"/>
              <a:ext cx="2675890" cy="1627505"/>
            </a:xfrm>
            <a:custGeom>
              <a:avLst/>
              <a:gdLst/>
              <a:ahLst/>
              <a:cxnLst/>
              <a:rect l="l" t="t" r="r" b="b"/>
              <a:pathLst>
                <a:path w="2675890" h="1627504">
                  <a:moveTo>
                    <a:pt x="0" y="271255"/>
                  </a:moveTo>
                  <a:lnTo>
                    <a:pt x="4370" y="222496"/>
                  </a:lnTo>
                  <a:lnTo>
                    <a:pt x="16970" y="176605"/>
                  </a:lnTo>
                  <a:lnTo>
                    <a:pt x="37034" y="134347"/>
                  </a:lnTo>
                  <a:lnTo>
                    <a:pt x="63795" y="96489"/>
                  </a:lnTo>
                  <a:lnTo>
                    <a:pt x="96488" y="63795"/>
                  </a:lnTo>
                  <a:lnTo>
                    <a:pt x="134347" y="37034"/>
                  </a:lnTo>
                  <a:lnTo>
                    <a:pt x="176605" y="16970"/>
                  </a:lnTo>
                  <a:lnTo>
                    <a:pt x="222496" y="4370"/>
                  </a:lnTo>
                  <a:lnTo>
                    <a:pt x="271255" y="0"/>
                  </a:lnTo>
                  <a:lnTo>
                    <a:pt x="2404444" y="0"/>
                  </a:lnTo>
                  <a:lnTo>
                    <a:pt x="2457611" y="5260"/>
                  </a:lnTo>
                  <a:lnTo>
                    <a:pt x="2508249" y="20648"/>
                  </a:lnTo>
                  <a:lnTo>
                    <a:pt x="2554937" y="45573"/>
                  </a:lnTo>
                  <a:lnTo>
                    <a:pt x="2596250" y="79448"/>
                  </a:lnTo>
                  <a:lnTo>
                    <a:pt x="2630125" y="120762"/>
                  </a:lnTo>
                  <a:lnTo>
                    <a:pt x="2655051" y="167450"/>
                  </a:lnTo>
                  <a:lnTo>
                    <a:pt x="2670439" y="218089"/>
                  </a:lnTo>
                  <a:lnTo>
                    <a:pt x="2675699" y="271255"/>
                  </a:lnTo>
                  <a:lnTo>
                    <a:pt x="2675699" y="1356244"/>
                  </a:lnTo>
                  <a:lnTo>
                    <a:pt x="2671329" y="1405003"/>
                  </a:lnTo>
                  <a:lnTo>
                    <a:pt x="2658729" y="1450894"/>
                  </a:lnTo>
                  <a:lnTo>
                    <a:pt x="2638665" y="1493152"/>
                  </a:lnTo>
                  <a:lnTo>
                    <a:pt x="2611904" y="1531010"/>
                  </a:lnTo>
                  <a:lnTo>
                    <a:pt x="2579211" y="1563704"/>
                  </a:lnTo>
                  <a:lnTo>
                    <a:pt x="2541352" y="1590465"/>
                  </a:lnTo>
                  <a:lnTo>
                    <a:pt x="2499094" y="1610529"/>
                  </a:lnTo>
                  <a:lnTo>
                    <a:pt x="2453203" y="1623129"/>
                  </a:lnTo>
                  <a:lnTo>
                    <a:pt x="2404444" y="1627499"/>
                  </a:lnTo>
                  <a:lnTo>
                    <a:pt x="271255" y="1627499"/>
                  </a:lnTo>
                  <a:lnTo>
                    <a:pt x="222496" y="1623129"/>
                  </a:lnTo>
                  <a:lnTo>
                    <a:pt x="176605" y="1610529"/>
                  </a:lnTo>
                  <a:lnTo>
                    <a:pt x="134347" y="1590465"/>
                  </a:lnTo>
                  <a:lnTo>
                    <a:pt x="96488" y="1563704"/>
                  </a:lnTo>
                  <a:lnTo>
                    <a:pt x="63795" y="1531010"/>
                  </a:lnTo>
                  <a:lnTo>
                    <a:pt x="37034" y="1493152"/>
                  </a:lnTo>
                  <a:lnTo>
                    <a:pt x="16970" y="1450894"/>
                  </a:lnTo>
                  <a:lnTo>
                    <a:pt x="4370" y="1405003"/>
                  </a:lnTo>
                  <a:lnTo>
                    <a:pt x="0" y="1356244"/>
                  </a:lnTo>
                  <a:lnTo>
                    <a:pt x="0" y="27125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466523" y="4156200"/>
            <a:ext cx="52578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50" dirty="0">
                <a:latin typeface="Microsoft Sans Serif"/>
                <a:cs typeface="Microsoft Sans Serif"/>
              </a:rPr>
              <a:t>Кошка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028455" y="4136388"/>
            <a:ext cx="850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icrosoft Sans Serif"/>
                <a:cs typeface="Microsoft Sans Serif"/>
              </a:rPr>
              <a:t>-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49822" y="4156200"/>
            <a:ext cx="87503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10" dirty="0">
                <a:latin typeface="Microsoft Sans Serif"/>
                <a:cs typeface="Microsoft Sans Serif"/>
              </a:rPr>
              <a:t>домашнее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66523" y="4369560"/>
            <a:ext cx="795655" cy="20955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10" dirty="0">
                <a:latin typeface="Microsoft Sans Serif"/>
                <a:cs typeface="Microsoft Sans Serif"/>
              </a:rPr>
              <a:t>животное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236467" y="4345938"/>
            <a:ext cx="7499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,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одно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из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453823" y="4555488"/>
            <a:ext cx="216090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30607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Microsoft Sans Serif"/>
                <a:cs typeface="Microsoft Sans Serif"/>
              </a:rPr>
              <a:t>наиболее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популярных </a:t>
            </a:r>
            <a:r>
              <a:rPr sz="1400" dirty="0">
                <a:latin typeface="Microsoft Sans Serif"/>
                <a:cs typeface="Microsoft Sans Serif"/>
              </a:rPr>
              <a:t>(наряду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 </a:t>
            </a:r>
            <a:r>
              <a:rPr sz="1400" spc="-10" dirty="0">
                <a:latin typeface="Microsoft Sans Serif"/>
                <a:cs typeface="Microsoft Sans Serif"/>
              </a:rPr>
              <a:t>собакой)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ts val="1600"/>
              </a:lnSpc>
            </a:pPr>
            <a:r>
              <a:rPr sz="1400" spc="-30" dirty="0">
                <a:latin typeface="Microsoft Sans Serif"/>
                <a:cs typeface="Microsoft Sans Serif"/>
              </a:rPr>
              <a:t>«животных-</a:t>
            </a:r>
            <a:r>
              <a:rPr sz="1400" spc="-10" dirty="0">
                <a:latin typeface="Microsoft Sans Serif"/>
                <a:cs typeface="Microsoft Sans Serif"/>
              </a:rPr>
              <a:t>компаньонов»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422537" y="4305862"/>
            <a:ext cx="163830" cy="748665"/>
            <a:chOff x="5422537" y="4305862"/>
            <a:chExt cx="163830" cy="748665"/>
          </a:xfrm>
        </p:grpSpPr>
        <p:sp>
          <p:nvSpPr>
            <p:cNvPr id="41" name="object 41"/>
            <p:cNvSpPr/>
            <p:nvPr/>
          </p:nvSpPr>
          <p:spPr>
            <a:xfrm>
              <a:off x="5427300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77099" y="738899"/>
                  </a:move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427300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0" y="184724"/>
                  </a:move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8032062" y="4305862"/>
            <a:ext cx="163830" cy="748665"/>
            <a:chOff x="8032062" y="4305862"/>
            <a:chExt cx="163830" cy="748665"/>
          </a:xfrm>
        </p:grpSpPr>
        <p:sp>
          <p:nvSpPr>
            <p:cNvPr id="44" name="object 44"/>
            <p:cNvSpPr/>
            <p:nvPr/>
          </p:nvSpPr>
          <p:spPr>
            <a:xfrm>
              <a:off x="8036824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77099" y="738899"/>
                  </a:move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036824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0" y="184724"/>
                  </a:move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050" y="1465205"/>
            <a:ext cx="9647555" cy="1110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Microsoft Sans Serif"/>
                <a:cs typeface="Microsoft Sans Serif"/>
              </a:rPr>
              <a:t>Поиск</a:t>
            </a:r>
            <a:r>
              <a:rPr sz="4000" spc="-145" dirty="0">
                <a:latin typeface="Microsoft Sans Serif"/>
                <a:cs typeface="Microsoft Sans Serif"/>
              </a:rPr>
              <a:t> </a:t>
            </a:r>
            <a:r>
              <a:rPr sz="4000" dirty="0" err="1">
                <a:latin typeface="Microsoft Sans Serif"/>
                <a:cs typeface="Microsoft Sans Serif"/>
              </a:rPr>
              <a:t>по</a:t>
            </a:r>
            <a:r>
              <a:rPr sz="4000" spc="-145" dirty="0">
                <a:latin typeface="Microsoft Sans Serif"/>
                <a:cs typeface="Microsoft Sans Serif"/>
              </a:rPr>
              <a:t> </a:t>
            </a:r>
            <a:r>
              <a:rPr sz="4000" spc="-10" dirty="0" err="1">
                <a:latin typeface="Microsoft Sans Serif"/>
                <a:cs typeface="Microsoft Sans Serif"/>
              </a:rPr>
              <a:t>сходству</a:t>
            </a:r>
            <a:r>
              <a:rPr lang="ru-RU" sz="4000" spc="-10" dirty="0">
                <a:latin typeface="Microsoft Sans Serif"/>
                <a:cs typeface="Microsoft Sans Serif"/>
              </a:rPr>
              <a:t> (нечёткий поиск)</a:t>
            </a:r>
            <a:endParaRPr sz="4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614"/>
              </a:spcBef>
            </a:pPr>
            <a:r>
              <a:rPr sz="1800" spc="-20" dirty="0">
                <a:latin typeface="Roboto"/>
                <a:cs typeface="Roboto"/>
              </a:rPr>
              <a:t>Надстройка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над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булевым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поиском: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35" dirty="0">
                <a:latin typeface="Roboto"/>
                <a:cs typeface="Roboto"/>
              </a:rPr>
              <a:t>допускаются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10" dirty="0">
                <a:latin typeface="Roboto"/>
                <a:cs typeface="Roboto"/>
              </a:rPr>
              <a:t>отклонения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dirty="0">
                <a:latin typeface="Roboto"/>
                <a:cs typeface="Roboto"/>
              </a:rPr>
              <a:t>от</a:t>
            </a:r>
            <a:r>
              <a:rPr sz="1800" spc="-55" dirty="0">
                <a:latin typeface="Roboto"/>
                <a:cs typeface="Roboto"/>
              </a:rPr>
              <a:t> </a:t>
            </a:r>
            <a:r>
              <a:rPr sz="1800" spc="-20" dirty="0" err="1">
                <a:latin typeface="Roboto"/>
                <a:cs typeface="Roboto"/>
              </a:rPr>
              <a:t>запроса</a:t>
            </a:r>
            <a:r>
              <a:rPr sz="1800" spc="-20" dirty="0">
                <a:latin typeface="Roboto"/>
                <a:cs typeface="Roboto"/>
              </a:rPr>
              <a:t>.</a:t>
            </a:r>
            <a:endParaRPr sz="1800" dirty="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96037" y="3157112"/>
            <a:ext cx="4225925" cy="958215"/>
            <a:chOff x="1096037" y="3157112"/>
            <a:chExt cx="4225925" cy="958215"/>
          </a:xfrm>
        </p:grpSpPr>
        <p:sp>
          <p:nvSpPr>
            <p:cNvPr id="9" name="object 9"/>
            <p:cNvSpPr/>
            <p:nvPr/>
          </p:nvSpPr>
          <p:spPr>
            <a:xfrm>
              <a:off x="1100799" y="316187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4058146" y="948299"/>
                  </a:move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0799" y="316187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32817" y="3321700"/>
            <a:ext cx="52578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50" dirty="0">
                <a:latin typeface="Microsoft Sans Serif"/>
                <a:cs typeface="Microsoft Sans Serif"/>
              </a:rPr>
              <a:t>Кошка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94749" y="3301887"/>
            <a:ext cx="29387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была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злая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вредная,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но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мы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ее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все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0117" y="3511438"/>
            <a:ext cx="3602354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Microsoft Sans Serif"/>
                <a:cs typeface="Microsoft Sans Serif"/>
              </a:rPr>
              <a:t>равно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любили.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Звали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ее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Кусей,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была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она </a:t>
            </a:r>
            <a:r>
              <a:rPr sz="1400" dirty="0">
                <a:latin typeface="Microsoft Sans Serif"/>
                <a:cs typeface="Microsoft Sans Serif"/>
              </a:rPr>
              <a:t>рыжая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черную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полоску.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96037" y="4201162"/>
            <a:ext cx="4225925" cy="958215"/>
            <a:chOff x="1096037" y="4201162"/>
            <a:chExt cx="4225925" cy="958215"/>
          </a:xfrm>
        </p:grpSpPr>
        <p:sp>
          <p:nvSpPr>
            <p:cNvPr id="15" name="object 15"/>
            <p:cNvSpPr/>
            <p:nvPr/>
          </p:nvSpPr>
          <p:spPr>
            <a:xfrm>
              <a:off x="1100799" y="420592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4058146" y="948299"/>
                  </a:move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00799" y="4205925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32817" y="4365750"/>
            <a:ext cx="52197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60" dirty="0">
                <a:latin typeface="Microsoft Sans Serif"/>
                <a:cs typeface="Microsoft Sans Serif"/>
              </a:rPr>
              <a:t>Кошки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91277" y="4345938"/>
            <a:ext cx="29673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-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очень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хитрые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опасные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хищники,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0117" y="4555488"/>
            <a:ext cx="3678554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Microsoft Sans Serif"/>
                <a:cs typeface="Microsoft Sans Serif"/>
              </a:rPr>
              <a:t>которые,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несмотря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на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свои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малые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размеры, </a:t>
            </a:r>
            <a:r>
              <a:rPr sz="1400" dirty="0">
                <a:latin typeface="Microsoft Sans Serif"/>
                <a:cs typeface="Microsoft Sans Serif"/>
              </a:rPr>
              <a:t>успешно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охотятся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на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крупных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птиц.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96037" y="5245212"/>
            <a:ext cx="4225925" cy="958215"/>
            <a:chOff x="1096037" y="5245212"/>
            <a:chExt cx="4225925" cy="958215"/>
          </a:xfrm>
        </p:grpSpPr>
        <p:sp>
          <p:nvSpPr>
            <p:cNvPr id="21" name="object 21"/>
            <p:cNvSpPr/>
            <p:nvPr/>
          </p:nvSpPr>
          <p:spPr>
            <a:xfrm>
              <a:off x="1100799" y="5249974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4058146" y="948299"/>
                  </a:move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00799" y="5249974"/>
              <a:ext cx="4216400" cy="948690"/>
            </a:xfrm>
            <a:custGeom>
              <a:avLst/>
              <a:gdLst/>
              <a:ahLst/>
              <a:cxnLst/>
              <a:rect l="l" t="t" r="r" b="b"/>
              <a:pathLst>
                <a:path w="42164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8" y="30495"/>
                  </a:lnTo>
                  <a:lnTo>
                    <a:pt x="108096" y="8057"/>
                  </a:lnTo>
                  <a:lnTo>
                    <a:pt x="158053" y="0"/>
                  </a:lnTo>
                  <a:lnTo>
                    <a:pt x="4058146" y="0"/>
                  </a:lnTo>
                  <a:lnTo>
                    <a:pt x="4118631" y="12031"/>
                  </a:lnTo>
                  <a:lnTo>
                    <a:pt x="4169907" y="46292"/>
                  </a:lnTo>
                  <a:lnTo>
                    <a:pt x="4204168" y="97568"/>
                  </a:lnTo>
                  <a:lnTo>
                    <a:pt x="4216199" y="158052"/>
                  </a:lnTo>
                  <a:lnTo>
                    <a:pt x="4216199" y="790246"/>
                  </a:lnTo>
                  <a:lnTo>
                    <a:pt x="4208142" y="840203"/>
                  </a:lnTo>
                  <a:lnTo>
                    <a:pt x="4185704" y="883590"/>
                  </a:lnTo>
                  <a:lnTo>
                    <a:pt x="4151490" y="917804"/>
                  </a:lnTo>
                  <a:lnTo>
                    <a:pt x="4108103" y="940242"/>
                  </a:lnTo>
                  <a:lnTo>
                    <a:pt x="4058146" y="948299"/>
                  </a:lnTo>
                  <a:lnTo>
                    <a:pt x="158053" y="948299"/>
                  </a:lnTo>
                  <a:lnTo>
                    <a:pt x="108096" y="940242"/>
                  </a:lnTo>
                  <a:lnTo>
                    <a:pt x="64708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32817" y="5514575"/>
              <a:ext cx="1966595" cy="213360"/>
            </a:xfrm>
            <a:custGeom>
              <a:avLst/>
              <a:gdLst/>
              <a:ahLst/>
              <a:cxnLst/>
              <a:rect l="l" t="t" r="r" b="b"/>
              <a:pathLst>
                <a:path w="1966595" h="213360">
                  <a:moveTo>
                    <a:pt x="1966066" y="213359"/>
                  </a:moveTo>
                  <a:lnTo>
                    <a:pt x="0" y="213359"/>
                  </a:lnTo>
                  <a:lnTo>
                    <a:pt x="0" y="0"/>
                  </a:lnTo>
                  <a:lnTo>
                    <a:pt x="1966066" y="0"/>
                  </a:lnTo>
                  <a:lnTo>
                    <a:pt x="1966066" y="2133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98883" y="5514575"/>
              <a:ext cx="590550" cy="213360"/>
            </a:xfrm>
            <a:custGeom>
              <a:avLst/>
              <a:gdLst/>
              <a:ahLst/>
              <a:cxnLst/>
              <a:rect l="l" t="t" r="r" b="b"/>
              <a:pathLst>
                <a:path w="590550" h="213360">
                  <a:moveTo>
                    <a:pt x="590459" y="213359"/>
                  </a:moveTo>
                  <a:lnTo>
                    <a:pt x="0" y="213359"/>
                  </a:lnTo>
                  <a:lnTo>
                    <a:pt x="0" y="0"/>
                  </a:lnTo>
                  <a:lnTo>
                    <a:pt x="590459" y="0"/>
                  </a:lnTo>
                  <a:lnTo>
                    <a:pt x="590459" y="21335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32814" y="5514581"/>
              <a:ext cx="3678554" cy="422909"/>
            </a:xfrm>
            <a:custGeom>
              <a:avLst/>
              <a:gdLst/>
              <a:ahLst/>
              <a:cxnLst/>
              <a:rect l="l" t="t" r="r" b="b"/>
              <a:pathLst>
                <a:path w="3678554" h="422910">
                  <a:moveTo>
                    <a:pt x="2224709" y="209550"/>
                  </a:moveTo>
                  <a:lnTo>
                    <a:pt x="0" y="209550"/>
                  </a:lnTo>
                  <a:lnTo>
                    <a:pt x="0" y="422910"/>
                  </a:lnTo>
                  <a:lnTo>
                    <a:pt x="2224709" y="422910"/>
                  </a:lnTo>
                  <a:lnTo>
                    <a:pt x="2224709" y="209550"/>
                  </a:lnTo>
                  <a:close/>
                </a:path>
                <a:path w="3678554" h="422910">
                  <a:moveTo>
                    <a:pt x="3678428" y="0"/>
                  </a:moveTo>
                  <a:lnTo>
                    <a:pt x="2556522" y="0"/>
                  </a:lnTo>
                  <a:lnTo>
                    <a:pt x="2556522" y="213360"/>
                  </a:lnTo>
                  <a:lnTo>
                    <a:pt x="3678428" y="213360"/>
                  </a:lnTo>
                  <a:lnTo>
                    <a:pt x="36784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220117" y="5494763"/>
            <a:ext cx="3703954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Microsoft Sans Serif"/>
                <a:cs typeface="Microsoft Sans Serif"/>
              </a:rPr>
              <a:t>Я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всегда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много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читал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кошках,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у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меня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даже </a:t>
            </a:r>
            <a:r>
              <a:rPr sz="1400" dirty="0">
                <a:latin typeface="Microsoft Sans Serif"/>
                <a:cs typeface="Microsoft Sans Serif"/>
              </a:rPr>
              <a:t>есть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целая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коллекция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книг.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687062" y="4201162"/>
            <a:ext cx="2244725" cy="958215"/>
            <a:chOff x="5687062" y="4201162"/>
            <a:chExt cx="2244725" cy="958215"/>
          </a:xfrm>
        </p:grpSpPr>
        <p:sp>
          <p:nvSpPr>
            <p:cNvPr id="28" name="object 28"/>
            <p:cNvSpPr/>
            <p:nvPr/>
          </p:nvSpPr>
          <p:spPr>
            <a:xfrm>
              <a:off x="5691825" y="4205925"/>
              <a:ext cx="2235200" cy="948690"/>
            </a:xfrm>
            <a:custGeom>
              <a:avLst/>
              <a:gdLst/>
              <a:ahLst/>
              <a:cxnLst/>
              <a:rect l="l" t="t" r="r" b="b"/>
              <a:pathLst>
                <a:path w="2235200" h="948689">
                  <a:moveTo>
                    <a:pt x="2076646" y="948299"/>
                  </a:moveTo>
                  <a:lnTo>
                    <a:pt x="158052" y="948299"/>
                  </a:lnTo>
                  <a:lnTo>
                    <a:pt x="108096" y="940242"/>
                  </a:lnTo>
                  <a:lnTo>
                    <a:pt x="64709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lnTo>
                    <a:pt x="8057" y="108096"/>
                  </a:lnTo>
                  <a:lnTo>
                    <a:pt x="30495" y="64709"/>
                  </a:lnTo>
                  <a:lnTo>
                    <a:pt x="64709" y="30495"/>
                  </a:lnTo>
                  <a:lnTo>
                    <a:pt x="108096" y="8057"/>
                  </a:lnTo>
                  <a:lnTo>
                    <a:pt x="158052" y="0"/>
                  </a:lnTo>
                  <a:lnTo>
                    <a:pt x="2076646" y="0"/>
                  </a:lnTo>
                  <a:lnTo>
                    <a:pt x="2137131" y="12031"/>
                  </a:lnTo>
                  <a:lnTo>
                    <a:pt x="2188406" y="46292"/>
                  </a:lnTo>
                  <a:lnTo>
                    <a:pt x="2222668" y="97568"/>
                  </a:lnTo>
                  <a:lnTo>
                    <a:pt x="2234699" y="158052"/>
                  </a:lnTo>
                  <a:lnTo>
                    <a:pt x="2234699" y="790246"/>
                  </a:lnTo>
                  <a:lnTo>
                    <a:pt x="2226642" y="840203"/>
                  </a:lnTo>
                  <a:lnTo>
                    <a:pt x="2204204" y="883590"/>
                  </a:lnTo>
                  <a:lnTo>
                    <a:pt x="2169991" y="917804"/>
                  </a:lnTo>
                  <a:lnTo>
                    <a:pt x="2126604" y="940242"/>
                  </a:lnTo>
                  <a:lnTo>
                    <a:pt x="2076646" y="948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91825" y="4205925"/>
              <a:ext cx="2235200" cy="948690"/>
            </a:xfrm>
            <a:custGeom>
              <a:avLst/>
              <a:gdLst/>
              <a:ahLst/>
              <a:cxnLst/>
              <a:rect l="l" t="t" r="r" b="b"/>
              <a:pathLst>
                <a:path w="2235200" h="948689">
                  <a:moveTo>
                    <a:pt x="0" y="158052"/>
                  </a:moveTo>
                  <a:lnTo>
                    <a:pt x="8057" y="108096"/>
                  </a:lnTo>
                  <a:lnTo>
                    <a:pt x="30495" y="64709"/>
                  </a:lnTo>
                  <a:lnTo>
                    <a:pt x="64709" y="30495"/>
                  </a:lnTo>
                  <a:lnTo>
                    <a:pt x="108096" y="8057"/>
                  </a:lnTo>
                  <a:lnTo>
                    <a:pt x="158052" y="0"/>
                  </a:lnTo>
                  <a:lnTo>
                    <a:pt x="2076646" y="0"/>
                  </a:lnTo>
                  <a:lnTo>
                    <a:pt x="2137131" y="12031"/>
                  </a:lnTo>
                  <a:lnTo>
                    <a:pt x="2188406" y="46292"/>
                  </a:lnTo>
                  <a:lnTo>
                    <a:pt x="2222668" y="97568"/>
                  </a:lnTo>
                  <a:lnTo>
                    <a:pt x="2234699" y="158052"/>
                  </a:lnTo>
                  <a:lnTo>
                    <a:pt x="2234699" y="790246"/>
                  </a:lnTo>
                  <a:lnTo>
                    <a:pt x="2226642" y="840203"/>
                  </a:lnTo>
                  <a:lnTo>
                    <a:pt x="2204204" y="883590"/>
                  </a:lnTo>
                  <a:lnTo>
                    <a:pt x="2169991" y="917804"/>
                  </a:lnTo>
                  <a:lnTo>
                    <a:pt x="2126604" y="940242"/>
                  </a:lnTo>
                  <a:lnTo>
                    <a:pt x="2076646" y="948299"/>
                  </a:lnTo>
                  <a:lnTo>
                    <a:pt x="158052" y="948299"/>
                  </a:lnTo>
                  <a:lnTo>
                    <a:pt x="108096" y="940242"/>
                  </a:lnTo>
                  <a:lnTo>
                    <a:pt x="64709" y="917804"/>
                  </a:lnTo>
                  <a:lnTo>
                    <a:pt x="30495" y="883590"/>
                  </a:lnTo>
                  <a:lnTo>
                    <a:pt x="8057" y="840203"/>
                  </a:lnTo>
                  <a:lnTo>
                    <a:pt x="0" y="790246"/>
                  </a:lnTo>
                  <a:lnTo>
                    <a:pt x="0" y="1580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486495" y="4555488"/>
            <a:ext cx="645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“кошка”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422537" y="4305862"/>
            <a:ext cx="163830" cy="748665"/>
            <a:chOff x="5422537" y="4305862"/>
            <a:chExt cx="163830" cy="748665"/>
          </a:xfrm>
        </p:grpSpPr>
        <p:sp>
          <p:nvSpPr>
            <p:cNvPr id="32" name="object 32"/>
            <p:cNvSpPr/>
            <p:nvPr/>
          </p:nvSpPr>
          <p:spPr>
            <a:xfrm>
              <a:off x="5427300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77099" y="738899"/>
                  </a:move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27300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0" y="184724"/>
                  </a:move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8032062" y="4305862"/>
            <a:ext cx="163830" cy="748665"/>
            <a:chOff x="8032062" y="4305862"/>
            <a:chExt cx="163830" cy="748665"/>
          </a:xfrm>
        </p:grpSpPr>
        <p:sp>
          <p:nvSpPr>
            <p:cNvPr id="35" name="object 35"/>
            <p:cNvSpPr/>
            <p:nvPr/>
          </p:nvSpPr>
          <p:spPr>
            <a:xfrm>
              <a:off x="8036824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77099" y="738899"/>
                  </a:move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036824" y="4310624"/>
              <a:ext cx="154305" cy="739140"/>
            </a:xfrm>
            <a:custGeom>
              <a:avLst/>
              <a:gdLst/>
              <a:ahLst/>
              <a:cxnLst/>
              <a:rect l="l" t="t" r="r" b="b"/>
              <a:pathLst>
                <a:path w="154304" h="739139">
                  <a:moveTo>
                    <a:pt x="0" y="184724"/>
                  </a:moveTo>
                  <a:lnTo>
                    <a:pt x="77099" y="184724"/>
                  </a:lnTo>
                  <a:lnTo>
                    <a:pt x="77099" y="0"/>
                  </a:lnTo>
                  <a:lnTo>
                    <a:pt x="154199" y="369449"/>
                  </a:lnTo>
                  <a:lnTo>
                    <a:pt x="77099" y="738899"/>
                  </a:lnTo>
                  <a:lnTo>
                    <a:pt x="77099" y="554174"/>
                  </a:lnTo>
                  <a:lnTo>
                    <a:pt x="0" y="554174"/>
                  </a:lnTo>
                  <a:lnTo>
                    <a:pt x="0" y="184724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8296562" y="3261812"/>
            <a:ext cx="3003550" cy="748665"/>
            <a:chOff x="8296562" y="3261812"/>
            <a:chExt cx="3003550" cy="748665"/>
          </a:xfrm>
        </p:grpSpPr>
        <p:sp>
          <p:nvSpPr>
            <p:cNvPr id="38" name="object 38"/>
            <p:cNvSpPr/>
            <p:nvPr/>
          </p:nvSpPr>
          <p:spPr>
            <a:xfrm>
              <a:off x="8301325" y="3266575"/>
              <a:ext cx="2994025" cy="739140"/>
            </a:xfrm>
            <a:custGeom>
              <a:avLst/>
              <a:gdLst/>
              <a:ahLst/>
              <a:cxnLst/>
              <a:rect l="l" t="t" r="r" b="b"/>
              <a:pathLst>
                <a:path w="2994025" h="739139">
                  <a:moveTo>
                    <a:pt x="2870247" y="738899"/>
                  </a:moveTo>
                  <a:lnTo>
                    <a:pt x="123152" y="738899"/>
                  </a:lnTo>
                  <a:lnTo>
                    <a:pt x="75216" y="729222"/>
                  </a:lnTo>
                  <a:lnTo>
                    <a:pt x="36070" y="702829"/>
                  </a:lnTo>
                  <a:lnTo>
                    <a:pt x="9677" y="663684"/>
                  </a:lnTo>
                  <a:lnTo>
                    <a:pt x="0" y="615747"/>
                  </a:lnTo>
                  <a:lnTo>
                    <a:pt x="0" y="123152"/>
                  </a:lnTo>
                  <a:lnTo>
                    <a:pt x="9677" y="75215"/>
                  </a:lnTo>
                  <a:lnTo>
                    <a:pt x="36070" y="36070"/>
                  </a:lnTo>
                  <a:lnTo>
                    <a:pt x="75216" y="9677"/>
                  </a:lnTo>
                  <a:lnTo>
                    <a:pt x="123152" y="0"/>
                  </a:lnTo>
                  <a:lnTo>
                    <a:pt x="2870247" y="0"/>
                  </a:lnTo>
                  <a:lnTo>
                    <a:pt x="2917375" y="9374"/>
                  </a:lnTo>
                  <a:lnTo>
                    <a:pt x="2957329" y="36070"/>
                  </a:lnTo>
                  <a:lnTo>
                    <a:pt x="2984025" y="76023"/>
                  </a:lnTo>
                  <a:lnTo>
                    <a:pt x="2993399" y="123152"/>
                  </a:lnTo>
                  <a:lnTo>
                    <a:pt x="2993399" y="615747"/>
                  </a:lnTo>
                  <a:lnTo>
                    <a:pt x="2983722" y="663684"/>
                  </a:lnTo>
                  <a:lnTo>
                    <a:pt x="2957329" y="702829"/>
                  </a:lnTo>
                  <a:lnTo>
                    <a:pt x="2918183" y="729222"/>
                  </a:lnTo>
                  <a:lnTo>
                    <a:pt x="2870247" y="738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301325" y="3266575"/>
              <a:ext cx="2994025" cy="739140"/>
            </a:xfrm>
            <a:custGeom>
              <a:avLst/>
              <a:gdLst/>
              <a:ahLst/>
              <a:cxnLst/>
              <a:rect l="l" t="t" r="r" b="b"/>
              <a:pathLst>
                <a:path w="2994025" h="739139">
                  <a:moveTo>
                    <a:pt x="0" y="123152"/>
                  </a:moveTo>
                  <a:lnTo>
                    <a:pt x="9677" y="75215"/>
                  </a:lnTo>
                  <a:lnTo>
                    <a:pt x="36070" y="36070"/>
                  </a:lnTo>
                  <a:lnTo>
                    <a:pt x="75216" y="9677"/>
                  </a:lnTo>
                  <a:lnTo>
                    <a:pt x="123152" y="0"/>
                  </a:lnTo>
                  <a:lnTo>
                    <a:pt x="2870247" y="0"/>
                  </a:lnTo>
                  <a:lnTo>
                    <a:pt x="2917375" y="9374"/>
                  </a:lnTo>
                  <a:lnTo>
                    <a:pt x="2957329" y="36070"/>
                  </a:lnTo>
                  <a:lnTo>
                    <a:pt x="2984025" y="76023"/>
                  </a:lnTo>
                  <a:lnTo>
                    <a:pt x="2993399" y="123152"/>
                  </a:lnTo>
                  <a:lnTo>
                    <a:pt x="2993399" y="615747"/>
                  </a:lnTo>
                  <a:lnTo>
                    <a:pt x="2983722" y="663684"/>
                  </a:lnTo>
                  <a:lnTo>
                    <a:pt x="2957329" y="702829"/>
                  </a:lnTo>
                  <a:lnTo>
                    <a:pt x="2918183" y="729222"/>
                  </a:lnTo>
                  <a:lnTo>
                    <a:pt x="2870247" y="738899"/>
                  </a:lnTo>
                  <a:lnTo>
                    <a:pt x="123152" y="738899"/>
                  </a:lnTo>
                  <a:lnTo>
                    <a:pt x="75216" y="729222"/>
                  </a:lnTo>
                  <a:lnTo>
                    <a:pt x="36070" y="702829"/>
                  </a:lnTo>
                  <a:lnTo>
                    <a:pt x="9677" y="663684"/>
                  </a:lnTo>
                  <a:lnTo>
                    <a:pt x="0" y="615747"/>
                  </a:lnTo>
                  <a:lnTo>
                    <a:pt x="0" y="1231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423120" y="3531249"/>
            <a:ext cx="52578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50" dirty="0">
                <a:latin typeface="Microsoft Sans Serif"/>
                <a:cs typeface="Microsoft Sans Serif"/>
              </a:rPr>
              <a:t>Кошка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985053" y="3511438"/>
            <a:ext cx="19462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была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злая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55" dirty="0">
                <a:latin typeface="Microsoft Sans Serif"/>
                <a:cs typeface="Microsoft Sans Serif"/>
              </a:rPr>
              <a:t>вредная…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296562" y="4105412"/>
            <a:ext cx="3003550" cy="748665"/>
            <a:chOff x="8296562" y="4105412"/>
            <a:chExt cx="3003550" cy="748665"/>
          </a:xfrm>
        </p:grpSpPr>
        <p:sp>
          <p:nvSpPr>
            <p:cNvPr id="43" name="object 43"/>
            <p:cNvSpPr/>
            <p:nvPr/>
          </p:nvSpPr>
          <p:spPr>
            <a:xfrm>
              <a:off x="8301325" y="4110175"/>
              <a:ext cx="2994025" cy="739140"/>
            </a:xfrm>
            <a:custGeom>
              <a:avLst/>
              <a:gdLst/>
              <a:ahLst/>
              <a:cxnLst/>
              <a:rect l="l" t="t" r="r" b="b"/>
              <a:pathLst>
                <a:path w="2994025" h="739139">
                  <a:moveTo>
                    <a:pt x="2870247" y="738899"/>
                  </a:moveTo>
                  <a:lnTo>
                    <a:pt x="123152" y="738899"/>
                  </a:lnTo>
                  <a:lnTo>
                    <a:pt x="75216" y="729222"/>
                  </a:lnTo>
                  <a:lnTo>
                    <a:pt x="36070" y="702829"/>
                  </a:lnTo>
                  <a:lnTo>
                    <a:pt x="9677" y="663684"/>
                  </a:lnTo>
                  <a:lnTo>
                    <a:pt x="0" y="615747"/>
                  </a:lnTo>
                  <a:lnTo>
                    <a:pt x="0" y="123152"/>
                  </a:lnTo>
                  <a:lnTo>
                    <a:pt x="9677" y="75215"/>
                  </a:lnTo>
                  <a:lnTo>
                    <a:pt x="36070" y="36070"/>
                  </a:lnTo>
                  <a:lnTo>
                    <a:pt x="75216" y="9677"/>
                  </a:lnTo>
                  <a:lnTo>
                    <a:pt x="123152" y="0"/>
                  </a:lnTo>
                  <a:lnTo>
                    <a:pt x="2870247" y="0"/>
                  </a:lnTo>
                  <a:lnTo>
                    <a:pt x="2917375" y="9374"/>
                  </a:lnTo>
                  <a:lnTo>
                    <a:pt x="2957329" y="36070"/>
                  </a:lnTo>
                  <a:lnTo>
                    <a:pt x="2984025" y="76023"/>
                  </a:lnTo>
                  <a:lnTo>
                    <a:pt x="2993399" y="123152"/>
                  </a:lnTo>
                  <a:lnTo>
                    <a:pt x="2993399" y="615747"/>
                  </a:lnTo>
                  <a:lnTo>
                    <a:pt x="2983722" y="663684"/>
                  </a:lnTo>
                  <a:lnTo>
                    <a:pt x="2957329" y="702829"/>
                  </a:lnTo>
                  <a:lnTo>
                    <a:pt x="2918183" y="729222"/>
                  </a:lnTo>
                  <a:lnTo>
                    <a:pt x="2870247" y="738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301325" y="4110175"/>
              <a:ext cx="2994025" cy="739140"/>
            </a:xfrm>
            <a:custGeom>
              <a:avLst/>
              <a:gdLst/>
              <a:ahLst/>
              <a:cxnLst/>
              <a:rect l="l" t="t" r="r" b="b"/>
              <a:pathLst>
                <a:path w="2994025" h="739139">
                  <a:moveTo>
                    <a:pt x="0" y="123152"/>
                  </a:moveTo>
                  <a:lnTo>
                    <a:pt x="9677" y="75215"/>
                  </a:lnTo>
                  <a:lnTo>
                    <a:pt x="36070" y="36070"/>
                  </a:lnTo>
                  <a:lnTo>
                    <a:pt x="75216" y="9677"/>
                  </a:lnTo>
                  <a:lnTo>
                    <a:pt x="123152" y="0"/>
                  </a:lnTo>
                  <a:lnTo>
                    <a:pt x="2870247" y="0"/>
                  </a:lnTo>
                  <a:lnTo>
                    <a:pt x="2917375" y="9374"/>
                  </a:lnTo>
                  <a:lnTo>
                    <a:pt x="2957329" y="36070"/>
                  </a:lnTo>
                  <a:lnTo>
                    <a:pt x="2984025" y="76023"/>
                  </a:lnTo>
                  <a:lnTo>
                    <a:pt x="2993399" y="123152"/>
                  </a:lnTo>
                  <a:lnTo>
                    <a:pt x="2993399" y="615747"/>
                  </a:lnTo>
                  <a:lnTo>
                    <a:pt x="2983722" y="663684"/>
                  </a:lnTo>
                  <a:lnTo>
                    <a:pt x="2957329" y="702829"/>
                  </a:lnTo>
                  <a:lnTo>
                    <a:pt x="2918183" y="729222"/>
                  </a:lnTo>
                  <a:lnTo>
                    <a:pt x="2870247" y="738899"/>
                  </a:lnTo>
                  <a:lnTo>
                    <a:pt x="123152" y="738899"/>
                  </a:lnTo>
                  <a:lnTo>
                    <a:pt x="75216" y="729222"/>
                  </a:lnTo>
                  <a:lnTo>
                    <a:pt x="36070" y="702829"/>
                  </a:lnTo>
                  <a:lnTo>
                    <a:pt x="9677" y="663684"/>
                  </a:lnTo>
                  <a:lnTo>
                    <a:pt x="0" y="615747"/>
                  </a:lnTo>
                  <a:lnTo>
                    <a:pt x="0" y="1231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423120" y="4374850"/>
            <a:ext cx="521970" cy="213360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1400" spc="-60" dirty="0">
                <a:latin typeface="Microsoft Sans Serif"/>
                <a:cs typeface="Microsoft Sans Serif"/>
              </a:rPr>
              <a:t>Кошки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981580" y="4355038"/>
            <a:ext cx="15817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-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очень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хитрые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260" dirty="0">
                <a:latin typeface="Microsoft Sans Serif"/>
                <a:cs typeface="Microsoft Sans Serif"/>
              </a:rPr>
              <a:t>и…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296562" y="4949012"/>
            <a:ext cx="3003550" cy="748665"/>
            <a:chOff x="8296562" y="4949012"/>
            <a:chExt cx="3003550" cy="748665"/>
          </a:xfrm>
        </p:grpSpPr>
        <p:sp>
          <p:nvSpPr>
            <p:cNvPr id="48" name="object 48"/>
            <p:cNvSpPr/>
            <p:nvPr/>
          </p:nvSpPr>
          <p:spPr>
            <a:xfrm>
              <a:off x="8301325" y="4953775"/>
              <a:ext cx="2994025" cy="739140"/>
            </a:xfrm>
            <a:custGeom>
              <a:avLst/>
              <a:gdLst/>
              <a:ahLst/>
              <a:cxnLst/>
              <a:rect l="l" t="t" r="r" b="b"/>
              <a:pathLst>
                <a:path w="2994025" h="739139">
                  <a:moveTo>
                    <a:pt x="2870247" y="738899"/>
                  </a:moveTo>
                  <a:lnTo>
                    <a:pt x="123152" y="738899"/>
                  </a:lnTo>
                  <a:lnTo>
                    <a:pt x="75216" y="729222"/>
                  </a:lnTo>
                  <a:lnTo>
                    <a:pt x="36070" y="702829"/>
                  </a:lnTo>
                  <a:lnTo>
                    <a:pt x="9677" y="663684"/>
                  </a:lnTo>
                  <a:lnTo>
                    <a:pt x="0" y="615747"/>
                  </a:lnTo>
                  <a:lnTo>
                    <a:pt x="0" y="123152"/>
                  </a:lnTo>
                  <a:lnTo>
                    <a:pt x="9677" y="75215"/>
                  </a:lnTo>
                  <a:lnTo>
                    <a:pt x="36070" y="36070"/>
                  </a:lnTo>
                  <a:lnTo>
                    <a:pt x="75216" y="9677"/>
                  </a:lnTo>
                  <a:lnTo>
                    <a:pt x="123152" y="0"/>
                  </a:lnTo>
                  <a:lnTo>
                    <a:pt x="2870247" y="0"/>
                  </a:lnTo>
                  <a:lnTo>
                    <a:pt x="2917375" y="9374"/>
                  </a:lnTo>
                  <a:lnTo>
                    <a:pt x="2957329" y="36070"/>
                  </a:lnTo>
                  <a:lnTo>
                    <a:pt x="2984025" y="76023"/>
                  </a:lnTo>
                  <a:lnTo>
                    <a:pt x="2993399" y="123152"/>
                  </a:lnTo>
                  <a:lnTo>
                    <a:pt x="2993399" y="615747"/>
                  </a:lnTo>
                  <a:lnTo>
                    <a:pt x="2983722" y="663684"/>
                  </a:lnTo>
                  <a:lnTo>
                    <a:pt x="2957329" y="702829"/>
                  </a:lnTo>
                  <a:lnTo>
                    <a:pt x="2918183" y="729222"/>
                  </a:lnTo>
                  <a:lnTo>
                    <a:pt x="2870247" y="738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301325" y="4953775"/>
              <a:ext cx="2994025" cy="739140"/>
            </a:xfrm>
            <a:custGeom>
              <a:avLst/>
              <a:gdLst/>
              <a:ahLst/>
              <a:cxnLst/>
              <a:rect l="l" t="t" r="r" b="b"/>
              <a:pathLst>
                <a:path w="2994025" h="739139">
                  <a:moveTo>
                    <a:pt x="0" y="123152"/>
                  </a:moveTo>
                  <a:lnTo>
                    <a:pt x="9677" y="75215"/>
                  </a:lnTo>
                  <a:lnTo>
                    <a:pt x="36070" y="36070"/>
                  </a:lnTo>
                  <a:lnTo>
                    <a:pt x="75216" y="9677"/>
                  </a:lnTo>
                  <a:lnTo>
                    <a:pt x="123152" y="0"/>
                  </a:lnTo>
                  <a:lnTo>
                    <a:pt x="2870247" y="0"/>
                  </a:lnTo>
                  <a:lnTo>
                    <a:pt x="2917375" y="9374"/>
                  </a:lnTo>
                  <a:lnTo>
                    <a:pt x="2957329" y="36070"/>
                  </a:lnTo>
                  <a:lnTo>
                    <a:pt x="2984025" y="76023"/>
                  </a:lnTo>
                  <a:lnTo>
                    <a:pt x="2993399" y="123152"/>
                  </a:lnTo>
                  <a:lnTo>
                    <a:pt x="2993399" y="615747"/>
                  </a:lnTo>
                  <a:lnTo>
                    <a:pt x="2983722" y="663684"/>
                  </a:lnTo>
                  <a:lnTo>
                    <a:pt x="2957329" y="702829"/>
                  </a:lnTo>
                  <a:lnTo>
                    <a:pt x="2918183" y="729222"/>
                  </a:lnTo>
                  <a:lnTo>
                    <a:pt x="2870247" y="738899"/>
                  </a:lnTo>
                  <a:lnTo>
                    <a:pt x="123152" y="738899"/>
                  </a:lnTo>
                  <a:lnTo>
                    <a:pt x="75216" y="729222"/>
                  </a:lnTo>
                  <a:lnTo>
                    <a:pt x="36070" y="702829"/>
                  </a:lnTo>
                  <a:lnTo>
                    <a:pt x="9677" y="663684"/>
                  </a:lnTo>
                  <a:lnTo>
                    <a:pt x="0" y="615747"/>
                  </a:lnTo>
                  <a:lnTo>
                    <a:pt x="0" y="123152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423120" y="5218449"/>
              <a:ext cx="1966595" cy="213360"/>
            </a:xfrm>
            <a:custGeom>
              <a:avLst/>
              <a:gdLst/>
              <a:ahLst/>
              <a:cxnLst/>
              <a:rect l="l" t="t" r="r" b="b"/>
              <a:pathLst>
                <a:path w="1966595" h="213360">
                  <a:moveTo>
                    <a:pt x="1966066" y="213359"/>
                  </a:moveTo>
                  <a:lnTo>
                    <a:pt x="0" y="213359"/>
                  </a:lnTo>
                  <a:lnTo>
                    <a:pt x="0" y="0"/>
                  </a:lnTo>
                  <a:lnTo>
                    <a:pt x="1966066" y="0"/>
                  </a:lnTo>
                  <a:lnTo>
                    <a:pt x="1966066" y="2133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389186" y="5218449"/>
              <a:ext cx="590550" cy="213360"/>
            </a:xfrm>
            <a:custGeom>
              <a:avLst/>
              <a:gdLst/>
              <a:ahLst/>
              <a:cxnLst/>
              <a:rect l="l" t="t" r="r" b="b"/>
              <a:pathLst>
                <a:path w="590550" h="213360">
                  <a:moveTo>
                    <a:pt x="590459" y="213359"/>
                  </a:moveTo>
                  <a:lnTo>
                    <a:pt x="0" y="213359"/>
                  </a:lnTo>
                  <a:lnTo>
                    <a:pt x="0" y="0"/>
                  </a:lnTo>
                  <a:lnTo>
                    <a:pt x="590459" y="0"/>
                  </a:lnTo>
                  <a:lnTo>
                    <a:pt x="590459" y="213359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410420" y="5198637"/>
            <a:ext cx="2760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Я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всегда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много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читал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50" dirty="0">
                <a:latin typeface="Microsoft Sans Serif"/>
                <a:cs typeface="Microsoft Sans Serif"/>
              </a:rPr>
              <a:t>кошках…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496B7-DD05-05F1-652A-8BAF6F955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6926452-E147-0198-CD8A-8F851E80C311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F8C425D-1149-0B91-80A9-CE2BF01BFB26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50A2D33-E7BA-C9C5-AE21-5DE3487D0882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E072F24-4D89-3884-E613-369653F2241A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576DA7E-1084-6C59-CF49-3969346C4246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CD772D7-EC90-6B53-6D8A-08EB6C4E2F8B}"/>
              </a:ext>
            </a:extLst>
          </p:cNvPr>
          <p:cNvSpPr txBox="1"/>
          <p:nvPr/>
        </p:nvSpPr>
        <p:spPr>
          <a:xfrm>
            <a:off x="997050" y="1465205"/>
            <a:ext cx="9647555" cy="3185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Microsoft Sans Serif"/>
                <a:cs typeface="Microsoft Sans Serif"/>
              </a:rPr>
              <a:t>Поиск</a:t>
            </a:r>
            <a:r>
              <a:rPr sz="4000" spc="-145" dirty="0">
                <a:latin typeface="Microsoft Sans Serif"/>
                <a:cs typeface="Microsoft Sans Serif"/>
              </a:rPr>
              <a:t> </a:t>
            </a:r>
            <a:r>
              <a:rPr sz="4000" dirty="0" err="1">
                <a:latin typeface="Microsoft Sans Serif"/>
                <a:cs typeface="Microsoft Sans Serif"/>
              </a:rPr>
              <a:t>по</a:t>
            </a:r>
            <a:r>
              <a:rPr sz="4000" spc="-145" dirty="0">
                <a:latin typeface="Microsoft Sans Serif"/>
                <a:cs typeface="Microsoft Sans Serif"/>
              </a:rPr>
              <a:t> </a:t>
            </a:r>
            <a:r>
              <a:rPr sz="4000" spc="-10" dirty="0" err="1">
                <a:latin typeface="Microsoft Sans Serif"/>
                <a:cs typeface="Microsoft Sans Serif"/>
              </a:rPr>
              <a:t>сходству</a:t>
            </a:r>
            <a:r>
              <a:rPr lang="ru-RU" sz="4000" spc="-10" dirty="0">
                <a:latin typeface="Microsoft Sans Serif"/>
                <a:cs typeface="Microsoft Sans Serif"/>
              </a:rPr>
              <a:t> (нечёткий поиск)</a:t>
            </a:r>
          </a:p>
          <a:p>
            <a:pPr marL="41275">
              <a:lnSpc>
                <a:spcPct val="100000"/>
              </a:lnSpc>
              <a:spcBef>
                <a:spcPts val="100"/>
              </a:spcBef>
            </a:pPr>
            <a:endParaRPr sz="4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614"/>
              </a:spcBef>
            </a:pPr>
            <a:r>
              <a:rPr lang="ru-RU" sz="1800" spc="-20" dirty="0">
                <a:latin typeface="Roboto"/>
                <a:cs typeface="Roboto"/>
              </a:rPr>
              <a:t>Зачем нужен поиск по сходству?</a:t>
            </a:r>
          </a:p>
          <a:p>
            <a:pPr marL="298450" marR="5080" indent="-285750">
              <a:lnSpc>
                <a:spcPct val="100000"/>
              </a:lnSpc>
              <a:spcBef>
                <a:spcPts val="1614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Roboto"/>
                <a:cs typeface="Roboto"/>
              </a:rPr>
              <a:t>чтобы могли находиться похожие слова (например, формы одного слова) </a:t>
            </a:r>
          </a:p>
          <a:p>
            <a:pPr marL="12700" marR="5080">
              <a:lnSpc>
                <a:spcPct val="100000"/>
              </a:lnSpc>
              <a:spcBef>
                <a:spcPts val="1614"/>
              </a:spcBef>
            </a:pPr>
            <a:r>
              <a:rPr lang="ru-RU" dirty="0">
                <a:latin typeface="Roboto"/>
                <a:cs typeface="Roboto"/>
              </a:rPr>
              <a:t>•	</a:t>
            </a:r>
            <a:r>
              <a:rPr lang="ru-RU" sz="1400" dirty="0">
                <a:latin typeface="Roboto"/>
                <a:cs typeface="Roboto"/>
              </a:rPr>
              <a:t>но, конечно, для этого лучше использовать нормализацию текста, об этом поговорим чуть позже</a:t>
            </a:r>
          </a:p>
          <a:p>
            <a:pPr marL="298450" marR="5080" lvl="1" indent="-285750">
              <a:spcBef>
                <a:spcPts val="1614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Roboto"/>
                <a:cs typeface="Roboto"/>
              </a:rPr>
              <a:t>для исправления опечаток</a:t>
            </a:r>
            <a:endParaRPr dirty="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764342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CB2B3-91C9-7391-DA4A-E460A4B0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A999240-5EA8-7D4C-375E-7F239B6AFDB0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51C3347-1741-D6A8-3447-626438E53033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AF165FA-9DAE-4E82-2FE9-8D419A75D79A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5731A33-06F9-E7DA-8223-3AEA0F759427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D071229-22C5-66AF-CB08-67DA9DC23A98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36BDDFF-8354-3026-DBBE-DD805ED668FE}"/>
              </a:ext>
            </a:extLst>
          </p:cNvPr>
          <p:cNvSpPr txBox="1"/>
          <p:nvPr/>
        </p:nvSpPr>
        <p:spPr>
          <a:xfrm>
            <a:off x="997050" y="1465205"/>
            <a:ext cx="9647555" cy="35112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lang="ru-RU" sz="4000" spc="-10" dirty="0">
                <a:latin typeface="Microsoft Sans Serif"/>
                <a:cs typeface="Microsoft Sans Serif"/>
              </a:rPr>
              <a:t>Исправление опечаток</a:t>
            </a:r>
          </a:p>
          <a:p>
            <a:pPr marL="41275">
              <a:lnSpc>
                <a:spcPct val="100000"/>
              </a:lnSpc>
              <a:spcBef>
                <a:spcPts val="100"/>
              </a:spcBef>
            </a:pPr>
            <a:endParaRPr lang="ru-RU" sz="4000" spc="-10" dirty="0">
              <a:latin typeface="Microsoft Sans Serif"/>
              <a:cs typeface="Microsoft Sans Serif"/>
            </a:endParaRPr>
          </a:p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lang="ru-RU" spc="-10" dirty="0">
                <a:latin typeface="Microsoft Sans Serif"/>
                <a:cs typeface="Microsoft Sans Serif"/>
              </a:rPr>
              <a:t>Реализация:</a:t>
            </a:r>
          </a:p>
          <a:p>
            <a:pPr marL="41275">
              <a:lnSpc>
                <a:spcPct val="100000"/>
              </a:lnSpc>
              <a:spcBef>
                <a:spcPts val="100"/>
              </a:spcBef>
            </a:pPr>
            <a:endParaRPr lang="ru-RU" spc="-10" dirty="0">
              <a:latin typeface="Microsoft Sans Serif"/>
              <a:cs typeface="Microsoft Sans Serif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ru-RU" dirty="0">
                <a:effectLst/>
                <a:latin typeface="Microsoft Sans Serif" panose="020B0604020202020204" pitchFamily="34" charset="0"/>
                <a:ea typeface="Times New Roman" panose="02020603050405020304" pitchFamily="18" charset="0"/>
              </a:rPr>
              <a:t>исправление изолированного термина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>
                <a:effectLst/>
                <a:latin typeface="Microsoft Sans Serif" panose="020B0604020202020204" pitchFamily="34" charset="0"/>
                <a:ea typeface="Times New Roman" panose="02020603050405020304" pitchFamily="18" charset="0"/>
              </a:rPr>
              <a:t>расстояние редактирования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>
                <a:effectLst/>
                <a:latin typeface="Microsoft Sans Serif" panose="020B0604020202020204" pitchFamily="34" charset="0"/>
                <a:ea typeface="Times New Roman" panose="02020603050405020304" pitchFamily="18" charset="0"/>
              </a:rPr>
              <a:t>пересечение </a:t>
            </a:r>
            <a:r>
              <a:rPr lang="en-US" dirty="0">
                <a:effectLst/>
                <a:latin typeface="Microsoft Sans Serif" panose="020B0604020202020204" pitchFamily="34" charset="0"/>
                <a:ea typeface="Times New Roman" panose="02020603050405020304" pitchFamily="18" charset="0"/>
              </a:rPr>
              <a:t>k</a:t>
            </a:r>
            <a:r>
              <a:rPr lang="ru-RU" dirty="0">
                <a:effectLst/>
                <a:latin typeface="Microsoft Sans Serif" panose="020B0604020202020204" pitchFamily="34" charset="0"/>
                <a:ea typeface="Times New Roman" panose="02020603050405020304" pitchFamily="18" charset="0"/>
              </a:rPr>
              <a:t>-грамм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ru-RU" dirty="0">
                <a:effectLst/>
                <a:latin typeface="Microsoft Sans Serif" panose="020B0604020202020204" pitchFamily="34" charset="0"/>
                <a:ea typeface="Times New Roman" panose="02020603050405020304" pitchFamily="18" charset="0"/>
              </a:rPr>
              <a:t>исправление с учётом контекста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ru-RU" dirty="0">
                <a:latin typeface="Microsoft Sans Serif" panose="020B0604020202020204" pitchFamily="34" charset="0"/>
                <a:ea typeface="Times New Roman" panose="02020603050405020304" pitchFamily="18" charset="0"/>
              </a:rPr>
              <a:t>фонетическое исправление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1275">
              <a:lnSpc>
                <a:spcPct val="100000"/>
              </a:lnSpc>
              <a:spcBef>
                <a:spcPts val="100"/>
              </a:spcBef>
            </a:pPr>
            <a:endParaRPr lang="ru-RU" spc="-1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616219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785A-9C27-F5B5-BBC0-33D475C3F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0890C1-9372-4997-C935-764E3195AD9F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48C2FA4-0F8E-D096-D5B4-3FE055975C0D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D3A9E7F-7288-0480-05D7-8230F91B00F5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8E779EC-4ABF-8F00-F680-4EBDEC725B2A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300A5AE-D2EC-BCFE-7977-185A5184D7D3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FEA2051-0C9A-D7F8-59F6-DBCE0C98B46F}"/>
              </a:ext>
            </a:extLst>
          </p:cNvPr>
          <p:cNvSpPr txBox="1"/>
          <p:nvPr/>
        </p:nvSpPr>
        <p:spPr>
          <a:xfrm>
            <a:off x="997050" y="1465205"/>
            <a:ext cx="96475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lang="ru-RU" sz="4000" spc="-10" dirty="0">
                <a:latin typeface="Microsoft Sans Serif"/>
                <a:cs typeface="Microsoft Sans Serif"/>
              </a:rPr>
              <a:t>Расстояние редактирования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4F9CC8-69F1-C185-1CED-C225FEF72517}"/>
              </a:ext>
            </a:extLst>
          </p:cNvPr>
          <p:cNvSpPr txBox="1"/>
          <p:nvPr/>
        </p:nvSpPr>
        <p:spPr>
          <a:xfrm>
            <a:off x="969488" y="2502261"/>
            <a:ext cx="1141530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чаще всего – расстояние Левенштейна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расстояние Левенштейна между двумя строками символов </a:t>
            </a:r>
            <a:r>
              <a:rPr lang="en-US" dirty="0"/>
              <a:t>s_1 </a:t>
            </a:r>
            <a:r>
              <a:rPr lang="ru-RU" dirty="0"/>
              <a:t>и </a:t>
            </a:r>
            <a:r>
              <a:rPr lang="en-US" dirty="0"/>
              <a:t>s_2 </a:t>
            </a:r>
            <a:r>
              <a:rPr lang="ru-RU" dirty="0"/>
              <a:t>— </a:t>
            </a:r>
            <a:endParaRPr lang="en-US" dirty="0"/>
          </a:p>
          <a:p>
            <a:r>
              <a:rPr lang="ru-RU" dirty="0"/>
              <a:t>это минимальное количество операций редактирования</a:t>
            </a:r>
            <a:r>
              <a:rPr lang="en-US" dirty="0"/>
              <a:t>, </a:t>
            </a:r>
            <a:r>
              <a:rPr lang="ru-RU" dirty="0"/>
              <a:t>с помощью которых строку s</a:t>
            </a:r>
            <a:r>
              <a:rPr lang="en-US" dirty="0"/>
              <a:t>_1</a:t>
            </a:r>
          </a:p>
          <a:p>
            <a:r>
              <a:rPr lang="ru-RU" dirty="0"/>
              <a:t>можно трансформировать</a:t>
            </a:r>
            <a:r>
              <a:rPr lang="en-US" dirty="0"/>
              <a:t> </a:t>
            </a:r>
            <a:r>
              <a:rPr lang="ru-RU" dirty="0"/>
              <a:t>в строку s</a:t>
            </a:r>
            <a:r>
              <a:rPr lang="en-US" dirty="0"/>
              <a:t>_</a:t>
            </a:r>
            <a:r>
              <a:rPr lang="ru-RU" dirty="0"/>
              <a:t>2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операции редактирования, позволяющие это сделать, включают в себя следующие преобразования:</a:t>
            </a:r>
          </a:p>
          <a:p>
            <a:r>
              <a:rPr lang="ru-RU" dirty="0"/>
              <a:t>	1) вставка символа в строку</a:t>
            </a:r>
          </a:p>
          <a:p>
            <a:r>
              <a:rPr lang="ru-RU" dirty="0"/>
              <a:t>	2) удаление символа из строки</a:t>
            </a:r>
          </a:p>
          <a:p>
            <a:r>
              <a:rPr lang="ru-RU" dirty="0"/>
              <a:t>	3) замена символа в строке другим символом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расстояние </a:t>
            </a:r>
            <a:r>
              <a:rPr lang="ru-RU" dirty="0" err="1"/>
              <a:t>Дамерау</a:t>
            </a:r>
            <a:r>
              <a:rPr lang="ru-RU" dirty="0"/>
              <a:t>‑Левенштейна:</a:t>
            </a:r>
          </a:p>
          <a:p>
            <a:pPr lvl="4"/>
            <a:r>
              <a:rPr lang="ru-RU" dirty="0"/>
              <a:t>	+ 4) транспозиция символов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5097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E27AD-1106-EF8D-50BD-4A2DEBC5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5B6760E-64FC-D58E-8874-0DF3CC429AD9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D15B7-38C5-4E9C-E23A-75330D243C0A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FECB66C-191D-D177-9831-81D152198E1A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9F0D4CE-3ACA-A6B1-A83B-F53310752856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13F88C6-F969-4B60-7089-5E7370FD64F1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C5BF5AA-4BE2-43AA-9B89-A0321FB8A7EE}"/>
              </a:ext>
            </a:extLst>
          </p:cNvPr>
          <p:cNvSpPr txBox="1"/>
          <p:nvPr/>
        </p:nvSpPr>
        <p:spPr>
          <a:xfrm>
            <a:off x="997050" y="1465205"/>
            <a:ext cx="96475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lang="ru-RU" sz="4000" spc="-10" dirty="0">
                <a:latin typeface="Microsoft Sans Serif"/>
                <a:cs typeface="Microsoft Sans Serif"/>
              </a:rPr>
              <a:t>Расстояние редактирования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139489-D4F0-2250-EA36-891FB0825291}"/>
              </a:ext>
            </a:extLst>
          </p:cNvPr>
          <p:cNvSpPr txBox="1"/>
          <p:nvPr/>
        </p:nvSpPr>
        <p:spPr>
          <a:xfrm>
            <a:off x="969488" y="2502261"/>
            <a:ext cx="99052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слова с опечаткой ищем в словаре слово</a:t>
            </a:r>
          </a:p>
          <a:p>
            <a:r>
              <a:rPr lang="ru-RU" dirty="0"/>
              <a:t>с минимальным расстоянием редактирования до него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таких слов несколько, выбираем более распространенный вариант</a:t>
            </a:r>
          </a:p>
          <a:p>
            <a:r>
              <a:rPr lang="ru-RU" dirty="0"/>
              <a:t>(распространённость считаем либо по словарю, либо по запросам других пользователей)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5926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A3B39-7384-32BE-FA82-35D52A787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B29FD04-62F5-863B-69B6-DB39EA24225C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E9D7D30-4824-2E69-A797-7060740019E4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9A38FA9-900F-D774-0527-8BF679D31CFB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FDEA794-2D2E-A04B-8E17-57E3A4B4455D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E9537B3-AD09-7B91-CB08-899FB6F71F44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2E1FBB5-BAED-D091-6B9B-FE3C11C2B2EF}"/>
              </a:ext>
            </a:extLst>
          </p:cNvPr>
          <p:cNvSpPr txBox="1"/>
          <p:nvPr/>
        </p:nvSpPr>
        <p:spPr>
          <a:xfrm>
            <a:off x="997050" y="1465205"/>
            <a:ext cx="96475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lang="ru-RU" sz="4000" spc="-10" dirty="0">
                <a:latin typeface="Microsoft Sans Serif"/>
                <a:cs typeface="Microsoft Sans Serif"/>
              </a:rPr>
              <a:t>Расстояние редактирования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AB9B3E-7AC5-9E97-9FBB-B272B07EA8E4}"/>
              </a:ext>
            </a:extLst>
          </p:cNvPr>
          <p:cNvSpPr txBox="1"/>
          <p:nvPr/>
        </p:nvSpPr>
        <p:spPr>
          <a:xfrm>
            <a:off x="969488" y="2502261"/>
            <a:ext cx="1087669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вариантов слов с указанным расстоянием редактирования может быть много, перебор может</a:t>
            </a:r>
          </a:p>
          <a:p>
            <a:r>
              <a:rPr lang="ru-RU" dirty="0"/>
              <a:t>оказаться </a:t>
            </a:r>
            <a:r>
              <a:rPr lang="ru-RU" dirty="0" err="1"/>
              <a:t>ресурсозатратным</a:t>
            </a:r>
            <a:endParaRPr lang="ru-RU" dirty="0"/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существуют разные эвристики: например, считается, что люди почти никогда не опечатываются</a:t>
            </a:r>
          </a:p>
          <a:p>
            <a:r>
              <a:rPr lang="ru-RU" dirty="0"/>
              <a:t>в первой букве слова, поэтому такие варианты исправлений можно не учитывать</a:t>
            </a:r>
          </a:p>
        </p:txBody>
      </p:sp>
    </p:spTree>
    <p:extLst>
      <p:ext uri="{BB962C8B-B14F-4D97-AF65-F5344CB8AC3E}">
        <p14:creationId xmlns:p14="http://schemas.microsoft.com/office/powerpoint/2010/main" val="4198180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A6B6E-077E-6209-7F75-DFC473371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C2F3E7-D838-27FE-B1E6-BDF4BF9C9C35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A1DA7CA-74CF-0331-BA35-698518461F80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A5F3028-8894-5D59-1A36-E7139D5F7B59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01EF0E-773F-617B-7389-E08CE03ED1EE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5CE8098-F651-FD7A-965D-1BF004F91287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B847860-29A2-CE84-FB42-08FC1A085C8C}"/>
              </a:ext>
            </a:extLst>
          </p:cNvPr>
          <p:cNvSpPr txBox="1"/>
          <p:nvPr/>
        </p:nvSpPr>
        <p:spPr>
          <a:xfrm>
            <a:off x="997050" y="1465205"/>
            <a:ext cx="96475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spcBef>
                <a:spcPts val="100"/>
              </a:spcBef>
            </a:pPr>
            <a:r>
              <a:rPr lang="ru-RU" sz="4000" dirty="0">
                <a:latin typeface="Microsoft Sans Serif" panose="020B0604020202020204" pitchFamily="34" charset="0"/>
                <a:ea typeface="Times New Roman" panose="02020603050405020304" pitchFamily="18" charset="0"/>
              </a:rPr>
              <a:t>П</a:t>
            </a:r>
            <a:r>
              <a:rPr lang="ru-RU" sz="4000" dirty="0">
                <a:effectLst/>
                <a:latin typeface="Microsoft Sans Serif" panose="020B0604020202020204" pitchFamily="34" charset="0"/>
                <a:ea typeface="Times New Roman" panose="02020603050405020304" pitchFamily="18" charset="0"/>
              </a:rPr>
              <a:t>ересечение </a:t>
            </a:r>
            <a:r>
              <a:rPr lang="en-US" sz="4000" dirty="0">
                <a:effectLst/>
                <a:latin typeface="Microsoft Sans Serif" panose="020B0604020202020204" pitchFamily="34" charset="0"/>
                <a:ea typeface="Times New Roman" panose="02020603050405020304" pitchFamily="18" charset="0"/>
              </a:rPr>
              <a:t>k</a:t>
            </a:r>
            <a:r>
              <a:rPr lang="ru-RU" sz="4000" dirty="0">
                <a:effectLst/>
                <a:latin typeface="Microsoft Sans Serif" panose="020B0604020202020204" pitchFamily="34" charset="0"/>
                <a:ea typeface="Times New Roman" panose="02020603050405020304" pitchFamily="18" charset="0"/>
              </a:rPr>
              <a:t>-грамм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" name="Рисунок 9" descr="Изображение выглядит как текст, снимок экрана, Шрифт, черно-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C76663C-5F86-9455-55BA-B8A15734E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201815"/>
            <a:ext cx="6858001" cy="443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26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DFD16-9180-F422-A432-C643F095E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500AD2-A443-2C3E-0C10-7148BF5E1272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EA61870-8F75-EB59-D79D-0E77E095F28A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016F2BE-B4D5-37C5-45E2-830009B614EF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3342292-73A9-36EE-7C59-A7FDB42759F1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2FDCFC5-9D01-34C0-ED5B-1B97728F0774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9032335-F600-B003-F705-6E9F7C8A6D29}"/>
              </a:ext>
            </a:extLst>
          </p:cNvPr>
          <p:cNvSpPr txBox="1"/>
          <p:nvPr/>
        </p:nvSpPr>
        <p:spPr>
          <a:xfrm>
            <a:off x="997050" y="1465205"/>
            <a:ext cx="96475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r>
              <a:rPr lang="ru-RU" sz="4000" dirty="0">
                <a:latin typeface="Microsoft Sans Serif" panose="020B0604020202020204" pitchFamily="34" charset="0"/>
                <a:ea typeface="Times New Roman" panose="02020603050405020304" pitchFamily="18" charset="0"/>
              </a:rPr>
              <a:t>И</a:t>
            </a:r>
            <a:r>
              <a:rPr lang="ru-RU" sz="4000" dirty="0">
                <a:effectLst/>
                <a:latin typeface="Microsoft Sans Serif" panose="020B0604020202020204" pitchFamily="34" charset="0"/>
                <a:ea typeface="Times New Roman" panose="02020603050405020304" pitchFamily="18" charset="0"/>
              </a:rPr>
              <a:t>справление с учётом контекста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0ECFD-7778-DD93-2799-C16E1E022381}"/>
              </a:ext>
            </a:extLst>
          </p:cNvPr>
          <p:cNvSpPr txBox="1"/>
          <p:nvPr/>
        </p:nvSpPr>
        <p:spPr>
          <a:xfrm>
            <a:off x="997050" y="2679944"/>
            <a:ext cx="1103539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Допустим, опечатка в запросе привела к тому, что все слова в нём вроде бы существующие,</a:t>
            </a:r>
          </a:p>
          <a:p>
            <a:r>
              <a:rPr lang="ru-RU" dirty="0"/>
              <a:t>но запрос получился бессмысленным. Например, «мальчик поел песню».</a:t>
            </a:r>
          </a:p>
          <a:p>
            <a:r>
              <a:rPr lang="ru-RU" dirty="0"/>
              <a:t>Если в ответ на фразу, подобную этой, будет возвращено лишь небольшое количество документов,</a:t>
            </a:r>
          </a:p>
          <a:p>
            <a:r>
              <a:rPr lang="ru-RU" dirty="0"/>
              <a:t>то поисковая система может принять решение исправить этот запрос на «мальчик поет песню».</a:t>
            </a:r>
          </a:p>
          <a:p>
            <a:r>
              <a:rPr lang="ru-RU" dirty="0"/>
              <a:t>Простейший способ сделать это — перечислить исправления для каждого из трех терминов,</a:t>
            </a:r>
          </a:p>
          <a:p>
            <a:r>
              <a:rPr lang="ru-RU" dirty="0"/>
              <a:t>даже если все термины запроса написаны правильно,</a:t>
            </a:r>
          </a:p>
          <a:p>
            <a:r>
              <a:rPr lang="ru-RU" dirty="0"/>
              <a:t>а затем попробовать произвести замену каждого термина фразы.</a:t>
            </a:r>
          </a:p>
          <a:p>
            <a:r>
              <a:rPr lang="ru-RU" dirty="0"/>
              <a:t>Более эффективный способ — перебирать только те комбинации возможных исправлений,</a:t>
            </a:r>
          </a:p>
          <a:p>
            <a:r>
              <a:rPr lang="ru-RU" dirty="0"/>
              <a:t>которые чаще остальных встречаются в коллекции документов или в логах запросов.</a:t>
            </a:r>
          </a:p>
        </p:txBody>
      </p:sp>
    </p:spTree>
    <p:extLst>
      <p:ext uri="{BB962C8B-B14F-4D97-AF65-F5344CB8AC3E}">
        <p14:creationId xmlns:p14="http://schemas.microsoft.com/office/powerpoint/2010/main" val="2162715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1549B-E7C5-B87F-AC25-18420582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AC87FB2-244D-4CC5-EB20-41A0D2D73858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EF9111C-5E7B-BAAA-74AF-AC77C4B6D017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254A607-5201-3BA3-DF32-41D57BDB4F79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54A8A7A-D23F-FC35-460D-FFF662C48D65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B412184-2C1C-659E-A79B-B31A008123DD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62AB1B8-2717-B2DB-2172-80154E6904E6}"/>
              </a:ext>
            </a:extLst>
          </p:cNvPr>
          <p:cNvSpPr txBox="1"/>
          <p:nvPr/>
        </p:nvSpPr>
        <p:spPr>
          <a:xfrm>
            <a:off x="997050" y="1465205"/>
            <a:ext cx="96475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r>
              <a:rPr lang="ru-RU" sz="4000" dirty="0">
                <a:effectLst/>
                <a:latin typeface="Microsoft Sans Serif" panose="020B0604020202020204" pitchFamily="34" charset="0"/>
                <a:ea typeface="Times New Roman" panose="02020603050405020304" pitchFamily="18" charset="0"/>
              </a:rPr>
              <a:t>Фонетическое исправление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52909A-1B71-1858-CCBD-1B1AB3C9D50F}"/>
              </a:ext>
            </a:extLst>
          </p:cNvPr>
          <p:cNvSpPr txBox="1"/>
          <p:nvPr/>
        </p:nvSpPr>
        <p:spPr>
          <a:xfrm>
            <a:off x="997050" y="2679944"/>
            <a:ext cx="10729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Soundex</a:t>
            </a:r>
            <a:r>
              <a:rPr lang="ru-RU" b="1" dirty="0"/>
              <a:t> </a:t>
            </a:r>
            <a:r>
              <a:rPr lang="ru-RU" dirty="0"/>
              <a:t>и другие похожие алгоритмы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Основаны на фонетическом хешировании – слова с похожим звучаниям будут получать один и</a:t>
            </a:r>
          </a:p>
          <a:p>
            <a:r>
              <a:rPr lang="ru-RU" dirty="0"/>
              <a:t>тот же хэш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чего нужно фонетическое исправление?</a:t>
            </a:r>
          </a:p>
        </p:txBody>
      </p:sp>
    </p:spTree>
    <p:extLst>
      <p:ext uri="{BB962C8B-B14F-4D97-AF65-F5344CB8AC3E}">
        <p14:creationId xmlns:p14="http://schemas.microsoft.com/office/powerpoint/2010/main" val="741422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DC25F-260D-1AB7-6213-E3EFBCC1F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3CCB80A-BF1C-B85F-03DC-B21F5D7E0C89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7C82DBC-78C0-4E92-E776-BB1F7A231B3A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D2B01C1-3E6C-A5CB-6F81-CAC19AE7DBF9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E437BB6-3F21-8293-95B2-83F686D09F94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7BB417D-307A-4569-371C-87B4C398FA5E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87A319C-0509-577D-96F0-2F5D4F2DC0DC}"/>
              </a:ext>
            </a:extLst>
          </p:cNvPr>
          <p:cNvSpPr txBox="1"/>
          <p:nvPr/>
        </p:nvSpPr>
        <p:spPr>
          <a:xfrm>
            <a:off x="997050" y="1465205"/>
            <a:ext cx="96475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r>
              <a:rPr lang="ru-RU" sz="4000" dirty="0">
                <a:effectLst/>
                <a:latin typeface="Microsoft Sans Serif" panose="020B0604020202020204" pitchFamily="34" charset="0"/>
                <a:ea typeface="Times New Roman" panose="02020603050405020304" pitchFamily="18" charset="0"/>
              </a:rPr>
              <a:t>Нормализация текста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222152-DB81-F793-D8EA-9F184E43E742}"/>
              </a:ext>
            </a:extLst>
          </p:cNvPr>
          <p:cNvSpPr txBox="1"/>
          <p:nvPr/>
        </p:nvSpPr>
        <p:spPr>
          <a:xfrm>
            <a:off x="1027401" y="2652382"/>
            <a:ext cx="39741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приведение к единому регистру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лемматизация</a:t>
            </a:r>
            <a:r>
              <a:rPr lang="ru-RU" dirty="0"/>
              <a:t> </a:t>
            </a:r>
            <a:r>
              <a:rPr lang="en-US" dirty="0"/>
              <a:t>/</a:t>
            </a:r>
            <a:r>
              <a:rPr lang="ru-RU" dirty="0"/>
              <a:t> </a:t>
            </a:r>
            <a:r>
              <a:rPr lang="ru-RU" dirty="0" err="1"/>
              <a:t>стемминг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удаление стоп-слов (нужно ли?)</a:t>
            </a:r>
          </a:p>
        </p:txBody>
      </p:sp>
    </p:spTree>
    <p:extLst>
      <p:ext uri="{BB962C8B-B14F-4D97-AF65-F5344CB8AC3E}">
        <p14:creationId xmlns:p14="http://schemas.microsoft.com/office/powerpoint/2010/main" val="2485909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0E998-401F-E8F7-9503-A42E0D025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7B78657-DB40-D21E-BF41-FD95F9338574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871762-C2AE-6284-A9F9-07560A943E91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E40BC42-ED9E-EF65-1A9C-38DC6DC46CA0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64A494F-5372-5D70-DBC0-DB31F1818788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F6790B7-FD67-AB32-4F96-E1FF01020635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631C8F0-B142-3FDA-ACCA-1254C63F6152}"/>
              </a:ext>
            </a:extLst>
          </p:cNvPr>
          <p:cNvSpPr txBox="1"/>
          <p:nvPr/>
        </p:nvSpPr>
        <p:spPr>
          <a:xfrm>
            <a:off x="997050" y="1465205"/>
            <a:ext cx="96475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r>
              <a:rPr lang="ru-RU" sz="4000" dirty="0">
                <a:effectLst/>
                <a:latin typeface="Microsoft Sans Serif" panose="020B0604020202020204" pitchFamily="34" charset="0"/>
                <a:ea typeface="Times New Roman" panose="02020603050405020304" pitchFamily="18" charset="0"/>
              </a:rPr>
              <a:t>Нормализация текста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25743A-99B5-9F7A-9CF4-877A13833B23}"/>
              </a:ext>
            </a:extLst>
          </p:cNvPr>
          <p:cNvSpPr txBox="1"/>
          <p:nvPr/>
        </p:nvSpPr>
        <p:spPr>
          <a:xfrm>
            <a:off x="1027401" y="2652382"/>
            <a:ext cx="39741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приведение к единому регистру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лемматизация</a:t>
            </a:r>
            <a:r>
              <a:rPr lang="ru-RU" dirty="0"/>
              <a:t> </a:t>
            </a:r>
            <a:r>
              <a:rPr lang="en-US" dirty="0"/>
              <a:t>/</a:t>
            </a:r>
            <a:r>
              <a:rPr lang="ru-RU" dirty="0"/>
              <a:t> </a:t>
            </a:r>
            <a:r>
              <a:rPr lang="ru-RU" dirty="0" err="1"/>
              <a:t>стемминг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удаление стоп-слов (нужно ли?)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F373CE-DAFA-0CCE-34A0-A61B46B57D89}"/>
              </a:ext>
            </a:extLst>
          </p:cNvPr>
          <p:cNvSpPr txBox="1"/>
          <p:nvPr/>
        </p:nvSpPr>
        <p:spPr>
          <a:xfrm>
            <a:off x="1027401" y="3962400"/>
            <a:ext cx="50674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Какие задачи решает?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нахождение разных форм слов из запроса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сжатие словаря</a:t>
            </a:r>
          </a:p>
        </p:txBody>
      </p:sp>
    </p:spTree>
    <p:extLst>
      <p:ext uri="{BB962C8B-B14F-4D97-AF65-F5344CB8AC3E}">
        <p14:creationId xmlns:p14="http://schemas.microsoft.com/office/powerpoint/2010/main" val="2615374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BA68C93-123A-79EB-5355-B62E25B32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08434"/>
          </a:xfrm>
        </p:spPr>
        <p:txBody>
          <a:bodyPr/>
          <a:lstStyle/>
          <a:p>
            <a:r>
              <a:rPr lang="ru-RU" sz="2800" dirty="0" err="1"/>
              <a:t>Стемминг</a:t>
            </a:r>
            <a:endParaRPr lang="ru-RU" sz="2800" dirty="0"/>
          </a:p>
          <a:p>
            <a:endParaRPr lang="ru-RU" sz="2800" dirty="0"/>
          </a:p>
          <a:p>
            <a:r>
              <a:rPr lang="ru-RU" sz="2000" dirty="0"/>
              <a:t>Процесс приведения слов к их корневой форме путём удаления аффиксов, таких, как суффиксы и префиксы. Корневая форма не всегда может быть корректным словом в словаре, но она помогает стандартизировать варианты одного и того же слова.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89070A-7663-5239-48F9-46B69B0CC6B0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215991"/>
          </a:xfrm>
        </p:spPr>
        <p:txBody>
          <a:bodyPr/>
          <a:lstStyle/>
          <a:p>
            <a:r>
              <a:rPr lang="ru-RU" sz="2800" dirty="0" err="1"/>
              <a:t>Лемматизация</a:t>
            </a:r>
            <a:endParaRPr lang="ru-RU" sz="2800" dirty="0"/>
          </a:p>
          <a:p>
            <a:endParaRPr lang="ru-RU" sz="2800" dirty="0"/>
          </a:p>
          <a:p>
            <a:r>
              <a:rPr lang="ru-RU" sz="2000" dirty="0"/>
              <a:t>Процесс приведения слов к их начальной форме (лемме), возвращает корректные слова из словаря.</a:t>
            </a:r>
          </a:p>
          <a:p>
            <a:endParaRPr lang="ru-RU" sz="2800" dirty="0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72D73975-3D9B-2F0C-099B-F1EA95A35E12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EE254574-155C-3DC6-17D4-D82CC245E28F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B321C652-7205-516B-5E20-804EA0CA2E0A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400A7F02-7F5E-923B-BD56-E1A88C425905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58364F-B875-7B61-22EC-7D7FE4AC4A55}"/>
              </a:ext>
            </a:extLst>
          </p:cNvPr>
          <p:cNvSpPr txBox="1"/>
          <p:nvPr/>
        </p:nvSpPr>
        <p:spPr>
          <a:xfrm>
            <a:off x="524111" y="491132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Что лучше?</a:t>
            </a:r>
          </a:p>
        </p:txBody>
      </p:sp>
    </p:spTree>
    <p:extLst>
      <p:ext uri="{BB962C8B-B14F-4D97-AF65-F5344CB8AC3E}">
        <p14:creationId xmlns:p14="http://schemas.microsoft.com/office/powerpoint/2010/main" val="4040681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4D632-BAD6-D09E-DD07-58830BE45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C7C685-382B-A203-9CF7-F466197936D2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FCD9A8D-D97B-9600-0816-A8ED60F3C529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B612706-A90B-2244-3876-2CCD420A0135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AB4101-92E8-E1B9-44AF-0825194CED8E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03A6185-4EFB-E66E-4BC3-B91C11CCAE98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ECBAEBB-9ABA-6886-3E67-429252F31DE4}"/>
              </a:ext>
            </a:extLst>
          </p:cNvPr>
          <p:cNvSpPr txBox="1"/>
          <p:nvPr/>
        </p:nvSpPr>
        <p:spPr>
          <a:xfrm>
            <a:off x="997050" y="1465205"/>
            <a:ext cx="96475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r>
              <a:rPr lang="ru-RU" sz="4000" dirty="0">
                <a:effectLst/>
                <a:latin typeface="Microsoft Sans Serif" panose="020B0604020202020204" pitchFamily="34" charset="0"/>
                <a:ea typeface="Times New Roman" panose="02020603050405020304" pitchFamily="18" charset="0"/>
              </a:rPr>
              <a:t>Стоп-слова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63629D-9D1A-0832-CDCE-70BF2E879A4D}"/>
              </a:ext>
            </a:extLst>
          </p:cNvPr>
          <p:cNvSpPr txBox="1"/>
          <p:nvPr/>
        </p:nvSpPr>
        <p:spPr>
          <a:xfrm>
            <a:off x="1027401" y="2652382"/>
            <a:ext cx="950131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Стоп-слова – </a:t>
            </a:r>
            <a:r>
              <a:rPr lang="ru-RU" b="1" dirty="0"/>
              <a:t>это</a:t>
            </a:r>
            <a:r>
              <a:rPr lang="ru-RU" dirty="0"/>
              <a:t> </a:t>
            </a:r>
            <a:r>
              <a:rPr lang="ru-RU" b="1" dirty="0"/>
              <a:t>слова</a:t>
            </a:r>
            <a:r>
              <a:rPr lang="ru-RU" dirty="0"/>
              <a:t>, которые часто встречаются в тексте,</a:t>
            </a:r>
          </a:p>
          <a:p>
            <a:r>
              <a:rPr lang="ru-RU" dirty="0"/>
              <a:t>но обычно не несут смысловой нагрузки.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слова считать стоп-словами?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слова могут считаться стоп-словами, скажем, для задачи частотного анализа,</a:t>
            </a:r>
          </a:p>
          <a:p>
            <a:r>
              <a:rPr lang="ru-RU" dirty="0"/>
              <a:t>но не будут таковыми для задач информационного поиска?</a:t>
            </a:r>
          </a:p>
        </p:txBody>
      </p:sp>
    </p:spTree>
    <p:extLst>
      <p:ext uri="{BB962C8B-B14F-4D97-AF65-F5344CB8AC3E}">
        <p14:creationId xmlns:p14="http://schemas.microsoft.com/office/powerpoint/2010/main" val="2292278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912B2-0D4F-BA9E-E606-6F06317C9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ACD3778-259D-D8F9-5FDE-76D81CC2855F}"/>
              </a:ext>
            </a:extLst>
          </p:cNvPr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0" dirty="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18EF7CA-8BC1-19B7-91D2-7D0CAD05D990}"/>
              </a:ext>
            </a:extLst>
          </p:cNvPr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D951B9B-8D33-8D8E-6807-9FB1719F8E2D}"/>
              </a:ext>
            </a:extLst>
          </p:cNvPr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sz="14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A092D81-5600-3CA1-907F-70D60393B45B}"/>
              </a:ext>
            </a:extLst>
          </p:cNvPr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8B7D250-79BA-6FA7-0ADC-765EECBABE7B}"/>
              </a:ext>
            </a:extLst>
          </p:cNvPr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sz="1400" spc="-55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sz="1400" spc="-5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3CCCCA0-FA13-8A3D-BA1B-BA28FBD5A9A4}"/>
              </a:ext>
            </a:extLst>
          </p:cNvPr>
          <p:cNvSpPr txBox="1"/>
          <p:nvPr/>
        </p:nvSpPr>
        <p:spPr>
          <a:xfrm>
            <a:off x="997050" y="1465205"/>
            <a:ext cx="96475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r>
              <a:rPr lang="ru-RU" sz="4000" dirty="0">
                <a:effectLst/>
                <a:latin typeface="Microsoft Sans Serif" panose="020B0604020202020204" pitchFamily="34" charset="0"/>
                <a:ea typeface="Times New Roman" panose="02020603050405020304" pitchFamily="18" charset="0"/>
              </a:rPr>
              <a:t>Что почитать?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8E5CA4-8B50-4129-EE7A-AB3ABE31C5C8}"/>
              </a:ext>
            </a:extLst>
          </p:cNvPr>
          <p:cNvSpPr txBox="1"/>
          <p:nvPr/>
        </p:nvSpPr>
        <p:spPr>
          <a:xfrm>
            <a:off x="1027401" y="2652382"/>
            <a:ext cx="8706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Статья на </a:t>
            </a:r>
            <a:r>
              <a:rPr lang="ru-RU" dirty="0" err="1"/>
              <a:t>Хабре</a:t>
            </a:r>
            <a:r>
              <a:rPr lang="ru-RU" dirty="0"/>
              <a:t> про нечёткий поиск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>
                <a:hlinkClick r:id="rId2"/>
              </a:rPr>
              <a:t>https://habr.com/ru/articles/114997/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Учебник «Введение в информационный поиск» (</a:t>
            </a:r>
            <a:r>
              <a:rPr lang="ru-RU" dirty="0" err="1"/>
              <a:t>Маннинг</a:t>
            </a:r>
            <a:r>
              <a:rPr lang="ru-RU" dirty="0"/>
              <a:t>, </a:t>
            </a:r>
            <a:r>
              <a:rPr lang="ru-RU" dirty="0" err="1"/>
              <a:t>Рагхаван</a:t>
            </a:r>
            <a:r>
              <a:rPr lang="ru-RU" dirty="0"/>
              <a:t>, </a:t>
            </a:r>
            <a:r>
              <a:rPr lang="ru-RU" dirty="0" err="1"/>
              <a:t>Шютце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07189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11433</TotalTime>
  <Words>996</Words>
  <Application>Microsoft Office PowerPoint</Application>
  <PresentationFormat>Широкоэкранный</PresentationFormat>
  <Paragraphs>199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5" baseType="lpstr">
      <vt:lpstr>Arial</vt:lpstr>
      <vt:lpstr>Calibri</vt:lpstr>
      <vt:lpstr>Courier New</vt:lpstr>
      <vt:lpstr>Microsoft Sans Serif</vt:lpstr>
      <vt:lpstr>Roboto</vt:lpstr>
      <vt:lpstr>Symbol</vt:lpstr>
      <vt:lpstr>Tahoma</vt:lpstr>
      <vt:lpstr>Times New Roman</vt:lpstr>
      <vt:lpstr>Office Theme</vt:lpstr>
      <vt:lpstr>Информационный поиск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infopoisk_1</dc:title>
  <cp:lastModifiedBy>Даниил Трошин</cp:lastModifiedBy>
  <cp:revision>5</cp:revision>
  <dcterms:created xsi:type="dcterms:W3CDTF">2026-01-13T05:27:05Z</dcterms:created>
  <dcterms:modified xsi:type="dcterms:W3CDTF">2026-01-22T07:46:53Z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2026-01-13T00:00:00Z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2026-01-13T00:00:00Z</vt:filetime>
  </property>
</Properties>
</file>
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1" r:id="rId3"/>
    <p:sldId id="273" r:id="rId4"/>
    <p:sldId id="274" r:id="rId5"/>
    <p:sldId id="272" r:id="rId6"/>
    <p:sldId id="275" r:id="rId7"/>
    <p:sldId id="276" r:id="rId8"/>
    <p:sldId id="277" r:id="rId9"/>
    <p:sldId id="278" r:id="rId10"/>
    <p:sldId id="279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358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8B29E-2089-4079-BF7D-2271A66EFBA2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28C81-D821-4961-AD95-7F2DBB5614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56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28C81-D821-4961-AD95-7F2DBB56144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483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196F8-715C-B197-C253-B6CE5600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D318A4-7D03-7E13-16FC-1AAEDB8C1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5B92F4-425D-29CB-1514-29DA6B56E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15E145-9ACB-1B01-2A4A-C38F0880F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28C81-D821-4961-AD95-7F2DBB56144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27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158" y="1739051"/>
            <a:ext cx="7599683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75347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8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6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0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rxiv.org/html/2407.15462v1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eller.wildberries.ru/instructions/ru/ru/material/item-search-results-and-ranking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366424.3382705" TargetMode="External"/><Relationship Id="rId2" Type="http://schemas.openxmlformats.org/officeDocument/2006/relationships/hyperlink" Target="https://www.maxmerce.com/blog/how-to-optimize-ebay-listings-for-better-search-ra/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7.13218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ozontech/articles/99584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4" name="object 4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12825" y="4028588"/>
            <a:ext cx="3340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rgbClr val="595959"/>
                </a:solidFill>
                <a:latin typeface="Roboto"/>
                <a:cs typeface="Roboto"/>
              </a:rPr>
              <a:t> Специализированный поиск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ф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р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м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а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ц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ы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й 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п</a:t>
            </a:r>
            <a:r>
              <a:rPr sz="7000" spc="-1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1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10" dirty="0">
                <a:solidFill>
                  <a:srgbClr val="EA4335"/>
                </a:solidFill>
                <a:latin typeface="Microsoft Sans Serif"/>
                <a:cs typeface="Microsoft Sans Serif"/>
              </a:rPr>
              <a:t>с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к</a:t>
            </a:r>
            <a:endParaRPr sz="7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299" y="1465205"/>
            <a:ext cx="10405745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  <a:cs typeface="Verdana"/>
              </a:rPr>
              <a:t>Что ещё используется для повышения качества и скорости поиска?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31552-2878-4275-5C5D-281E6E81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A98776A-59DD-7DED-E437-5C4CC30830B6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D32A01E-F157-6FA6-129C-4CA904D4B660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7C52B76-7931-84E6-BF54-BC08218D57A1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EF5DA4C-66A0-20D1-5181-8AF2A3450223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0100EF9-0D20-2AFE-A18B-49B7819AA0DE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4C05B9A-F87B-C245-25DF-10643AF43D8F}"/>
              </a:ext>
            </a:extLst>
          </p:cNvPr>
          <p:cNvSpPr txBox="1"/>
          <p:nvPr/>
        </p:nvSpPr>
        <p:spPr>
          <a:xfrm>
            <a:off x="803299" y="1465205"/>
            <a:ext cx="10405745" cy="5645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Verdana"/>
              </a:rPr>
              <a:t>ANN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en-US" sz="1600" b="1" dirty="0"/>
              <a:t>ANN (Approximate Nearest Neighbors, </a:t>
            </a:r>
            <a:r>
              <a:rPr lang="ru-RU" sz="1600" b="1" dirty="0"/>
              <a:t>приблизительный поиск ближайших соседей)</a:t>
            </a:r>
            <a:r>
              <a:rPr lang="en-US" sz="1600" b="1" dirty="0"/>
              <a:t> </a:t>
            </a:r>
            <a:r>
              <a:rPr lang="en-US" sz="1600" dirty="0"/>
              <a:t>– </a:t>
            </a:r>
            <a:r>
              <a:rPr lang="ru-RU" sz="1600" dirty="0"/>
              <a:t>эвристический метод поиска ближайших соседей, жертвует точностью ради скорости поиска.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Как работает?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KD‑</a:t>
            </a:r>
            <a:r>
              <a:rPr lang="ru-RU" sz="1600" b="1" dirty="0"/>
              <a:t>деревья </a:t>
            </a:r>
            <a:r>
              <a:rPr lang="ru-RU" sz="1600" dirty="0"/>
              <a:t>(пространство разбивается на несколько подпространств, ближайшие соседи ищутся в том же подпространстве, что и вектор запроса)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NSW</a:t>
            </a:r>
            <a:r>
              <a:rPr lang="ru-RU" sz="1600" b="1" dirty="0"/>
              <a:t> </a:t>
            </a:r>
            <a:r>
              <a:rPr lang="ru-RU" sz="1600" dirty="0"/>
              <a:t>(используем граф со следующим свойством: все точки достижимы друг из друга за </a:t>
            </a:r>
            <a:r>
              <a:rPr lang="en-US" sz="1600" dirty="0"/>
              <a:t>O(log N) </a:t>
            </a:r>
            <a:r>
              <a:rPr lang="ru-RU" sz="1600" dirty="0"/>
              <a:t>шагов, ближайшие точки </a:t>
            </a:r>
            <a:r>
              <a:rPr lang="ru-RU" sz="1600" dirty="0" err="1"/>
              <a:t>смежны</a:t>
            </a:r>
            <a:r>
              <a:rPr lang="ru-RU" sz="1600" dirty="0"/>
              <a:t> – за </a:t>
            </a:r>
            <a:r>
              <a:rPr lang="en-US" sz="1600" dirty="0"/>
              <a:t>O(log N) </a:t>
            </a:r>
            <a:r>
              <a:rPr lang="ru-RU" sz="1600" dirty="0"/>
              <a:t>шагов находим ближайший вектор к запросу)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HNSW </a:t>
            </a:r>
            <a:r>
              <a:rPr lang="en-US" sz="1600" dirty="0"/>
              <a:t>(</a:t>
            </a:r>
            <a:r>
              <a:rPr lang="ru-RU" sz="1600" dirty="0"/>
              <a:t>иерархия графов: на первом слое представлены все точки, на каждом </a:t>
            </a:r>
            <a:r>
              <a:rPr lang="en-US" sz="1600" dirty="0"/>
              <a:t>k-</a:t>
            </a:r>
            <a:r>
              <a:rPr lang="ru-RU" sz="1600" dirty="0"/>
              <a:t>ом слое – некоторое подмножество </a:t>
            </a:r>
            <a:r>
              <a:rPr lang="ru-RU" sz="1600" dirty="0" err="1"/>
              <a:t>точ</a:t>
            </a:r>
            <a:r>
              <a:rPr lang="en-US" sz="1600" dirty="0"/>
              <a:t>e</a:t>
            </a:r>
            <a:r>
              <a:rPr lang="ru-RU" sz="1600" dirty="0"/>
              <a:t>к (</a:t>
            </a:r>
            <a:r>
              <a:rPr lang="en-US" sz="1600" dirty="0"/>
              <a:t>k – 1</a:t>
            </a:r>
            <a:r>
              <a:rPr lang="ru-RU" sz="1600" dirty="0"/>
              <a:t>)</a:t>
            </a:r>
            <a:r>
              <a:rPr lang="en-US" sz="1600" dirty="0"/>
              <a:t>-</a:t>
            </a:r>
            <a:r>
              <a:rPr lang="ru-RU" sz="1600" dirty="0"/>
              <a:t>го слоя; стартуем с последнего, ищем ближайших соседей, возобновляем поиск с них на предыдущем слое</a:t>
            </a:r>
            <a:r>
              <a:rPr lang="en-US" sz="1600" dirty="0"/>
              <a:t>)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17269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E246-BEB1-3C6D-0B54-1DE6BF1D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0D0D76-9608-8ED4-B756-745CFBD6F489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BD7685-1C2A-15D6-14DD-7BC9CD6896A5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44A18E6-EB2C-139B-D0FC-13E7A18C3B62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1A53F5-4001-5600-F44B-97EF99D9F051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C144404-D0B4-322E-EAB2-63A7D690B388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2F8A9EB-7E99-1B71-EF97-7D959F73DD3F}"/>
              </a:ext>
            </a:extLst>
          </p:cNvPr>
          <p:cNvSpPr txBox="1"/>
          <p:nvPr/>
        </p:nvSpPr>
        <p:spPr>
          <a:xfrm>
            <a:off x="803299" y="1465205"/>
            <a:ext cx="10405745" cy="3644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Verdana"/>
              </a:rPr>
              <a:t>ANN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en-US" sz="1600" b="1" dirty="0"/>
              <a:t>ANN (Approximate Nearest Neighbors, </a:t>
            </a:r>
            <a:r>
              <a:rPr lang="ru-RU" sz="1600" b="1" dirty="0"/>
              <a:t>приблизительный поиск ближайших соседей)</a:t>
            </a:r>
            <a:r>
              <a:rPr lang="en-US" sz="1600" b="1" dirty="0"/>
              <a:t> </a:t>
            </a:r>
            <a:r>
              <a:rPr lang="en-US" sz="1600" dirty="0"/>
              <a:t>– </a:t>
            </a:r>
            <a:r>
              <a:rPr lang="ru-RU" sz="1600" dirty="0"/>
              <a:t>эвристический метод поиска ближайших соседей, жертвует точностью ради скорости поиска.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Как работает?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FAISS: </a:t>
            </a:r>
            <a:r>
              <a:rPr lang="ru-RU" sz="1600" dirty="0"/>
              <a:t>кластеризация (</a:t>
            </a:r>
            <a:r>
              <a:rPr lang="en-US" sz="1600" dirty="0"/>
              <a:t>k-means</a:t>
            </a:r>
            <a:r>
              <a:rPr lang="ru-RU" sz="1600" dirty="0"/>
              <a:t>)</a:t>
            </a:r>
            <a:r>
              <a:rPr lang="en-US" sz="1600" dirty="0"/>
              <a:t> + </a:t>
            </a:r>
            <a:r>
              <a:rPr lang="ru-RU" sz="1600" dirty="0"/>
              <a:t>квантование (сжатие) векторов – запрос сравнивается с центрами всех кластеров, потом поиск идёт только по ближайшим кластерам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3833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D65FF-F5FE-2ED6-5DE5-7DAB876E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474FFD-20EB-6DD7-0A28-BC3F027D5C1E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5FE0D4-CC9D-E2E3-62AC-677B42342EE6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8A1D5E9-622E-9ED5-7B43-06FB972AD7E3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EE6E482-8D04-FAD6-AAD0-222AA7BA397B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1D95E4C-815F-133E-8AC1-3755228C8153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8928EB8-40B8-5EE1-DED4-269034B4BCB1}"/>
              </a:ext>
            </a:extLst>
          </p:cNvPr>
          <p:cNvSpPr txBox="1"/>
          <p:nvPr/>
        </p:nvSpPr>
        <p:spPr>
          <a:xfrm>
            <a:off x="803299" y="1465205"/>
            <a:ext cx="10405745" cy="2767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Verdana"/>
              </a:rPr>
              <a:t>Mixture of Logits (</a:t>
            </a:r>
            <a:r>
              <a:rPr lang="en-US" sz="4000" dirty="0" err="1">
                <a:latin typeface="Verdana"/>
              </a:rPr>
              <a:t>MoL</a:t>
            </a:r>
            <a:r>
              <a:rPr lang="en-US" sz="4000" dirty="0">
                <a:latin typeface="Verdana"/>
              </a:rPr>
              <a:t>)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Вместо скалярного произведения </a:t>
            </a:r>
            <a:r>
              <a:rPr lang="ru-RU" sz="1600" dirty="0" err="1"/>
              <a:t>эмбеддингов</a:t>
            </a:r>
            <a:r>
              <a:rPr lang="ru-RU" sz="1600" dirty="0"/>
              <a:t> запроса и документа берём взвешенную сумму таких произведений по нескольким </a:t>
            </a:r>
            <a:r>
              <a:rPr lang="ru-RU" sz="1600" dirty="0" err="1"/>
              <a:t>эмбеддингам</a:t>
            </a:r>
            <a:r>
              <a:rPr lang="ru-RU" sz="1600" dirty="0"/>
              <a:t> (например, разных размерностей).</a:t>
            </a:r>
            <a:endParaRPr lang="en-US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Подробнее: </a:t>
            </a:r>
            <a:r>
              <a:rPr lang="ru-RU" sz="1600" dirty="0">
                <a:hlinkClick r:id="rId2"/>
              </a:rPr>
              <a:t>тут</a:t>
            </a:r>
            <a:r>
              <a:rPr lang="ru-RU" sz="1600" dirty="0"/>
              <a:t>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en-US" sz="1600" dirty="0">
                <a:latin typeface="Tahoma"/>
                <a:cs typeface="Tahoma"/>
                <a:hlinkClick r:id="rId2"/>
              </a:rPr>
              <a:t>https://arxiv.org/html/2407.15462v1</a:t>
            </a:r>
            <a:endParaRPr lang="en-US" sz="1600" dirty="0">
              <a:latin typeface="Tahoma"/>
              <a:cs typeface="Tahom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C26598-F545-0501-118B-8BFB81EBA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99" y="3941828"/>
            <a:ext cx="88677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13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F8DB-5D07-95DC-281D-6B6A9875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BE3C53-03F4-D1E6-BE11-E3DEDEDB522B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DA64D4-C3E8-76E6-1CDD-E9FAD539B398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1870467-8B21-1F82-6DBF-EE26E4A0803F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F556FD1-B5EB-79BA-8141-DF02951D42DA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8020FA1-EDE9-677C-C229-1C90864C3C95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5EABA0A-A841-7D9B-0A23-F762C6695FF8}"/>
              </a:ext>
            </a:extLst>
          </p:cNvPr>
          <p:cNvSpPr txBox="1"/>
          <p:nvPr/>
        </p:nvSpPr>
        <p:spPr>
          <a:xfrm>
            <a:off x="803299" y="1465205"/>
            <a:ext cx="10405745" cy="55374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</a:rPr>
              <a:t>Специализированный поиск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Какие ещё факторы (помимо релевантности) учитываются при поиске в разных поисковых системах?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Например, если это поисковая система онлайн-магазина, то важно не просто соответствие товара запросу, но и его доступность, качество и т.п. Допустим, ранжирование поисковой выдачи в </a:t>
            </a:r>
            <a:r>
              <a:rPr lang="en-US" sz="1600" dirty="0"/>
              <a:t>Wildberries </a:t>
            </a:r>
            <a:r>
              <a:rPr lang="ru-RU" sz="1600" dirty="0"/>
              <a:t>учитывает </a:t>
            </a:r>
            <a:r>
              <a:rPr lang="ru-RU" sz="1600" dirty="0">
                <a:hlinkClick r:id="rId2"/>
              </a:rPr>
              <a:t>следующие факторы</a:t>
            </a:r>
            <a:r>
              <a:rPr lang="ru-RU" sz="1600" dirty="0"/>
              <a:t>: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Зоны доставки, время сборки и доставки заказа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Участие в акциях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Объём продаж товара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Конверсия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041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9D1EF-F38C-5BB0-3353-96EF0B01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4B2D13-3427-0051-83C9-4F2BC02B8BA9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C17A85-BB06-8A7C-37BB-191DA68852A7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5CB8BA-6696-83C1-6A77-34C295E31659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895B267-65AF-97CC-7CF4-580B638725D4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29EC15B-12FE-2EF6-FB36-C9F7E10E9958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70FBC2A-2478-A1C1-795A-E36A02D2BD8B}"/>
              </a:ext>
            </a:extLst>
          </p:cNvPr>
          <p:cNvSpPr txBox="1"/>
          <p:nvPr/>
        </p:nvSpPr>
        <p:spPr>
          <a:xfrm>
            <a:off x="803299" y="1465205"/>
            <a:ext cx="10405745" cy="52911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</a:rPr>
              <a:t>Специализированный поиск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Какие могут быть проблемы?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Одна из проблем: </a:t>
            </a:r>
            <a:r>
              <a:rPr lang="en-US" sz="1600" b="1" dirty="0"/>
              <a:t>cold start </a:t>
            </a:r>
            <a:r>
              <a:rPr lang="en-US" sz="1600" dirty="0"/>
              <a:t>–</a:t>
            </a:r>
            <a:r>
              <a:rPr lang="en-US" sz="1600" b="1" dirty="0"/>
              <a:t> </a:t>
            </a:r>
            <a:r>
              <a:rPr lang="ru-RU" sz="1600" dirty="0"/>
              <a:t>новые товары остаются невидимыми (т.к. конверсия, объём продаж низкие).</a:t>
            </a:r>
            <a:endParaRPr lang="en-US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Как решается?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новые листинги могут получать </a:t>
            </a:r>
            <a:r>
              <a:rPr lang="ru-RU" sz="1600" dirty="0">
                <a:hlinkClick r:id="rId2"/>
              </a:rPr>
              <a:t>временный буст видимости на 3–7 дней</a:t>
            </a:r>
            <a:r>
              <a:rPr lang="ru-RU" sz="1600" dirty="0"/>
              <a:t> (</a:t>
            </a:r>
            <a:r>
              <a:rPr lang="en-US" sz="1600" dirty="0"/>
              <a:t>eBay</a:t>
            </a:r>
            <a:r>
              <a:rPr lang="ru-RU" sz="1600" dirty="0"/>
              <a:t>)</a:t>
            </a:r>
            <a:endParaRPr lang="en-US" sz="1600" dirty="0"/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можно </a:t>
            </a:r>
            <a:r>
              <a:rPr lang="ru-RU" sz="1600" dirty="0">
                <a:hlinkClick r:id="rId3"/>
              </a:rPr>
              <a:t>предсказывать</a:t>
            </a:r>
            <a:r>
              <a:rPr lang="ru-RU" sz="1600" dirty="0"/>
              <a:t> начальные поведенческие метрики через атрибуты товара — бренд, категорию, характеристики (</a:t>
            </a:r>
            <a:r>
              <a:rPr lang="en-US" sz="1600" dirty="0"/>
              <a:t>Amazon</a:t>
            </a:r>
            <a:r>
              <a:rPr lang="ru-RU" sz="1600" dirty="0"/>
              <a:t>)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1773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65FE-A7B8-D9C3-4F2D-370C01D5A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D8B417-1C3E-33B1-15FF-6562825F2ECC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28310A-3258-ED8F-23B8-55F4D730FF92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0F4E3A-D02B-EF9F-5D5A-8CE085CF07BB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CD41417-E71E-9FB3-64AD-CE323D7AF053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20AE996-E284-5D0D-4BC1-DAD22AAB2403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A0AE75E-D0AB-8415-C032-393BB1DB9CCD}"/>
              </a:ext>
            </a:extLst>
          </p:cNvPr>
          <p:cNvSpPr txBox="1"/>
          <p:nvPr/>
        </p:nvSpPr>
        <p:spPr>
          <a:xfrm>
            <a:off x="803299" y="1465205"/>
            <a:ext cx="10405745" cy="40293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</a:rPr>
              <a:t>Специализированный поиск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Как учитывать поведенческие и логистические факторы?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Можно производить фильтрацию: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после ранжирования (но тогда тратится ресурс на ранжирование многих заведомо неподходящих объектов)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перед ранжированием (как в </a:t>
            </a:r>
            <a:r>
              <a:rPr lang="en-US" sz="1600" b="1" dirty="0">
                <a:hlinkClick r:id="rId2"/>
              </a:rPr>
              <a:t>LiNR</a:t>
            </a:r>
            <a:r>
              <a:rPr lang="en-US" sz="1600" b="1" dirty="0"/>
              <a:t> – LinkedIn Neural Retrieval</a:t>
            </a:r>
            <a:r>
              <a:rPr lang="ru-RU" sz="1600" dirty="0"/>
              <a:t>)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1409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D438-1592-B408-B003-401E9250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6591D4-7281-DF2D-9046-F9D29077F32E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437AEB5-D6B7-AC36-75EB-32838E45051A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2F02F41-B577-8726-F2C7-9E9CE4D76BEE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0150640-D340-6C6F-AF29-2FD42C8E1D2D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1F7AFB2-19C9-F280-4D8C-718AAADF7609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C9633B0-1525-CF5A-D439-80A4381FCC96}"/>
              </a:ext>
            </a:extLst>
          </p:cNvPr>
          <p:cNvSpPr txBox="1"/>
          <p:nvPr/>
        </p:nvSpPr>
        <p:spPr>
          <a:xfrm>
            <a:off x="803299" y="1465205"/>
            <a:ext cx="10405745" cy="3644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</a:rPr>
              <a:t>Специализированный поиск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Как учитывать поведенческие и логистические факторы?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Можно вводить особые фичи:</a:t>
            </a: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ahoma"/>
                <a:cs typeface="Tahoma"/>
                <a:hlinkClick r:id="rId3"/>
              </a:rPr>
              <a:t>Идея </a:t>
            </a:r>
            <a:r>
              <a:rPr lang="en-US" sz="1600" dirty="0">
                <a:latin typeface="Tahoma"/>
                <a:cs typeface="Tahoma"/>
                <a:hlinkClick r:id="rId3"/>
              </a:rPr>
              <a:t>Ozon</a:t>
            </a:r>
            <a:r>
              <a:rPr lang="en-US" sz="1600" dirty="0">
                <a:latin typeface="Tahoma"/>
                <a:cs typeface="Tahoma"/>
              </a:rPr>
              <a:t>: </a:t>
            </a:r>
            <a:r>
              <a:rPr lang="en-US" sz="1600" dirty="0" err="1">
                <a:latin typeface="Tahoma"/>
                <a:cs typeface="Tahoma"/>
              </a:rPr>
              <a:t>offer_id</a:t>
            </a:r>
            <a:r>
              <a:rPr lang="en-US" sz="1600" dirty="0">
                <a:latin typeface="Tahoma"/>
                <a:cs typeface="Tahoma"/>
              </a:rPr>
              <a:t> = </a:t>
            </a:r>
            <a:r>
              <a:rPr lang="en-US" sz="1600" dirty="0" err="1">
                <a:latin typeface="Tahoma"/>
                <a:cs typeface="Tahoma"/>
              </a:rPr>
              <a:t>item_id</a:t>
            </a:r>
            <a:r>
              <a:rPr lang="en-US" sz="1600" dirty="0">
                <a:latin typeface="Tahoma"/>
                <a:cs typeface="Tahoma"/>
              </a:rPr>
              <a:t> * </a:t>
            </a:r>
            <a:r>
              <a:rPr lang="en-US" sz="1600" dirty="0" err="1">
                <a:latin typeface="Tahoma"/>
                <a:cs typeface="Tahoma"/>
              </a:rPr>
              <a:t>price_bin</a:t>
            </a:r>
            <a:r>
              <a:rPr lang="en-US" sz="1600" dirty="0">
                <a:latin typeface="Tahoma"/>
                <a:cs typeface="Tahoma"/>
              </a:rPr>
              <a:t> * </a:t>
            </a:r>
            <a:r>
              <a:rPr lang="en-US" sz="1600" dirty="0" err="1">
                <a:latin typeface="Tahoma"/>
                <a:cs typeface="Tahoma"/>
              </a:rPr>
              <a:t>delivery_bin</a:t>
            </a:r>
            <a:r>
              <a:rPr lang="en-US" sz="1600" dirty="0">
                <a:latin typeface="Tahoma"/>
                <a:cs typeface="Tahoma"/>
              </a:rPr>
              <a:t> </a:t>
            </a:r>
            <a:r>
              <a:rPr lang="ru-RU" sz="1600" dirty="0">
                <a:latin typeface="Tahoma"/>
                <a:cs typeface="Tahoma"/>
              </a:rPr>
              <a:t>– одному товару</a:t>
            </a:r>
            <a:r>
              <a:rPr lang="en-US" sz="1600" dirty="0">
                <a:latin typeface="Tahoma"/>
                <a:cs typeface="Tahoma"/>
              </a:rPr>
              <a:t> (item)</a:t>
            </a:r>
            <a:r>
              <a:rPr lang="ru-RU" sz="1600" dirty="0">
                <a:latin typeface="Tahoma"/>
                <a:cs typeface="Tahoma"/>
              </a:rPr>
              <a:t> соответствуют разные предложения (</a:t>
            </a:r>
            <a:r>
              <a:rPr lang="en-US" sz="1600" dirty="0">
                <a:latin typeface="Tahoma"/>
                <a:cs typeface="Tahoma"/>
              </a:rPr>
              <a:t>offers</a:t>
            </a:r>
            <a:r>
              <a:rPr lang="ru-RU" sz="1600" dirty="0">
                <a:latin typeface="Tahoma"/>
                <a:cs typeface="Tahoma"/>
              </a:rPr>
              <a:t>).</a:t>
            </a:r>
            <a:endParaRPr lang="en-US" sz="1600" dirty="0">
              <a:latin typeface="Tahoma"/>
              <a:cs typeface="Tahoma"/>
            </a:endParaRPr>
          </a:p>
          <a:p>
            <a:pPr marL="339725" marR="5080" indent="-285750">
              <a:lnSpc>
                <a:spcPct val="100000"/>
              </a:lnSpc>
              <a:spcBef>
                <a:spcPts val="3005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ahoma"/>
                <a:cs typeface="Tahoma"/>
              </a:rPr>
              <a:t>Поведенческая статистика переносится в новое предложение пропорционально изменению </a:t>
            </a:r>
            <a:r>
              <a:rPr lang="en-US" sz="1600" dirty="0" err="1">
                <a:latin typeface="Tahoma"/>
                <a:cs typeface="Tahoma"/>
              </a:rPr>
              <a:t>price_bin</a:t>
            </a:r>
            <a:r>
              <a:rPr lang="en-US" sz="1600" dirty="0">
                <a:latin typeface="Tahoma"/>
                <a:cs typeface="Tahoma"/>
              </a:rPr>
              <a:t> </a:t>
            </a:r>
            <a:r>
              <a:rPr lang="ru-RU" sz="1600" dirty="0">
                <a:latin typeface="Tahoma"/>
                <a:cs typeface="Tahoma"/>
              </a:rPr>
              <a:t>и</a:t>
            </a:r>
            <a:r>
              <a:rPr lang="en-US" sz="1600" dirty="0">
                <a:latin typeface="Tahoma"/>
                <a:cs typeface="Tahoma"/>
              </a:rPr>
              <a:t> </a:t>
            </a:r>
            <a:r>
              <a:rPr lang="en-US" sz="1600" dirty="0" err="1">
                <a:latin typeface="Tahoma"/>
                <a:cs typeface="Tahoma"/>
              </a:rPr>
              <a:t>delivery_bin</a:t>
            </a:r>
            <a:r>
              <a:rPr lang="ru-RU" sz="1600" dirty="0">
                <a:latin typeface="Tahoma"/>
                <a:cs typeface="Tahoma"/>
              </a:rPr>
              <a:t>.</a:t>
            </a:r>
            <a:endParaRPr lang="en-US"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2022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F337-C39E-5AF3-C567-61F529BF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B7F582-1F68-E69A-8DFC-93C64FAB1C48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EF4DE38-74D1-613F-0EF3-F43623A572CE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A92FFF1-FC84-CC2F-B641-9DA9B9F5309A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4856F19-A52A-C76A-7B2E-3B3378A90250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78AA68B-51BB-2151-972D-8A9627D3A304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8E7630E-9A8D-A22B-BEBD-21FD074E95B5}"/>
              </a:ext>
            </a:extLst>
          </p:cNvPr>
          <p:cNvSpPr txBox="1"/>
          <p:nvPr/>
        </p:nvSpPr>
        <p:spPr>
          <a:xfrm>
            <a:off x="803299" y="1465205"/>
            <a:ext cx="10405745" cy="2136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</a:rPr>
              <a:t>Применение нейросетей</a:t>
            </a:r>
            <a:endParaRPr lang="ru-RU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/>
              <a:t>Классическая схема: по запросу ищем документы.</a:t>
            </a: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dirty="0">
                <a:latin typeface="Tahoma"/>
                <a:cs typeface="Tahoma"/>
              </a:rPr>
              <a:t>Альтернативное решение: по документу с помощью нейросетей пытаемся предсказать токены пользователя в запросе. В итоге представления документов будут обогащены нейросетевыми предсказаниями.</a:t>
            </a:r>
          </a:p>
        </p:txBody>
      </p:sp>
    </p:spTree>
    <p:extLst>
      <p:ext uri="{BB962C8B-B14F-4D97-AF65-F5344CB8AC3E}">
        <p14:creationId xmlns:p14="http://schemas.microsoft.com/office/powerpoint/2010/main" val="411909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6840</TotalTime>
  <Words>647</Words>
  <Application>Microsoft Office PowerPoint</Application>
  <PresentationFormat>Широкоэкранный</PresentationFormat>
  <Paragraphs>93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Microsoft Sans Serif</vt:lpstr>
      <vt:lpstr>Roboto</vt:lpstr>
      <vt:lpstr>Tahoma</vt:lpstr>
      <vt:lpstr>Verdana</vt:lpstr>
      <vt:lpstr>Office Theme</vt:lpstr>
      <vt:lpstr>Информационный поиск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RAG_infopoisk_2024</dc:title>
  <cp:lastModifiedBy>Даниил Трошин</cp:lastModifiedBy>
  <cp:revision>17</cp:revision>
  <dcterms:created xsi:type="dcterms:W3CDTF">2026-02-24T17:23:28Z</dcterms:created>
  <dcterms:modified xsi:type="dcterms:W3CDTF">2026-03-18T11:44:36Z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2026-02-24T00:00:00Z</vt:filetime>
  </property>
</Properties>
</file>
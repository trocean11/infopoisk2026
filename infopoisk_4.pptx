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296158" y="1739051"/>
            <a:ext cx="7599683" cy="19494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0.png"/><Relationship Id="rId17" Type="http://schemas.openxmlformats.org/officeDocument/2006/relationships/image" Target="../media/image11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43434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89535"/>
            <a:ext cx="12192000" cy="6768465"/>
          </a:xfrm>
          <a:custGeom>
            <a:avLst/>
            <a:gdLst/>
            <a:ahLst/>
            <a:cxnLst/>
            <a:rect l="l" t="t" r="r" b="b"/>
            <a:pathLst>
              <a:path w="12192000" h="6768465">
                <a:moveTo>
                  <a:pt x="12191999" y="6768464"/>
                </a:moveTo>
                <a:lnTo>
                  <a:pt x="0" y="6768464"/>
                </a:lnTo>
                <a:lnTo>
                  <a:pt x="1901" y="382904"/>
                </a:lnTo>
                <a:lnTo>
                  <a:pt x="765806" y="381951"/>
                </a:lnTo>
                <a:lnTo>
                  <a:pt x="817122" y="375656"/>
                </a:lnTo>
                <a:lnTo>
                  <a:pt x="852008" y="355877"/>
                </a:lnTo>
                <a:lnTo>
                  <a:pt x="871891" y="321274"/>
                </a:lnTo>
                <a:lnTo>
                  <a:pt x="878201" y="270509"/>
                </a:lnTo>
                <a:lnTo>
                  <a:pt x="878201" y="99059"/>
                </a:lnTo>
                <a:lnTo>
                  <a:pt x="884943" y="57462"/>
                </a:lnTo>
                <a:lnTo>
                  <a:pt x="904276" y="26312"/>
                </a:lnTo>
                <a:lnTo>
                  <a:pt x="934861" y="6771"/>
                </a:lnTo>
                <a:lnTo>
                  <a:pt x="975356" y="0"/>
                </a:lnTo>
                <a:lnTo>
                  <a:pt x="3478526" y="0"/>
                </a:lnTo>
                <a:lnTo>
                  <a:pt x="3517936" y="6875"/>
                </a:lnTo>
                <a:lnTo>
                  <a:pt x="3548059" y="26431"/>
                </a:lnTo>
                <a:lnTo>
                  <a:pt x="3567466" y="57060"/>
                </a:lnTo>
                <a:lnTo>
                  <a:pt x="3574729" y="97154"/>
                </a:lnTo>
                <a:lnTo>
                  <a:pt x="3574729" y="274319"/>
                </a:lnTo>
                <a:lnTo>
                  <a:pt x="3581099" y="323031"/>
                </a:lnTo>
                <a:lnTo>
                  <a:pt x="3600685" y="356830"/>
                </a:lnTo>
                <a:lnTo>
                  <a:pt x="3634201" y="376520"/>
                </a:lnTo>
                <a:lnTo>
                  <a:pt x="3682361" y="382904"/>
                </a:lnTo>
                <a:lnTo>
                  <a:pt x="9047794" y="382904"/>
                </a:lnTo>
                <a:lnTo>
                  <a:pt x="9055816" y="383053"/>
                </a:lnTo>
                <a:lnTo>
                  <a:pt x="9064106" y="383380"/>
                </a:lnTo>
                <a:lnTo>
                  <a:pt x="9072574" y="383708"/>
                </a:lnTo>
                <a:lnTo>
                  <a:pt x="9081131" y="383856"/>
                </a:lnTo>
                <a:lnTo>
                  <a:pt x="9081131" y="382101"/>
                </a:lnTo>
                <a:lnTo>
                  <a:pt x="12191996" y="382101"/>
                </a:lnTo>
                <a:lnTo>
                  <a:pt x="12191999" y="676846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330054" y="209438"/>
            <a:ext cx="110045" cy="11004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75707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70264" y="202172"/>
            <a:ext cx="144582" cy="14566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16973" y="203258"/>
            <a:ext cx="140234" cy="140234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0079" y="203258"/>
            <a:ext cx="140233" cy="140234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129196" y="182589"/>
            <a:ext cx="157039" cy="156977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-1" y="81915"/>
            <a:ext cx="12192000" cy="6776084"/>
          </a:xfrm>
          <a:custGeom>
            <a:avLst/>
            <a:gdLst/>
            <a:ahLst/>
            <a:cxnLst/>
            <a:rect l="l" t="t" r="r" b="b"/>
            <a:pathLst>
              <a:path w="12192000" h="6776084">
                <a:moveTo>
                  <a:pt x="0" y="6776084"/>
                </a:moveTo>
                <a:lnTo>
                  <a:pt x="0" y="391613"/>
                </a:lnTo>
                <a:lnTo>
                  <a:pt x="3455668" y="381951"/>
                </a:lnTo>
                <a:lnTo>
                  <a:pt x="3506984" y="375656"/>
                </a:lnTo>
                <a:lnTo>
                  <a:pt x="3541869" y="355877"/>
                </a:lnTo>
                <a:lnTo>
                  <a:pt x="3561752" y="321274"/>
                </a:lnTo>
                <a:lnTo>
                  <a:pt x="3568062" y="270509"/>
                </a:lnTo>
                <a:lnTo>
                  <a:pt x="3568062" y="99059"/>
                </a:lnTo>
                <a:lnTo>
                  <a:pt x="3574804" y="57462"/>
                </a:lnTo>
                <a:lnTo>
                  <a:pt x="3594137" y="26312"/>
                </a:lnTo>
                <a:lnTo>
                  <a:pt x="3624722" y="6771"/>
                </a:lnTo>
                <a:lnTo>
                  <a:pt x="3665218" y="0"/>
                </a:lnTo>
                <a:lnTo>
                  <a:pt x="6168387" y="0"/>
                </a:lnTo>
                <a:lnTo>
                  <a:pt x="6207797" y="6875"/>
                </a:lnTo>
                <a:lnTo>
                  <a:pt x="6237920" y="26431"/>
                </a:lnTo>
                <a:lnTo>
                  <a:pt x="6257327" y="57060"/>
                </a:lnTo>
                <a:lnTo>
                  <a:pt x="6264590" y="97155"/>
                </a:lnTo>
                <a:lnTo>
                  <a:pt x="6264590" y="274319"/>
                </a:lnTo>
                <a:lnTo>
                  <a:pt x="6270960" y="323031"/>
                </a:lnTo>
                <a:lnTo>
                  <a:pt x="6290546" y="356830"/>
                </a:lnTo>
                <a:lnTo>
                  <a:pt x="6324062" y="376520"/>
                </a:lnTo>
                <a:lnTo>
                  <a:pt x="6372222" y="382904"/>
                </a:lnTo>
                <a:lnTo>
                  <a:pt x="12192000" y="382101"/>
                </a:lnTo>
                <a:lnTo>
                  <a:pt x="12192000" y="6768464"/>
                </a:lnTo>
                <a:lnTo>
                  <a:pt x="0" y="6776084"/>
                </a:lnTo>
                <a:close/>
              </a:path>
            </a:pathLst>
          </a:custGeom>
          <a:solidFill>
            <a:srgbClr val="FFFFFF">
              <a:alpha val="26258"/>
            </a:srgbClr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5" name="bg 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021548" y="206716"/>
            <a:ext cx="110045" cy="110045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0" y="69803"/>
            <a:ext cx="12192000" cy="6788784"/>
          </a:xfrm>
          <a:custGeom>
            <a:avLst/>
            <a:gdLst/>
            <a:ahLst/>
            <a:cxnLst/>
            <a:rect l="l" t="t" r="r" b="b"/>
            <a:pathLst>
              <a:path w="12192000" h="6788784">
                <a:moveTo>
                  <a:pt x="0" y="6788196"/>
                </a:moveTo>
                <a:lnTo>
                  <a:pt x="0" y="397488"/>
                </a:lnTo>
                <a:lnTo>
                  <a:pt x="6151430" y="382634"/>
                </a:lnTo>
                <a:lnTo>
                  <a:pt x="6202746" y="376328"/>
                </a:lnTo>
                <a:lnTo>
                  <a:pt x="6237632" y="356513"/>
                </a:lnTo>
                <a:lnTo>
                  <a:pt x="6257515" y="321849"/>
                </a:lnTo>
                <a:lnTo>
                  <a:pt x="6263826" y="270993"/>
                </a:lnTo>
                <a:lnTo>
                  <a:pt x="6263826" y="99236"/>
                </a:lnTo>
                <a:lnTo>
                  <a:pt x="6270568" y="57565"/>
                </a:lnTo>
                <a:lnTo>
                  <a:pt x="6289901" y="26359"/>
                </a:lnTo>
                <a:lnTo>
                  <a:pt x="6320485" y="6783"/>
                </a:lnTo>
                <a:lnTo>
                  <a:pt x="6360981" y="0"/>
                </a:lnTo>
                <a:lnTo>
                  <a:pt x="8864150" y="0"/>
                </a:lnTo>
                <a:lnTo>
                  <a:pt x="8903560" y="6888"/>
                </a:lnTo>
                <a:lnTo>
                  <a:pt x="8933683" y="26479"/>
                </a:lnTo>
                <a:lnTo>
                  <a:pt x="8953090" y="57162"/>
                </a:lnTo>
                <a:lnTo>
                  <a:pt x="8960353" y="97329"/>
                </a:lnTo>
                <a:lnTo>
                  <a:pt x="8960353" y="274810"/>
                </a:lnTo>
                <a:lnTo>
                  <a:pt x="8966723" y="323608"/>
                </a:lnTo>
                <a:lnTo>
                  <a:pt x="8986309" y="357468"/>
                </a:lnTo>
                <a:lnTo>
                  <a:pt x="9019825" y="377193"/>
                </a:lnTo>
                <a:lnTo>
                  <a:pt x="9067985" y="383589"/>
                </a:lnTo>
                <a:lnTo>
                  <a:pt x="12191999" y="383157"/>
                </a:lnTo>
                <a:lnTo>
                  <a:pt x="12191999" y="6782251"/>
                </a:lnTo>
                <a:lnTo>
                  <a:pt x="0" y="678819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bg object 27"/>
          <p:cNvSpPr/>
          <p:nvPr/>
        </p:nvSpPr>
        <p:spPr>
          <a:xfrm>
            <a:off x="1275347" y="582328"/>
            <a:ext cx="10152380" cy="360045"/>
          </a:xfrm>
          <a:custGeom>
            <a:avLst/>
            <a:gdLst/>
            <a:ahLst/>
            <a:cxnLst/>
            <a:rect l="l" t="t" r="r" b="b"/>
            <a:pathLst>
              <a:path w="10152380" h="360044">
                <a:moveTo>
                  <a:pt x="9971999" y="359999"/>
                </a:moveTo>
                <a:lnTo>
                  <a:pt x="179999" y="359999"/>
                </a:lnTo>
                <a:lnTo>
                  <a:pt x="132148" y="353570"/>
                </a:lnTo>
                <a:lnTo>
                  <a:pt x="89150" y="335424"/>
                </a:lnTo>
                <a:lnTo>
                  <a:pt x="52720" y="307279"/>
                </a:lnTo>
                <a:lnTo>
                  <a:pt x="24575" y="270849"/>
                </a:lnTo>
                <a:lnTo>
                  <a:pt x="6429" y="227851"/>
                </a:lnTo>
                <a:lnTo>
                  <a:pt x="0" y="179999"/>
                </a:lnTo>
                <a:lnTo>
                  <a:pt x="6429" y="132148"/>
                </a:lnTo>
                <a:lnTo>
                  <a:pt x="24575" y="89150"/>
                </a:lnTo>
                <a:lnTo>
                  <a:pt x="52720" y="52720"/>
                </a:lnTo>
                <a:lnTo>
                  <a:pt x="89150" y="24575"/>
                </a:lnTo>
                <a:lnTo>
                  <a:pt x="132148" y="6429"/>
                </a:lnTo>
                <a:lnTo>
                  <a:pt x="179999" y="0"/>
                </a:lnTo>
                <a:lnTo>
                  <a:pt x="9971999" y="0"/>
                </a:lnTo>
                <a:lnTo>
                  <a:pt x="10040882" y="13701"/>
                </a:lnTo>
                <a:lnTo>
                  <a:pt x="10099279" y="52720"/>
                </a:lnTo>
                <a:lnTo>
                  <a:pt x="10138298" y="111116"/>
                </a:lnTo>
                <a:lnTo>
                  <a:pt x="10151999" y="179999"/>
                </a:lnTo>
                <a:lnTo>
                  <a:pt x="10145570" y="227851"/>
                </a:lnTo>
                <a:lnTo>
                  <a:pt x="10127424" y="270849"/>
                </a:lnTo>
                <a:lnTo>
                  <a:pt x="10099279" y="307279"/>
                </a:lnTo>
                <a:lnTo>
                  <a:pt x="10062849" y="335424"/>
                </a:lnTo>
                <a:lnTo>
                  <a:pt x="10019851" y="353570"/>
                </a:lnTo>
                <a:lnTo>
                  <a:pt x="9971999" y="359999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bg object 28"/>
          <p:cNvSpPr/>
          <p:nvPr/>
        </p:nvSpPr>
        <p:spPr>
          <a:xfrm>
            <a:off x="0" y="582328"/>
            <a:ext cx="12192000" cy="454025"/>
          </a:xfrm>
          <a:custGeom>
            <a:avLst/>
            <a:gdLst/>
            <a:ahLst/>
            <a:cxnLst/>
            <a:rect l="l" t="t" r="r" b="b"/>
            <a:pathLst>
              <a:path w="12192000" h="454025">
                <a:moveTo>
                  <a:pt x="1275346" y="179999"/>
                </a:moveTo>
                <a:lnTo>
                  <a:pt x="1281776" y="132148"/>
                </a:lnTo>
                <a:lnTo>
                  <a:pt x="1299922" y="89150"/>
                </a:lnTo>
                <a:lnTo>
                  <a:pt x="1328067" y="52720"/>
                </a:lnTo>
                <a:lnTo>
                  <a:pt x="1364497" y="24575"/>
                </a:lnTo>
                <a:lnTo>
                  <a:pt x="1407495" y="6429"/>
                </a:lnTo>
                <a:lnTo>
                  <a:pt x="1455346" y="0"/>
                </a:lnTo>
                <a:lnTo>
                  <a:pt x="11247346" y="0"/>
                </a:lnTo>
                <a:lnTo>
                  <a:pt x="11316229" y="13701"/>
                </a:lnTo>
                <a:lnTo>
                  <a:pt x="11374626" y="52720"/>
                </a:lnTo>
                <a:lnTo>
                  <a:pt x="11413645" y="111116"/>
                </a:lnTo>
                <a:lnTo>
                  <a:pt x="11427346" y="179999"/>
                </a:lnTo>
                <a:lnTo>
                  <a:pt x="11420917" y="227851"/>
                </a:lnTo>
                <a:lnTo>
                  <a:pt x="11402771" y="270849"/>
                </a:lnTo>
                <a:lnTo>
                  <a:pt x="11374626" y="307279"/>
                </a:lnTo>
                <a:lnTo>
                  <a:pt x="11338196" y="335424"/>
                </a:lnTo>
                <a:lnTo>
                  <a:pt x="11295198" y="353570"/>
                </a:lnTo>
                <a:lnTo>
                  <a:pt x="11247346" y="359999"/>
                </a:lnTo>
                <a:lnTo>
                  <a:pt x="1455346" y="359999"/>
                </a:lnTo>
                <a:lnTo>
                  <a:pt x="1407495" y="353570"/>
                </a:lnTo>
                <a:lnTo>
                  <a:pt x="1364497" y="335424"/>
                </a:lnTo>
                <a:lnTo>
                  <a:pt x="1328067" y="307279"/>
                </a:lnTo>
                <a:lnTo>
                  <a:pt x="1299922" y="270849"/>
                </a:lnTo>
                <a:lnTo>
                  <a:pt x="1281776" y="227851"/>
                </a:lnTo>
                <a:lnTo>
                  <a:pt x="1275346" y="179999"/>
                </a:lnTo>
                <a:close/>
              </a:path>
              <a:path w="12192000" h="454025">
                <a:moveTo>
                  <a:pt x="0" y="453991"/>
                </a:moveTo>
                <a:lnTo>
                  <a:pt x="12191999" y="453991"/>
                </a:lnTo>
              </a:path>
            </a:pathLst>
          </a:custGeom>
          <a:ln w="9524">
            <a:solidFill>
              <a:srgbClr val="BEBEBE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9" name="bg object 29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09118" y="666656"/>
            <a:ext cx="208279" cy="200971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11978390" y="641507"/>
            <a:ext cx="52705" cy="41275"/>
          </a:xfrm>
          <a:custGeom>
            <a:avLst/>
            <a:gdLst/>
            <a:ahLst/>
            <a:cxnLst/>
            <a:rect l="l" t="t" r="r" b="b"/>
            <a:pathLst>
              <a:path w="52704" h="41275">
                <a:moveTo>
                  <a:pt x="20421" y="40843"/>
                </a:moveTo>
                <a:lnTo>
                  <a:pt x="14897" y="37991"/>
                </a:lnTo>
                <a:lnTo>
                  <a:pt x="9732" y="32387"/>
                </a:lnTo>
                <a:lnTo>
                  <a:pt x="4806" y="25587"/>
                </a:lnTo>
                <a:lnTo>
                  <a:pt x="0" y="19145"/>
                </a:lnTo>
                <a:lnTo>
                  <a:pt x="5743" y="13461"/>
                </a:lnTo>
                <a:lnTo>
                  <a:pt x="11487" y="7179"/>
                </a:lnTo>
                <a:lnTo>
                  <a:pt x="17230" y="2094"/>
                </a:lnTo>
                <a:lnTo>
                  <a:pt x="22974" y="0"/>
                </a:lnTo>
                <a:lnTo>
                  <a:pt x="28279" y="1954"/>
                </a:lnTo>
                <a:lnTo>
                  <a:pt x="34781" y="7020"/>
                </a:lnTo>
                <a:lnTo>
                  <a:pt x="42718" y="13999"/>
                </a:lnTo>
                <a:lnTo>
                  <a:pt x="52331" y="21697"/>
                </a:lnTo>
                <a:lnTo>
                  <a:pt x="41960" y="29176"/>
                </a:lnTo>
                <a:lnTo>
                  <a:pt x="33504" y="35578"/>
                </a:lnTo>
                <a:lnTo>
                  <a:pt x="26484" y="39826"/>
                </a:lnTo>
                <a:lnTo>
                  <a:pt x="20421" y="40843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bg object 3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10540" y="690773"/>
            <a:ext cx="199479" cy="178698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94852" y="689158"/>
            <a:ext cx="199479" cy="178698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12004356" y="1037271"/>
            <a:ext cx="12700" cy="5793740"/>
          </a:xfrm>
          <a:custGeom>
            <a:avLst/>
            <a:gdLst/>
            <a:ahLst/>
            <a:cxnLst/>
            <a:rect l="l" t="t" r="r" b="b"/>
            <a:pathLst>
              <a:path w="12700" h="5793740">
                <a:moveTo>
                  <a:pt x="8572" y="5793371"/>
                </a:moveTo>
                <a:lnTo>
                  <a:pt x="3810" y="5791934"/>
                </a:lnTo>
                <a:lnTo>
                  <a:pt x="0" y="5791934"/>
                </a:lnTo>
                <a:lnTo>
                  <a:pt x="148" y="5774899"/>
                </a:lnTo>
                <a:lnTo>
                  <a:pt x="804" y="5741368"/>
                </a:lnTo>
                <a:lnTo>
                  <a:pt x="952" y="5724334"/>
                </a:lnTo>
                <a:lnTo>
                  <a:pt x="952" y="63284"/>
                </a:lnTo>
                <a:lnTo>
                  <a:pt x="804" y="47328"/>
                </a:lnTo>
                <a:lnTo>
                  <a:pt x="148" y="15956"/>
                </a:lnTo>
                <a:lnTo>
                  <a:pt x="0" y="0"/>
                </a:lnTo>
                <a:lnTo>
                  <a:pt x="3810" y="5753"/>
                </a:lnTo>
                <a:lnTo>
                  <a:pt x="10477" y="10068"/>
                </a:lnTo>
                <a:lnTo>
                  <a:pt x="11429" y="15821"/>
                </a:lnTo>
                <a:lnTo>
                  <a:pt x="12382" y="28743"/>
                </a:lnTo>
                <a:lnTo>
                  <a:pt x="12621" y="41530"/>
                </a:lnTo>
                <a:lnTo>
                  <a:pt x="12502" y="54048"/>
                </a:lnTo>
                <a:lnTo>
                  <a:pt x="12382" y="66160"/>
                </a:lnTo>
                <a:lnTo>
                  <a:pt x="12382" y="5791934"/>
                </a:lnTo>
                <a:lnTo>
                  <a:pt x="8572" y="579337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bg object 34"/>
          <p:cNvSpPr/>
          <p:nvPr/>
        </p:nvSpPr>
        <p:spPr>
          <a:xfrm>
            <a:off x="11978386" y="716813"/>
            <a:ext cx="52705" cy="116205"/>
          </a:xfrm>
          <a:custGeom>
            <a:avLst/>
            <a:gdLst/>
            <a:ahLst/>
            <a:cxnLst/>
            <a:rect l="l" t="t" r="r" b="b"/>
            <a:pathLst>
              <a:path w="52704" h="116205">
                <a:moveTo>
                  <a:pt x="52324" y="97015"/>
                </a:moveTo>
                <a:lnTo>
                  <a:pt x="42722" y="89331"/>
                </a:lnTo>
                <a:lnTo>
                  <a:pt x="34785" y="82486"/>
                </a:lnTo>
                <a:lnTo>
                  <a:pt x="28282" y="77800"/>
                </a:lnTo>
                <a:lnTo>
                  <a:pt x="22974" y="76593"/>
                </a:lnTo>
                <a:lnTo>
                  <a:pt x="16687" y="78676"/>
                </a:lnTo>
                <a:lnTo>
                  <a:pt x="11010" y="83769"/>
                </a:lnTo>
                <a:lnTo>
                  <a:pt x="5562" y="90043"/>
                </a:lnTo>
                <a:lnTo>
                  <a:pt x="0" y="95732"/>
                </a:lnTo>
                <a:lnTo>
                  <a:pt x="4800" y="101434"/>
                </a:lnTo>
                <a:lnTo>
                  <a:pt x="9728" y="107861"/>
                </a:lnTo>
                <a:lnTo>
                  <a:pt x="14897" y="113322"/>
                </a:lnTo>
                <a:lnTo>
                  <a:pt x="20421" y="116154"/>
                </a:lnTo>
                <a:lnTo>
                  <a:pt x="26657" y="114960"/>
                </a:lnTo>
                <a:lnTo>
                  <a:pt x="33985" y="110413"/>
                </a:lnTo>
                <a:lnTo>
                  <a:pt x="42494" y="103949"/>
                </a:lnTo>
                <a:lnTo>
                  <a:pt x="52324" y="97015"/>
                </a:lnTo>
                <a:close/>
              </a:path>
              <a:path w="52704" h="116205">
                <a:moveTo>
                  <a:pt x="52324" y="21704"/>
                </a:moveTo>
                <a:lnTo>
                  <a:pt x="42722" y="14008"/>
                </a:lnTo>
                <a:lnTo>
                  <a:pt x="34785" y="7023"/>
                </a:lnTo>
                <a:lnTo>
                  <a:pt x="28282" y="1955"/>
                </a:lnTo>
                <a:lnTo>
                  <a:pt x="22974" y="0"/>
                </a:lnTo>
                <a:lnTo>
                  <a:pt x="17233" y="2641"/>
                </a:lnTo>
                <a:lnTo>
                  <a:pt x="11480" y="7658"/>
                </a:lnTo>
                <a:lnTo>
                  <a:pt x="5740" y="13652"/>
                </a:lnTo>
                <a:lnTo>
                  <a:pt x="0" y="19151"/>
                </a:lnTo>
                <a:lnTo>
                  <a:pt x="4800" y="24853"/>
                </a:lnTo>
                <a:lnTo>
                  <a:pt x="9728" y="31280"/>
                </a:lnTo>
                <a:lnTo>
                  <a:pt x="14897" y="36741"/>
                </a:lnTo>
                <a:lnTo>
                  <a:pt x="20421" y="39573"/>
                </a:lnTo>
                <a:lnTo>
                  <a:pt x="26479" y="38569"/>
                </a:lnTo>
                <a:lnTo>
                  <a:pt x="33502" y="34467"/>
                </a:lnTo>
                <a:lnTo>
                  <a:pt x="41960" y="28448"/>
                </a:lnTo>
                <a:lnTo>
                  <a:pt x="52324" y="21704"/>
                </a:lnTo>
                <a:close/>
              </a:path>
            </a:pathLst>
          </a:custGeom>
          <a:solidFill>
            <a:srgbClr val="727272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bg 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8727454" y="208222"/>
            <a:ext cx="110044" cy="110045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12031980" y="1086731"/>
            <a:ext cx="133350" cy="2268220"/>
          </a:xfrm>
          <a:custGeom>
            <a:avLst/>
            <a:gdLst/>
            <a:ahLst/>
            <a:cxnLst/>
            <a:rect l="l" t="t" r="r" b="b"/>
            <a:pathLst>
              <a:path w="133350" h="2268220">
                <a:moveTo>
                  <a:pt x="66408" y="2267755"/>
                </a:moveTo>
                <a:lnTo>
                  <a:pt x="23173" y="2257464"/>
                </a:lnTo>
                <a:lnTo>
                  <a:pt x="1383" y="2220310"/>
                </a:lnTo>
                <a:lnTo>
                  <a:pt x="1037" y="2211755"/>
                </a:lnTo>
                <a:lnTo>
                  <a:pt x="1209" y="2203199"/>
                </a:lnTo>
                <a:lnTo>
                  <a:pt x="1382" y="2195003"/>
                </a:lnTo>
                <a:lnTo>
                  <a:pt x="1194" y="2144541"/>
                </a:lnTo>
                <a:lnTo>
                  <a:pt x="1024" y="2094079"/>
                </a:lnTo>
                <a:lnTo>
                  <a:pt x="870" y="2043616"/>
                </a:lnTo>
                <a:lnTo>
                  <a:pt x="733" y="1993151"/>
                </a:lnTo>
                <a:lnTo>
                  <a:pt x="611" y="1942683"/>
                </a:lnTo>
                <a:lnTo>
                  <a:pt x="503" y="1892212"/>
                </a:lnTo>
                <a:lnTo>
                  <a:pt x="409" y="1841737"/>
                </a:lnTo>
                <a:lnTo>
                  <a:pt x="328" y="1791259"/>
                </a:lnTo>
                <a:lnTo>
                  <a:pt x="258" y="1740775"/>
                </a:lnTo>
                <a:lnTo>
                  <a:pt x="198" y="1690285"/>
                </a:lnTo>
                <a:lnTo>
                  <a:pt x="149" y="1639790"/>
                </a:lnTo>
                <a:lnTo>
                  <a:pt x="108" y="1589287"/>
                </a:lnTo>
                <a:lnTo>
                  <a:pt x="76" y="1538777"/>
                </a:lnTo>
                <a:lnTo>
                  <a:pt x="51" y="1488259"/>
                </a:lnTo>
                <a:lnTo>
                  <a:pt x="32" y="1437733"/>
                </a:lnTo>
                <a:lnTo>
                  <a:pt x="18" y="1387197"/>
                </a:lnTo>
                <a:lnTo>
                  <a:pt x="9" y="1336651"/>
                </a:lnTo>
                <a:lnTo>
                  <a:pt x="4" y="1286095"/>
                </a:lnTo>
                <a:lnTo>
                  <a:pt x="1" y="1235527"/>
                </a:lnTo>
                <a:lnTo>
                  <a:pt x="0" y="1184948"/>
                </a:lnTo>
                <a:lnTo>
                  <a:pt x="0" y="1134356"/>
                </a:lnTo>
                <a:lnTo>
                  <a:pt x="0" y="67966"/>
                </a:lnTo>
                <a:lnTo>
                  <a:pt x="3934" y="37961"/>
                </a:lnTo>
                <a:lnTo>
                  <a:pt x="15910" y="16752"/>
                </a:lnTo>
                <a:lnTo>
                  <a:pt x="36188" y="4158"/>
                </a:lnTo>
                <a:lnTo>
                  <a:pt x="65025" y="0"/>
                </a:lnTo>
                <a:lnTo>
                  <a:pt x="94079" y="4023"/>
                </a:lnTo>
                <a:lnTo>
                  <a:pt x="114831" y="16393"/>
                </a:lnTo>
                <a:lnTo>
                  <a:pt x="127283" y="37557"/>
                </a:lnTo>
                <a:lnTo>
                  <a:pt x="131433" y="67966"/>
                </a:lnTo>
                <a:lnTo>
                  <a:pt x="131433" y="2212234"/>
                </a:lnTo>
                <a:lnTo>
                  <a:pt x="132816" y="2220848"/>
                </a:lnTo>
                <a:lnTo>
                  <a:pt x="130049" y="2228506"/>
                </a:lnTo>
                <a:lnTo>
                  <a:pt x="122829" y="2245139"/>
                </a:lnTo>
                <a:lnTo>
                  <a:pt x="109643" y="2257464"/>
                </a:lnTo>
                <a:lnTo>
                  <a:pt x="90749" y="2265122"/>
                </a:lnTo>
                <a:lnTo>
                  <a:pt x="66408" y="226775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bg object 37"/>
          <p:cNvSpPr/>
          <p:nvPr/>
        </p:nvSpPr>
        <p:spPr>
          <a:xfrm>
            <a:off x="11567159" y="612648"/>
            <a:ext cx="266065" cy="266065"/>
          </a:xfrm>
          <a:custGeom>
            <a:avLst/>
            <a:gdLst/>
            <a:ahLst/>
            <a:cxnLst/>
            <a:rect l="l" t="t" r="r" b="b"/>
            <a:pathLst>
              <a:path w="266065" h="266065">
                <a:moveTo>
                  <a:pt x="132986" y="265973"/>
                </a:moveTo>
                <a:lnTo>
                  <a:pt x="90952" y="259193"/>
                </a:lnTo>
                <a:lnTo>
                  <a:pt x="54446" y="240314"/>
                </a:lnTo>
                <a:lnTo>
                  <a:pt x="25658" y="211526"/>
                </a:lnTo>
                <a:lnTo>
                  <a:pt x="6779" y="175020"/>
                </a:lnTo>
                <a:lnTo>
                  <a:pt x="0" y="132986"/>
                </a:lnTo>
                <a:lnTo>
                  <a:pt x="6779" y="90952"/>
                </a:lnTo>
                <a:lnTo>
                  <a:pt x="25658" y="54446"/>
                </a:lnTo>
                <a:lnTo>
                  <a:pt x="54446" y="25658"/>
                </a:lnTo>
                <a:lnTo>
                  <a:pt x="90952" y="6779"/>
                </a:lnTo>
                <a:lnTo>
                  <a:pt x="132986" y="0"/>
                </a:lnTo>
                <a:lnTo>
                  <a:pt x="159052" y="2578"/>
                </a:lnTo>
                <a:lnTo>
                  <a:pt x="206768" y="22343"/>
                </a:lnTo>
                <a:lnTo>
                  <a:pt x="243630" y="59205"/>
                </a:lnTo>
                <a:lnTo>
                  <a:pt x="263394" y="106921"/>
                </a:lnTo>
                <a:lnTo>
                  <a:pt x="265973" y="132986"/>
                </a:lnTo>
                <a:lnTo>
                  <a:pt x="259193" y="175020"/>
                </a:lnTo>
                <a:lnTo>
                  <a:pt x="240314" y="211526"/>
                </a:lnTo>
                <a:lnTo>
                  <a:pt x="211526" y="240314"/>
                </a:lnTo>
                <a:lnTo>
                  <a:pt x="175020" y="259193"/>
                </a:lnTo>
                <a:lnTo>
                  <a:pt x="132986" y="265973"/>
                </a:lnTo>
                <a:close/>
              </a:path>
            </a:pathLst>
          </a:custGeom>
          <a:solidFill>
            <a:srgbClr val="63636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8" name="bg object 38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624270" y="669524"/>
            <a:ext cx="152699" cy="1622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7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8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9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promptingguide.ai/introduction/basics" TargetMode="Externa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promptingguide.ai/introduction/basics" TargetMode="External"/><Relationship Id="rId3" Type="http://schemas.openxmlformats.org/officeDocument/2006/relationships/image" Target="../media/image2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promptingguide.ai/research/rag" TargetMode="External"/><Relationship Id="rId3" Type="http://schemas.openxmlformats.org/officeDocument/2006/relationships/image" Target="../media/image24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://www.promptingguide.ai/research/rag" TargetMode="External"/><Relationship Id="rId3" Type="http://schemas.openxmlformats.org/officeDocument/2006/relationships/image" Target="../media/image2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3" name="object 3" descr=""/>
          <p:cNvGrpSpPr/>
          <p:nvPr/>
        </p:nvGrpSpPr>
        <p:grpSpPr>
          <a:xfrm>
            <a:off x="0" y="89535"/>
            <a:ext cx="12192000" cy="6768465"/>
            <a:chOff x="0" y="89535"/>
            <a:chExt cx="12192000" cy="6768465"/>
          </a:xfrm>
        </p:grpSpPr>
        <p:sp>
          <p:nvSpPr>
            <p:cNvPr id="4" name="object 4" descr=""/>
            <p:cNvSpPr/>
            <p:nvPr/>
          </p:nvSpPr>
          <p:spPr>
            <a:xfrm>
              <a:off x="0" y="89535"/>
              <a:ext cx="12192000" cy="6768465"/>
            </a:xfrm>
            <a:custGeom>
              <a:avLst/>
              <a:gdLst/>
              <a:ahLst/>
              <a:cxnLst/>
              <a:rect l="l" t="t" r="r" b="b"/>
              <a:pathLst>
                <a:path w="12192000" h="6768465">
                  <a:moveTo>
                    <a:pt x="12191999" y="6768464"/>
                  </a:moveTo>
                  <a:lnTo>
                    <a:pt x="0" y="6768464"/>
                  </a:lnTo>
                  <a:lnTo>
                    <a:pt x="1901" y="382904"/>
                  </a:lnTo>
                  <a:lnTo>
                    <a:pt x="765806" y="381951"/>
                  </a:lnTo>
                  <a:lnTo>
                    <a:pt x="817122" y="375656"/>
                  </a:lnTo>
                  <a:lnTo>
                    <a:pt x="852008" y="355877"/>
                  </a:lnTo>
                  <a:lnTo>
                    <a:pt x="871891" y="321274"/>
                  </a:lnTo>
                  <a:lnTo>
                    <a:pt x="878201" y="270509"/>
                  </a:lnTo>
                  <a:lnTo>
                    <a:pt x="878201" y="99059"/>
                  </a:lnTo>
                  <a:lnTo>
                    <a:pt x="884943" y="57462"/>
                  </a:lnTo>
                  <a:lnTo>
                    <a:pt x="904276" y="26312"/>
                  </a:lnTo>
                  <a:lnTo>
                    <a:pt x="934861" y="6771"/>
                  </a:lnTo>
                  <a:lnTo>
                    <a:pt x="975356" y="0"/>
                  </a:lnTo>
                  <a:lnTo>
                    <a:pt x="3478526" y="0"/>
                  </a:lnTo>
                  <a:lnTo>
                    <a:pt x="3517936" y="6875"/>
                  </a:lnTo>
                  <a:lnTo>
                    <a:pt x="3548059" y="26431"/>
                  </a:lnTo>
                  <a:lnTo>
                    <a:pt x="3567466" y="57060"/>
                  </a:lnTo>
                  <a:lnTo>
                    <a:pt x="3574729" y="97154"/>
                  </a:lnTo>
                  <a:lnTo>
                    <a:pt x="3574729" y="274319"/>
                  </a:lnTo>
                  <a:lnTo>
                    <a:pt x="3581099" y="323031"/>
                  </a:lnTo>
                  <a:lnTo>
                    <a:pt x="3600685" y="356830"/>
                  </a:lnTo>
                  <a:lnTo>
                    <a:pt x="3634201" y="376520"/>
                  </a:lnTo>
                  <a:lnTo>
                    <a:pt x="3682361" y="382904"/>
                  </a:lnTo>
                  <a:lnTo>
                    <a:pt x="9047794" y="382904"/>
                  </a:lnTo>
                  <a:lnTo>
                    <a:pt x="9055816" y="383053"/>
                  </a:lnTo>
                  <a:lnTo>
                    <a:pt x="9064106" y="383380"/>
                  </a:lnTo>
                  <a:lnTo>
                    <a:pt x="9072574" y="383708"/>
                  </a:lnTo>
                  <a:lnTo>
                    <a:pt x="9081131" y="383856"/>
                  </a:lnTo>
                  <a:lnTo>
                    <a:pt x="9081131" y="382101"/>
                  </a:lnTo>
                  <a:lnTo>
                    <a:pt x="12191996" y="382101"/>
                  </a:lnTo>
                  <a:lnTo>
                    <a:pt x="12191999" y="676846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70264" y="202172"/>
              <a:ext cx="144582" cy="14566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0079" y="203258"/>
              <a:ext cx="140233" cy="14023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6973" y="203258"/>
              <a:ext cx="140234" cy="14023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30054" y="209438"/>
              <a:ext cx="110045" cy="11004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03860" y="197219"/>
              <a:ext cx="157040" cy="156977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275346" y="582327"/>
              <a:ext cx="10152380" cy="360045"/>
            </a:xfrm>
            <a:custGeom>
              <a:avLst/>
              <a:gdLst/>
              <a:ahLst/>
              <a:cxnLst/>
              <a:rect l="l" t="t" r="r" b="b"/>
              <a:pathLst>
                <a:path w="10152380" h="360044">
                  <a:moveTo>
                    <a:pt x="9971999" y="359999"/>
                  </a:moveTo>
                  <a:lnTo>
                    <a:pt x="179999" y="359999"/>
                  </a:lnTo>
                  <a:lnTo>
                    <a:pt x="132148" y="353570"/>
                  </a:lnTo>
                  <a:lnTo>
                    <a:pt x="89150" y="335424"/>
                  </a:lnTo>
                  <a:lnTo>
                    <a:pt x="52720" y="307279"/>
                  </a:lnTo>
                  <a:lnTo>
                    <a:pt x="24575" y="270849"/>
                  </a:lnTo>
                  <a:lnTo>
                    <a:pt x="6429" y="227851"/>
                  </a:lnTo>
                  <a:lnTo>
                    <a:pt x="0" y="179999"/>
                  </a:lnTo>
                  <a:lnTo>
                    <a:pt x="6429" y="132148"/>
                  </a:lnTo>
                  <a:lnTo>
                    <a:pt x="24575" y="89150"/>
                  </a:lnTo>
                  <a:lnTo>
                    <a:pt x="52720" y="52720"/>
                  </a:lnTo>
                  <a:lnTo>
                    <a:pt x="89150" y="24575"/>
                  </a:lnTo>
                  <a:lnTo>
                    <a:pt x="132148" y="6429"/>
                  </a:lnTo>
                  <a:lnTo>
                    <a:pt x="179999" y="0"/>
                  </a:lnTo>
                  <a:lnTo>
                    <a:pt x="9971999" y="0"/>
                  </a:lnTo>
                  <a:lnTo>
                    <a:pt x="10040882" y="13701"/>
                  </a:lnTo>
                  <a:lnTo>
                    <a:pt x="10099279" y="52720"/>
                  </a:lnTo>
                  <a:lnTo>
                    <a:pt x="10138298" y="111116"/>
                  </a:lnTo>
                  <a:lnTo>
                    <a:pt x="10151999" y="179999"/>
                  </a:lnTo>
                  <a:lnTo>
                    <a:pt x="10145570" y="227851"/>
                  </a:lnTo>
                  <a:lnTo>
                    <a:pt x="10127424" y="270849"/>
                  </a:lnTo>
                  <a:lnTo>
                    <a:pt x="10099279" y="307279"/>
                  </a:lnTo>
                  <a:lnTo>
                    <a:pt x="10062849" y="335424"/>
                  </a:lnTo>
                  <a:lnTo>
                    <a:pt x="10019851" y="353570"/>
                  </a:lnTo>
                  <a:lnTo>
                    <a:pt x="9971999" y="359999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0" y="582327"/>
              <a:ext cx="12192000" cy="454025"/>
            </a:xfrm>
            <a:custGeom>
              <a:avLst/>
              <a:gdLst/>
              <a:ahLst/>
              <a:cxnLst/>
              <a:rect l="l" t="t" r="r" b="b"/>
              <a:pathLst>
                <a:path w="12192000" h="454025">
                  <a:moveTo>
                    <a:pt x="1275346" y="179999"/>
                  </a:moveTo>
                  <a:lnTo>
                    <a:pt x="1281776" y="132148"/>
                  </a:lnTo>
                  <a:lnTo>
                    <a:pt x="1299922" y="89150"/>
                  </a:lnTo>
                  <a:lnTo>
                    <a:pt x="1328067" y="52720"/>
                  </a:lnTo>
                  <a:lnTo>
                    <a:pt x="1364497" y="24575"/>
                  </a:lnTo>
                  <a:lnTo>
                    <a:pt x="1407495" y="6429"/>
                  </a:lnTo>
                  <a:lnTo>
                    <a:pt x="1455346" y="0"/>
                  </a:lnTo>
                  <a:lnTo>
                    <a:pt x="11247346" y="0"/>
                  </a:lnTo>
                  <a:lnTo>
                    <a:pt x="11316229" y="13701"/>
                  </a:lnTo>
                  <a:lnTo>
                    <a:pt x="11374626" y="52720"/>
                  </a:lnTo>
                  <a:lnTo>
                    <a:pt x="11413645" y="111116"/>
                  </a:lnTo>
                  <a:lnTo>
                    <a:pt x="11427346" y="179999"/>
                  </a:lnTo>
                  <a:lnTo>
                    <a:pt x="11420917" y="227851"/>
                  </a:lnTo>
                  <a:lnTo>
                    <a:pt x="11402771" y="270849"/>
                  </a:lnTo>
                  <a:lnTo>
                    <a:pt x="11374626" y="307279"/>
                  </a:lnTo>
                  <a:lnTo>
                    <a:pt x="11338196" y="335424"/>
                  </a:lnTo>
                  <a:lnTo>
                    <a:pt x="11295198" y="353570"/>
                  </a:lnTo>
                  <a:lnTo>
                    <a:pt x="11247346" y="359999"/>
                  </a:lnTo>
                  <a:lnTo>
                    <a:pt x="1455346" y="359999"/>
                  </a:lnTo>
                  <a:lnTo>
                    <a:pt x="1407495" y="353570"/>
                  </a:lnTo>
                  <a:lnTo>
                    <a:pt x="1364497" y="335424"/>
                  </a:lnTo>
                  <a:lnTo>
                    <a:pt x="1328067" y="307279"/>
                  </a:lnTo>
                  <a:lnTo>
                    <a:pt x="1299922" y="270849"/>
                  </a:lnTo>
                  <a:lnTo>
                    <a:pt x="1281776" y="227851"/>
                  </a:lnTo>
                  <a:lnTo>
                    <a:pt x="1275346" y="179999"/>
                  </a:lnTo>
                  <a:close/>
                </a:path>
                <a:path w="12192000" h="454025">
                  <a:moveTo>
                    <a:pt x="0" y="453991"/>
                  </a:moveTo>
                  <a:lnTo>
                    <a:pt x="12191999" y="453991"/>
                  </a:lnTo>
                </a:path>
              </a:pathLst>
            </a:custGeom>
            <a:ln w="9524">
              <a:solidFill>
                <a:srgbClr val="BEBEBE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9117" y="666656"/>
              <a:ext cx="208279" cy="200971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2031981" y="1086731"/>
              <a:ext cx="133350" cy="2268220"/>
            </a:xfrm>
            <a:custGeom>
              <a:avLst/>
              <a:gdLst/>
              <a:ahLst/>
              <a:cxnLst/>
              <a:rect l="l" t="t" r="r" b="b"/>
              <a:pathLst>
                <a:path w="133350" h="2268220">
                  <a:moveTo>
                    <a:pt x="66408" y="2267755"/>
                  </a:moveTo>
                  <a:lnTo>
                    <a:pt x="23173" y="2257464"/>
                  </a:lnTo>
                  <a:lnTo>
                    <a:pt x="1383" y="2220310"/>
                  </a:lnTo>
                  <a:lnTo>
                    <a:pt x="1037" y="2211755"/>
                  </a:lnTo>
                  <a:lnTo>
                    <a:pt x="1209" y="2203199"/>
                  </a:lnTo>
                  <a:lnTo>
                    <a:pt x="1382" y="2195003"/>
                  </a:lnTo>
                  <a:lnTo>
                    <a:pt x="1194" y="2144541"/>
                  </a:lnTo>
                  <a:lnTo>
                    <a:pt x="1024" y="2094079"/>
                  </a:lnTo>
                  <a:lnTo>
                    <a:pt x="870" y="2043616"/>
                  </a:lnTo>
                  <a:lnTo>
                    <a:pt x="733" y="1993151"/>
                  </a:lnTo>
                  <a:lnTo>
                    <a:pt x="611" y="1942683"/>
                  </a:lnTo>
                  <a:lnTo>
                    <a:pt x="503" y="1892212"/>
                  </a:lnTo>
                  <a:lnTo>
                    <a:pt x="409" y="1841737"/>
                  </a:lnTo>
                  <a:lnTo>
                    <a:pt x="328" y="1791259"/>
                  </a:lnTo>
                  <a:lnTo>
                    <a:pt x="258" y="1740775"/>
                  </a:lnTo>
                  <a:lnTo>
                    <a:pt x="198" y="1690285"/>
                  </a:lnTo>
                  <a:lnTo>
                    <a:pt x="149" y="1639790"/>
                  </a:lnTo>
                  <a:lnTo>
                    <a:pt x="108" y="1589287"/>
                  </a:lnTo>
                  <a:lnTo>
                    <a:pt x="76" y="1538777"/>
                  </a:lnTo>
                  <a:lnTo>
                    <a:pt x="51" y="1488259"/>
                  </a:lnTo>
                  <a:lnTo>
                    <a:pt x="32" y="1437733"/>
                  </a:lnTo>
                  <a:lnTo>
                    <a:pt x="18" y="1387197"/>
                  </a:lnTo>
                  <a:lnTo>
                    <a:pt x="9" y="1336651"/>
                  </a:lnTo>
                  <a:lnTo>
                    <a:pt x="4" y="1286095"/>
                  </a:lnTo>
                  <a:lnTo>
                    <a:pt x="1" y="1235527"/>
                  </a:lnTo>
                  <a:lnTo>
                    <a:pt x="0" y="1184948"/>
                  </a:lnTo>
                  <a:lnTo>
                    <a:pt x="0" y="1134356"/>
                  </a:lnTo>
                  <a:lnTo>
                    <a:pt x="0" y="67966"/>
                  </a:lnTo>
                  <a:lnTo>
                    <a:pt x="3934" y="37961"/>
                  </a:lnTo>
                  <a:lnTo>
                    <a:pt x="15910" y="16752"/>
                  </a:lnTo>
                  <a:lnTo>
                    <a:pt x="36188" y="4158"/>
                  </a:lnTo>
                  <a:lnTo>
                    <a:pt x="65025" y="0"/>
                  </a:lnTo>
                  <a:lnTo>
                    <a:pt x="94079" y="4023"/>
                  </a:lnTo>
                  <a:lnTo>
                    <a:pt x="114831" y="16393"/>
                  </a:lnTo>
                  <a:lnTo>
                    <a:pt x="127283" y="37557"/>
                  </a:lnTo>
                  <a:lnTo>
                    <a:pt x="131433" y="67966"/>
                  </a:lnTo>
                  <a:lnTo>
                    <a:pt x="131433" y="2212234"/>
                  </a:lnTo>
                  <a:lnTo>
                    <a:pt x="132816" y="2220848"/>
                  </a:lnTo>
                  <a:lnTo>
                    <a:pt x="130049" y="2228506"/>
                  </a:lnTo>
                  <a:lnTo>
                    <a:pt x="122829" y="2245139"/>
                  </a:lnTo>
                  <a:lnTo>
                    <a:pt x="109643" y="2257464"/>
                  </a:lnTo>
                  <a:lnTo>
                    <a:pt x="90749" y="2265122"/>
                  </a:lnTo>
                  <a:lnTo>
                    <a:pt x="66408" y="2267755"/>
                  </a:lnTo>
                  <a:close/>
                </a:path>
              </a:pathLst>
            </a:custGeom>
            <a:solidFill>
              <a:srgbClr val="BEBEB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12004357" y="1037272"/>
              <a:ext cx="12700" cy="5793740"/>
            </a:xfrm>
            <a:custGeom>
              <a:avLst/>
              <a:gdLst/>
              <a:ahLst/>
              <a:cxnLst/>
              <a:rect l="l" t="t" r="r" b="b"/>
              <a:pathLst>
                <a:path w="12700" h="5793740">
                  <a:moveTo>
                    <a:pt x="8572" y="5793371"/>
                  </a:moveTo>
                  <a:lnTo>
                    <a:pt x="3810" y="5791934"/>
                  </a:lnTo>
                  <a:lnTo>
                    <a:pt x="0" y="5791934"/>
                  </a:lnTo>
                  <a:lnTo>
                    <a:pt x="148" y="5774899"/>
                  </a:lnTo>
                  <a:lnTo>
                    <a:pt x="804" y="5741368"/>
                  </a:lnTo>
                  <a:lnTo>
                    <a:pt x="952" y="5724334"/>
                  </a:lnTo>
                  <a:lnTo>
                    <a:pt x="952" y="63284"/>
                  </a:lnTo>
                  <a:lnTo>
                    <a:pt x="804" y="47328"/>
                  </a:lnTo>
                  <a:lnTo>
                    <a:pt x="148" y="15956"/>
                  </a:lnTo>
                  <a:lnTo>
                    <a:pt x="0" y="0"/>
                  </a:lnTo>
                  <a:lnTo>
                    <a:pt x="3810" y="5753"/>
                  </a:lnTo>
                  <a:lnTo>
                    <a:pt x="10477" y="10068"/>
                  </a:lnTo>
                  <a:lnTo>
                    <a:pt x="11429" y="15821"/>
                  </a:lnTo>
                  <a:lnTo>
                    <a:pt x="12382" y="28743"/>
                  </a:lnTo>
                  <a:lnTo>
                    <a:pt x="12621" y="41530"/>
                  </a:lnTo>
                  <a:lnTo>
                    <a:pt x="12502" y="54048"/>
                  </a:lnTo>
                  <a:lnTo>
                    <a:pt x="12382" y="66160"/>
                  </a:lnTo>
                  <a:lnTo>
                    <a:pt x="12382" y="5791934"/>
                  </a:lnTo>
                  <a:lnTo>
                    <a:pt x="8572" y="5793371"/>
                  </a:lnTo>
                  <a:close/>
                </a:path>
              </a:pathLst>
            </a:custGeom>
            <a:solidFill>
              <a:srgbClr val="C3C3C3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1978386" y="641514"/>
              <a:ext cx="52705" cy="191770"/>
            </a:xfrm>
            <a:custGeom>
              <a:avLst/>
              <a:gdLst/>
              <a:ahLst/>
              <a:cxnLst/>
              <a:rect l="l" t="t" r="r" b="b"/>
              <a:pathLst>
                <a:path w="52704" h="191769">
                  <a:moveTo>
                    <a:pt x="52324" y="172313"/>
                  </a:moveTo>
                  <a:lnTo>
                    <a:pt x="42722" y="164630"/>
                  </a:lnTo>
                  <a:lnTo>
                    <a:pt x="34785" y="157784"/>
                  </a:lnTo>
                  <a:lnTo>
                    <a:pt x="28282" y="153098"/>
                  </a:lnTo>
                  <a:lnTo>
                    <a:pt x="22974" y="151892"/>
                  </a:lnTo>
                  <a:lnTo>
                    <a:pt x="16687" y="153974"/>
                  </a:lnTo>
                  <a:lnTo>
                    <a:pt x="11010" y="159067"/>
                  </a:lnTo>
                  <a:lnTo>
                    <a:pt x="5562" y="165341"/>
                  </a:lnTo>
                  <a:lnTo>
                    <a:pt x="0" y="171030"/>
                  </a:lnTo>
                  <a:lnTo>
                    <a:pt x="4800" y="176733"/>
                  </a:lnTo>
                  <a:lnTo>
                    <a:pt x="9728" y="183159"/>
                  </a:lnTo>
                  <a:lnTo>
                    <a:pt x="14897" y="188620"/>
                  </a:lnTo>
                  <a:lnTo>
                    <a:pt x="20421" y="191452"/>
                  </a:lnTo>
                  <a:lnTo>
                    <a:pt x="26657" y="190258"/>
                  </a:lnTo>
                  <a:lnTo>
                    <a:pt x="33985" y="185712"/>
                  </a:lnTo>
                  <a:lnTo>
                    <a:pt x="42494" y="179247"/>
                  </a:lnTo>
                  <a:lnTo>
                    <a:pt x="52324" y="172313"/>
                  </a:lnTo>
                  <a:close/>
                </a:path>
                <a:path w="52704" h="191769">
                  <a:moveTo>
                    <a:pt x="52324" y="97002"/>
                  </a:moveTo>
                  <a:lnTo>
                    <a:pt x="42722" y="89306"/>
                  </a:lnTo>
                  <a:lnTo>
                    <a:pt x="34785" y="82321"/>
                  </a:lnTo>
                  <a:lnTo>
                    <a:pt x="28282" y="77254"/>
                  </a:lnTo>
                  <a:lnTo>
                    <a:pt x="22974" y="75298"/>
                  </a:lnTo>
                  <a:lnTo>
                    <a:pt x="17233" y="77939"/>
                  </a:lnTo>
                  <a:lnTo>
                    <a:pt x="11480" y="82956"/>
                  </a:lnTo>
                  <a:lnTo>
                    <a:pt x="5740" y="88950"/>
                  </a:lnTo>
                  <a:lnTo>
                    <a:pt x="0" y="94449"/>
                  </a:lnTo>
                  <a:lnTo>
                    <a:pt x="4800" y="100152"/>
                  </a:lnTo>
                  <a:lnTo>
                    <a:pt x="9728" y="106578"/>
                  </a:lnTo>
                  <a:lnTo>
                    <a:pt x="14897" y="112039"/>
                  </a:lnTo>
                  <a:lnTo>
                    <a:pt x="20421" y="114871"/>
                  </a:lnTo>
                  <a:lnTo>
                    <a:pt x="26479" y="113868"/>
                  </a:lnTo>
                  <a:lnTo>
                    <a:pt x="33502" y="109766"/>
                  </a:lnTo>
                  <a:lnTo>
                    <a:pt x="41960" y="103746"/>
                  </a:lnTo>
                  <a:lnTo>
                    <a:pt x="52324" y="97002"/>
                  </a:lnTo>
                  <a:close/>
                </a:path>
                <a:path w="52704" h="191769">
                  <a:moveTo>
                    <a:pt x="52324" y="21691"/>
                  </a:moveTo>
                  <a:lnTo>
                    <a:pt x="42722" y="13995"/>
                  </a:lnTo>
                  <a:lnTo>
                    <a:pt x="34785" y="7023"/>
                  </a:lnTo>
                  <a:lnTo>
                    <a:pt x="28282" y="1955"/>
                  </a:lnTo>
                  <a:lnTo>
                    <a:pt x="22974" y="0"/>
                  </a:lnTo>
                  <a:lnTo>
                    <a:pt x="17233" y="2095"/>
                  </a:lnTo>
                  <a:lnTo>
                    <a:pt x="11480" y="7175"/>
                  </a:lnTo>
                  <a:lnTo>
                    <a:pt x="5740" y="13462"/>
                  </a:lnTo>
                  <a:lnTo>
                    <a:pt x="0" y="19138"/>
                  </a:lnTo>
                  <a:lnTo>
                    <a:pt x="4800" y="25590"/>
                  </a:lnTo>
                  <a:lnTo>
                    <a:pt x="9728" y="32385"/>
                  </a:lnTo>
                  <a:lnTo>
                    <a:pt x="14897" y="37985"/>
                  </a:lnTo>
                  <a:lnTo>
                    <a:pt x="20421" y="40843"/>
                  </a:lnTo>
                  <a:lnTo>
                    <a:pt x="26479" y="39827"/>
                  </a:lnTo>
                  <a:lnTo>
                    <a:pt x="33502" y="35572"/>
                  </a:lnTo>
                  <a:lnTo>
                    <a:pt x="41960" y="29171"/>
                  </a:lnTo>
                  <a:lnTo>
                    <a:pt x="52324" y="21691"/>
                  </a:lnTo>
                  <a:close/>
                </a:path>
              </a:pathLst>
            </a:custGeom>
            <a:solidFill>
              <a:srgbClr val="72727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0540" y="690773"/>
              <a:ext cx="199479" cy="178698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4852" y="689158"/>
              <a:ext cx="199479" cy="178698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301347" y="3787096"/>
              <a:ext cx="7589300" cy="791900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2428346" y="3914096"/>
              <a:ext cx="7335520" cy="538480"/>
            </a:xfrm>
            <a:custGeom>
              <a:avLst/>
              <a:gdLst/>
              <a:ahLst/>
              <a:cxnLst/>
              <a:rect l="l" t="t" r="r" b="b"/>
              <a:pathLst>
                <a:path w="7335520" h="538479">
                  <a:moveTo>
                    <a:pt x="7066349" y="537899"/>
                  </a:moveTo>
                  <a:lnTo>
                    <a:pt x="268949" y="537899"/>
                  </a:lnTo>
                  <a:lnTo>
                    <a:pt x="220605" y="533566"/>
                  </a:lnTo>
                  <a:lnTo>
                    <a:pt x="175104" y="521073"/>
                  </a:lnTo>
                  <a:lnTo>
                    <a:pt x="133205" y="501180"/>
                  </a:lnTo>
                  <a:lnTo>
                    <a:pt x="95669" y="474646"/>
                  </a:lnTo>
                  <a:lnTo>
                    <a:pt x="63253" y="442231"/>
                  </a:lnTo>
                  <a:lnTo>
                    <a:pt x="36719" y="404694"/>
                  </a:lnTo>
                  <a:lnTo>
                    <a:pt x="16826" y="362795"/>
                  </a:lnTo>
                  <a:lnTo>
                    <a:pt x="4333" y="317294"/>
                  </a:lnTo>
                  <a:lnTo>
                    <a:pt x="0" y="268949"/>
                  </a:lnTo>
                  <a:lnTo>
                    <a:pt x="4333" y="220605"/>
                  </a:lnTo>
                  <a:lnTo>
                    <a:pt x="16826" y="175104"/>
                  </a:lnTo>
                  <a:lnTo>
                    <a:pt x="36719" y="133205"/>
                  </a:lnTo>
                  <a:lnTo>
                    <a:pt x="63253" y="95668"/>
                  </a:lnTo>
                  <a:lnTo>
                    <a:pt x="95669" y="63253"/>
                  </a:lnTo>
                  <a:lnTo>
                    <a:pt x="133205" y="36719"/>
                  </a:lnTo>
                  <a:lnTo>
                    <a:pt x="175104" y="16826"/>
                  </a:lnTo>
                  <a:lnTo>
                    <a:pt x="220605" y="4333"/>
                  </a:lnTo>
                  <a:lnTo>
                    <a:pt x="268949" y="0"/>
                  </a:lnTo>
                  <a:lnTo>
                    <a:pt x="7066349" y="0"/>
                  </a:lnTo>
                  <a:lnTo>
                    <a:pt x="7119064" y="5215"/>
                  </a:lnTo>
                  <a:lnTo>
                    <a:pt x="7169272" y="20472"/>
                  </a:lnTo>
                  <a:lnTo>
                    <a:pt x="7215563" y="45186"/>
                  </a:lnTo>
                  <a:lnTo>
                    <a:pt x="7256526" y="78773"/>
                  </a:lnTo>
                  <a:lnTo>
                    <a:pt x="7290113" y="119736"/>
                  </a:lnTo>
                  <a:lnTo>
                    <a:pt x="7314827" y="166027"/>
                  </a:lnTo>
                  <a:lnTo>
                    <a:pt x="7330084" y="216235"/>
                  </a:lnTo>
                  <a:lnTo>
                    <a:pt x="7335299" y="268949"/>
                  </a:lnTo>
                  <a:lnTo>
                    <a:pt x="7330966" y="317294"/>
                  </a:lnTo>
                  <a:lnTo>
                    <a:pt x="7318473" y="362795"/>
                  </a:lnTo>
                  <a:lnTo>
                    <a:pt x="7298580" y="404694"/>
                  </a:lnTo>
                  <a:lnTo>
                    <a:pt x="7272046" y="442231"/>
                  </a:lnTo>
                  <a:lnTo>
                    <a:pt x="7239631" y="474646"/>
                  </a:lnTo>
                  <a:lnTo>
                    <a:pt x="7202094" y="501180"/>
                  </a:lnTo>
                  <a:lnTo>
                    <a:pt x="7160195" y="521073"/>
                  </a:lnTo>
                  <a:lnTo>
                    <a:pt x="7114694" y="533566"/>
                  </a:lnTo>
                  <a:lnTo>
                    <a:pt x="7066349" y="5378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2673097" y="4073422"/>
              <a:ext cx="267335" cy="267335"/>
            </a:xfrm>
            <a:custGeom>
              <a:avLst/>
              <a:gdLst/>
              <a:ahLst/>
              <a:cxnLst/>
              <a:rect l="l" t="t" r="r" b="b"/>
              <a:pathLst>
                <a:path w="267335" h="267335">
                  <a:moveTo>
                    <a:pt x="101441" y="202882"/>
                  </a:moveTo>
                  <a:lnTo>
                    <a:pt x="62053" y="194877"/>
                  </a:lnTo>
                  <a:lnTo>
                    <a:pt x="29798" y="173083"/>
                  </a:lnTo>
                  <a:lnTo>
                    <a:pt x="8004" y="140828"/>
                  </a:lnTo>
                  <a:lnTo>
                    <a:pt x="0" y="101441"/>
                  </a:lnTo>
                  <a:lnTo>
                    <a:pt x="8004" y="62053"/>
                  </a:lnTo>
                  <a:lnTo>
                    <a:pt x="29798" y="29798"/>
                  </a:lnTo>
                  <a:lnTo>
                    <a:pt x="62053" y="8004"/>
                  </a:lnTo>
                  <a:lnTo>
                    <a:pt x="101441" y="0"/>
                  </a:lnTo>
                  <a:lnTo>
                    <a:pt x="140828" y="8004"/>
                  </a:lnTo>
                  <a:lnTo>
                    <a:pt x="158508" y="19949"/>
                  </a:lnTo>
                  <a:lnTo>
                    <a:pt x="101103" y="19949"/>
                  </a:lnTo>
                  <a:lnTo>
                    <a:pt x="69592" y="26353"/>
                  </a:lnTo>
                  <a:lnTo>
                    <a:pt x="43788" y="43788"/>
                  </a:lnTo>
                  <a:lnTo>
                    <a:pt x="26353" y="69592"/>
                  </a:lnTo>
                  <a:lnTo>
                    <a:pt x="19949" y="101102"/>
                  </a:lnTo>
                  <a:lnTo>
                    <a:pt x="26353" y="132613"/>
                  </a:lnTo>
                  <a:lnTo>
                    <a:pt x="43788" y="158417"/>
                  </a:lnTo>
                  <a:lnTo>
                    <a:pt x="69592" y="175852"/>
                  </a:lnTo>
                  <a:lnTo>
                    <a:pt x="101103" y="182255"/>
                  </a:lnTo>
                  <a:lnTo>
                    <a:pt x="162460" y="182255"/>
                  </a:lnTo>
                  <a:lnTo>
                    <a:pt x="149324" y="190757"/>
                  </a:lnTo>
                  <a:lnTo>
                    <a:pt x="134367" y="197345"/>
                  </a:lnTo>
                  <a:lnTo>
                    <a:pt x="118332" y="201461"/>
                  </a:lnTo>
                  <a:lnTo>
                    <a:pt x="101441" y="202882"/>
                  </a:lnTo>
                  <a:close/>
                </a:path>
                <a:path w="267335" h="267335">
                  <a:moveTo>
                    <a:pt x="162460" y="182255"/>
                  </a:moveTo>
                  <a:lnTo>
                    <a:pt x="101103" y="182255"/>
                  </a:lnTo>
                  <a:lnTo>
                    <a:pt x="132613" y="175852"/>
                  </a:lnTo>
                  <a:lnTo>
                    <a:pt x="158417" y="158417"/>
                  </a:lnTo>
                  <a:lnTo>
                    <a:pt x="175852" y="132613"/>
                  </a:lnTo>
                  <a:lnTo>
                    <a:pt x="182187" y="101441"/>
                  </a:lnTo>
                  <a:lnTo>
                    <a:pt x="182256" y="101102"/>
                  </a:lnTo>
                  <a:lnTo>
                    <a:pt x="175852" y="69592"/>
                  </a:lnTo>
                  <a:lnTo>
                    <a:pt x="158417" y="43788"/>
                  </a:lnTo>
                  <a:lnTo>
                    <a:pt x="132613" y="26353"/>
                  </a:lnTo>
                  <a:lnTo>
                    <a:pt x="101103" y="19949"/>
                  </a:lnTo>
                  <a:lnTo>
                    <a:pt x="158508" y="19949"/>
                  </a:lnTo>
                  <a:lnTo>
                    <a:pt x="173084" y="29798"/>
                  </a:lnTo>
                  <a:lnTo>
                    <a:pt x="194878" y="62053"/>
                  </a:lnTo>
                  <a:lnTo>
                    <a:pt x="202813" y="101102"/>
                  </a:lnTo>
                  <a:lnTo>
                    <a:pt x="202882" y="101441"/>
                  </a:lnTo>
                  <a:lnTo>
                    <a:pt x="201461" y="118379"/>
                  </a:lnTo>
                  <a:lnTo>
                    <a:pt x="197345" y="134494"/>
                  </a:lnTo>
                  <a:lnTo>
                    <a:pt x="190757" y="149467"/>
                  </a:lnTo>
                  <a:lnTo>
                    <a:pt x="181917" y="162982"/>
                  </a:lnTo>
                  <a:lnTo>
                    <a:pt x="196796" y="177859"/>
                  </a:lnTo>
                  <a:lnTo>
                    <a:pt x="209418" y="177859"/>
                  </a:lnTo>
                  <a:lnTo>
                    <a:pt x="212012" y="178536"/>
                  </a:lnTo>
                  <a:lnTo>
                    <a:pt x="215393" y="181917"/>
                  </a:lnTo>
                  <a:lnTo>
                    <a:pt x="162982" y="181917"/>
                  </a:lnTo>
                  <a:lnTo>
                    <a:pt x="162460" y="182255"/>
                  </a:lnTo>
                  <a:close/>
                </a:path>
                <a:path w="267335" h="267335">
                  <a:moveTo>
                    <a:pt x="209418" y="177859"/>
                  </a:moveTo>
                  <a:lnTo>
                    <a:pt x="196796" y="177859"/>
                  </a:lnTo>
                  <a:lnTo>
                    <a:pt x="204234" y="176507"/>
                  </a:lnTo>
                  <a:lnTo>
                    <a:pt x="209418" y="177859"/>
                  </a:lnTo>
                  <a:close/>
                </a:path>
                <a:path w="267335" h="267335">
                  <a:moveTo>
                    <a:pt x="249545" y="267128"/>
                  </a:moveTo>
                  <a:lnTo>
                    <a:pt x="237372" y="267128"/>
                  </a:lnTo>
                  <a:lnTo>
                    <a:pt x="231286" y="264761"/>
                  </a:lnTo>
                  <a:lnTo>
                    <a:pt x="178536" y="212012"/>
                  </a:lnTo>
                  <a:lnTo>
                    <a:pt x="176507" y="204234"/>
                  </a:lnTo>
                  <a:lnTo>
                    <a:pt x="177760" y="197345"/>
                  </a:lnTo>
                  <a:lnTo>
                    <a:pt x="177860" y="196795"/>
                  </a:lnTo>
                  <a:lnTo>
                    <a:pt x="162982" y="181917"/>
                  </a:lnTo>
                  <a:lnTo>
                    <a:pt x="215393" y="181917"/>
                  </a:lnTo>
                  <a:lnTo>
                    <a:pt x="260027" y="226551"/>
                  </a:lnTo>
                  <a:lnTo>
                    <a:pt x="265168" y="234302"/>
                  </a:lnTo>
                  <a:lnTo>
                    <a:pt x="266917" y="243163"/>
                  </a:lnTo>
                  <a:lnTo>
                    <a:pt x="265305" y="252086"/>
                  </a:lnTo>
                  <a:lnTo>
                    <a:pt x="260365" y="260027"/>
                  </a:lnTo>
                  <a:lnTo>
                    <a:pt x="255631" y="264761"/>
                  </a:lnTo>
                  <a:lnTo>
                    <a:pt x="249545" y="267128"/>
                  </a:lnTo>
                  <a:close/>
                </a:path>
              </a:pathLst>
            </a:custGeom>
            <a:solidFill>
              <a:srgbClr val="7F7F7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9444521" y="4268715"/>
              <a:ext cx="22860" cy="72390"/>
            </a:xfrm>
            <a:custGeom>
              <a:avLst/>
              <a:gdLst/>
              <a:ahLst/>
              <a:cxnLst/>
              <a:rect l="l" t="t" r="r" b="b"/>
              <a:pathLst>
                <a:path w="22859" h="72389">
                  <a:moveTo>
                    <a:pt x="17327" y="72333"/>
                  </a:moveTo>
                  <a:lnTo>
                    <a:pt x="4997" y="72333"/>
                  </a:lnTo>
                  <a:lnTo>
                    <a:pt x="0" y="67336"/>
                  </a:lnTo>
                  <a:lnTo>
                    <a:pt x="0" y="11162"/>
                  </a:lnTo>
                  <a:lnTo>
                    <a:pt x="0" y="4997"/>
                  </a:lnTo>
                  <a:lnTo>
                    <a:pt x="4997" y="0"/>
                  </a:lnTo>
                  <a:lnTo>
                    <a:pt x="14122" y="0"/>
                  </a:lnTo>
                  <a:lnTo>
                    <a:pt x="16961" y="1176"/>
                  </a:lnTo>
                  <a:lnTo>
                    <a:pt x="19055" y="3269"/>
                  </a:lnTo>
                  <a:lnTo>
                    <a:pt x="21148" y="5362"/>
                  </a:lnTo>
                  <a:lnTo>
                    <a:pt x="22324" y="8202"/>
                  </a:lnTo>
                  <a:lnTo>
                    <a:pt x="22324" y="67336"/>
                  </a:lnTo>
                  <a:lnTo>
                    <a:pt x="17327" y="72333"/>
                  </a:lnTo>
                  <a:close/>
                </a:path>
              </a:pathLst>
            </a:custGeom>
            <a:solidFill>
              <a:srgbClr val="34A85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380922" y="4164647"/>
              <a:ext cx="149603" cy="106674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415912" y="4047351"/>
              <a:ext cx="79530" cy="188740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11567159" y="612647"/>
              <a:ext cx="266065" cy="266065"/>
            </a:xfrm>
            <a:custGeom>
              <a:avLst/>
              <a:gdLst/>
              <a:ahLst/>
              <a:cxnLst/>
              <a:rect l="l" t="t" r="r" b="b"/>
              <a:pathLst>
                <a:path w="266065" h="266065">
                  <a:moveTo>
                    <a:pt x="132986" y="265973"/>
                  </a:moveTo>
                  <a:lnTo>
                    <a:pt x="90952" y="259193"/>
                  </a:lnTo>
                  <a:lnTo>
                    <a:pt x="54446" y="240314"/>
                  </a:lnTo>
                  <a:lnTo>
                    <a:pt x="25658" y="211526"/>
                  </a:lnTo>
                  <a:lnTo>
                    <a:pt x="6779" y="175020"/>
                  </a:lnTo>
                  <a:lnTo>
                    <a:pt x="0" y="132986"/>
                  </a:lnTo>
                  <a:lnTo>
                    <a:pt x="6779" y="90952"/>
                  </a:lnTo>
                  <a:lnTo>
                    <a:pt x="25658" y="54446"/>
                  </a:lnTo>
                  <a:lnTo>
                    <a:pt x="54446" y="25658"/>
                  </a:lnTo>
                  <a:lnTo>
                    <a:pt x="90952" y="6779"/>
                  </a:lnTo>
                  <a:lnTo>
                    <a:pt x="132986" y="0"/>
                  </a:lnTo>
                  <a:lnTo>
                    <a:pt x="159052" y="2578"/>
                  </a:lnTo>
                  <a:lnTo>
                    <a:pt x="206768" y="22343"/>
                  </a:lnTo>
                  <a:lnTo>
                    <a:pt x="243630" y="59205"/>
                  </a:lnTo>
                  <a:lnTo>
                    <a:pt x="263394" y="106921"/>
                  </a:lnTo>
                  <a:lnTo>
                    <a:pt x="265973" y="132986"/>
                  </a:lnTo>
                  <a:lnTo>
                    <a:pt x="259193" y="175020"/>
                  </a:lnTo>
                  <a:lnTo>
                    <a:pt x="240314" y="211526"/>
                  </a:lnTo>
                  <a:lnTo>
                    <a:pt x="211526" y="240314"/>
                  </a:lnTo>
                  <a:lnTo>
                    <a:pt x="175020" y="259193"/>
                  </a:lnTo>
                  <a:lnTo>
                    <a:pt x="132986" y="265973"/>
                  </a:lnTo>
                  <a:close/>
                </a:path>
              </a:pathLst>
            </a:custGeom>
            <a:solidFill>
              <a:srgbClr val="63636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1624270" y="669524"/>
              <a:ext cx="152699" cy="162299"/>
            </a:xfrm>
            <a:prstGeom prst="rect">
              <a:avLst/>
            </a:prstGeom>
          </p:spPr>
        </p:pic>
      </p:grpSp>
      <p:sp>
        <p:nvSpPr>
          <p:cNvPr id="26" name="object 26" descr=""/>
          <p:cNvSpPr txBox="1"/>
          <p:nvPr/>
        </p:nvSpPr>
        <p:spPr>
          <a:xfrm>
            <a:off x="5503986" y="6613304"/>
            <a:ext cx="1183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757070"/>
                </a:solidFill>
                <a:latin typeface="Roboto"/>
                <a:cs typeface="Roboto"/>
              </a:rPr>
              <a:t>slidesmania.com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3212825" y="4028588"/>
            <a:ext cx="11004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LLM</a:t>
            </a:r>
            <a:r>
              <a:rPr dirty="0" sz="1400" spc="-8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and</a:t>
            </a:r>
            <a:r>
              <a:rPr dirty="0" sz="1400" spc="-8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5">
                <a:solidFill>
                  <a:srgbClr val="595959"/>
                </a:solidFill>
                <a:latin typeface="Roboto"/>
                <a:cs typeface="Roboto"/>
              </a:rPr>
              <a:t>RAG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215900" rIns="0" bIns="0" rtlCol="0" vert="horz">
            <a:spAutoFit/>
          </a:bodyPr>
          <a:lstStyle/>
          <a:p>
            <a:pPr marL="2646680" marR="5080" indent="-2633980">
              <a:lnSpc>
                <a:spcPts val="6750"/>
              </a:lnSpc>
              <a:spcBef>
                <a:spcPts val="1700"/>
              </a:spcBef>
            </a:pPr>
            <a:r>
              <a:rPr dirty="0" sz="7000" spc="-3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dirty="0" sz="7000" spc="-30">
                <a:solidFill>
                  <a:srgbClr val="EA4335"/>
                </a:solidFill>
                <a:latin typeface="Microsoft Sans Serif"/>
                <a:cs typeface="Microsoft Sans Serif"/>
              </a:rPr>
              <a:t>н</a:t>
            </a:r>
            <a:r>
              <a:rPr dirty="0" sz="7000" spc="-30">
                <a:solidFill>
                  <a:srgbClr val="FABB05"/>
                </a:solidFill>
                <a:latin typeface="Microsoft Sans Serif"/>
                <a:cs typeface="Microsoft Sans Serif"/>
              </a:rPr>
              <a:t>ф</a:t>
            </a:r>
            <a:r>
              <a:rPr dirty="0" sz="7000" spc="-3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dirty="0" sz="7000" spc="-30">
                <a:solidFill>
                  <a:srgbClr val="4285F4"/>
                </a:solidFill>
                <a:latin typeface="Microsoft Sans Serif"/>
                <a:cs typeface="Microsoft Sans Serif"/>
              </a:rPr>
              <a:t>р</a:t>
            </a:r>
            <a:r>
              <a:rPr dirty="0" sz="7000" spc="-30">
                <a:solidFill>
                  <a:srgbClr val="EA4335"/>
                </a:solidFill>
                <a:latin typeface="Microsoft Sans Serif"/>
                <a:cs typeface="Microsoft Sans Serif"/>
              </a:rPr>
              <a:t>м</a:t>
            </a:r>
            <a:r>
              <a:rPr dirty="0" sz="7000" spc="-30">
                <a:solidFill>
                  <a:srgbClr val="FABB05"/>
                </a:solidFill>
                <a:latin typeface="Microsoft Sans Serif"/>
                <a:cs typeface="Microsoft Sans Serif"/>
              </a:rPr>
              <a:t>а</a:t>
            </a:r>
            <a:r>
              <a:rPr dirty="0" sz="7000" spc="-30">
                <a:solidFill>
                  <a:srgbClr val="34A853"/>
                </a:solidFill>
                <a:latin typeface="Microsoft Sans Serif"/>
                <a:cs typeface="Microsoft Sans Serif"/>
              </a:rPr>
              <a:t>ц</a:t>
            </a:r>
            <a:r>
              <a:rPr dirty="0" sz="7000" spc="-3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dirty="0" sz="7000" spc="-30">
                <a:solidFill>
                  <a:srgbClr val="EA4335"/>
                </a:solidFill>
                <a:latin typeface="Microsoft Sans Serif"/>
                <a:cs typeface="Microsoft Sans Serif"/>
              </a:rPr>
              <a:t>о</a:t>
            </a:r>
            <a:r>
              <a:rPr dirty="0" sz="7000" spc="-30">
                <a:solidFill>
                  <a:srgbClr val="FABB05"/>
                </a:solidFill>
                <a:latin typeface="Microsoft Sans Serif"/>
                <a:cs typeface="Microsoft Sans Serif"/>
              </a:rPr>
              <a:t>н</a:t>
            </a:r>
            <a:r>
              <a:rPr dirty="0" sz="7000" spc="-30">
                <a:solidFill>
                  <a:srgbClr val="34A853"/>
                </a:solidFill>
                <a:latin typeface="Microsoft Sans Serif"/>
                <a:cs typeface="Microsoft Sans Serif"/>
              </a:rPr>
              <a:t>н</a:t>
            </a:r>
            <a:r>
              <a:rPr dirty="0" sz="7000" spc="-30">
                <a:solidFill>
                  <a:srgbClr val="4285F4"/>
                </a:solidFill>
                <a:latin typeface="Microsoft Sans Serif"/>
                <a:cs typeface="Microsoft Sans Serif"/>
              </a:rPr>
              <a:t>ы</a:t>
            </a:r>
            <a:r>
              <a:rPr dirty="0" sz="7000" spc="-30">
                <a:solidFill>
                  <a:srgbClr val="EA4335"/>
                </a:solidFill>
                <a:latin typeface="Microsoft Sans Serif"/>
                <a:cs typeface="Microsoft Sans Serif"/>
              </a:rPr>
              <a:t>й </a:t>
            </a:r>
            <a:r>
              <a:rPr dirty="0" sz="7000" spc="-10">
                <a:solidFill>
                  <a:srgbClr val="FABB05"/>
                </a:solidFill>
                <a:latin typeface="Microsoft Sans Serif"/>
                <a:cs typeface="Microsoft Sans Serif"/>
              </a:rPr>
              <a:t>п</a:t>
            </a:r>
            <a:r>
              <a:rPr dirty="0" sz="7000" spc="-10">
                <a:solidFill>
                  <a:srgbClr val="34A853"/>
                </a:solidFill>
                <a:latin typeface="Microsoft Sans Serif"/>
                <a:cs typeface="Microsoft Sans Serif"/>
              </a:rPr>
              <a:t>о</a:t>
            </a:r>
            <a:r>
              <a:rPr dirty="0" sz="7000" spc="-10">
                <a:solidFill>
                  <a:srgbClr val="4285F4"/>
                </a:solidFill>
                <a:latin typeface="Microsoft Sans Serif"/>
                <a:cs typeface="Microsoft Sans Serif"/>
              </a:rPr>
              <a:t>и</a:t>
            </a:r>
            <a:r>
              <a:rPr dirty="0" sz="7000" spc="-10">
                <a:solidFill>
                  <a:srgbClr val="EA4335"/>
                </a:solidFill>
                <a:latin typeface="Microsoft Sans Serif"/>
                <a:cs typeface="Microsoft Sans Serif"/>
              </a:rPr>
              <a:t>с</a:t>
            </a:r>
            <a:r>
              <a:rPr dirty="0" sz="7000" spc="-10">
                <a:solidFill>
                  <a:srgbClr val="FABB05"/>
                </a:solidFill>
                <a:latin typeface="Microsoft Sans Serif"/>
                <a:cs typeface="Microsoft Sans Serif"/>
              </a:rPr>
              <a:t>к</a:t>
            </a:r>
            <a:endParaRPr sz="7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4724" y="1465205"/>
            <a:ext cx="6022340" cy="450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Verdana"/>
                <a:cs typeface="Verdana"/>
              </a:rPr>
              <a:t>Large</a:t>
            </a:r>
            <a:r>
              <a:rPr dirty="0" sz="4000" spc="-200">
                <a:latin typeface="Verdana"/>
                <a:cs typeface="Verdana"/>
              </a:rPr>
              <a:t> </a:t>
            </a:r>
            <a:r>
              <a:rPr dirty="0" sz="4000">
                <a:latin typeface="Verdana"/>
                <a:cs typeface="Verdana"/>
              </a:rPr>
              <a:t>Language</a:t>
            </a:r>
            <a:r>
              <a:rPr dirty="0" sz="4000" spc="-20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Models</a:t>
            </a:r>
            <a:endParaRPr sz="4000">
              <a:latin typeface="Verdana"/>
              <a:cs typeface="Verdana"/>
            </a:endParaRPr>
          </a:p>
          <a:p>
            <a:pPr algn="just" marL="12700" marR="792480">
              <a:lnSpc>
                <a:spcPct val="114999"/>
              </a:lnSpc>
              <a:spcBef>
                <a:spcPts val="2655"/>
              </a:spcBef>
            </a:pP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данный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момент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большие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языковые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модели являются</a:t>
            </a:r>
            <a:r>
              <a:rPr dirty="0" sz="1900" spc="-10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60">
                <a:solidFill>
                  <a:srgbClr val="2A2A2A"/>
                </a:solidFill>
                <a:latin typeface="Tahoma"/>
                <a:cs typeface="Tahoma"/>
              </a:rPr>
              <a:t>State-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of-</a:t>
            </a:r>
            <a:r>
              <a:rPr dirty="0" sz="1900" spc="-60">
                <a:solidFill>
                  <a:srgbClr val="2A2A2A"/>
                </a:solidFill>
                <a:latin typeface="Tahoma"/>
                <a:cs typeface="Tahoma"/>
              </a:rPr>
              <a:t>the-</a:t>
            </a:r>
            <a:r>
              <a:rPr dirty="0" sz="1900" spc="-85">
                <a:solidFill>
                  <a:srgbClr val="2A2A2A"/>
                </a:solidFill>
                <a:latin typeface="Tahoma"/>
                <a:cs typeface="Tahoma"/>
              </a:rPr>
              <a:t>Art</a:t>
            </a:r>
            <a:r>
              <a:rPr dirty="0" sz="1900" spc="-6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решениями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во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многих областях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Tahoma"/>
                <a:cs typeface="Tahoma"/>
              </a:rPr>
              <a:t>NLP</a:t>
            </a:r>
            <a:r>
              <a:rPr dirty="0" sz="1900" spc="-15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130">
                <a:solidFill>
                  <a:srgbClr val="2A2A2A"/>
                </a:solidFill>
                <a:latin typeface="Tahoma"/>
                <a:cs typeface="Tahoma"/>
              </a:rPr>
              <a:t>(</a:t>
            </a:r>
            <a:r>
              <a:rPr dirty="0" sz="1900" spc="-13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только</a:t>
            </a:r>
            <a:r>
              <a:rPr dirty="0" sz="1900" spc="-10">
                <a:solidFill>
                  <a:srgbClr val="2A2A2A"/>
                </a:solidFill>
                <a:latin typeface="Tahoma"/>
                <a:cs typeface="Tahoma"/>
              </a:rPr>
              <a:t>).</a:t>
            </a:r>
            <a:endParaRPr sz="1900">
              <a:latin typeface="Tahoma"/>
              <a:cs typeface="Tahoma"/>
            </a:endParaRPr>
          </a:p>
          <a:p>
            <a:pPr marL="12700" marR="1094740">
              <a:lnSpc>
                <a:spcPct val="114999"/>
              </a:lnSpc>
              <a:spcBef>
                <a:spcPts val="2100"/>
              </a:spcBef>
            </a:pP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При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этом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вокруг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них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активно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выстраивается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целая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экосистема</a:t>
            </a:r>
            <a:r>
              <a:rPr dirty="0" sz="1900" spc="-65">
                <a:solidFill>
                  <a:srgbClr val="2A2A2A"/>
                </a:solidFill>
                <a:latin typeface="Tahoma"/>
                <a:cs typeface="Tahoma"/>
              </a:rPr>
              <a:t>:</a:t>
            </a:r>
            <a:r>
              <a:rPr dirty="0" sz="1900" spc="-114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120">
                <a:solidFill>
                  <a:srgbClr val="2A2A2A"/>
                </a:solidFill>
                <a:latin typeface="Tahoma"/>
                <a:cs typeface="Tahoma"/>
              </a:rPr>
              <a:t>API,</a:t>
            </a:r>
            <a:r>
              <a:rPr dirty="0" sz="1900" spc="-114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специальные 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библиотеки</a:t>
            </a:r>
            <a:r>
              <a:rPr dirty="0" sz="1900" spc="-60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3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приемы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использования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и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дообучения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dirty="0" sz="1900" spc="-9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малых</a:t>
            </a:r>
            <a:r>
              <a:rPr dirty="0" sz="1900" spc="-9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мощностях</a:t>
            </a:r>
            <a:r>
              <a:rPr dirty="0" sz="1900" spc="-10">
                <a:solidFill>
                  <a:srgbClr val="2A2A2A"/>
                </a:solidFill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  <a:p>
            <a:pPr marL="12700" marR="650875">
              <a:lnSpc>
                <a:spcPct val="114999"/>
              </a:lnSpc>
              <a:spcBef>
                <a:spcPts val="2100"/>
              </a:spcBef>
            </a:pP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сегодня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поговорим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про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Tahoma"/>
                <a:cs typeface="Tahoma"/>
              </a:rPr>
              <a:t>LLM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целом</a:t>
            </a:r>
            <a:r>
              <a:rPr dirty="0" sz="1900" spc="-7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а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также про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приемы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промптинга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Tahoma"/>
                <a:cs typeface="Tahoma"/>
              </a:rPr>
              <a:t>RAG.</a:t>
            </a:r>
            <a:endParaRPr sz="1900">
              <a:latin typeface="Tahoma"/>
              <a:cs typeface="Tahoma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3600" y="1383925"/>
            <a:ext cx="4680923" cy="46809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668474" y="6453161"/>
            <a:ext cx="565721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Roboto"/>
                <a:cs typeface="Roboto"/>
              </a:rPr>
              <a:t>Источник</a:t>
            </a:r>
            <a:r>
              <a:rPr dirty="0" sz="1100" spc="190">
                <a:latin typeface="Roboto"/>
                <a:cs typeface="Roboto"/>
              </a:rPr>
              <a:t> </a:t>
            </a:r>
            <a:r>
              <a:rPr dirty="0" sz="1100" spc="-30">
                <a:latin typeface="Roboto"/>
                <a:cs typeface="Roboto"/>
              </a:rPr>
              <a:t>графики:</a:t>
            </a:r>
            <a:r>
              <a:rPr dirty="0" sz="1100" spc="190">
                <a:latin typeface="Roboto"/>
                <a:cs typeface="Roboto"/>
              </a:rPr>
              <a:t> </a:t>
            </a:r>
            <a:r>
              <a:rPr dirty="0" sz="1100" spc="-35">
                <a:latin typeface="Roboto"/>
                <a:cs typeface="Roboto"/>
              </a:rPr>
              <a:t>https://yellow.ai/wp-</a:t>
            </a:r>
            <a:r>
              <a:rPr dirty="0" sz="1100" spc="-30">
                <a:latin typeface="Roboto"/>
                <a:cs typeface="Roboto"/>
              </a:rPr>
              <a:t>content/uploads/2023/11/LLM-</a:t>
            </a:r>
            <a:r>
              <a:rPr dirty="0" sz="1100" spc="-20">
                <a:latin typeface="Roboto"/>
                <a:cs typeface="Roboto"/>
              </a:rPr>
              <a:t>-</a:t>
            </a:r>
            <a:r>
              <a:rPr dirty="0" sz="1100" spc="-10">
                <a:latin typeface="Roboto"/>
                <a:cs typeface="Roboto"/>
              </a:rPr>
              <a:t>1024x1024.webp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025625" y="1465205"/>
            <a:ext cx="599376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Verdana"/>
                <a:cs typeface="Verdana"/>
              </a:rPr>
              <a:t>Large</a:t>
            </a:r>
            <a:r>
              <a:rPr dirty="0" sz="4000" spc="-200">
                <a:latin typeface="Verdana"/>
                <a:cs typeface="Verdana"/>
              </a:rPr>
              <a:t> </a:t>
            </a:r>
            <a:r>
              <a:rPr dirty="0" sz="4000">
                <a:latin typeface="Verdana"/>
                <a:cs typeface="Verdana"/>
              </a:rPr>
              <a:t>Language</a:t>
            </a:r>
            <a:r>
              <a:rPr dirty="0" sz="4000" spc="-20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Models</a:t>
            </a:r>
            <a:endParaRPr sz="4000">
              <a:latin typeface="Verdana"/>
              <a:cs typeface="Verdan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Home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9545" y="2218000"/>
            <a:ext cx="7237552" cy="41336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268024" y="6617637"/>
            <a:ext cx="3593465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latin typeface="Roboto"/>
                <a:cs typeface="Roboto"/>
              </a:rPr>
              <a:t>Источник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 spc="-30">
                <a:latin typeface="Roboto"/>
                <a:cs typeface="Roboto"/>
              </a:rPr>
              <a:t>графики:</a:t>
            </a:r>
            <a:r>
              <a:rPr dirty="0" sz="1100" spc="5">
                <a:latin typeface="Roboto"/>
                <a:cs typeface="Roboto"/>
              </a:rPr>
              <a:t> </a:t>
            </a:r>
            <a:r>
              <a:rPr dirty="0" sz="1100" spc="-10">
                <a:latin typeface="Roboto"/>
                <a:cs typeface="Roboto"/>
              </a:rPr>
              <a:t>https://arxiv.org/pdf/2303.18223.pdf</a:t>
            </a:r>
            <a:endParaRPr sz="11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4724" y="1465205"/>
            <a:ext cx="4933950" cy="16389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275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Microsoft Sans Serif"/>
                <a:cs typeface="Microsoft Sans Serif"/>
              </a:rPr>
              <a:t>Процесс</a:t>
            </a:r>
            <a:r>
              <a:rPr dirty="0" sz="4000" spc="-170">
                <a:latin typeface="Microsoft Sans Serif"/>
                <a:cs typeface="Microsoft Sans Serif"/>
              </a:rPr>
              <a:t> </a:t>
            </a:r>
            <a:r>
              <a:rPr dirty="0" sz="4000" spc="-10">
                <a:latin typeface="Microsoft Sans Serif"/>
                <a:cs typeface="Microsoft Sans Serif"/>
              </a:rPr>
              <a:t>обучения</a:t>
            </a:r>
            <a:endParaRPr sz="4000">
              <a:latin typeface="Microsoft Sans Serif"/>
              <a:cs typeface="Microsoft Sans Serif"/>
            </a:endParaRPr>
          </a:p>
          <a:p>
            <a:pPr marL="12700" marR="5080">
              <a:lnSpc>
                <a:spcPct val="114999"/>
              </a:lnSpc>
              <a:spcBef>
                <a:spcPts val="2655"/>
              </a:spcBef>
            </a:pP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Обычно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процесс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разделяют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три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больших этапа</a:t>
            </a:r>
            <a:r>
              <a:rPr dirty="0" sz="1900" spc="-10">
                <a:solidFill>
                  <a:srgbClr val="2A2A2A"/>
                </a:solidFill>
                <a:latin typeface="Tahoma"/>
                <a:cs typeface="Tahoma"/>
              </a:rPr>
              <a:t>: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47477" y="3205452"/>
            <a:ext cx="5280025" cy="36093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96875" marR="43180" indent="-344170">
              <a:lnSpc>
                <a:spcPct val="114999"/>
              </a:lnSpc>
              <a:spcBef>
                <a:spcPts val="100"/>
              </a:spcBef>
              <a:buFont typeface="Tahoma"/>
              <a:buAutoNum type="arabicPeriod"/>
              <a:tabLst>
                <a:tab pos="396875" algn="l"/>
              </a:tabLst>
            </a:pPr>
            <a:r>
              <a:rPr dirty="0" sz="1900" spc="-90" b="1">
                <a:solidFill>
                  <a:srgbClr val="2A2A2A"/>
                </a:solidFill>
                <a:latin typeface="Arial"/>
                <a:cs typeface="Arial"/>
              </a:rPr>
              <a:t>Pre-</a:t>
            </a:r>
            <a:r>
              <a:rPr dirty="0" sz="1900" spc="-80" b="1">
                <a:solidFill>
                  <a:srgbClr val="2A2A2A"/>
                </a:solidFill>
                <a:latin typeface="Arial"/>
                <a:cs typeface="Arial"/>
              </a:rPr>
              <a:t>train:</a:t>
            </a:r>
            <a:r>
              <a:rPr dirty="0" sz="1900" spc="-90" b="1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данном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этапе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происходит основное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обучение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о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котором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мы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говорили 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выше</a:t>
            </a:r>
            <a:r>
              <a:rPr dirty="0" sz="1900" spc="-75">
                <a:solidFill>
                  <a:srgbClr val="2A2A2A"/>
                </a:solidFill>
                <a:latin typeface="Tahoma"/>
                <a:cs typeface="Tahoma"/>
              </a:rPr>
              <a:t>.</a:t>
            </a:r>
            <a:r>
              <a:rPr dirty="0" sz="1900" spc="-13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Длинный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вычислительно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дорогой процесс</a:t>
            </a:r>
            <a:endParaRPr sz="1900">
              <a:latin typeface="Microsoft Sans Serif"/>
              <a:cs typeface="Microsoft Sans Serif"/>
            </a:endParaRPr>
          </a:p>
          <a:p>
            <a:pPr marL="396875" marR="5080" indent="-384810">
              <a:lnSpc>
                <a:spcPct val="114999"/>
              </a:lnSpc>
              <a:spcBef>
                <a:spcPts val="1000"/>
              </a:spcBef>
              <a:buFont typeface="Tahoma"/>
              <a:buAutoNum type="arabicPeriod"/>
              <a:tabLst>
                <a:tab pos="396875" algn="l"/>
              </a:tabLst>
            </a:pPr>
            <a:r>
              <a:rPr dirty="0" sz="1900" spc="-65" b="1">
                <a:solidFill>
                  <a:srgbClr val="2A2A2A"/>
                </a:solidFill>
                <a:latin typeface="Arial"/>
                <a:cs typeface="Arial"/>
              </a:rPr>
              <a:t>Alignment</a:t>
            </a:r>
            <a:r>
              <a:rPr dirty="0" sz="1900" spc="-80" b="1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900" spc="-45">
                <a:solidFill>
                  <a:srgbClr val="2A2A2A"/>
                </a:solidFill>
                <a:latin typeface="Tahoma"/>
                <a:cs typeface="Tahoma"/>
              </a:rPr>
              <a:t>(</a:t>
            </a:r>
            <a:r>
              <a:rPr dirty="0" sz="1900" spc="-45">
                <a:solidFill>
                  <a:srgbClr val="2A2A2A"/>
                </a:solidFill>
                <a:latin typeface="Microsoft Sans Serif"/>
                <a:cs typeface="Microsoft Sans Serif"/>
              </a:rPr>
              <a:t>обычно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выделяют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для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40">
                <a:solidFill>
                  <a:srgbClr val="2A2A2A"/>
                </a:solidFill>
                <a:latin typeface="Tahoma"/>
                <a:cs typeface="Tahoma"/>
              </a:rPr>
              <a:t>llm):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здесь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модель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учится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соблюдать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определенный набор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правил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14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45">
                <a:solidFill>
                  <a:srgbClr val="2A2A2A"/>
                </a:solidFill>
                <a:latin typeface="Tahoma"/>
                <a:cs typeface="Tahoma"/>
              </a:rPr>
              <a:t>“</a:t>
            </a:r>
            <a:r>
              <a:rPr dirty="0" sz="1900" spc="-45">
                <a:solidFill>
                  <a:srgbClr val="2A2A2A"/>
                </a:solidFill>
                <a:latin typeface="Microsoft Sans Serif"/>
                <a:cs typeface="Microsoft Sans Serif"/>
              </a:rPr>
              <a:t>выравнивается</a:t>
            </a:r>
            <a:r>
              <a:rPr dirty="0" sz="1900" spc="-45">
                <a:solidFill>
                  <a:srgbClr val="2A2A2A"/>
                </a:solidFill>
                <a:latin typeface="Tahoma"/>
                <a:cs typeface="Tahoma"/>
              </a:rPr>
              <a:t>”</a:t>
            </a:r>
            <a:r>
              <a:rPr dirty="0" sz="1900" spc="-114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под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некоторое</a:t>
            </a:r>
            <a:r>
              <a:rPr dirty="0" sz="1900" spc="-4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распределение</a:t>
            </a:r>
            <a:endParaRPr sz="1900">
              <a:latin typeface="Microsoft Sans Serif"/>
              <a:cs typeface="Microsoft Sans Serif"/>
            </a:endParaRPr>
          </a:p>
          <a:p>
            <a:pPr marL="396875" marR="1009650" indent="-381000">
              <a:lnSpc>
                <a:spcPct val="114999"/>
              </a:lnSpc>
              <a:spcBef>
                <a:spcPts val="1000"/>
              </a:spcBef>
              <a:buFont typeface="Tahoma"/>
              <a:buAutoNum type="arabicPeriod"/>
              <a:tabLst>
                <a:tab pos="396875" algn="l"/>
              </a:tabLst>
            </a:pPr>
            <a:r>
              <a:rPr dirty="0" sz="1900" spc="-100" b="1">
                <a:solidFill>
                  <a:srgbClr val="2A2A2A"/>
                </a:solidFill>
                <a:latin typeface="Arial"/>
                <a:cs typeface="Arial"/>
              </a:rPr>
              <a:t>Fine-</a:t>
            </a:r>
            <a:r>
              <a:rPr dirty="0" sz="1900" spc="-95" b="1">
                <a:solidFill>
                  <a:srgbClr val="2A2A2A"/>
                </a:solidFill>
                <a:latin typeface="Arial"/>
                <a:cs typeface="Arial"/>
              </a:rPr>
              <a:t>tuning:</a:t>
            </a:r>
            <a:r>
              <a:rPr dirty="0" sz="1900" spc="-85" b="1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дообучение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на 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конкретную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задачу</a:t>
            </a:r>
            <a:endParaRPr sz="1900">
              <a:latin typeface="Microsoft Sans Serif"/>
              <a:cs typeface="Microsoft Sans Serif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7176950" y="2774987"/>
            <a:ext cx="945515" cy="802005"/>
            <a:chOff x="7176950" y="2774987"/>
            <a:chExt cx="945515" cy="802005"/>
          </a:xfrm>
        </p:grpSpPr>
        <p:sp>
          <p:nvSpPr>
            <p:cNvPr id="10" name="object 10" descr=""/>
            <p:cNvSpPr/>
            <p:nvPr/>
          </p:nvSpPr>
          <p:spPr>
            <a:xfrm>
              <a:off x="7196000" y="2794037"/>
              <a:ext cx="907415" cy="763905"/>
            </a:xfrm>
            <a:custGeom>
              <a:avLst/>
              <a:gdLst/>
              <a:ahLst/>
              <a:cxnLst/>
              <a:rect l="l" t="t" r="r" b="b"/>
              <a:pathLst>
                <a:path w="907415" h="763904">
                  <a:moveTo>
                    <a:pt x="453587" y="763499"/>
                  </a:moveTo>
                  <a:lnTo>
                    <a:pt x="380013" y="761834"/>
                  </a:lnTo>
                  <a:lnTo>
                    <a:pt x="310218" y="757012"/>
                  </a:lnTo>
                  <a:lnTo>
                    <a:pt x="245137" y="749296"/>
                  </a:lnTo>
                  <a:lnTo>
                    <a:pt x="185704" y="738948"/>
                  </a:lnTo>
                  <a:lnTo>
                    <a:pt x="132852" y="726229"/>
                  </a:lnTo>
                  <a:lnTo>
                    <a:pt x="87516" y="711402"/>
                  </a:lnTo>
                  <a:lnTo>
                    <a:pt x="50628" y="694728"/>
                  </a:lnTo>
                  <a:lnTo>
                    <a:pt x="5936" y="656890"/>
                  </a:lnTo>
                  <a:lnTo>
                    <a:pt x="0" y="636249"/>
                  </a:lnTo>
                  <a:lnTo>
                    <a:pt x="0" y="127249"/>
                  </a:lnTo>
                  <a:lnTo>
                    <a:pt x="23124" y="87029"/>
                  </a:lnTo>
                  <a:lnTo>
                    <a:pt x="87516" y="52097"/>
                  </a:lnTo>
                  <a:lnTo>
                    <a:pt x="132852" y="37270"/>
                  </a:lnTo>
                  <a:lnTo>
                    <a:pt x="185704" y="24551"/>
                  </a:lnTo>
                  <a:lnTo>
                    <a:pt x="245137" y="14203"/>
                  </a:lnTo>
                  <a:lnTo>
                    <a:pt x="310218" y="6487"/>
                  </a:lnTo>
                  <a:lnTo>
                    <a:pt x="380013" y="1665"/>
                  </a:lnTo>
                  <a:lnTo>
                    <a:pt x="453587" y="0"/>
                  </a:lnTo>
                  <a:lnTo>
                    <a:pt x="527161" y="1665"/>
                  </a:lnTo>
                  <a:lnTo>
                    <a:pt x="596956" y="6487"/>
                  </a:lnTo>
                  <a:lnTo>
                    <a:pt x="662037" y="14203"/>
                  </a:lnTo>
                  <a:lnTo>
                    <a:pt x="721470" y="24551"/>
                  </a:lnTo>
                  <a:lnTo>
                    <a:pt x="774322" y="37270"/>
                  </a:lnTo>
                  <a:lnTo>
                    <a:pt x="819658" y="52097"/>
                  </a:lnTo>
                  <a:lnTo>
                    <a:pt x="856546" y="68771"/>
                  </a:lnTo>
                  <a:lnTo>
                    <a:pt x="901238" y="106609"/>
                  </a:lnTo>
                  <a:lnTo>
                    <a:pt x="907174" y="127249"/>
                  </a:lnTo>
                  <a:lnTo>
                    <a:pt x="907174" y="636249"/>
                  </a:lnTo>
                  <a:lnTo>
                    <a:pt x="884050" y="676470"/>
                  </a:lnTo>
                  <a:lnTo>
                    <a:pt x="819658" y="711402"/>
                  </a:lnTo>
                  <a:lnTo>
                    <a:pt x="774322" y="726229"/>
                  </a:lnTo>
                  <a:lnTo>
                    <a:pt x="721470" y="738948"/>
                  </a:lnTo>
                  <a:lnTo>
                    <a:pt x="662037" y="749296"/>
                  </a:lnTo>
                  <a:lnTo>
                    <a:pt x="596956" y="757012"/>
                  </a:lnTo>
                  <a:lnTo>
                    <a:pt x="527161" y="761834"/>
                  </a:lnTo>
                  <a:lnTo>
                    <a:pt x="453587" y="763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7196000" y="2794037"/>
              <a:ext cx="907415" cy="763905"/>
            </a:xfrm>
            <a:custGeom>
              <a:avLst/>
              <a:gdLst/>
              <a:ahLst/>
              <a:cxnLst/>
              <a:rect l="l" t="t" r="r" b="b"/>
              <a:pathLst>
                <a:path w="907415" h="763904">
                  <a:moveTo>
                    <a:pt x="907174" y="127249"/>
                  </a:moveTo>
                  <a:lnTo>
                    <a:pt x="901238" y="147890"/>
                  </a:lnTo>
                  <a:lnTo>
                    <a:pt x="884050" y="167470"/>
                  </a:lnTo>
                  <a:lnTo>
                    <a:pt x="819658" y="202402"/>
                  </a:lnTo>
                  <a:lnTo>
                    <a:pt x="774322" y="217229"/>
                  </a:lnTo>
                  <a:lnTo>
                    <a:pt x="721470" y="229948"/>
                  </a:lnTo>
                  <a:lnTo>
                    <a:pt x="662037" y="240296"/>
                  </a:lnTo>
                  <a:lnTo>
                    <a:pt x="596956" y="248012"/>
                  </a:lnTo>
                  <a:lnTo>
                    <a:pt x="527161" y="252834"/>
                  </a:lnTo>
                  <a:lnTo>
                    <a:pt x="453587" y="254499"/>
                  </a:lnTo>
                  <a:lnTo>
                    <a:pt x="380013" y="252834"/>
                  </a:lnTo>
                  <a:lnTo>
                    <a:pt x="310218" y="248012"/>
                  </a:lnTo>
                  <a:lnTo>
                    <a:pt x="245137" y="240296"/>
                  </a:lnTo>
                  <a:lnTo>
                    <a:pt x="185704" y="229948"/>
                  </a:lnTo>
                  <a:lnTo>
                    <a:pt x="132852" y="217229"/>
                  </a:lnTo>
                  <a:lnTo>
                    <a:pt x="87516" y="202402"/>
                  </a:lnTo>
                  <a:lnTo>
                    <a:pt x="50628" y="185728"/>
                  </a:lnTo>
                  <a:lnTo>
                    <a:pt x="5936" y="147890"/>
                  </a:lnTo>
                  <a:lnTo>
                    <a:pt x="0" y="127249"/>
                  </a:lnTo>
                </a:path>
                <a:path w="907415" h="763904">
                  <a:moveTo>
                    <a:pt x="0" y="127249"/>
                  </a:moveTo>
                  <a:lnTo>
                    <a:pt x="5936" y="106609"/>
                  </a:lnTo>
                  <a:lnTo>
                    <a:pt x="23124" y="87029"/>
                  </a:lnTo>
                  <a:lnTo>
                    <a:pt x="87516" y="52097"/>
                  </a:lnTo>
                  <a:lnTo>
                    <a:pt x="132852" y="37270"/>
                  </a:lnTo>
                  <a:lnTo>
                    <a:pt x="185704" y="24551"/>
                  </a:lnTo>
                  <a:lnTo>
                    <a:pt x="245137" y="14203"/>
                  </a:lnTo>
                  <a:lnTo>
                    <a:pt x="310218" y="6487"/>
                  </a:lnTo>
                  <a:lnTo>
                    <a:pt x="380013" y="1665"/>
                  </a:lnTo>
                  <a:lnTo>
                    <a:pt x="453587" y="0"/>
                  </a:lnTo>
                  <a:lnTo>
                    <a:pt x="527161" y="1665"/>
                  </a:lnTo>
                  <a:lnTo>
                    <a:pt x="596956" y="6487"/>
                  </a:lnTo>
                  <a:lnTo>
                    <a:pt x="662037" y="14203"/>
                  </a:lnTo>
                  <a:lnTo>
                    <a:pt x="721470" y="24551"/>
                  </a:lnTo>
                  <a:lnTo>
                    <a:pt x="774322" y="37270"/>
                  </a:lnTo>
                  <a:lnTo>
                    <a:pt x="819658" y="52097"/>
                  </a:lnTo>
                  <a:lnTo>
                    <a:pt x="856546" y="68771"/>
                  </a:lnTo>
                  <a:lnTo>
                    <a:pt x="901238" y="106609"/>
                  </a:lnTo>
                  <a:lnTo>
                    <a:pt x="907174" y="127249"/>
                  </a:lnTo>
                  <a:lnTo>
                    <a:pt x="907174" y="636249"/>
                  </a:lnTo>
                  <a:lnTo>
                    <a:pt x="884050" y="676470"/>
                  </a:lnTo>
                  <a:lnTo>
                    <a:pt x="819658" y="711402"/>
                  </a:lnTo>
                  <a:lnTo>
                    <a:pt x="774322" y="726229"/>
                  </a:lnTo>
                  <a:lnTo>
                    <a:pt x="721470" y="738948"/>
                  </a:lnTo>
                  <a:lnTo>
                    <a:pt x="662037" y="749296"/>
                  </a:lnTo>
                  <a:lnTo>
                    <a:pt x="596956" y="757012"/>
                  </a:lnTo>
                  <a:lnTo>
                    <a:pt x="527161" y="761834"/>
                  </a:lnTo>
                  <a:lnTo>
                    <a:pt x="453587" y="763499"/>
                  </a:lnTo>
                  <a:lnTo>
                    <a:pt x="380013" y="761834"/>
                  </a:lnTo>
                  <a:lnTo>
                    <a:pt x="310218" y="757012"/>
                  </a:lnTo>
                  <a:lnTo>
                    <a:pt x="245137" y="749296"/>
                  </a:lnTo>
                  <a:lnTo>
                    <a:pt x="185704" y="738948"/>
                  </a:lnTo>
                  <a:lnTo>
                    <a:pt x="132852" y="726229"/>
                  </a:lnTo>
                  <a:lnTo>
                    <a:pt x="87516" y="711402"/>
                  </a:lnTo>
                  <a:lnTo>
                    <a:pt x="50628" y="694728"/>
                  </a:lnTo>
                  <a:lnTo>
                    <a:pt x="5936" y="656890"/>
                  </a:lnTo>
                  <a:lnTo>
                    <a:pt x="0" y="636249"/>
                  </a:lnTo>
                  <a:lnTo>
                    <a:pt x="0" y="127249"/>
                  </a:lnTo>
                  <a:close/>
                </a:path>
              </a:pathLst>
            </a:custGeom>
            <a:ln w="380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7296106" y="3114825"/>
            <a:ext cx="70739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Microsoft Sans Serif"/>
                <a:cs typeface="Microsoft Sans Serif"/>
              </a:rPr>
              <a:t>Big</a:t>
            </a:r>
            <a:r>
              <a:rPr dirty="0" sz="1400" spc="-20">
                <a:latin typeface="Microsoft Sans Serif"/>
                <a:cs typeface="Microsoft Sans Serif"/>
              </a:rPr>
              <a:t> Data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8958199" y="2915687"/>
            <a:ext cx="2470785" cy="520700"/>
            <a:chOff x="8958199" y="2915687"/>
            <a:chExt cx="2470785" cy="520700"/>
          </a:xfrm>
        </p:grpSpPr>
        <p:sp>
          <p:nvSpPr>
            <p:cNvPr id="14" name="object 14" descr=""/>
            <p:cNvSpPr/>
            <p:nvPr/>
          </p:nvSpPr>
          <p:spPr>
            <a:xfrm>
              <a:off x="8977249" y="2934737"/>
              <a:ext cx="2432685" cy="482600"/>
            </a:xfrm>
            <a:custGeom>
              <a:avLst/>
              <a:gdLst/>
              <a:ahLst/>
              <a:cxnLst/>
              <a:rect l="l" t="t" r="r" b="b"/>
              <a:pathLst>
                <a:path w="2432684" h="482600">
                  <a:moveTo>
                    <a:pt x="1216049" y="482099"/>
                  </a:moveTo>
                  <a:lnTo>
                    <a:pt x="0" y="385679"/>
                  </a:lnTo>
                  <a:lnTo>
                    <a:pt x="0" y="0"/>
                  </a:lnTo>
                  <a:lnTo>
                    <a:pt x="2432099" y="0"/>
                  </a:lnTo>
                  <a:lnTo>
                    <a:pt x="2432099" y="385679"/>
                  </a:lnTo>
                  <a:lnTo>
                    <a:pt x="1216049" y="482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8977249" y="2934737"/>
              <a:ext cx="2432685" cy="482600"/>
            </a:xfrm>
            <a:custGeom>
              <a:avLst/>
              <a:gdLst/>
              <a:ahLst/>
              <a:cxnLst/>
              <a:rect l="l" t="t" r="r" b="b"/>
              <a:pathLst>
                <a:path w="2432684" h="482600">
                  <a:moveTo>
                    <a:pt x="0" y="0"/>
                  </a:moveTo>
                  <a:lnTo>
                    <a:pt x="2432099" y="0"/>
                  </a:lnTo>
                  <a:lnTo>
                    <a:pt x="2432099" y="385679"/>
                  </a:lnTo>
                  <a:lnTo>
                    <a:pt x="1216049" y="482099"/>
                  </a:lnTo>
                  <a:lnTo>
                    <a:pt x="0" y="38567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9813616" y="3002990"/>
            <a:ext cx="75946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Microsoft Sans Serif"/>
                <a:cs typeface="Microsoft Sans Serif"/>
              </a:rPr>
              <a:t>Pre-Train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958199" y="3841624"/>
            <a:ext cx="2470785" cy="520700"/>
            <a:chOff x="8958199" y="3841624"/>
            <a:chExt cx="2470785" cy="520700"/>
          </a:xfrm>
        </p:grpSpPr>
        <p:sp>
          <p:nvSpPr>
            <p:cNvPr id="18" name="object 18" descr=""/>
            <p:cNvSpPr/>
            <p:nvPr/>
          </p:nvSpPr>
          <p:spPr>
            <a:xfrm>
              <a:off x="8977249" y="3860674"/>
              <a:ext cx="2432685" cy="482600"/>
            </a:xfrm>
            <a:custGeom>
              <a:avLst/>
              <a:gdLst/>
              <a:ahLst/>
              <a:cxnLst/>
              <a:rect l="l" t="t" r="r" b="b"/>
              <a:pathLst>
                <a:path w="2432684" h="482600">
                  <a:moveTo>
                    <a:pt x="1216049" y="482099"/>
                  </a:moveTo>
                  <a:lnTo>
                    <a:pt x="0" y="385679"/>
                  </a:lnTo>
                  <a:lnTo>
                    <a:pt x="0" y="0"/>
                  </a:lnTo>
                  <a:lnTo>
                    <a:pt x="2432099" y="0"/>
                  </a:lnTo>
                  <a:lnTo>
                    <a:pt x="2432099" y="385679"/>
                  </a:lnTo>
                  <a:lnTo>
                    <a:pt x="1216049" y="482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8977249" y="3860674"/>
              <a:ext cx="2432685" cy="482600"/>
            </a:xfrm>
            <a:custGeom>
              <a:avLst/>
              <a:gdLst/>
              <a:ahLst/>
              <a:cxnLst/>
              <a:rect l="l" t="t" r="r" b="b"/>
              <a:pathLst>
                <a:path w="2432684" h="482600">
                  <a:moveTo>
                    <a:pt x="0" y="0"/>
                  </a:moveTo>
                  <a:lnTo>
                    <a:pt x="2432099" y="0"/>
                  </a:lnTo>
                  <a:lnTo>
                    <a:pt x="2432099" y="385679"/>
                  </a:lnTo>
                  <a:lnTo>
                    <a:pt x="1216049" y="482099"/>
                  </a:lnTo>
                  <a:lnTo>
                    <a:pt x="0" y="38567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9785501" y="3928928"/>
            <a:ext cx="8147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Microsoft Sans Serif"/>
                <a:cs typeface="Microsoft Sans Serif"/>
              </a:rPr>
              <a:t>Alignment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8958199" y="4767587"/>
            <a:ext cx="2470785" cy="520700"/>
            <a:chOff x="8958199" y="4767587"/>
            <a:chExt cx="2470785" cy="520700"/>
          </a:xfrm>
        </p:grpSpPr>
        <p:sp>
          <p:nvSpPr>
            <p:cNvPr id="22" name="object 22" descr=""/>
            <p:cNvSpPr/>
            <p:nvPr/>
          </p:nvSpPr>
          <p:spPr>
            <a:xfrm>
              <a:off x="8977249" y="4786637"/>
              <a:ext cx="2432685" cy="482600"/>
            </a:xfrm>
            <a:custGeom>
              <a:avLst/>
              <a:gdLst/>
              <a:ahLst/>
              <a:cxnLst/>
              <a:rect l="l" t="t" r="r" b="b"/>
              <a:pathLst>
                <a:path w="2432684" h="482600">
                  <a:moveTo>
                    <a:pt x="1216049" y="482099"/>
                  </a:moveTo>
                  <a:lnTo>
                    <a:pt x="0" y="385679"/>
                  </a:lnTo>
                  <a:lnTo>
                    <a:pt x="0" y="0"/>
                  </a:lnTo>
                  <a:lnTo>
                    <a:pt x="2432099" y="0"/>
                  </a:lnTo>
                  <a:lnTo>
                    <a:pt x="2432099" y="385679"/>
                  </a:lnTo>
                  <a:lnTo>
                    <a:pt x="1216049" y="4820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977249" y="4786637"/>
              <a:ext cx="2432685" cy="482600"/>
            </a:xfrm>
            <a:custGeom>
              <a:avLst/>
              <a:gdLst/>
              <a:ahLst/>
              <a:cxnLst/>
              <a:rect l="l" t="t" r="r" b="b"/>
              <a:pathLst>
                <a:path w="2432684" h="482600">
                  <a:moveTo>
                    <a:pt x="0" y="0"/>
                  </a:moveTo>
                  <a:lnTo>
                    <a:pt x="2432099" y="0"/>
                  </a:lnTo>
                  <a:lnTo>
                    <a:pt x="2432099" y="385679"/>
                  </a:lnTo>
                  <a:lnTo>
                    <a:pt x="1216049" y="482099"/>
                  </a:lnTo>
                  <a:lnTo>
                    <a:pt x="0" y="385679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9709798" y="4854890"/>
            <a:ext cx="96710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latin typeface="Microsoft Sans Serif"/>
                <a:cs typeface="Microsoft Sans Serif"/>
              </a:rPr>
              <a:t>Fine-Tuning</a:t>
            </a:r>
            <a:endParaRPr sz="1400">
              <a:latin typeface="Microsoft Sans Serif"/>
              <a:cs typeface="Microsoft Sans Serif"/>
            </a:endParaRPr>
          </a:p>
        </p:txBody>
      </p:sp>
      <p:grpSp>
        <p:nvGrpSpPr>
          <p:cNvPr id="25" name="object 25" descr=""/>
          <p:cNvGrpSpPr/>
          <p:nvPr/>
        </p:nvGrpSpPr>
        <p:grpSpPr>
          <a:xfrm>
            <a:off x="7176950" y="3700937"/>
            <a:ext cx="945515" cy="802005"/>
            <a:chOff x="7176950" y="3700937"/>
            <a:chExt cx="945515" cy="802005"/>
          </a:xfrm>
        </p:grpSpPr>
        <p:sp>
          <p:nvSpPr>
            <p:cNvPr id="26" name="object 26" descr=""/>
            <p:cNvSpPr/>
            <p:nvPr/>
          </p:nvSpPr>
          <p:spPr>
            <a:xfrm>
              <a:off x="7196000" y="3719987"/>
              <a:ext cx="907415" cy="763905"/>
            </a:xfrm>
            <a:custGeom>
              <a:avLst/>
              <a:gdLst/>
              <a:ahLst/>
              <a:cxnLst/>
              <a:rect l="l" t="t" r="r" b="b"/>
              <a:pathLst>
                <a:path w="907415" h="763904">
                  <a:moveTo>
                    <a:pt x="453587" y="763499"/>
                  </a:moveTo>
                  <a:lnTo>
                    <a:pt x="380013" y="761834"/>
                  </a:lnTo>
                  <a:lnTo>
                    <a:pt x="310218" y="757012"/>
                  </a:lnTo>
                  <a:lnTo>
                    <a:pt x="245137" y="749296"/>
                  </a:lnTo>
                  <a:lnTo>
                    <a:pt x="185704" y="738948"/>
                  </a:lnTo>
                  <a:lnTo>
                    <a:pt x="132852" y="726229"/>
                  </a:lnTo>
                  <a:lnTo>
                    <a:pt x="87516" y="711402"/>
                  </a:lnTo>
                  <a:lnTo>
                    <a:pt x="50628" y="694728"/>
                  </a:lnTo>
                  <a:lnTo>
                    <a:pt x="5936" y="656890"/>
                  </a:lnTo>
                  <a:lnTo>
                    <a:pt x="0" y="636249"/>
                  </a:lnTo>
                  <a:lnTo>
                    <a:pt x="0" y="127249"/>
                  </a:lnTo>
                  <a:lnTo>
                    <a:pt x="23124" y="87029"/>
                  </a:lnTo>
                  <a:lnTo>
                    <a:pt x="87516" y="52097"/>
                  </a:lnTo>
                  <a:lnTo>
                    <a:pt x="132852" y="37270"/>
                  </a:lnTo>
                  <a:lnTo>
                    <a:pt x="185704" y="24551"/>
                  </a:lnTo>
                  <a:lnTo>
                    <a:pt x="245137" y="14203"/>
                  </a:lnTo>
                  <a:lnTo>
                    <a:pt x="310218" y="6487"/>
                  </a:lnTo>
                  <a:lnTo>
                    <a:pt x="380013" y="1665"/>
                  </a:lnTo>
                  <a:lnTo>
                    <a:pt x="453587" y="0"/>
                  </a:lnTo>
                  <a:lnTo>
                    <a:pt x="527161" y="1665"/>
                  </a:lnTo>
                  <a:lnTo>
                    <a:pt x="596956" y="6487"/>
                  </a:lnTo>
                  <a:lnTo>
                    <a:pt x="662037" y="14203"/>
                  </a:lnTo>
                  <a:lnTo>
                    <a:pt x="721470" y="24551"/>
                  </a:lnTo>
                  <a:lnTo>
                    <a:pt x="774322" y="37270"/>
                  </a:lnTo>
                  <a:lnTo>
                    <a:pt x="819658" y="52097"/>
                  </a:lnTo>
                  <a:lnTo>
                    <a:pt x="856546" y="68771"/>
                  </a:lnTo>
                  <a:lnTo>
                    <a:pt x="901238" y="106609"/>
                  </a:lnTo>
                  <a:lnTo>
                    <a:pt x="907174" y="127249"/>
                  </a:lnTo>
                  <a:lnTo>
                    <a:pt x="907174" y="636249"/>
                  </a:lnTo>
                  <a:lnTo>
                    <a:pt x="884050" y="676470"/>
                  </a:lnTo>
                  <a:lnTo>
                    <a:pt x="819658" y="711402"/>
                  </a:lnTo>
                  <a:lnTo>
                    <a:pt x="774322" y="726229"/>
                  </a:lnTo>
                  <a:lnTo>
                    <a:pt x="721470" y="738948"/>
                  </a:lnTo>
                  <a:lnTo>
                    <a:pt x="662037" y="749296"/>
                  </a:lnTo>
                  <a:lnTo>
                    <a:pt x="596956" y="757012"/>
                  </a:lnTo>
                  <a:lnTo>
                    <a:pt x="527161" y="761834"/>
                  </a:lnTo>
                  <a:lnTo>
                    <a:pt x="453587" y="7634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196000" y="3719987"/>
              <a:ext cx="907415" cy="763905"/>
            </a:xfrm>
            <a:custGeom>
              <a:avLst/>
              <a:gdLst/>
              <a:ahLst/>
              <a:cxnLst/>
              <a:rect l="l" t="t" r="r" b="b"/>
              <a:pathLst>
                <a:path w="907415" h="763904">
                  <a:moveTo>
                    <a:pt x="907174" y="127249"/>
                  </a:moveTo>
                  <a:lnTo>
                    <a:pt x="901238" y="147890"/>
                  </a:lnTo>
                  <a:lnTo>
                    <a:pt x="884050" y="167470"/>
                  </a:lnTo>
                  <a:lnTo>
                    <a:pt x="819658" y="202402"/>
                  </a:lnTo>
                  <a:lnTo>
                    <a:pt x="774322" y="217229"/>
                  </a:lnTo>
                  <a:lnTo>
                    <a:pt x="721470" y="229948"/>
                  </a:lnTo>
                  <a:lnTo>
                    <a:pt x="662037" y="240296"/>
                  </a:lnTo>
                  <a:lnTo>
                    <a:pt x="596956" y="248012"/>
                  </a:lnTo>
                  <a:lnTo>
                    <a:pt x="527161" y="252834"/>
                  </a:lnTo>
                  <a:lnTo>
                    <a:pt x="453587" y="254499"/>
                  </a:lnTo>
                  <a:lnTo>
                    <a:pt x="380013" y="252834"/>
                  </a:lnTo>
                  <a:lnTo>
                    <a:pt x="310218" y="248012"/>
                  </a:lnTo>
                  <a:lnTo>
                    <a:pt x="245137" y="240296"/>
                  </a:lnTo>
                  <a:lnTo>
                    <a:pt x="185704" y="229948"/>
                  </a:lnTo>
                  <a:lnTo>
                    <a:pt x="132852" y="217229"/>
                  </a:lnTo>
                  <a:lnTo>
                    <a:pt x="87516" y="202402"/>
                  </a:lnTo>
                  <a:lnTo>
                    <a:pt x="50628" y="185728"/>
                  </a:lnTo>
                  <a:lnTo>
                    <a:pt x="5936" y="147890"/>
                  </a:lnTo>
                  <a:lnTo>
                    <a:pt x="0" y="127249"/>
                  </a:lnTo>
                </a:path>
                <a:path w="907415" h="763904">
                  <a:moveTo>
                    <a:pt x="0" y="127249"/>
                  </a:moveTo>
                  <a:lnTo>
                    <a:pt x="5936" y="106609"/>
                  </a:lnTo>
                  <a:lnTo>
                    <a:pt x="23124" y="87029"/>
                  </a:lnTo>
                  <a:lnTo>
                    <a:pt x="87516" y="52097"/>
                  </a:lnTo>
                  <a:lnTo>
                    <a:pt x="132852" y="37270"/>
                  </a:lnTo>
                  <a:lnTo>
                    <a:pt x="185704" y="24551"/>
                  </a:lnTo>
                  <a:lnTo>
                    <a:pt x="245137" y="14203"/>
                  </a:lnTo>
                  <a:lnTo>
                    <a:pt x="310218" y="6487"/>
                  </a:lnTo>
                  <a:lnTo>
                    <a:pt x="380013" y="1665"/>
                  </a:lnTo>
                  <a:lnTo>
                    <a:pt x="453587" y="0"/>
                  </a:lnTo>
                  <a:lnTo>
                    <a:pt x="527161" y="1665"/>
                  </a:lnTo>
                  <a:lnTo>
                    <a:pt x="596956" y="6487"/>
                  </a:lnTo>
                  <a:lnTo>
                    <a:pt x="662037" y="14203"/>
                  </a:lnTo>
                  <a:lnTo>
                    <a:pt x="721470" y="24551"/>
                  </a:lnTo>
                  <a:lnTo>
                    <a:pt x="774322" y="37270"/>
                  </a:lnTo>
                  <a:lnTo>
                    <a:pt x="819658" y="52097"/>
                  </a:lnTo>
                  <a:lnTo>
                    <a:pt x="856546" y="68771"/>
                  </a:lnTo>
                  <a:lnTo>
                    <a:pt x="901238" y="106609"/>
                  </a:lnTo>
                  <a:lnTo>
                    <a:pt x="907174" y="127249"/>
                  </a:lnTo>
                  <a:lnTo>
                    <a:pt x="907174" y="636249"/>
                  </a:lnTo>
                  <a:lnTo>
                    <a:pt x="884050" y="676470"/>
                  </a:lnTo>
                  <a:lnTo>
                    <a:pt x="819658" y="711402"/>
                  </a:lnTo>
                  <a:lnTo>
                    <a:pt x="774322" y="726229"/>
                  </a:lnTo>
                  <a:lnTo>
                    <a:pt x="721470" y="738948"/>
                  </a:lnTo>
                  <a:lnTo>
                    <a:pt x="662037" y="749296"/>
                  </a:lnTo>
                  <a:lnTo>
                    <a:pt x="596956" y="757012"/>
                  </a:lnTo>
                  <a:lnTo>
                    <a:pt x="527161" y="761834"/>
                  </a:lnTo>
                  <a:lnTo>
                    <a:pt x="453587" y="763499"/>
                  </a:lnTo>
                  <a:lnTo>
                    <a:pt x="380013" y="761834"/>
                  </a:lnTo>
                  <a:lnTo>
                    <a:pt x="310218" y="757012"/>
                  </a:lnTo>
                  <a:lnTo>
                    <a:pt x="245137" y="749296"/>
                  </a:lnTo>
                  <a:lnTo>
                    <a:pt x="185704" y="738948"/>
                  </a:lnTo>
                  <a:lnTo>
                    <a:pt x="132852" y="726229"/>
                  </a:lnTo>
                  <a:lnTo>
                    <a:pt x="87516" y="711402"/>
                  </a:lnTo>
                  <a:lnTo>
                    <a:pt x="50628" y="694728"/>
                  </a:lnTo>
                  <a:lnTo>
                    <a:pt x="5936" y="656890"/>
                  </a:lnTo>
                  <a:lnTo>
                    <a:pt x="0" y="636249"/>
                  </a:lnTo>
                  <a:lnTo>
                    <a:pt x="0" y="127249"/>
                  </a:lnTo>
                  <a:close/>
                </a:path>
              </a:pathLst>
            </a:custGeom>
            <a:ln w="38099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7340488" y="3936000"/>
            <a:ext cx="618490" cy="448309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121285" marR="5080" indent="-109220">
              <a:lnSpc>
                <a:spcPts val="1650"/>
              </a:lnSpc>
              <a:spcBef>
                <a:spcPts val="180"/>
              </a:spcBef>
            </a:pPr>
            <a:r>
              <a:rPr dirty="0" sz="1400" spc="-10">
                <a:latin typeface="Microsoft Sans Serif"/>
                <a:cs typeface="Microsoft Sans Serif"/>
              </a:rPr>
              <a:t>Aligned </a:t>
            </a:r>
            <a:r>
              <a:rPr dirty="0" sz="1400" spc="-20">
                <a:latin typeface="Microsoft Sans Serif"/>
                <a:cs typeface="Microsoft Sans Serif"/>
              </a:rPr>
              <a:t>Data</a:t>
            </a:r>
            <a:endParaRPr sz="1400">
              <a:latin typeface="Microsoft Sans Serif"/>
              <a:cs typeface="Microsoft Sans Serif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6955737" y="4645937"/>
            <a:ext cx="1388110" cy="763905"/>
          </a:xfrm>
          <a:prstGeom prst="rect">
            <a:avLst/>
          </a:prstGeom>
          <a:solidFill>
            <a:srgbClr val="EEEEEE"/>
          </a:solidFill>
          <a:ln w="38099">
            <a:solidFill>
              <a:srgbClr val="434343"/>
            </a:solidFill>
          </a:ln>
        </p:spPr>
        <p:txBody>
          <a:bodyPr wrap="square" lIns="0" tIns="6540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15"/>
              </a:spcBef>
            </a:pPr>
            <a:endParaRPr sz="1400">
              <a:latin typeface="Times New Roman"/>
              <a:cs typeface="Times New Roman"/>
            </a:endParaRPr>
          </a:p>
          <a:p>
            <a:pPr marL="179705">
              <a:lnSpc>
                <a:spcPct val="100000"/>
              </a:lnSpc>
            </a:pPr>
            <a:r>
              <a:rPr dirty="0" sz="1400" spc="-20">
                <a:latin typeface="Microsoft Sans Serif"/>
                <a:cs typeface="Microsoft Sans Serif"/>
              </a:rPr>
              <a:t>Task</a:t>
            </a:r>
            <a:r>
              <a:rPr dirty="0" sz="1400" spc="-65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Dataset</a:t>
            </a:r>
            <a:endParaRPr sz="1400">
              <a:latin typeface="Microsoft Sans Serif"/>
              <a:cs typeface="Microsoft Sans Serif"/>
            </a:endParaRPr>
          </a:p>
        </p:txBody>
      </p:sp>
      <p:graphicFrame>
        <p:nvGraphicFramePr>
          <p:cNvPr id="30" name="object 30" descr=""/>
          <p:cNvGraphicFramePr>
            <a:graphicFrameLocks noGrp="1"/>
          </p:cNvGraphicFramePr>
          <p:nvPr/>
        </p:nvGraphicFramePr>
        <p:xfrm>
          <a:off x="9480399" y="1900087"/>
          <a:ext cx="1502410" cy="715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"/>
                <a:gridCol w="1040765"/>
                <a:gridCol w="173355"/>
              </a:tblGrid>
              <a:tr h="715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34343"/>
                      </a:solidFill>
                      <a:prstDash val="solid"/>
                    </a:lnL>
                    <a:lnR w="38100">
                      <a:solidFill>
                        <a:srgbClr val="434343"/>
                      </a:solidFill>
                      <a:prstDash val="solid"/>
                    </a:lnR>
                    <a:lnT w="38100">
                      <a:solidFill>
                        <a:srgbClr val="434343"/>
                      </a:solidFill>
                      <a:prstDash val="solid"/>
                    </a:lnT>
                    <a:lnB w="38100">
                      <a:solidFill>
                        <a:srgbClr val="434343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278130" marR="260350" indent="-10160">
                        <a:lnSpc>
                          <a:spcPts val="1650"/>
                        </a:lnSpc>
                        <a:spcBef>
                          <a:spcPts val="1190"/>
                        </a:spcBef>
                      </a:pP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Empty Model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1130">
                    <a:lnL w="38100">
                      <a:solidFill>
                        <a:srgbClr val="434343"/>
                      </a:solidFill>
                      <a:prstDash val="solid"/>
                    </a:lnL>
                    <a:lnR w="38100">
                      <a:solidFill>
                        <a:srgbClr val="434343"/>
                      </a:solidFill>
                      <a:prstDash val="solid"/>
                    </a:lnR>
                    <a:lnT w="38100">
                      <a:solidFill>
                        <a:srgbClr val="434343"/>
                      </a:solidFill>
                      <a:prstDash val="solid"/>
                    </a:lnT>
                    <a:lnB w="38100">
                      <a:solidFill>
                        <a:srgbClr val="434343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34343"/>
                      </a:solidFill>
                      <a:prstDash val="solid"/>
                    </a:lnL>
                    <a:lnR w="38100">
                      <a:solidFill>
                        <a:srgbClr val="434343"/>
                      </a:solidFill>
                      <a:prstDash val="solid"/>
                    </a:lnR>
                    <a:lnT w="38100">
                      <a:solidFill>
                        <a:srgbClr val="434343"/>
                      </a:solidFill>
                      <a:prstDash val="solid"/>
                    </a:lnT>
                    <a:lnB w="38100">
                      <a:solidFill>
                        <a:srgbClr val="434343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" name="object 31" descr=""/>
          <p:cNvGraphicFramePr>
            <a:graphicFrameLocks noGrp="1"/>
          </p:cNvGraphicFramePr>
          <p:nvPr/>
        </p:nvGraphicFramePr>
        <p:xfrm>
          <a:off x="9480399" y="5501787"/>
          <a:ext cx="1502410" cy="715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3355"/>
                <a:gridCol w="1040765"/>
                <a:gridCol w="173355"/>
              </a:tblGrid>
              <a:tr h="715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34343"/>
                      </a:solidFill>
                      <a:prstDash val="solid"/>
                    </a:lnL>
                    <a:lnR w="38100">
                      <a:solidFill>
                        <a:srgbClr val="434343"/>
                      </a:solidFill>
                      <a:prstDash val="solid"/>
                    </a:lnR>
                    <a:lnT w="38100">
                      <a:solidFill>
                        <a:srgbClr val="434343"/>
                      </a:solidFill>
                      <a:prstDash val="solid"/>
                    </a:lnT>
                    <a:lnB w="38100">
                      <a:solidFill>
                        <a:srgbClr val="434343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marL="278130" marR="263525" indent="-6985">
                        <a:lnSpc>
                          <a:spcPts val="1650"/>
                        </a:lnSpc>
                        <a:spcBef>
                          <a:spcPts val="1190"/>
                        </a:spcBef>
                      </a:pPr>
                      <a:r>
                        <a:rPr dirty="0" sz="1400" spc="-20">
                          <a:latin typeface="Microsoft Sans Serif"/>
                          <a:cs typeface="Microsoft Sans Serif"/>
                        </a:rPr>
                        <a:t>Tuned </a:t>
                      </a:r>
                      <a:r>
                        <a:rPr dirty="0" sz="1400" spc="-10">
                          <a:latin typeface="Microsoft Sans Serif"/>
                          <a:cs typeface="Microsoft Sans Serif"/>
                        </a:rPr>
                        <a:t>Model</a:t>
                      </a:r>
                      <a:endParaRPr sz="1400">
                        <a:latin typeface="Microsoft Sans Serif"/>
                        <a:cs typeface="Microsoft Sans Serif"/>
                      </a:endParaRPr>
                    </a:p>
                  </a:txBody>
                  <a:tcPr marL="0" marR="0" marB="0" marT="151130">
                    <a:lnL w="38100">
                      <a:solidFill>
                        <a:srgbClr val="434343"/>
                      </a:solidFill>
                      <a:prstDash val="solid"/>
                    </a:lnL>
                    <a:lnR w="38100">
                      <a:solidFill>
                        <a:srgbClr val="434343"/>
                      </a:solidFill>
                      <a:prstDash val="solid"/>
                    </a:lnR>
                    <a:lnT w="38100">
                      <a:solidFill>
                        <a:srgbClr val="434343"/>
                      </a:solidFill>
                      <a:prstDash val="solid"/>
                    </a:lnT>
                    <a:lnB w="38100">
                      <a:solidFill>
                        <a:srgbClr val="434343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8100">
                      <a:solidFill>
                        <a:srgbClr val="434343"/>
                      </a:solidFill>
                      <a:prstDash val="solid"/>
                    </a:lnL>
                    <a:lnR w="38100">
                      <a:solidFill>
                        <a:srgbClr val="434343"/>
                      </a:solidFill>
                      <a:prstDash val="solid"/>
                    </a:lnR>
                    <a:lnT w="38100">
                      <a:solidFill>
                        <a:srgbClr val="434343"/>
                      </a:solidFill>
                      <a:prstDash val="solid"/>
                    </a:lnT>
                    <a:lnB w="38100">
                      <a:solidFill>
                        <a:srgbClr val="434343"/>
                      </a:solidFill>
                      <a:prstDash val="solid"/>
                    </a:lnB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pSp>
        <p:nvGrpSpPr>
          <p:cNvPr id="32" name="object 32" descr=""/>
          <p:cNvGrpSpPr/>
          <p:nvPr/>
        </p:nvGrpSpPr>
        <p:grpSpPr>
          <a:xfrm>
            <a:off x="8367812" y="3994312"/>
            <a:ext cx="344805" cy="215265"/>
            <a:chOff x="8367812" y="3994312"/>
            <a:chExt cx="344805" cy="215265"/>
          </a:xfrm>
        </p:grpSpPr>
        <p:sp>
          <p:nvSpPr>
            <p:cNvPr id="33" name="object 33" descr=""/>
            <p:cNvSpPr/>
            <p:nvPr/>
          </p:nvSpPr>
          <p:spPr>
            <a:xfrm>
              <a:off x="8382099" y="4008599"/>
              <a:ext cx="316230" cy="186690"/>
            </a:xfrm>
            <a:custGeom>
              <a:avLst/>
              <a:gdLst/>
              <a:ahLst/>
              <a:cxnLst/>
              <a:rect l="l" t="t" r="r" b="b"/>
              <a:pathLst>
                <a:path w="316229" h="186689">
                  <a:moveTo>
                    <a:pt x="175262" y="186299"/>
                  </a:moveTo>
                  <a:lnTo>
                    <a:pt x="175262" y="139724"/>
                  </a:lnTo>
                  <a:lnTo>
                    <a:pt x="0" y="139724"/>
                  </a:lnTo>
                  <a:lnTo>
                    <a:pt x="0" y="46574"/>
                  </a:lnTo>
                  <a:lnTo>
                    <a:pt x="175262" y="46574"/>
                  </a:lnTo>
                  <a:lnTo>
                    <a:pt x="175262" y="0"/>
                  </a:lnTo>
                  <a:lnTo>
                    <a:pt x="316199" y="93149"/>
                  </a:lnTo>
                  <a:lnTo>
                    <a:pt x="175262" y="186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8382099" y="4008599"/>
              <a:ext cx="316230" cy="186690"/>
            </a:xfrm>
            <a:custGeom>
              <a:avLst/>
              <a:gdLst/>
              <a:ahLst/>
              <a:cxnLst/>
              <a:rect l="l" t="t" r="r" b="b"/>
              <a:pathLst>
                <a:path w="316229" h="186689">
                  <a:moveTo>
                    <a:pt x="0" y="46574"/>
                  </a:moveTo>
                  <a:lnTo>
                    <a:pt x="175262" y="46574"/>
                  </a:lnTo>
                  <a:lnTo>
                    <a:pt x="175262" y="0"/>
                  </a:lnTo>
                  <a:lnTo>
                    <a:pt x="316199" y="93149"/>
                  </a:lnTo>
                  <a:lnTo>
                    <a:pt x="175262" y="186299"/>
                  </a:lnTo>
                  <a:lnTo>
                    <a:pt x="175262" y="139724"/>
                  </a:lnTo>
                  <a:lnTo>
                    <a:pt x="0" y="139724"/>
                  </a:lnTo>
                  <a:lnTo>
                    <a:pt x="0" y="46574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5" name="object 35" descr=""/>
          <p:cNvGrpSpPr/>
          <p:nvPr/>
        </p:nvGrpSpPr>
        <p:grpSpPr>
          <a:xfrm>
            <a:off x="8367812" y="3068362"/>
            <a:ext cx="344805" cy="215265"/>
            <a:chOff x="8367812" y="3068362"/>
            <a:chExt cx="344805" cy="215265"/>
          </a:xfrm>
        </p:grpSpPr>
        <p:sp>
          <p:nvSpPr>
            <p:cNvPr id="36" name="object 36" descr=""/>
            <p:cNvSpPr/>
            <p:nvPr/>
          </p:nvSpPr>
          <p:spPr>
            <a:xfrm>
              <a:off x="8382099" y="3082650"/>
              <a:ext cx="316230" cy="186690"/>
            </a:xfrm>
            <a:custGeom>
              <a:avLst/>
              <a:gdLst/>
              <a:ahLst/>
              <a:cxnLst/>
              <a:rect l="l" t="t" r="r" b="b"/>
              <a:pathLst>
                <a:path w="316229" h="186689">
                  <a:moveTo>
                    <a:pt x="175262" y="186299"/>
                  </a:moveTo>
                  <a:lnTo>
                    <a:pt x="175262" y="139724"/>
                  </a:lnTo>
                  <a:lnTo>
                    <a:pt x="0" y="139724"/>
                  </a:lnTo>
                  <a:lnTo>
                    <a:pt x="0" y="46574"/>
                  </a:lnTo>
                  <a:lnTo>
                    <a:pt x="175262" y="46574"/>
                  </a:lnTo>
                  <a:lnTo>
                    <a:pt x="175262" y="0"/>
                  </a:lnTo>
                  <a:lnTo>
                    <a:pt x="316199" y="93149"/>
                  </a:lnTo>
                  <a:lnTo>
                    <a:pt x="175262" y="186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8382099" y="3082650"/>
              <a:ext cx="316230" cy="186690"/>
            </a:xfrm>
            <a:custGeom>
              <a:avLst/>
              <a:gdLst/>
              <a:ahLst/>
              <a:cxnLst/>
              <a:rect l="l" t="t" r="r" b="b"/>
              <a:pathLst>
                <a:path w="316229" h="186689">
                  <a:moveTo>
                    <a:pt x="0" y="46574"/>
                  </a:moveTo>
                  <a:lnTo>
                    <a:pt x="175262" y="46574"/>
                  </a:lnTo>
                  <a:lnTo>
                    <a:pt x="175262" y="0"/>
                  </a:lnTo>
                  <a:lnTo>
                    <a:pt x="316199" y="93149"/>
                  </a:lnTo>
                  <a:lnTo>
                    <a:pt x="175262" y="186299"/>
                  </a:lnTo>
                  <a:lnTo>
                    <a:pt x="175262" y="139724"/>
                  </a:lnTo>
                  <a:lnTo>
                    <a:pt x="0" y="139724"/>
                  </a:lnTo>
                  <a:lnTo>
                    <a:pt x="0" y="46574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8" name="object 38" descr=""/>
          <p:cNvGrpSpPr/>
          <p:nvPr/>
        </p:nvGrpSpPr>
        <p:grpSpPr>
          <a:xfrm>
            <a:off x="8487950" y="4920262"/>
            <a:ext cx="344805" cy="215265"/>
            <a:chOff x="8487950" y="4920262"/>
            <a:chExt cx="344805" cy="215265"/>
          </a:xfrm>
        </p:grpSpPr>
        <p:sp>
          <p:nvSpPr>
            <p:cNvPr id="39" name="object 39" descr=""/>
            <p:cNvSpPr/>
            <p:nvPr/>
          </p:nvSpPr>
          <p:spPr>
            <a:xfrm>
              <a:off x="8502237" y="4934549"/>
              <a:ext cx="316230" cy="186690"/>
            </a:xfrm>
            <a:custGeom>
              <a:avLst/>
              <a:gdLst/>
              <a:ahLst/>
              <a:cxnLst/>
              <a:rect l="l" t="t" r="r" b="b"/>
              <a:pathLst>
                <a:path w="316229" h="186689">
                  <a:moveTo>
                    <a:pt x="175262" y="186299"/>
                  </a:moveTo>
                  <a:lnTo>
                    <a:pt x="175262" y="139724"/>
                  </a:lnTo>
                  <a:lnTo>
                    <a:pt x="0" y="139724"/>
                  </a:lnTo>
                  <a:lnTo>
                    <a:pt x="0" y="46574"/>
                  </a:lnTo>
                  <a:lnTo>
                    <a:pt x="175262" y="46574"/>
                  </a:lnTo>
                  <a:lnTo>
                    <a:pt x="175262" y="0"/>
                  </a:lnTo>
                  <a:lnTo>
                    <a:pt x="316199" y="93149"/>
                  </a:lnTo>
                  <a:lnTo>
                    <a:pt x="175262" y="1862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8502237" y="4934549"/>
              <a:ext cx="316230" cy="186690"/>
            </a:xfrm>
            <a:custGeom>
              <a:avLst/>
              <a:gdLst/>
              <a:ahLst/>
              <a:cxnLst/>
              <a:rect l="l" t="t" r="r" b="b"/>
              <a:pathLst>
                <a:path w="316229" h="186689">
                  <a:moveTo>
                    <a:pt x="0" y="46574"/>
                  </a:moveTo>
                  <a:lnTo>
                    <a:pt x="175262" y="46574"/>
                  </a:lnTo>
                  <a:lnTo>
                    <a:pt x="175262" y="0"/>
                  </a:lnTo>
                  <a:lnTo>
                    <a:pt x="316199" y="93149"/>
                  </a:lnTo>
                  <a:lnTo>
                    <a:pt x="175262" y="186299"/>
                  </a:lnTo>
                  <a:lnTo>
                    <a:pt x="175262" y="139724"/>
                  </a:lnTo>
                  <a:lnTo>
                    <a:pt x="0" y="139724"/>
                  </a:lnTo>
                  <a:lnTo>
                    <a:pt x="0" y="46574"/>
                  </a:lnTo>
                  <a:close/>
                </a:path>
              </a:pathLst>
            </a:custGeom>
            <a:ln w="2857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3299" y="1465205"/>
            <a:ext cx="10314940" cy="26377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Microsoft Sans Serif"/>
                <a:cs typeface="Microsoft Sans Serif"/>
              </a:rPr>
              <a:t>Процесс</a:t>
            </a:r>
            <a:r>
              <a:rPr dirty="0" sz="4000" spc="-114">
                <a:latin typeface="Microsoft Sans Serif"/>
                <a:cs typeface="Microsoft Sans Serif"/>
              </a:rPr>
              <a:t> </a:t>
            </a:r>
            <a:r>
              <a:rPr dirty="0" sz="4000" spc="-130">
                <a:latin typeface="Microsoft Sans Serif"/>
                <a:cs typeface="Microsoft Sans Serif"/>
              </a:rPr>
              <a:t>обучения</a:t>
            </a:r>
            <a:r>
              <a:rPr dirty="0" sz="4000" spc="-130">
                <a:latin typeface="Verdana"/>
                <a:cs typeface="Verdana"/>
              </a:rPr>
              <a:t>:</a:t>
            </a:r>
            <a:r>
              <a:rPr dirty="0" sz="4000" spc="-290">
                <a:latin typeface="Verdana"/>
                <a:cs typeface="Verdana"/>
              </a:rPr>
              <a:t> </a:t>
            </a:r>
            <a:r>
              <a:rPr dirty="0" sz="4000" spc="-114">
                <a:latin typeface="Verdana"/>
                <a:cs typeface="Verdana"/>
              </a:rPr>
              <a:t>pre-</a:t>
            </a:r>
            <a:r>
              <a:rPr dirty="0" sz="4000" spc="-10">
                <a:latin typeface="Verdana"/>
                <a:cs typeface="Verdana"/>
              </a:rPr>
              <a:t>train</a:t>
            </a:r>
            <a:endParaRPr sz="4000">
              <a:latin typeface="Verdana"/>
              <a:cs typeface="Verdana"/>
            </a:endParaRPr>
          </a:p>
          <a:p>
            <a:pPr marL="441325" marR="208279" indent="-344170">
              <a:lnSpc>
                <a:spcPct val="114999"/>
              </a:lnSpc>
              <a:spcBef>
                <a:spcPts val="2655"/>
              </a:spcBef>
              <a:buFont typeface="Tahoma"/>
              <a:buAutoNum type="arabicPeriod"/>
              <a:tabLst>
                <a:tab pos="441325" algn="l"/>
              </a:tabLst>
            </a:pP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Обычно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говорят</a:t>
            </a:r>
            <a:r>
              <a:rPr dirty="0" sz="1900" spc="-6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что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такие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обучаются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сырых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данных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однако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препроцессинг </a:t>
            </a:r>
            <a:r>
              <a:rPr dirty="0" sz="1900" spc="-45">
                <a:solidFill>
                  <a:srgbClr val="2A2A2A"/>
                </a:solidFill>
                <a:latin typeface="Microsoft Sans Serif"/>
                <a:cs typeface="Microsoft Sans Serif"/>
              </a:rPr>
              <a:t>все</a:t>
            </a:r>
            <a:r>
              <a:rPr dirty="0" sz="1900" spc="-45">
                <a:solidFill>
                  <a:srgbClr val="2A2A2A"/>
                </a:solidFill>
                <a:latin typeface="Tahoma"/>
                <a:cs typeface="Tahoma"/>
              </a:rPr>
              <a:t>-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таки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нужен</a:t>
            </a:r>
            <a:r>
              <a:rPr dirty="0" sz="1900" spc="-10">
                <a:solidFill>
                  <a:srgbClr val="2A2A2A"/>
                </a:solidFill>
                <a:latin typeface="Tahoma"/>
                <a:cs typeface="Tahoma"/>
              </a:rPr>
              <a:t>:</a:t>
            </a:r>
            <a:endParaRPr sz="1900">
              <a:latin typeface="Tahoma"/>
              <a:cs typeface="Tahoma"/>
            </a:endParaRPr>
          </a:p>
          <a:p>
            <a:pPr marL="440690" indent="-384175">
              <a:lnSpc>
                <a:spcPct val="100000"/>
              </a:lnSpc>
              <a:spcBef>
                <a:spcPts val="345"/>
              </a:spcBef>
              <a:buFont typeface="Tahoma"/>
              <a:buAutoNum type="arabicPeriod"/>
              <a:tabLst>
                <a:tab pos="440690" algn="l"/>
              </a:tabLst>
            </a:pP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Бывают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дубли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данных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которые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увеличивают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время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обучения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дают</a:t>
            </a:r>
            <a:r>
              <a:rPr dirty="0" sz="1900" spc="-7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информации</a:t>
            </a:r>
            <a:endParaRPr sz="1900">
              <a:latin typeface="Microsoft Sans Serif"/>
              <a:cs typeface="Microsoft Sans Serif"/>
            </a:endParaRPr>
          </a:p>
          <a:p>
            <a:pPr marL="440690" indent="-380365">
              <a:lnSpc>
                <a:spcPct val="100000"/>
              </a:lnSpc>
              <a:spcBef>
                <a:spcPts val="340"/>
              </a:spcBef>
              <a:buFont typeface="Tahoma"/>
              <a:buAutoNum type="arabicPeriod"/>
              <a:tabLst>
                <a:tab pos="440690" algn="l"/>
              </a:tabLst>
            </a:pP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Персональные</a:t>
            </a:r>
            <a:r>
              <a:rPr dirty="0" sz="1900" spc="-9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данные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лучше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не</a:t>
            </a:r>
            <a:r>
              <a:rPr dirty="0" sz="1900" spc="-9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включать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в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40">
                <a:solidFill>
                  <a:srgbClr val="2A2A2A"/>
                </a:solidFill>
                <a:latin typeface="Microsoft Sans Serif"/>
                <a:cs typeface="Microsoft Sans Serif"/>
              </a:rPr>
              <a:t>такие</a:t>
            </a:r>
            <a:r>
              <a:rPr dirty="0" sz="1900" spc="-8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endParaRPr sz="1900">
              <a:latin typeface="Microsoft Sans Serif"/>
              <a:cs typeface="Microsoft Sans Serif"/>
            </a:endParaRPr>
          </a:p>
          <a:p>
            <a:pPr marL="440690" indent="-394970">
              <a:lnSpc>
                <a:spcPct val="100000"/>
              </a:lnSpc>
              <a:spcBef>
                <a:spcPts val="345"/>
              </a:spcBef>
              <a:buFont typeface="Tahoma"/>
              <a:buAutoNum type="arabicPeriod"/>
              <a:tabLst>
                <a:tab pos="440690" algn="l"/>
              </a:tabLst>
            </a:pP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Предложения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на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других</a:t>
            </a:r>
            <a:r>
              <a:rPr dirty="0" sz="1900" spc="-8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языках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тоже</a:t>
            </a:r>
            <a:endParaRPr sz="19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301625" y="6523713"/>
            <a:ext cx="459168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5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-70">
                <a:latin typeface="Tahoma"/>
                <a:cs typeface="Tahoma"/>
              </a:rPr>
              <a:t>https://arxiv.org/pdf/2303.18223.pdf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7862" y="4215025"/>
            <a:ext cx="10528824" cy="2236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3299" y="1465205"/>
            <a:ext cx="10497185" cy="23050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>
                <a:latin typeface="Microsoft Sans Serif"/>
                <a:cs typeface="Microsoft Sans Serif"/>
              </a:rPr>
              <a:t>Параметры</a:t>
            </a:r>
            <a:r>
              <a:rPr dirty="0" sz="4000" spc="-185">
                <a:latin typeface="Microsoft Sans Serif"/>
                <a:cs typeface="Microsoft Sans Serif"/>
              </a:rPr>
              <a:t> </a:t>
            </a:r>
            <a:r>
              <a:rPr dirty="0" sz="4000" spc="-10">
                <a:latin typeface="Microsoft Sans Serif"/>
                <a:cs typeface="Microsoft Sans Serif"/>
              </a:rPr>
              <a:t>обучения</a:t>
            </a:r>
            <a:endParaRPr sz="4000">
              <a:latin typeface="Microsoft Sans Serif"/>
              <a:cs typeface="Microsoft Sans Serif"/>
            </a:endParaRPr>
          </a:p>
          <a:p>
            <a:pPr marL="441325" marR="5080" indent="-344170">
              <a:lnSpc>
                <a:spcPct val="114999"/>
              </a:lnSpc>
              <a:spcBef>
                <a:spcPts val="2655"/>
              </a:spcBef>
              <a:buFont typeface="Tahoma"/>
              <a:buAutoNum type="arabicPeriod"/>
              <a:tabLst>
                <a:tab pos="441325" algn="l"/>
              </a:tabLst>
            </a:pP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Обучение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обычно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существенно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зависит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от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трех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параметров</a:t>
            </a:r>
            <a:r>
              <a:rPr dirty="0" sz="1900" spc="-65">
                <a:solidFill>
                  <a:srgbClr val="2A2A2A"/>
                </a:solidFill>
                <a:latin typeface="Tahoma"/>
                <a:cs typeface="Tahoma"/>
              </a:rPr>
              <a:t>:</a:t>
            </a:r>
            <a:r>
              <a:rPr dirty="0" sz="1900" spc="-15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30">
                <a:solidFill>
                  <a:srgbClr val="2A2A2A"/>
                </a:solidFill>
                <a:latin typeface="Microsoft Sans Serif"/>
                <a:cs typeface="Microsoft Sans Serif"/>
              </a:rPr>
              <a:t>количества</a:t>
            </a:r>
            <a:r>
              <a:rPr dirty="0" sz="1900" spc="-6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итераций 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обучения</a:t>
            </a:r>
            <a:r>
              <a:rPr dirty="0" sz="1900" spc="-5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5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размера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датасета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размера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0">
                <a:solidFill>
                  <a:srgbClr val="2A2A2A"/>
                </a:solidFill>
                <a:latin typeface="Microsoft Sans Serif"/>
                <a:cs typeface="Microsoft Sans Serif"/>
              </a:rPr>
              <a:t>самой</a:t>
            </a:r>
            <a:r>
              <a:rPr dirty="0" sz="1900" spc="-4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модели</a:t>
            </a:r>
            <a:r>
              <a:rPr dirty="0" sz="1900" spc="-10">
                <a:solidFill>
                  <a:srgbClr val="2A2A2A"/>
                </a:solidFill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  <a:p>
            <a:pPr marL="441325" marR="1663700" indent="-384810">
              <a:lnSpc>
                <a:spcPct val="114999"/>
              </a:lnSpc>
              <a:buFont typeface="Tahoma"/>
              <a:buAutoNum type="arabicPeriod"/>
              <a:tabLst>
                <a:tab pos="441325" algn="l"/>
              </a:tabLst>
            </a:pPr>
            <a:r>
              <a:rPr dirty="0" sz="1900" spc="-145">
                <a:solidFill>
                  <a:srgbClr val="2A2A2A"/>
                </a:solidFill>
                <a:latin typeface="Microsoft Sans Serif"/>
                <a:cs typeface="Microsoft Sans Serif"/>
              </a:rPr>
              <a:t>И</a:t>
            </a:r>
            <a:r>
              <a:rPr dirty="0" sz="1900" spc="-14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75">
                <a:solidFill>
                  <a:srgbClr val="2A2A2A"/>
                </a:solidFill>
                <a:latin typeface="Microsoft Sans Serif"/>
                <a:cs typeface="Microsoft Sans Serif"/>
              </a:rPr>
              <a:t>конечно</a:t>
            </a:r>
            <a:r>
              <a:rPr dirty="0" sz="1900" spc="-75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архитектуры</a:t>
            </a:r>
            <a:r>
              <a:rPr dirty="0" sz="1900" spc="-50">
                <a:solidFill>
                  <a:srgbClr val="2A2A2A"/>
                </a:solidFill>
                <a:latin typeface="Tahoma"/>
                <a:cs typeface="Tahoma"/>
              </a:rPr>
              <a:t>,</a:t>
            </a:r>
            <a:r>
              <a:rPr dirty="0" sz="1900" spc="-150">
                <a:solidFill>
                  <a:srgbClr val="2A2A2A"/>
                </a:solidFill>
                <a:latin typeface="Tahoma"/>
                <a:cs typeface="Tahoma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но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>
                <a:solidFill>
                  <a:srgbClr val="2A2A2A"/>
                </a:solidFill>
                <a:latin typeface="Microsoft Sans Serif"/>
                <a:cs typeface="Microsoft Sans Serif"/>
              </a:rPr>
              <a:t>тут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чаще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25">
                <a:solidFill>
                  <a:srgbClr val="2A2A2A"/>
                </a:solidFill>
                <a:latin typeface="Microsoft Sans Serif"/>
                <a:cs typeface="Microsoft Sans Serif"/>
              </a:rPr>
              <a:t>всего</a:t>
            </a:r>
            <a:r>
              <a:rPr dirty="0" sz="1900" spc="-55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выбор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45">
                <a:solidFill>
                  <a:srgbClr val="2A2A2A"/>
                </a:solidFill>
                <a:latin typeface="Microsoft Sans Serif"/>
                <a:cs typeface="Microsoft Sans Serif"/>
              </a:rPr>
              <a:t>между</a:t>
            </a:r>
            <a:r>
              <a:rPr dirty="0" sz="1900" spc="-60">
                <a:solidFill>
                  <a:srgbClr val="2A2A2A"/>
                </a:solidFill>
                <a:latin typeface="Microsoft Sans Serif"/>
                <a:cs typeface="Microsoft Sans Serif"/>
              </a:rPr>
              <a:t> </a:t>
            </a:r>
            <a:r>
              <a:rPr dirty="0" sz="1900" spc="-35">
                <a:solidFill>
                  <a:srgbClr val="2A2A2A"/>
                </a:solidFill>
                <a:latin typeface="Microsoft Sans Serif"/>
                <a:cs typeface="Microsoft Sans Serif"/>
              </a:rPr>
              <a:t>Трансформером</a:t>
            </a:r>
            <a:r>
              <a:rPr dirty="0" sz="1900" spc="-50">
                <a:solidFill>
                  <a:srgbClr val="2A2A2A"/>
                </a:solidFill>
                <a:latin typeface="Microsoft Sans Serif"/>
                <a:cs typeface="Microsoft Sans Serif"/>
              </a:rPr>
              <a:t> и </a:t>
            </a:r>
            <a:r>
              <a:rPr dirty="0" sz="1900" spc="-10">
                <a:solidFill>
                  <a:srgbClr val="2A2A2A"/>
                </a:solidFill>
                <a:latin typeface="Microsoft Sans Serif"/>
                <a:cs typeface="Microsoft Sans Serif"/>
              </a:rPr>
              <a:t>Трансформером</a:t>
            </a:r>
            <a:r>
              <a:rPr dirty="0" sz="1900" spc="-10">
                <a:solidFill>
                  <a:srgbClr val="2A2A2A"/>
                </a:solidFill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025" y="6523713"/>
            <a:ext cx="64865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40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175">
                <a:latin typeface="Tahoma"/>
                <a:cs typeface="Tahoma"/>
              </a:rPr>
              <a:t> </a:t>
            </a:r>
            <a:r>
              <a:rPr dirty="0" sz="1400" spc="-55">
                <a:latin typeface="Tahoma"/>
                <a:cs typeface="Tahoma"/>
              </a:rPr>
              <a:t>https://sysblok.ru/knowhow/kak-</a:t>
            </a:r>
            <a:r>
              <a:rPr dirty="0" sz="1400" spc="-50">
                <a:latin typeface="Tahoma"/>
                <a:cs typeface="Tahoma"/>
              </a:rPr>
              <a:t>rabotajut-</a:t>
            </a:r>
            <a:r>
              <a:rPr dirty="0" sz="1400" spc="-55">
                <a:latin typeface="Tahoma"/>
                <a:cs typeface="Tahoma"/>
              </a:rPr>
              <a:t>jazykovye-</a:t>
            </a:r>
            <a:r>
              <a:rPr dirty="0" sz="1400" spc="-10">
                <a:latin typeface="Tahoma"/>
                <a:cs typeface="Tahoma"/>
              </a:rPr>
              <a:t>modeli/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9112" y="3486826"/>
            <a:ext cx="8773771" cy="28185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3299" y="1312805"/>
            <a:ext cx="3331845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Microsoft Sans Serif"/>
                <a:cs typeface="Microsoft Sans Serif"/>
              </a:rPr>
              <a:t>Вот</a:t>
            </a:r>
            <a:r>
              <a:rPr dirty="0" sz="4000" spc="-35">
                <a:latin typeface="Microsoft Sans Serif"/>
                <a:cs typeface="Microsoft Sans Serif"/>
              </a:rPr>
              <a:t> </a:t>
            </a:r>
            <a:r>
              <a:rPr dirty="0" sz="4000" spc="-180">
                <a:latin typeface="Microsoft Sans Serif"/>
                <a:cs typeface="Microsoft Sans Serif"/>
              </a:rPr>
              <a:t>как</a:t>
            </a:r>
            <a:r>
              <a:rPr dirty="0" sz="4000" spc="-180">
                <a:latin typeface="Verdana"/>
                <a:cs typeface="Verdana"/>
              </a:rPr>
              <a:t>-</a:t>
            </a:r>
            <a:r>
              <a:rPr dirty="0" sz="4000">
                <a:latin typeface="Microsoft Sans Serif"/>
                <a:cs typeface="Microsoft Sans Serif"/>
              </a:rPr>
              <a:t>то</a:t>
            </a:r>
            <a:r>
              <a:rPr dirty="0" sz="4000" spc="-30">
                <a:latin typeface="Microsoft Sans Serif"/>
                <a:cs typeface="Microsoft Sans Serif"/>
              </a:rPr>
              <a:t> </a:t>
            </a:r>
            <a:r>
              <a:rPr dirty="0" sz="4000" spc="-55">
                <a:latin typeface="Microsoft Sans Serif"/>
                <a:cs typeface="Microsoft Sans Serif"/>
              </a:rPr>
              <a:t>так</a:t>
            </a:r>
            <a:endParaRPr sz="4000">
              <a:latin typeface="Microsoft Sans Serif"/>
              <a:cs typeface="Microsoft Sans Serif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4912" y="1984187"/>
            <a:ext cx="6734732" cy="4719924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4247300" y="2750337"/>
            <a:ext cx="1607820" cy="42672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50"/>
              </a:lnSpc>
            </a:pPr>
            <a:r>
              <a:rPr dirty="0" sz="2800" spc="-50">
                <a:solidFill>
                  <a:srgbClr val="FF0000"/>
                </a:solidFill>
                <a:latin typeface="Microsoft Sans Serif"/>
                <a:cs typeface="Microsoft Sans Serif"/>
              </a:rPr>
              <a:t>Языковая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247300" y="3177057"/>
            <a:ext cx="1220470" cy="42672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50"/>
              </a:lnSpc>
            </a:pPr>
            <a:r>
              <a:rPr dirty="0" sz="2800" spc="-50">
                <a:solidFill>
                  <a:srgbClr val="FF0000"/>
                </a:solidFill>
                <a:latin typeface="Microsoft Sans Serif"/>
                <a:cs typeface="Microsoft Sans Serif"/>
              </a:rPr>
              <a:t>модель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3644650" y="4390662"/>
            <a:ext cx="998855" cy="32004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35"/>
              </a:lnSpc>
            </a:pPr>
            <a:r>
              <a:rPr dirty="0" sz="2100" spc="-50">
                <a:solidFill>
                  <a:srgbClr val="FF0000"/>
                </a:solidFill>
                <a:latin typeface="Microsoft Sans Serif"/>
                <a:cs typeface="Microsoft Sans Serif"/>
              </a:rPr>
              <a:t>Датасет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5290399" y="4014225"/>
            <a:ext cx="802640" cy="32004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35"/>
              </a:lnSpc>
            </a:pPr>
            <a:r>
              <a:rPr dirty="0" sz="2100" spc="-25">
                <a:solidFill>
                  <a:srgbClr val="FF0000"/>
                </a:solidFill>
                <a:latin typeface="Microsoft Sans Serif"/>
                <a:cs typeface="Microsoft Sans Serif"/>
              </a:rPr>
              <a:t>Время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5290399" y="4334265"/>
            <a:ext cx="1012190" cy="32004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35"/>
              </a:lnSpc>
            </a:pPr>
            <a:r>
              <a:rPr dirty="0" sz="2100" spc="-25">
                <a:solidFill>
                  <a:srgbClr val="FF0000"/>
                </a:solidFill>
                <a:latin typeface="Microsoft Sans Serif"/>
                <a:cs typeface="Microsoft Sans Serif"/>
              </a:rPr>
              <a:t>обучени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5290399" y="4654305"/>
            <a:ext cx="157480" cy="32004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35"/>
              </a:lnSpc>
            </a:pPr>
            <a:r>
              <a:rPr dirty="0" sz="2100" spc="-50">
                <a:solidFill>
                  <a:srgbClr val="FF0000"/>
                </a:solidFill>
                <a:latin typeface="Microsoft Sans Serif"/>
                <a:cs typeface="Microsoft Sans Serif"/>
              </a:rPr>
              <a:t>я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757750" y="4032562"/>
            <a:ext cx="925830" cy="334645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35"/>
              </a:lnSpc>
            </a:pPr>
            <a:r>
              <a:rPr dirty="0" sz="2100" spc="-40">
                <a:solidFill>
                  <a:srgbClr val="FF0000"/>
                </a:solidFill>
                <a:latin typeface="Microsoft Sans Serif"/>
                <a:cs typeface="Microsoft Sans Serif"/>
              </a:rPr>
              <a:t>Размер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6757750" y="4367198"/>
            <a:ext cx="925830" cy="30607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320"/>
              </a:lnSpc>
            </a:pPr>
            <a:r>
              <a:rPr dirty="0" sz="2100" spc="-40">
                <a:solidFill>
                  <a:srgbClr val="FF0000"/>
                </a:solidFill>
                <a:latin typeface="Microsoft Sans Serif"/>
                <a:cs typeface="Microsoft Sans Serif"/>
              </a:rPr>
              <a:t>модели</a:t>
            </a:r>
            <a:endParaRPr sz="2100">
              <a:latin typeface="Microsoft Sans Serif"/>
              <a:cs typeface="Microsoft Sans Serif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5028500" y="5293787"/>
            <a:ext cx="1544955" cy="320040"/>
          </a:xfrm>
          <a:prstGeom prst="rect">
            <a:avLst/>
          </a:prstGeom>
          <a:solidFill>
            <a:srgbClr val="D8D8D8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435"/>
              </a:lnSpc>
            </a:pPr>
            <a:r>
              <a:rPr dirty="0" sz="2100" spc="-25">
                <a:solidFill>
                  <a:srgbClr val="FF0000"/>
                </a:solidFill>
                <a:latin typeface="Microsoft Sans Serif"/>
                <a:cs typeface="Microsoft Sans Serif"/>
              </a:rPr>
              <a:t>Архитектура</a:t>
            </a:r>
            <a:endParaRPr sz="21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025" y="6523713"/>
            <a:ext cx="64865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40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175">
                <a:latin typeface="Tahoma"/>
                <a:cs typeface="Tahoma"/>
              </a:rPr>
              <a:t> </a:t>
            </a:r>
            <a:r>
              <a:rPr dirty="0" sz="1400" spc="-55">
                <a:latin typeface="Tahoma"/>
                <a:cs typeface="Tahoma"/>
              </a:rPr>
              <a:t>https://sysblok.ru/knowhow/kak-</a:t>
            </a:r>
            <a:r>
              <a:rPr dirty="0" sz="1400" spc="-50">
                <a:latin typeface="Tahoma"/>
                <a:cs typeface="Tahoma"/>
              </a:rPr>
              <a:t>rabotajut-</a:t>
            </a:r>
            <a:r>
              <a:rPr dirty="0" sz="1400" spc="-55">
                <a:latin typeface="Tahoma"/>
                <a:cs typeface="Tahoma"/>
              </a:rPr>
              <a:t>jazykovye-</a:t>
            </a:r>
            <a:r>
              <a:rPr dirty="0" sz="1400" spc="-10">
                <a:latin typeface="Tahoma"/>
                <a:cs typeface="Tahoma"/>
              </a:rPr>
              <a:t>modeli/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5205"/>
            <a:ext cx="8570595" cy="1431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Microsoft Sans Serif"/>
                <a:cs typeface="Microsoft Sans Serif"/>
              </a:rPr>
              <a:t>Процесс</a:t>
            </a:r>
            <a:r>
              <a:rPr dirty="0" sz="4000" spc="-150">
                <a:latin typeface="Microsoft Sans Serif"/>
                <a:cs typeface="Microsoft Sans Serif"/>
              </a:rPr>
              <a:t> </a:t>
            </a:r>
            <a:r>
              <a:rPr dirty="0" sz="4000" spc="-130">
                <a:latin typeface="Microsoft Sans Serif"/>
                <a:cs typeface="Microsoft Sans Serif"/>
              </a:rPr>
              <a:t>обучения</a:t>
            </a:r>
            <a:r>
              <a:rPr dirty="0" sz="4000" spc="-130">
                <a:latin typeface="Verdana"/>
                <a:cs typeface="Verdana"/>
              </a:rPr>
              <a:t>:</a:t>
            </a:r>
            <a:r>
              <a:rPr dirty="0" sz="4000" spc="-290">
                <a:latin typeface="Verdana"/>
                <a:cs typeface="Verdana"/>
              </a:rPr>
              <a:t> </a:t>
            </a:r>
            <a:r>
              <a:rPr dirty="0" sz="4000" spc="-10">
                <a:latin typeface="Verdana"/>
                <a:cs typeface="Verdana"/>
              </a:rPr>
              <a:t>alignment</a:t>
            </a:r>
            <a:endParaRPr sz="4000">
              <a:latin typeface="Verdana"/>
              <a:cs typeface="Verdana"/>
            </a:endParaRPr>
          </a:p>
          <a:p>
            <a:pPr marL="12700" marR="5080">
              <a:lnSpc>
                <a:spcPct val="116700"/>
              </a:lnSpc>
              <a:spcBef>
                <a:spcPts val="2065"/>
              </a:spcBef>
            </a:pPr>
            <a:r>
              <a:rPr dirty="0" sz="1500">
                <a:latin typeface="Roboto"/>
                <a:cs typeface="Roboto"/>
              </a:rPr>
              <a:t>На</a:t>
            </a:r>
            <a:r>
              <a:rPr dirty="0" sz="1500" spc="-45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данный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момент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есть</a:t>
            </a:r>
            <a:r>
              <a:rPr dirty="0" sz="1500" spc="-45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целая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активно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 spc="-25">
                <a:latin typeface="Roboto"/>
                <a:cs typeface="Roboto"/>
              </a:rPr>
              <a:t>развивающаяся</a:t>
            </a:r>
            <a:r>
              <a:rPr dirty="0" sz="1500" spc="-45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область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на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 spc="-20">
                <a:latin typeface="Roboto"/>
                <a:cs typeface="Roboto"/>
              </a:rPr>
              <a:t>стыке</a:t>
            </a:r>
            <a:r>
              <a:rPr dirty="0" sz="1500" spc="-40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AI,</a:t>
            </a:r>
            <a:r>
              <a:rPr dirty="0" sz="1500" spc="-45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информационной безопасности</a:t>
            </a:r>
            <a:r>
              <a:rPr dirty="0" sz="1500" spc="-35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и</a:t>
            </a:r>
            <a:r>
              <a:rPr dirty="0" sz="1500" spc="-35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этики,</a:t>
            </a:r>
            <a:r>
              <a:rPr dirty="0" sz="1500" spc="-30">
                <a:latin typeface="Roboto"/>
                <a:cs typeface="Roboto"/>
              </a:rPr>
              <a:t> </a:t>
            </a:r>
            <a:r>
              <a:rPr dirty="0" sz="1500" spc="-25">
                <a:latin typeface="Roboto"/>
                <a:cs typeface="Roboto"/>
              </a:rPr>
              <a:t>которая</a:t>
            </a:r>
            <a:r>
              <a:rPr dirty="0" sz="1500" spc="-35">
                <a:latin typeface="Roboto"/>
                <a:cs typeface="Roboto"/>
              </a:rPr>
              <a:t> </a:t>
            </a:r>
            <a:r>
              <a:rPr dirty="0" sz="1500" spc="-25">
                <a:latin typeface="Roboto"/>
                <a:cs typeface="Roboto"/>
              </a:rPr>
              <a:t>занимается</a:t>
            </a:r>
            <a:r>
              <a:rPr dirty="0" sz="1500" spc="-30">
                <a:latin typeface="Roboto"/>
                <a:cs typeface="Roboto"/>
              </a:rPr>
              <a:t> </a:t>
            </a:r>
            <a:r>
              <a:rPr dirty="0" sz="1500">
                <a:latin typeface="Roboto"/>
                <a:cs typeface="Roboto"/>
              </a:rPr>
              <a:t>вопросами</a:t>
            </a:r>
            <a:r>
              <a:rPr dirty="0" sz="1500" spc="-35">
                <a:latin typeface="Roboto"/>
                <a:cs typeface="Roboto"/>
              </a:rPr>
              <a:t> </a:t>
            </a:r>
            <a:r>
              <a:rPr dirty="0" sz="1500" spc="-10">
                <a:latin typeface="Roboto"/>
                <a:cs typeface="Roboto"/>
              </a:rPr>
              <a:t>элаймента.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803299" y="3175972"/>
            <a:ext cx="2125345" cy="866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0" b="1">
                <a:latin typeface="Roboto"/>
                <a:cs typeface="Roboto"/>
              </a:rPr>
              <a:t>Безопасность</a:t>
            </a:r>
            <a:r>
              <a:rPr dirty="0" sz="1600" spc="-30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и</a:t>
            </a:r>
            <a:r>
              <a:rPr dirty="0" sz="1600" spc="-25" b="1">
                <a:latin typeface="Roboto"/>
                <a:cs typeface="Roboto"/>
              </a:rPr>
              <a:t> </a:t>
            </a:r>
            <a:r>
              <a:rPr dirty="0" sz="1600" spc="-10" b="1">
                <a:latin typeface="Roboto"/>
                <a:cs typeface="Roboto"/>
              </a:rPr>
              <a:t>этика</a:t>
            </a:r>
            <a:endParaRPr sz="1600">
              <a:latin typeface="Roboto"/>
              <a:cs typeface="Roboto"/>
            </a:endParaRPr>
          </a:p>
          <a:p>
            <a:pPr marL="12700" marR="6985">
              <a:lnSpc>
                <a:spcPct val="116100"/>
              </a:lnSpc>
              <a:spcBef>
                <a:spcPts val="795"/>
              </a:spcBef>
            </a:pPr>
            <a:r>
              <a:rPr dirty="0" sz="1400">
                <a:latin typeface="Roboto"/>
                <a:cs typeface="Roboto"/>
              </a:rPr>
              <a:t>Учим</a:t>
            </a:r>
            <a:r>
              <a:rPr dirty="0" sz="1400" spc="-7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модель</a:t>
            </a:r>
            <a:r>
              <a:rPr dirty="0" sz="1400" spc="-7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правильно реагировать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на</a:t>
            </a:r>
            <a:r>
              <a:rPr dirty="0" sz="1400" spc="-4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запросы: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982876" y="4282998"/>
            <a:ext cx="2210435" cy="126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0195" marR="272415" indent="-278130">
              <a:lnSpc>
                <a:spcPct val="116100"/>
              </a:lnSpc>
              <a:spcBef>
                <a:spcPts val="100"/>
              </a:spcBef>
              <a:buChar char="-"/>
              <a:tabLst>
                <a:tab pos="290195" algn="l"/>
              </a:tabLst>
            </a:pPr>
            <a:r>
              <a:rPr dirty="0" sz="1400" spc="-10">
                <a:latin typeface="Roboto"/>
                <a:cs typeface="Roboto"/>
              </a:rPr>
              <a:t>Никакой симметричной реакции</a:t>
            </a:r>
            <a:r>
              <a:rPr dirty="0" sz="1400" spc="-2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на</a:t>
            </a:r>
            <a:r>
              <a:rPr dirty="0" sz="1400" spc="-2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негатив</a:t>
            </a:r>
            <a:endParaRPr sz="1400">
              <a:latin typeface="Roboto"/>
              <a:cs typeface="Roboto"/>
            </a:endParaRPr>
          </a:p>
          <a:p>
            <a:pPr marL="290195" marR="5080" indent="-278130">
              <a:lnSpc>
                <a:spcPct val="116100"/>
              </a:lnSpc>
              <a:buChar char="-"/>
              <a:tabLst>
                <a:tab pos="290195" algn="l"/>
              </a:tabLst>
            </a:pPr>
            <a:r>
              <a:rPr dirty="0" sz="1400">
                <a:latin typeface="Roboto"/>
                <a:cs typeface="Roboto"/>
              </a:rPr>
              <a:t>Нельзя</a:t>
            </a:r>
            <a:r>
              <a:rPr dirty="0" sz="1400" spc="-8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разглашать </a:t>
            </a:r>
            <a:r>
              <a:rPr dirty="0" sz="1400">
                <a:latin typeface="Roboto"/>
                <a:cs typeface="Roboto"/>
              </a:rPr>
              <a:t>персональные</a:t>
            </a:r>
            <a:r>
              <a:rPr dirty="0" sz="1400" spc="-6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данные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4150249" y="3150472"/>
            <a:ext cx="2289810" cy="1386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Roboto"/>
                <a:cs typeface="Roboto"/>
              </a:rPr>
              <a:t>Реакция</a:t>
            </a:r>
            <a:r>
              <a:rPr dirty="0" sz="1600" spc="-2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на</a:t>
            </a:r>
            <a:r>
              <a:rPr dirty="0" sz="1600" spc="-25" b="1">
                <a:latin typeface="Roboto"/>
                <a:cs typeface="Roboto"/>
              </a:rPr>
              <a:t> </a:t>
            </a:r>
            <a:r>
              <a:rPr dirty="0" sz="1600" spc="-10" b="1">
                <a:latin typeface="Roboto"/>
                <a:cs typeface="Roboto"/>
              </a:rPr>
              <a:t>инструкции</a:t>
            </a:r>
            <a:endParaRPr sz="1600">
              <a:latin typeface="Roboto"/>
              <a:cs typeface="Roboto"/>
            </a:endParaRPr>
          </a:p>
          <a:p>
            <a:pPr marL="136525" marR="33655">
              <a:lnSpc>
                <a:spcPct val="116100"/>
              </a:lnSpc>
              <a:spcBef>
                <a:spcPts val="994"/>
              </a:spcBef>
            </a:pPr>
            <a:r>
              <a:rPr dirty="0" sz="1400" spc="-10">
                <a:latin typeface="Roboto"/>
                <a:cs typeface="Roboto"/>
              </a:rPr>
              <a:t>Современная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llm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должна уметь</a:t>
            </a:r>
            <a:r>
              <a:rPr dirty="0" sz="1400" spc="-7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следовать произвольным набором инструкций: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4454026" y="4778298"/>
            <a:ext cx="1816100" cy="1016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0195" marR="88265" indent="-278130">
              <a:lnSpc>
                <a:spcPct val="116100"/>
              </a:lnSpc>
              <a:spcBef>
                <a:spcPts val="100"/>
              </a:spcBef>
              <a:buChar char="-"/>
              <a:tabLst>
                <a:tab pos="290195" algn="l"/>
              </a:tabLst>
            </a:pPr>
            <a:r>
              <a:rPr dirty="0" sz="1400" spc="-10">
                <a:latin typeface="Roboto"/>
                <a:cs typeface="Roboto"/>
              </a:rPr>
              <a:t>“Напиши</a:t>
            </a:r>
            <a:r>
              <a:rPr dirty="0" sz="1400" spc="-35">
                <a:latin typeface="Roboto"/>
                <a:cs typeface="Roboto"/>
              </a:rPr>
              <a:t> </a:t>
            </a:r>
            <a:r>
              <a:rPr dirty="0" sz="1400" spc="-30">
                <a:latin typeface="Roboto"/>
                <a:cs typeface="Roboto"/>
              </a:rPr>
              <a:t>код </a:t>
            </a:r>
            <a:r>
              <a:rPr dirty="0" sz="1400" spc="-25">
                <a:latin typeface="Roboto"/>
                <a:cs typeface="Roboto"/>
              </a:rPr>
              <a:t>для </a:t>
            </a:r>
            <a:r>
              <a:rPr dirty="0" sz="1400" spc="-10">
                <a:latin typeface="Roboto"/>
                <a:cs typeface="Roboto"/>
              </a:rPr>
              <a:t>задачи”</a:t>
            </a:r>
            <a:endParaRPr sz="1400">
              <a:latin typeface="Roboto"/>
              <a:cs typeface="Roboto"/>
            </a:endParaRPr>
          </a:p>
          <a:p>
            <a:pPr marL="290195" marR="5080" indent="-278130">
              <a:lnSpc>
                <a:spcPct val="116100"/>
              </a:lnSpc>
              <a:buChar char="-"/>
              <a:tabLst>
                <a:tab pos="290195" algn="l"/>
              </a:tabLst>
            </a:pPr>
            <a:r>
              <a:rPr dirty="0" sz="1400" spc="-10">
                <a:latin typeface="Roboto"/>
                <a:cs typeface="Roboto"/>
              </a:rPr>
              <a:t>“Расскажи</a:t>
            </a:r>
            <a:r>
              <a:rPr dirty="0" sz="1400" spc="-2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рецепт тирамису”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621099" y="3150472"/>
            <a:ext cx="2161540" cy="1386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b="1">
                <a:latin typeface="Roboto"/>
                <a:cs typeface="Roboto"/>
              </a:rPr>
              <a:t>Выбросы</a:t>
            </a:r>
            <a:r>
              <a:rPr dirty="0" sz="1600" spc="-25" b="1">
                <a:latin typeface="Roboto"/>
                <a:cs typeface="Roboto"/>
              </a:rPr>
              <a:t> </a:t>
            </a:r>
            <a:r>
              <a:rPr dirty="0" sz="1600" b="1">
                <a:latin typeface="Roboto"/>
                <a:cs typeface="Roboto"/>
              </a:rPr>
              <a:t>и</a:t>
            </a:r>
            <a:r>
              <a:rPr dirty="0" sz="1600" spc="-25" b="1">
                <a:latin typeface="Roboto"/>
                <a:cs typeface="Roboto"/>
              </a:rPr>
              <a:t> </a:t>
            </a:r>
            <a:r>
              <a:rPr dirty="0" sz="1600" spc="-10" b="1">
                <a:latin typeface="Roboto"/>
                <a:cs typeface="Roboto"/>
              </a:rPr>
              <a:t>смещения</a:t>
            </a:r>
            <a:endParaRPr sz="1600">
              <a:latin typeface="Roboto"/>
              <a:cs typeface="Roboto"/>
            </a:endParaRPr>
          </a:p>
          <a:p>
            <a:pPr marL="137160" marR="203835">
              <a:lnSpc>
                <a:spcPct val="116100"/>
              </a:lnSpc>
              <a:spcBef>
                <a:spcPts val="994"/>
              </a:spcBef>
            </a:pPr>
            <a:r>
              <a:rPr dirty="0" sz="1400" spc="-10">
                <a:latin typeface="Roboto"/>
                <a:cs typeface="Roboto"/>
              </a:rPr>
              <a:t>Модель</a:t>
            </a:r>
            <a:r>
              <a:rPr dirty="0" sz="1400" spc="-30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не</a:t>
            </a:r>
            <a:r>
              <a:rPr dirty="0" sz="1400" spc="-3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должна галлюцинировать</a:t>
            </a:r>
            <a:r>
              <a:rPr dirty="0" sz="1400" spc="20">
                <a:latin typeface="Roboto"/>
                <a:cs typeface="Roboto"/>
              </a:rPr>
              <a:t> </a:t>
            </a:r>
            <a:r>
              <a:rPr dirty="0" sz="1400" spc="-50">
                <a:latin typeface="Roboto"/>
                <a:cs typeface="Roboto"/>
              </a:rPr>
              <a:t>и </a:t>
            </a:r>
            <a:r>
              <a:rPr dirty="0" sz="1400" spc="-25">
                <a:latin typeface="Roboto"/>
                <a:cs typeface="Roboto"/>
              </a:rPr>
              <a:t>выходить</a:t>
            </a:r>
            <a:r>
              <a:rPr dirty="0" sz="1400" spc="-45">
                <a:latin typeface="Roboto"/>
                <a:cs typeface="Roboto"/>
              </a:rPr>
              <a:t> </a:t>
            </a:r>
            <a:r>
              <a:rPr dirty="0" sz="1400">
                <a:latin typeface="Roboto"/>
                <a:cs typeface="Roboto"/>
              </a:rPr>
              <a:t>из</a:t>
            </a:r>
            <a:r>
              <a:rPr dirty="0" sz="1400" spc="-40">
                <a:latin typeface="Roboto"/>
                <a:cs typeface="Roboto"/>
              </a:rPr>
              <a:t> </a:t>
            </a:r>
            <a:r>
              <a:rPr dirty="0" sz="1400" spc="-20">
                <a:latin typeface="Roboto"/>
                <a:cs typeface="Roboto"/>
              </a:rPr>
              <a:t>строя</a:t>
            </a:r>
            <a:r>
              <a:rPr dirty="0" sz="1400" spc="-40">
                <a:latin typeface="Roboto"/>
                <a:cs typeface="Roboto"/>
              </a:rPr>
              <a:t> </a:t>
            </a:r>
            <a:r>
              <a:rPr dirty="0" sz="1400" spc="-25">
                <a:latin typeface="Roboto"/>
                <a:cs typeface="Roboto"/>
              </a:rPr>
              <a:t>на </a:t>
            </a:r>
            <a:r>
              <a:rPr dirty="0" sz="1400" spc="-20">
                <a:latin typeface="Roboto"/>
                <a:cs typeface="Roboto"/>
              </a:rPr>
              <a:t>странных</a:t>
            </a:r>
            <a:r>
              <a:rPr dirty="0" sz="1400" spc="-10">
                <a:latin typeface="Roboto"/>
                <a:cs typeface="Roboto"/>
              </a:rPr>
              <a:t> примерах: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925176" y="4778297"/>
            <a:ext cx="1983105" cy="1016000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290195" indent="-277495">
              <a:lnSpc>
                <a:spcPct val="100000"/>
              </a:lnSpc>
              <a:spcBef>
                <a:spcPts val="370"/>
              </a:spcBef>
              <a:buChar char="-"/>
              <a:tabLst>
                <a:tab pos="290195" algn="l"/>
              </a:tabLst>
            </a:pPr>
            <a:r>
              <a:rPr dirty="0" sz="1400">
                <a:latin typeface="Roboto"/>
                <a:cs typeface="Roboto"/>
              </a:rPr>
              <a:t>Мир</a:t>
            </a:r>
            <a:r>
              <a:rPr dirty="0" sz="1400" spc="-5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меняется</a:t>
            </a:r>
            <a:endParaRPr sz="1400">
              <a:latin typeface="Roboto"/>
              <a:cs typeface="Roboto"/>
            </a:endParaRPr>
          </a:p>
          <a:p>
            <a:pPr marL="290195" marR="5080" indent="-278130">
              <a:lnSpc>
                <a:spcPct val="116100"/>
              </a:lnSpc>
              <a:buChar char="-"/>
              <a:tabLst>
                <a:tab pos="290195" algn="l"/>
              </a:tabLst>
            </a:pPr>
            <a:r>
              <a:rPr dirty="0" sz="1400" spc="-10">
                <a:latin typeface="Roboto"/>
                <a:cs typeface="Roboto"/>
              </a:rPr>
              <a:t>Пользователи</a:t>
            </a:r>
            <a:r>
              <a:rPr dirty="0" sz="1400" spc="-60">
                <a:latin typeface="Roboto"/>
                <a:cs typeface="Roboto"/>
              </a:rPr>
              <a:t> </a:t>
            </a:r>
            <a:r>
              <a:rPr dirty="0" sz="1400" spc="-25">
                <a:latin typeface="Roboto"/>
                <a:cs typeface="Roboto"/>
              </a:rPr>
              <a:t>не </a:t>
            </a:r>
            <a:r>
              <a:rPr dirty="0" sz="1400" spc="-10">
                <a:latin typeface="Roboto"/>
                <a:cs typeface="Roboto"/>
              </a:rPr>
              <a:t>всегда</a:t>
            </a:r>
            <a:r>
              <a:rPr dirty="0" sz="1400" spc="-50">
                <a:latin typeface="Roboto"/>
                <a:cs typeface="Roboto"/>
              </a:rPr>
              <a:t> </a:t>
            </a:r>
            <a:r>
              <a:rPr dirty="0" sz="1400" spc="-10">
                <a:latin typeface="Roboto"/>
                <a:cs typeface="Roboto"/>
              </a:rPr>
              <a:t>пишут</a:t>
            </a:r>
            <a:r>
              <a:rPr dirty="0" sz="1400" spc="-45">
                <a:latin typeface="Roboto"/>
                <a:cs typeface="Roboto"/>
              </a:rPr>
              <a:t> </a:t>
            </a:r>
            <a:r>
              <a:rPr dirty="0" sz="1400" spc="-85">
                <a:latin typeface="Roboto"/>
                <a:cs typeface="Roboto"/>
              </a:rPr>
              <a:t>что-</a:t>
            </a:r>
            <a:r>
              <a:rPr dirty="0" sz="1400" spc="-25">
                <a:latin typeface="Roboto"/>
                <a:cs typeface="Roboto"/>
              </a:rPr>
              <a:t>то </a:t>
            </a:r>
            <a:r>
              <a:rPr dirty="0" sz="1400" spc="-10">
                <a:latin typeface="Roboto"/>
                <a:cs typeface="Roboto"/>
              </a:rPr>
              <a:t>осмысленное.</a:t>
            </a:r>
            <a:endParaRPr sz="14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025" y="6523713"/>
            <a:ext cx="64865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40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175">
                <a:latin typeface="Tahoma"/>
                <a:cs typeface="Tahoma"/>
              </a:rPr>
              <a:t> </a:t>
            </a:r>
            <a:r>
              <a:rPr dirty="0" sz="1400" spc="-55">
                <a:latin typeface="Tahoma"/>
                <a:cs typeface="Tahoma"/>
              </a:rPr>
              <a:t>https://sysblok.ru/knowhow/kak-</a:t>
            </a:r>
            <a:r>
              <a:rPr dirty="0" sz="1400" spc="-50">
                <a:latin typeface="Tahoma"/>
                <a:cs typeface="Tahoma"/>
              </a:rPr>
              <a:t>rabotajut-</a:t>
            </a:r>
            <a:r>
              <a:rPr dirty="0" sz="1400" spc="-55">
                <a:latin typeface="Tahoma"/>
                <a:cs typeface="Tahoma"/>
              </a:rPr>
              <a:t>jazykovye-</a:t>
            </a:r>
            <a:r>
              <a:rPr dirty="0" sz="1400" spc="-10">
                <a:latin typeface="Tahoma"/>
                <a:cs typeface="Tahoma"/>
              </a:rPr>
              <a:t>modeli/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031899" y="3231660"/>
            <a:ext cx="3271520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latin typeface="Roboto"/>
                <a:cs typeface="Roboto"/>
              </a:rPr>
              <a:t>Encoder</a:t>
            </a:r>
            <a:r>
              <a:rPr dirty="0" sz="1900" spc="-35" b="1">
                <a:latin typeface="Roboto"/>
                <a:cs typeface="Roboto"/>
              </a:rPr>
              <a:t> </a:t>
            </a:r>
            <a:r>
              <a:rPr dirty="0" sz="1900" b="1">
                <a:latin typeface="Roboto"/>
                <a:cs typeface="Roboto"/>
              </a:rPr>
              <a:t>+</a:t>
            </a:r>
            <a:r>
              <a:rPr dirty="0" sz="1900" spc="-30" b="1">
                <a:latin typeface="Roboto"/>
                <a:cs typeface="Roboto"/>
              </a:rPr>
              <a:t> </a:t>
            </a:r>
            <a:r>
              <a:rPr dirty="0" sz="1900" spc="-10" b="1">
                <a:latin typeface="Roboto"/>
                <a:cs typeface="Roboto"/>
              </a:rPr>
              <a:t>Classification</a:t>
            </a:r>
            <a:r>
              <a:rPr dirty="0" sz="1900" spc="-35" b="1">
                <a:latin typeface="Roboto"/>
                <a:cs typeface="Roboto"/>
              </a:rPr>
              <a:t> </a:t>
            </a:r>
            <a:r>
              <a:rPr dirty="0" sz="1900" spc="-20" b="1">
                <a:latin typeface="Roboto"/>
                <a:cs typeface="Roboto"/>
              </a:rPr>
              <a:t>Head</a:t>
            </a:r>
            <a:endParaRPr sz="1900">
              <a:latin typeface="Roboto"/>
              <a:cs typeface="Roboto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651625" y="3177973"/>
            <a:ext cx="2991485" cy="314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b="1">
                <a:latin typeface="Roboto"/>
                <a:cs typeface="Roboto"/>
              </a:rPr>
              <a:t>Decoder</a:t>
            </a:r>
            <a:r>
              <a:rPr dirty="0" sz="1900" spc="30" b="1">
                <a:latin typeface="Roboto"/>
                <a:cs typeface="Roboto"/>
              </a:rPr>
              <a:t> </a:t>
            </a:r>
            <a:r>
              <a:rPr dirty="0" sz="1900" b="1">
                <a:latin typeface="Roboto"/>
                <a:cs typeface="Roboto"/>
              </a:rPr>
              <a:t>|</a:t>
            </a:r>
            <a:r>
              <a:rPr dirty="0" sz="1900" spc="30" b="1">
                <a:latin typeface="Roboto"/>
                <a:cs typeface="Roboto"/>
              </a:rPr>
              <a:t> </a:t>
            </a:r>
            <a:r>
              <a:rPr dirty="0" sz="1900" spc="-10" b="1">
                <a:latin typeface="Roboto"/>
                <a:cs typeface="Roboto"/>
              </a:rPr>
              <a:t>Encoder-Decoder</a:t>
            </a:r>
            <a:endParaRPr sz="1900">
              <a:latin typeface="Roboto"/>
              <a:cs typeface="Roboto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1130155" y="3794131"/>
            <a:ext cx="3030855" cy="151447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43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20">
                <a:latin typeface="Roboto"/>
                <a:cs typeface="Roboto"/>
              </a:rPr>
              <a:t>Natural</a:t>
            </a:r>
            <a:r>
              <a:rPr dirty="0" sz="1700" spc="-35">
                <a:latin typeface="Roboto"/>
                <a:cs typeface="Roboto"/>
              </a:rPr>
              <a:t> </a:t>
            </a:r>
            <a:r>
              <a:rPr dirty="0" sz="1700" spc="-20">
                <a:latin typeface="Roboto"/>
                <a:cs typeface="Roboto"/>
              </a:rPr>
              <a:t>Language</a:t>
            </a:r>
            <a:r>
              <a:rPr dirty="0" sz="1700" spc="-35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Inference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33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20">
                <a:latin typeface="Roboto"/>
                <a:cs typeface="Roboto"/>
              </a:rPr>
              <a:t>Sentiment</a:t>
            </a:r>
            <a:r>
              <a:rPr dirty="0" sz="1700" spc="-25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Analysis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10">
                <a:latin typeface="Roboto"/>
                <a:cs typeface="Roboto"/>
              </a:rPr>
              <a:t>Spam</a:t>
            </a:r>
            <a:r>
              <a:rPr dirty="0" sz="1700" spc="-70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Detection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5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>
                <a:latin typeface="Roboto"/>
                <a:cs typeface="Roboto"/>
              </a:rPr>
              <a:t>Hate</a:t>
            </a:r>
            <a:r>
              <a:rPr dirty="0" sz="1700" spc="-75">
                <a:latin typeface="Roboto"/>
                <a:cs typeface="Roboto"/>
              </a:rPr>
              <a:t> </a:t>
            </a:r>
            <a:r>
              <a:rPr dirty="0" sz="1700">
                <a:latin typeface="Roboto"/>
                <a:cs typeface="Roboto"/>
              </a:rPr>
              <a:t>Speech</a:t>
            </a:r>
            <a:r>
              <a:rPr dirty="0" sz="1700" spc="-70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Recognition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5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10">
                <a:latin typeface="Roboto"/>
                <a:cs typeface="Roboto"/>
              </a:rPr>
              <a:t>Topic</a:t>
            </a:r>
            <a:r>
              <a:rPr dirty="0" sz="1700" spc="-90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classification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25656" y="3814644"/>
            <a:ext cx="2877820" cy="150177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371475" indent="-358775">
              <a:lnSpc>
                <a:spcPct val="100000"/>
              </a:lnSpc>
              <a:spcBef>
                <a:spcPts val="38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10">
                <a:latin typeface="Roboto"/>
                <a:cs typeface="Roboto"/>
              </a:rPr>
              <a:t>Summarization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20">
                <a:latin typeface="Roboto"/>
                <a:cs typeface="Roboto"/>
              </a:rPr>
              <a:t>Question </a:t>
            </a:r>
            <a:r>
              <a:rPr dirty="0" sz="1700" spc="-10">
                <a:latin typeface="Roboto"/>
                <a:cs typeface="Roboto"/>
              </a:rPr>
              <a:t>Answering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10">
                <a:latin typeface="Roboto"/>
                <a:cs typeface="Roboto"/>
              </a:rPr>
              <a:t>Machine</a:t>
            </a:r>
            <a:r>
              <a:rPr dirty="0" sz="1700" spc="-70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Translation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20">
                <a:latin typeface="Roboto"/>
                <a:cs typeface="Roboto"/>
              </a:rPr>
              <a:t>Style</a:t>
            </a:r>
            <a:r>
              <a:rPr dirty="0" sz="1700" spc="-75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Transfer</a:t>
            </a:r>
            <a:endParaRPr sz="1700">
              <a:latin typeface="Roboto"/>
              <a:cs typeface="Roboto"/>
            </a:endParaRPr>
          </a:p>
          <a:p>
            <a:pPr marL="371475" indent="-358775">
              <a:lnSpc>
                <a:spcPct val="100000"/>
              </a:lnSpc>
              <a:spcBef>
                <a:spcPts val="284"/>
              </a:spcBef>
              <a:buFont typeface="Microsoft Sans Serif"/>
              <a:buChar char="●"/>
              <a:tabLst>
                <a:tab pos="371475" algn="l"/>
              </a:tabLst>
            </a:pPr>
            <a:r>
              <a:rPr dirty="0" sz="1700" spc="-10">
                <a:latin typeface="Roboto"/>
                <a:cs typeface="Roboto"/>
              </a:rPr>
              <a:t>Text</a:t>
            </a:r>
            <a:r>
              <a:rPr dirty="0" sz="1700" spc="-50">
                <a:latin typeface="Roboto"/>
                <a:cs typeface="Roboto"/>
              </a:rPr>
              <a:t> </a:t>
            </a:r>
            <a:r>
              <a:rPr dirty="0" sz="1700" spc="-20">
                <a:latin typeface="Roboto"/>
                <a:cs typeface="Roboto"/>
              </a:rPr>
              <a:t>Generation</a:t>
            </a:r>
            <a:r>
              <a:rPr dirty="0" sz="1700" spc="-45">
                <a:latin typeface="Roboto"/>
                <a:cs typeface="Roboto"/>
              </a:rPr>
              <a:t> </a:t>
            </a:r>
            <a:r>
              <a:rPr dirty="0" sz="1700">
                <a:latin typeface="Roboto"/>
                <a:cs typeface="Roboto"/>
              </a:rPr>
              <a:t>in</a:t>
            </a:r>
            <a:r>
              <a:rPr dirty="0" sz="1700" spc="-45">
                <a:latin typeface="Roboto"/>
                <a:cs typeface="Roboto"/>
              </a:rPr>
              <a:t> </a:t>
            </a:r>
            <a:r>
              <a:rPr dirty="0" sz="1700" spc="-10">
                <a:latin typeface="Roboto"/>
                <a:cs typeface="Roboto"/>
              </a:rPr>
              <a:t>general</a:t>
            </a:r>
            <a:endParaRPr sz="1700">
              <a:latin typeface="Roboto"/>
              <a:cs typeface="Roboto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803299" y="1465205"/>
            <a:ext cx="7780655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Microsoft Sans Serif"/>
                <a:cs typeface="Microsoft Sans Serif"/>
              </a:rPr>
              <a:t>Процесс</a:t>
            </a:r>
            <a:r>
              <a:rPr dirty="0" sz="4000" spc="-125">
                <a:latin typeface="Microsoft Sans Serif"/>
                <a:cs typeface="Microsoft Sans Serif"/>
              </a:rPr>
              <a:t> </a:t>
            </a:r>
            <a:r>
              <a:rPr dirty="0" sz="4000" spc="-130">
                <a:latin typeface="Microsoft Sans Serif"/>
                <a:cs typeface="Microsoft Sans Serif"/>
              </a:rPr>
              <a:t>обучения</a:t>
            </a:r>
            <a:r>
              <a:rPr dirty="0" sz="4000" spc="-130">
                <a:latin typeface="Verdana"/>
                <a:cs typeface="Verdana"/>
              </a:rPr>
              <a:t>:</a:t>
            </a:r>
            <a:r>
              <a:rPr dirty="0" sz="4000" spc="-290">
                <a:latin typeface="Verdana"/>
                <a:cs typeface="Verdana"/>
              </a:rPr>
              <a:t> </a:t>
            </a:r>
            <a:r>
              <a:rPr dirty="0" sz="4000" spc="-75">
                <a:latin typeface="Verdana"/>
                <a:cs typeface="Verdana"/>
              </a:rPr>
              <a:t>ﬁne-</a:t>
            </a:r>
            <a:r>
              <a:rPr dirty="0" sz="4000" spc="-10">
                <a:latin typeface="Verdana"/>
                <a:cs typeface="Verdana"/>
              </a:rPr>
              <a:t>tuning</a:t>
            </a:r>
            <a:endParaRPr sz="4000">
              <a:latin typeface="Verdana"/>
              <a:cs typeface="Verdana"/>
            </a:endParaRPr>
          </a:p>
          <a:p>
            <a:pPr marL="206375">
              <a:lnSpc>
                <a:spcPct val="100000"/>
              </a:lnSpc>
              <a:spcBef>
                <a:spcPts val="3000"/>
              </a:spcBef>
            </a:pPr>
            <a:r>
              <a:rPr dirty="0" sz="1900" spc="-30">
                <a:latin typeface="Microsoft Sans Serif"/>
                <a:cs typeface="Microsoft Sans Serif"/>
              </a:rPr>
              <a:t>Существует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множество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Microsoft Sans Serif"/>
                <a:cs typeface="Microsoft Sans Serif"/>
              </a:rPr>
              <a:t>задач</a:t>
            </a:r>
            <a:r>
              <a:rPr dirty="0" sz="1900" spc="-85">
                <a:latin typeface="Tahoma"/>
                <a:cs typeface="Tahoma"/>
              </a:rPr>
              <a:t>,</a:t>
            </a:r>
            <a:r>
              <a:rPr dirty="0" sz="1900" spc="-150">
                <a:latin typeface="Tahoma"/>
                <a:cs typeface="Tahoma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на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которые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40">
                <a:latin typeface="Microsoft Sans Serif"/>
                <a:cs typeface="Microsoft Sans Serif"/>
              </a:rPr>
              <a:t>можно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дообучать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модель</a:t>
            </a:r>
            <a:r>
              <a:rPr dirty="0" sz="1900" spc="-10"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025" y="6523713"/>
            <a:ext cx="648652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40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175">
                <a:latin typeface="Tahoma"/>
                <a:cs typeface="Tahoma"/>
              </a:rPr>
              <a:t> </a:t>
            </a:r>
            <a:r>
              <a:rPr dirty="0" sz="1400" spc="-55">
                <a:latin typeface="Tahoma"/>
                <a:cs typeface="Tahoma"/>
              </a:rPr>
              <a:t>https://sysblok.ru/knowhow/kak-</a:t>
            </a:r>
            <a:r>
              <a:rPr dirty="0" sz="1400" spc="-50">
                <a:latin typeface="Tahoma"/>
                <a:cs typeface="Tahoma"/>
              </a:rPr>
              <a:t>rabotajut-</a:t>
            </a:r>
            <a:r>
              <a:rPr dirty="0" sz="1400" spc="-55">
                <a:latin typeface="Tahoma"/>
                <a:cs typeface="Tahoma"/>
              </a:rPr>
              <a:t>jazykovye-</a:t>
            </a:r>
            <a:r>
              <a:rPr dirty="0" sz="1400" spc="-10">
                <a:latin typeface="Tahoma"/>
                <a:cs typeface="Tahoma"/>
              </a:rPr>
              <a:t>modeli/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5205"/>
            <a:ext cx="9121775" cy="3622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0">
                <a:latin typeface="Microsoft Sans Serif"/>
                <a:cs typeface="Microsoft Sans Serif"/>
              </a:rPr>
              <a:t>Промптинг</a:t>
            </a:r>
            <a:endParaRPr sz="4000">
              <a:latin typeface="Microsoft Sans Serif"/>
              <a:cs typeface="Microsoft Sans Serif"/>
            </a:endParaRPr>
          </a:p>
          <a:p>
            <a:pPr marL="53975" marR="127000">
              <a:lnSpc>
                <a:spcPct val="100000"/>
              </a:lnSpc>
              <a:spcBef>
                <a:spcPts val="3000"/>
              </a:spcBef>
            </a:pPr>
            <a:r>
              <a:rPr dirty="0" sz="1900">
                <a:latin typeface="Microsoft Sans Serif"/>
                <a:cs typeface="Microsoft Sans Serif"/>
              </a:rPr>
              <a:t>Если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модель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была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дообучена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на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следование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инструкциям</a:t>
            </a:r>
            <a:r>
              <a:rPr dirty="0" sz="1900" spc="-55">
                <a:latin typeface="Tahoma"/>
                <a:cs typeface="Tahoma"/>
              </a:rPr>
              <a:t>,</a:t>
            </a:r>
            <a:r>
              <a:rPr dirty="0" sz="1900" spc="-155">
                <a:latin typeface="Tahoma"/>
                <a:cs typeface="Tahoma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то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ее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называют </a:t>
            </a:r>
            <a:r>
              <a:rPr dirty="0" sz="1900" spc="-55">
                <a:latin typeface="Tahoma"/>
                <a:cs typeface="Tahoma"/>
              </a:rPr>
              <a:t>instruction-</a:t>
            </a:r>
            <a:r>
              <a:rPr dirty="0" sz="1900" spc="-65">
                <a:latin typeface="Tahoma"/>
                <a:cs typeface="Tahoma"/>
              </a:rPr>
              <a:t>tuned</a:t>
            </a:r>
            <a:r>
              <a:rPr dirty="0" sz="1900" spc="-130">
                <a:latin typeface="Tahoma"/>
                <a:cs typeface="Tahoma"/>
              </a:rPr>
              <a:t> </a:t>
            </a:r>
            <a:r>
              <a:rPr dirty="0" sz="1900" spc="-65">
                <a:latin typeface="Tahoma"/>
                <a:cs typeface="Tahoma"/>
              </a:rPr>
              <a:t>(</a:t>
            </a:r>
            <a:r>
              <a:rPr dirty="0" sz="1900" spc="-65">
                <a:latin typeface="Microsoft Sans Serif"/>
                <a:cs typeface="Microsoft Sans Serif"/>
              </a:rPr>
              <a:t>чаще</a:t>
            </a:r>
            <a:r>
              <a:rPr dirty="0" sz="1900" spc="-3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всего</a:t>
            </a:r>
            <a:r>
              <a:rPr dirty="0" sz="1900" spc="-35">
                <a:latin typeface="Microsoft Sans Serif"/>
                <a:cs typeface="Microsoft Sans Serif"/>
              </a:rPr>
              <a:t> </a:t>
            </a:r>
            <a:r>
              <a:rPr dirty="0" sz="1900" spc="-40">
                <a:latin typeface="Microsoft Sans Serif"/>
                <a:cs typeface="Microsoft Sans Serif"/>
              </a:rPr>
              <a:t>обозначается </a:t>
            </a:r>
            <a:r>
              <a:rPr dirty="0" sz="1900" spc="-70">
                <a:latin typeface="Tahoma"/>
                <a:cs typeface="Tahoma"/>
              </a:rPr>
              <a:t>-</a:t>
            </a:r>
            <a:r>
              <a:rPr dirty="0" sz="1900" spc="-55">
                <a:latin typeface="Tahoma"/>
                <a:cs typeface="Tahoma"/>
              </a:rPr>
              <a:t>it</a:t>
            </a:r>
            <a:r>
              <a:rPr dirty="0" sz="1900" spc="-125">
                <a:latin typeface="Tahoma"/>
                <a:cs typeface="Tahoma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в</a:t>
            </a:r>
            <a:r>
              <a:rPr dirty="0" sz="1900" spc="-35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названии</a:t>
            </a:r>
            <a:r>
              <a:rPr dirty="0" sz="1900" spc="-35">
                <a:latin typeface="Microsoft Sans Serif"/>
                <a:cs typeface="Microsoft Sans Serif"/>
              </a:rPr>
              <a:t> </a:t>
            </a:r>
            <a:r>
              <a:rPr dirty="0" sz="1900" spc="-95">
                <a:latin typeface="Microsoft Sans Serif"/>
                <a:cs typeface="Microsoft Sans Serif"/>
              </a:rPr>
              <a:t>модели</a:t>
            </a:r>
            <a:r>
              <a:rPr dirty="0" sz="1900" spc="-95">
                <a:latin typeface="Tahoma"/>
                <a:cs typeface="Tahoma"/>
              </a:rPr>
              <a:t>).</a:t>
            </a:r>
            <a:r>
              <a:rPr dirty="0" sz="1900" spc="-125">
                <a:latin typeface="Tahoma"/>
                <a:cs typeface="Tahoma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Такие</a:t>
            </a:r>
            <a:r>
              <a:rPr dirty="0" sz="1900" spc="-3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модели лучше</a:t>
            </a:r>
            <a:r>
              <a:rPr dirty="0" sz="1900" spc="-7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всего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реагируют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на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промпты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и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письменные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инструкции</a:t>
            </a:r>
            <a:r>
              <a:rPr dirty="0" sz="1900" spc="-55">
                <a:latin typeface="Tahoma"/>
                <a:cs typeface="Tahoma"/>
              </a:rPr>
              <a:t>,</a:t>
            </a:r>
            <a:r>
              <a:rPr dirty="0" sz="1900" spc="-155">
                <a:latin typeface="Tahoma"/>
                <a:cs typeface="Tahoma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так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что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для</a:t>
            </a:r>
            <a:r>
              <a:rPr dirty="0" sz="1900" spc="-7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всего</a:t>
            </a:r>
            <a:r>
              <a:rPr dirty="0" sz="1900" spc="-10">
                <a:latin typeface="Tahoma"/>
                <a:cs typeface="Tahoma"/>
              </a:rPr>
              <a:t>, </a:t>
            </a:r>
            <a:r>
              <a:rPr dirty="0" sz="1900" spc="-10">
                <a:latin typeface="Microsoft Sans Serif"/>
                <a:cs typeface="Microsoft Sans Serif"/>
              </a:rPr>
              <a:t>что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40">
                <a:latin typeface="Microsoft Sans Serif"/>
                <a:cs typeface="Microsoft Sans Serif"/>
              </a:rPr>
              <a:t>будет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обсуждаться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дальше</a:t>
            </a:r>
            <a:r>
              <a:rPr dirty="0" sz="1900" spc="-45">
                <a:latin typeface="Tahoma"/>
                <a:cs typeface="Tahoma"/>
              </a:rPr>
              <a:t>,</a:t>
            </a:r>
            <a:r>
              <a:rPr dirty="0" sz="1900" spc="-155">
                <a:latin typeface="Tahoma"/>
                <a:cs typeface="Tahoma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лучше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30">
                <a:latin typeface="Microsoft Sans Serif"/>
                <a:cs typeface="Microsoft Sans Serif"/>
              </a:rPr>
              <a:t>использовать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их</a:t>
            </a:r>
            <a:r>
              <a:rPr dirty="0" sz="1900" spc="-25"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  <a:p>
            <a:pPr marL="53975" marR="5080">
              <a:lnSpc>
                <a:spcPct val="100000"/>
              </a:lnSpc>
              <a:spcBef>
                <a:spcPts val="2280"/>
              </a:spcBef>
            </a:pPr>
            <a:r>
              <a:rPr dirty="0" sz="1900" spc="-25">
                <a:latin typeface="Microsoft Sans Serif"/>
                <a:cs typeface="Microsoft Sans Serif"/>
              </a:rPr>
              <a:t>Промптинг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90">
                <a:latin typeface="Tahoma"/>
                <a:cs typeface="Tahoma"/>
              </a:rPr>
              <a:t>-</a:t>
            </a:r>
            <a:r>
              <a:rPr dirty="0" sz="1900" spc="-150">
                <a:latin typeface="Tahoma"/>
                <a:cs typeface="Tahoma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это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процесс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подбора</a:t>
            </a:r>
            <a:r>
              <a:rPr dirty="0" sz="1900" spc="-65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затравки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85">
                <a:latin typeface="Tahoma"/>
                <a:cs typeface="Tahoma"/>
              </a:rPr>
              <a:t>(</a:t>
            </a:r>
            <a:r>
              <a:rPr dirty="0" sz="1900" spc="-85">
                <a:latin typeface="Microsoft Sans Serif"/>
                <a:cs typeface="Microsoft Sans Serif"/>
              </a:rPr>
              <a:t>промпта</a:t>
            </a:r>
            <a:r>
              <a:rPr dirty="0" sz="1900" spc="-85">
                <a:latin typeface="Tahoma"/>
                <a:cs typeface="Tahoma"/>
              </a:rPr>
              <a:t>)</a:t>
            </a:r>
            <a:r>
              <a:rPr dirty="0" sz="1900" spc="-150">
                <a:latin typeface="Tahoma"/>
                <a:cs typeface="Tahoma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для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модели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114">
                <a:latin typeface="Microsoft Sans Serif"/>
                <a:cs typeface="Microsoft Sans Serif"/>
              </a:rPr>
              <a:t>так</a:t>
            </a:r>
            <a:r>
              <a:rPr dirty="0" sz="1900" spc="-114">
                <a:latin typeface="Tahoma"/>
                <a:cs typeface="Tahoma"/>
              </a:rPr>
              <a:t>,</a:t>
            </a:r>
            <a:r>
              <a:rPr dirty="0" sz="1900" spc="-155">
                <a:latin typeface="Tahoma"/>
                <a:cs typeface="Tahoma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чтобы </a:t>
            </a:r>
            <a:r>
              <a:rPr dirty="0" sz="1900" spc="-55">
                <a:latin typeface="Microsoft Sans Serif"/>
                <a:cs typeface="Microsoft Sans Serif"/>
              </a:rPr>
              <a:t>результат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генерации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лучше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всего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соответствовал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60">
                <a:latin typeface="Microsoft Sans Serif"/>
                <a:cs typeface="Microsoft Sans Serif"/>
              </a:rPr>
              <a:t>ожиданиям</a:t>
            </a:r>
            <a:r>
              <a:rPr dirty="0" sz="1900" spc="-60">
                <a:latin typeface="Tahoma"/>
                <a:cs typeface="Tahoma"/>
              </a:rPr>
              <a:t>.</a:t>
            </a:r>
            <a:r>
              <a:rPr dirty="0" sz="1900" spc="-150">
                <a:latin typeface="Tahoma"/>
                <a:cs typeface="Tahoma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Он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бывает</a:t>
            </a:r>
            <a:r>
              <a:rPr dirty="0" sz="1900" spc="-6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ручной</a:t>
            </a:r>
            <a:r>
              <a:rPr dirty="0" sz="1900" spc="-10">
                <a:latin typeface="Tahoma"/>
                <a:cs typeface="Tahoma"/>
              </a:rPr>
              <a:t>, </a:t>
            </a:r>
            <a:r>
              <a:rPr dirty="0" sz="1900" spc="-60">
                <a:latin typeface="Microsoft Sans Serif"/>
                <a:cs typeface="Microsoft Sans Serif"/>
              </a:rPr>
              <a:t>когда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мы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просто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придумываем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900" spc="-70">
                <a:latin typeface="Microsoft Sans Serif"/>
                <a:cs typeface="Microsoft Sans Serif"/>
              </a:rPr>
              <a:t>промпт</a:t>
            </a:r>
            <a:r>
              <a:rPr dirty="0" sz="1900" spc="-70">
                <a:latin typeface="Tahoma"/>
                <a:cs typeface="Tahoma"/>
              </a:rPr>
              <a:t>,</a:t>
            </a:r>
            <a:r>
              <a:rPr dirty="0" sz="1900" spc="-135">
                <a:latin typeface="Tahoma"/>
                <a:cs typeface="Tahoma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и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55">
                <a:latin typeface="Microsoft Sans Serif"/>
                <a:cs typeface="Microsoft Sans Serif"/>
              </a:rPr>
              <a:t>автоматический</a:t>
            </a:r>
            <a:r>
              <a:rPr dirty="0" sz="1900" spc="-55">
                <a:latin typeface="Tahoma"/>
                <a:cs typeface="Tahoma"/>
              </a:rPr>
              <a:t>,</a:t>
            </a:r>
            <a:r>
              <a:rPr dirty="0" sz="1900" spc="-135">
                <a:latin typeface="Tahoma"/>
                <a:cs typeface="Tahoma"/>
              </a:rPr>
              <a:t> </a:t>
            </a:r>
            <a:r>
              <a:rPr dirty="0" sz="1900" spc="-50">
                <a:latin typeface="Microsoft Sans Serif"/>
                <a:cs typeface="Microsoft Sans Serif"/>
              </a:rPr>
              <a:t>куда</a:t>
            </a:r>
            <a:r>
              <a:rPr dirty="0" sz="1900" spc="-45">
                <a:latin typeface="Microsoft Sans Serif"/>
                <a:cs typeface="Microsoft Sans Serif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относятся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техники </a:t>
            </a:r>
            <a:r>
              <a:rPr dirty="0" sz="1900" spc="-100">
                <a:latin typeface="Tahoma"/>
                <a:cs typeface="Tahoma"/>
              </a:rPr>
              <a:t>RAG,</a:t>
            </a:r>
            <a:r>
              <a:rPr dirty="0" sz="1900" spc="-145">
                <a:latin typeface="Tahoma"/>
                <a:cs typeface="Tahoma"/>
              </a:rPr>
              <a:t> </a:t>
            </a:r>
            <a:r>
              <a:rPr dirty="0" sz="1900" spc="-20">
                <a:latin typeface="Microsoft Sans Serif"/>
                <a:cs typeface="Microsoft Sans Serif"/>
              </a:rPr>
              <a:t>обучение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45">
                <a:latin typeface="Microsoft Sans Serif"/>
                <a:cs typeface="Microsoft Sans Serif"/>
              </a:rPr>
              <a:t>моделей</a:t>
            </a:r>
            <a:r>
              <a:rPr dirty="0" sz="1900" spc="-45">
                <a:latin typeface="Tahoma"/>
                <a:cs typeface="Tahoma"/>
              </a:rPr>
              <a:t>-</a:t>
            </a:r>
            <a:r>
              <a:rPr dirty="0" sz="1900" spc="-30">
                <a:latin typeface="Microsoft Sans Serif"/>
                <a:cs typeface="Microsoft Sans Serif"/>
              </a:rPr>
              <a:t>промптеров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и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25">
                <a:latin typeface="Microsoft Sans Serif"/>
                <a:cs typeface="Microsoft Sans Serif"/>
              </a:rPr>
              <a:t>прочие</a:t>
            </a:r>
            <a:r>
              <a:rPr dirty="0" sz="1900" spc="-55">
                <a:latin typeface="Microsoft Sans Serif"/>
                <a:cs typeface="Microsoft Sans Serif"/>
              </a:rPr>
              <a:t> </a:t>
            </a:r>
            <a:r>
              <a:rPr dirty="0" sz="1900" spc="-35">
                <a:latin typeface="Microsoft Sans Serif"/>
                <a:cs typeface="Microsoft Sans Serif"/>
              </a:rPr>
              <a:t>похожие</a:t>
            </a:r>
            <a:r>
              <a:rPr dirty="0" sz="1900" spc="-5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подходы</a:t>
            </a:r>
            <a:r>
              <a:rPr dirty="0" sz="1900" spc="-10">
                <a:latin typeface="Tahoma"/>
                <a:cs typeface="Tahoma"/>
              </a:rPr>
              <a:t>.</a:t>
            </a:r>
            <a:endParaRPr sz="1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03299" y="1465205"/>
            <a:ext cx="4034154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35">
                <a:latin typeface="Microsoft Sans Serif"/>
                <a:cs typeface="Microsoft Sans Serif"/>
              </a:rPr>
              <a:t>Промптинг</a:t>
            </a:r>
            <a:r>
              <a:rPr dirty="0" sz="4000" spc="-135">
                <a:latin typeface="Verdana"/>
                <a:cs typeface="Verdana"/>
              </a:rPr>
              <a:t>:</a:t>
            </a:r>
            <a:r>
              <a:rPr dirty="0" sz="4000" spc="-275">
                <a:latin typeface="Verdana"/>
                <a:cs typeface="Verdana"/>
              </a:rPr>
              <a:t> </a:t>
            </a:r>
            <a:r>
              <a:rPr dirty="0" sz="4000" spc="-20">
                <a:latin typeface="Microsoft Sans Serif"/>
                <a:cs typeface="Microsoft Sans Serif"/>
              </a:rPr>
              <a:t>виды</a:t>
            </a:r>
            <a:endParaRPr sz="4000">
              <a:latin typeface="Microsoft Sans Serif"/>
              <a:cs typeface="Microsoft Sans Serif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73025" y="6523713"/>
            <a:ext cx="57327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5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-45">
                <a:latin typeface="Tahoma"/>
                <a:cs typeface="Tahoma"/>
                <a:hlinkClick r:id="rId2"/>
              </a:rPr>
              <a:t>https://www.promptingguide.ai/introduction/basics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74724" y="2836196"/>
            <a:ext cx="3954145" cy="1881505"/>
          </a:xfrm>
          <a:prstGeom prst="rect">
            <a:avLst/>
          </a:prstGeom>
        </p:spPr>
        <p:txBody>
          <a:bodyPr wrap="square" lIns="0" tIns="1555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25"/>
              </a:spcBef>
            </a:pPr>
            <a:r>
              <a:rPr dirty="0" sz="1900" spc="-20">
                <a:latin typeface="Microsoft Sans Serif"/>
                <a:cs typeface="Microsoft Sans Serif"/>
              </a:rPr>
              <a:t>Самые</a:t>
            </a:r>
            <a:r>
              <a:rPr dirty="0" sz="1900" spc="-10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частые</a:t>
            </a:r>
            <a:r>
              <a:rPr dirty="0" sz="1900" spc="-95">
                <a:latin typeface="Microsoft Sans Serif"/>
                <a:cs typeface="Microsoft Sans Serif"/>
              </a:rPr>
              <a:t> </a:t>
            </a:r>
            <a:r>
              <a:rPr dirty="0" sz="1900">
                <a:latin typeface="Microsoft Sans Serif"/>
                <a:cs typeface="Microsoft Sans Serif"/>
              </a:rPr>
              <a:t>виды</a:t>
            </a:r>
            <a:r>
              <a:rPr dirty="0" sz="1900" spc="-90">
                <a:latin typeface="Microsoft Sans Serif"/>
                <a:cs typeface="Microsoft Sans Serif"/>
              </a:rPr>
              <a:t> </a:t>
            </a:r>
            <a:r>
              <a:rPr dirty="0" sz="1900" spc="-10">
                <a:latin typeface="Microsoft Sans Serif"/>
                <a:cs typeface="Microsoft Sans Serif"/>
              </a:rPr>
              <a:t>промптинга</a:t>
            </a:r>
            <a:r>
              <a:rPr dirty="0" sz="1900" spc="-10">
                <a:latin typeface="Tahoma"/>
                <a:cs typeface="Tahoma"/>
              </a:rPr>
              <a:t>:</a:t>
            </a:r>
            <a:endParaRPr sz="19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spcBef>
                <a:spcPts val="1010"/>
              </a:spcBef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40">
                <a:latin typeface="Tahoma"/>
                <a:cs typeface="Tahoma"/>
              </a:rPr>
              <a:t>Zero-</a:t>
            </a:r>
            <a:r>
              <a:rPr dirty="0" sz="1700" spc="-20">
                <a:latin typeface="Tahoma"/>
                <a:cs typeface="Tahoma"/>
              </a:rPr>
              <a:t>shot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70">
                <a:latin typeface="Tahoma"/>
                <a:cs typeface="Tahoma"/>
              </a:rPr>
              <a:t>Few-</a:t>
            </a:r>
            <a:r>
              <a:rPr dirty="0" sz="1700" spc="-20">
                <a:latin typeface="Tahoma"/>
                <a:cs typeface="Tahoma"/>
              </a:rPr>
              <a:t>shot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55">
                <a:latin typeface="Tahoma"/>
                <a:cs typeface="Tahoma"/>
              </a:rPr>
              <a:t>Chain-</a:t>
            </a:r>
            <a:r>
              <a:rPr dirty="0" sz="1700" spc="-50">
                <a:latin typeface="Tahoma"/>
                <a:cs typeface="Tahoma"/>
              </a:rPr>
              <a:t>of-</a:t>
            </a:r>
            <a:r>
              <a:rPr dirty="0" sz="1700" spc="-60">
                <a:latin typeface="Tahoma"/>
                <a:cs typeface="Tahoma"/>
              </a:rPr>
              <a:t>Thought</a:t>
            </a:r>
            <a:r>
              <a:rPr dirty="0" sz="1700" spc="-30">
                <a:latin typeface="Tahoma"/>
                <a:cs typeface="Tahoma"/>
              </a:rPr>
              <a:t> </a:t>
            </a:r>
            <a:r>
              <a:rPr dirty="0" sz="1700" spc="-10">
                <a:latin typeface="Tahoma"/>
                <a:cs typeface="Tahoma"/>
              </a:rPr>
              <a:t>(CoT)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50">
                <a:latin typeface="Tahoma"/>
                <a:cs typeface="Tahoma"/>
              </a:rPr>
              <a:t>Self-</a:t>
            </a:r>
            <a:r>
              <a:rPr dirty="0" sz="1700" spc="-10">
                <a:latin typeface="Tahoma"/>
                <a:cs typeface="Tahoma"/>
              </a:rPr>
              <a:t>Consistency</a:t>
            </a:r>
            <a:endParaRPr sz="1700">
              <a:latin typeface="Tahoma"/>
              <a:cs typeface="Tahoma"/>
            </a:endParaRPr>
          </a:p>
          <a:p>
            <a:pPr marL="469265" indent="-358775">
              <a:lnSpc>
                <a:spcPct val="100000"/>
              </a:lnSpc>
              <a:buFont typeface="Microsoft Sans Serif"/>
              <a:buChar char="●"/>
              <a:tabLst>
                <a:tab pos="469265" algn="l"/>
              </a:tabLst>
            </a:pPr>
            <a:r>
              <a:rPr dirty="0" sz="1700" spc="-60">
                <a:latin typeface="Tahoma"/>
                <a:cs typeface="Tahoma"/>
              </a:rPr>
              <a:t>Retrieval</a:t>
            </a:r>
            <a:r>
              <a:rPr dirty="0" sz="1700" spc="-75">
                <a:latin typeface="Tahoma"/>
                <a:cs typeface="Tahoma"/>
              </a:rPr>
              <a:t> </a:t>
            </a:r>
            <a:r>
              <a:rPr dirty="0" sz="1700" spc="-45">
                <a:latin typeface="Tahoma"/>
                <a:cs typeface="Tahoma"/>
              </a:rPr>
              <a:t>Augmented</a:t>
            </a:r>
            <a:r>
              <a:rPr dirty="0" sz="1700" spc="-75">
                <a:latin typeface="Tahoma"/>
                <a:cs typeface="Tahoma"/>
              </a:rPr>
              <a:t> </a:t>
            </a:r>
            <a:r>
              <a:rPr dirty="0" sz="1700" spc="-55">
                <a:latin typeface="Tahoma"/>
                <a:cs typeface="Tahoma"/>
              </a:rPr>
              <a:t>Generation</a:t>
            </a:r>
            <a:r>
              <a:rPr dirty="0" sz="1700" spc="-70">
                <a:latin typeface="Tahoma"/>
                <a:cs typeface="Tahoma"/>
              </a:rPr>
              <a:t> </a:t>
            </a:r>
            <a:r>
              <a:rPr dirty="0" sz="1700" spc="-80">
                <a:latin typeface="Tahoma"/>
                <a:cs typeface="Tahoma"/>
              </a:rPr>
              <a:t>(RAG)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10225" y="1039188"/>
            <a:ext cx="4030273" cy="2471310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14547" y="3620100"/>
            <a:ext cx="2961074" cy="28376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24" y="6523713"/>
            <a:ext cx="573278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5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-45">
                <a:latin typeface="Tahoma"/>
                <a:cs typeface="Tahoma"/>
                <a:hlinkClick r:id="rId2"/>
              </a:rPr>
              <a:t>https://www.promptingguide.ai/introduction/basics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5205"/>
            <a:ext cx="7171690" cy="30899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35">
                <a:latin typeface="Microsoft Sans Serif"/>
                <a:cs typeface="Microsoft Sans Serif"/>
              </a:rPr>
              <a:t>Промптинг</a:t>
            </a:r>
            <a:r>
              <a:rPr dirty="0" sz="4000" spc="-135">
                <a:latin typeface="Verdana"/>
                <a:cs typeface="Verdana"/>
              </a:rPr>
              <a:t>:</a:t>
            </a:r>
            <a:r>
              <a:rPr dirty="0" sz="4000" spc="-200">
                <a:latin typeface="Verdana"/>
                <a:cs typeface="Verdana"/>
              </a:rPr>
              <a:t> </a:t>
            </a:r>
            <a:r>
              <a:rPr dirty="0" sz="4000" spc="-75">
                <a:latin typeface="Verdana"/>
                <a:cs typeface="Verdana"/>
              </a:rPr>
              <a:t>Chain-</a:t>
            </a:r>
            <a:r>
              <a:rPr dirty="0" sz="4000" spc="-100">
                <a:latin typeface="Verdana"/>
                <a:cs typeface="Verdana"/>
              </a:rPr>
              <a:t>of-</a:t>
            </a:r>
            <a:r>
              <a:rPr dirty="0" sz="4000" spc="-40">
                <a:latin typeface="Verdana"/>
                <a:cs typeface="Verdana"/>
              </a:rPr>
              <a:t>Thought</a:t>
            </a:r>
            <a:endParaRPr sz="4000">
              <a:latin typeface="Verdana"/>
              <a:cs typeface="Verdana"/>
            </a:endParaRPr>
          </a:p>
          <a:p>
            <a:pPr marL="53975" marR="2672715">
              <a:lnSpc>
                <a:spcPct val="100000"/>
              </a:lnSpc>
              <a:spcBef>
                <a:spcPts val="3005"/>
              </a:spcBef>
            </a:pPr>
            <a:r>
              <a:rPr dirty="0" sz="1700" spc="-20">
                <a:latin typeface="Microsoft Sans Serif"/>
                <a:cs typeface="Microsoft Sans Serif"/>
              </a:rPr>
              <a:t>Вместо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75">
                <a:latin typeface="Microsoft Sans Serif"/>
                <a:cs typeface="Microsoft Sans Serif"/>
              </a:rPr>
              <a:t>того</a:t>
            </a:r>
            <a:r>
              <a:rPr dirty="0" sz="1700" spc="-75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чтобы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сразу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требовать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ответ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на </a:t>
            </a:r>
            <a:r>
              <a:rPr dirty="0" sz="1700" spc="-20">
                <a:latin typeface="Microsoft Sans Serif"/>
                <a:cs typeface="Microsoft Sans Serif"/>
              </a:rPr>
              <a:t>поставленный</a:t>
            </a:r>
            <a:r>
              <a:rPr dirty="0" sz="1700" spc="-50">
                <a:latin typeface="Microsoft Sans Serif"/>
                <a:cs typeface="Microsoft Sans Serif"/>
              </a:rPr>
              <a:t> вопрос</a:t>
            </a:r>
            <a:r>
              <a:rPr dirty="0" sz="1700" spc="-50">
                <a:latin typeface="Tahoma"/>
                <a:cs typeface="Tahoma"/>
              </a:rPr>
              <a:t>,</a:t>
            </a:r>
            <a:r>
              <a:rPr dirty="0" sz="1700" spc="-130">
                <a:latin typeface="Tahoma"/>
                <a:cs typeface="Tahoma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мы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даем</a:t>
            </a:r>
            <a:r>
              <a:rPr dirty="0" sz="1700" spc="-4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модели </a:t>
            </a:r>
            <a:r>
              <a:rPr dirty="0" sz="1700" spc="-25">
                <a:latin typeface="Microsoft Sans Serif"/>
                <a:cs typeface="Microsoft Sans Serif"/>
              </a:rPr>
              <a:t>пример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рассуждений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и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просим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от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нее</a:t>
            </a:r>
            <a:r>
              <a:rPr dirty="0" sz="1700" spc="50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думать</a:t>
            </a:r>
            <a:r>
              <a:rPr dirty="0" sz="1700" spc="-75">
                <a:latin typeface="Microsoft Sans Serif"/>
                <a:cs typeface="Microsoft Sans Serif"/>
              </a:rPr>
              <a:t> </a:t>
            </a:r>
            <a:r>
              <a:rPr dirty="0" sz="1700" spc="-35">
                <a:latin typeface="Microsoft Sans Serif"/>
                <a:cs typeface="Microsoft Sans Serif"/>
              </a:rPr>
              <a:t>похожим</a:t>
            </a:r>
            <a:r>
              <a:rPr dirty="0" sz="1700" spc="-7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образом</a:t>
            </a:r>
            <a:r>
              <a:rPr dirty="0" sz="1700" spc="-1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53975" marR="3333115">
              <a:lnSpc>
                <a:spcPct val="100000"/>
              </a:lnSpc>
              <a:spcBef>
                <a:spcPts val="2039"/>
              </a:spcBef>
            </a:pPr>
            <a:r>
              <a:rPr dirty="0" sz="1700">
                <a:latin typeface="Microsoft Sans Serif"/>
                <a:cs typeface="Microsoft Sans Serif"/>
              </a:rPr>
              <a:t>На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35">
                <a:latin typeface="Microsoft Sans Serif"/>
                <a:cs typeface="Microsoft Sans Serif"/>
              </a:rPr>
              <a:t>практике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такой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45">
                <a:latin typeface="Microsoft Sans Serif"/>
                <a:cs typeface="Microsoft Sans Serif"/>
              </a:rPr>
              <a:t>метод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оказывается </a:t>
            </a:r>
            <a:r>
              <a:rPr dirty="0" sz="1700" spc="-25">
                <a:latin typeface="Microsoft Sans Serif"/>
                <a:cs typeface="Microsoft Sans Serif"/>
              </a:rPr>
              <a:t>дороже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100">
                <a:latin typeface="Tahoma"/>
                <a:cs typeface="Tahoma"/>
              </a:rPr>
              <a:t>(</a:t>
            </a:r>
            <a:r>
              <a:rPr dirty="0" sz="1700" spc="-100">
                <a:latin typeface="Microsoft Sans Serif"/>
                <a:cs typeface="Microsoft Sans Serif"/>
              </a:rPr>
              <a:t>почему</a:t>
            </a:r>
            <a:r>
              <a:rPr dirty="0" sz="1700" spc="-100">
                <a:latin typeface="Tahoma"/>
                <a:cs typeface="Tahoma"/>
              </a:rPr>
              <a:t>?),</a:t>
            </a:r>
            <a:r>
              <a:rPr dirty="0" sz="1700" spc="-125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но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эффективнее</a:t>
            </a:r>
            <a:r>
              <a:rPr dirty="0" sz="1700" spc="-10">
                <a:latin typeface="Tahoma"/>
                <a:cs typeface="Tahoma"/>
              </a:rPr>
              <a:t>, </a:t>
            </a:r>
            <a:r>
              <a:rPr dirty="0" sz="1700" spc="-10">
                <a:latin typeface="Microsoft Sans Serif"/>
                <a:cs typeface="Microsoft Sans Serif"/>
              </a:rPr>
              <a:t>особенно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математических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задачах</a:t>
            </a:r>
            <a:r>
              <a:rPr dirty="0" sz="1700" spc="-1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2300" y="2392525"/>
            <a:ext cx="6586109" cy="331407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24" y="6295113"/>
            <a:ext cx="10518140" cy="452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-20">
                <a:latin typeface="Microsoft Sans Serif"/>
                <a:cs typeface="Microsoft Sans Serif"/>
              </a:rPr>
              <a:t> </a:t>
            </a:r>
            <a:r>
              <a:rPr dirty="0" sz="1400" spc="-10">
                <a:latin typeface="Microsoft Sans Serif"/>
                <a:cs typeface="Microsoft Sans Serif"/>
              </a:rPr>
              <a:t>изображения</a:t>
            </a:r>
            <a:r>
              <a:rPr dirty="0" sz="1400" spc="-10">
                <a:latin typeface="Tahoma"/>
                <a:cs typeface="Tahoma"/>
              </a:rPr>
              <a:t>: </a:t>
            </a:r>
            <a:r>
              <a:rPr dirty="0" sz="1400" spc="-45">
                <a:latin typeface="Tahoma"/>
                <a:cs typeface="Tahoma"/>
              </a:rPr>
              <a:t>https://learnprompting.org/ru/docs/intermediate/self_consistency?srsltid=AfmBOooU8AfGVzYIHqf7jrO_0Bf04Oet5qVihsmkWfEkJbB3irYUINgv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5205"/>
            <a:ext cx="10253980" cy="2830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 spc="-135">
                <a:latin typeface="Microsoft Sans Serif"/>
                <a:cs typeface="Microsoft Sans Serif"/>
              </a:rPr>
              <a:t>Промптинг</a:t>
            </a:r>
            <a:r>
              <a:rPr dirty="0" sz="4000" spc="-135">
                <a:latin typeface="Verdana"/>
                <a:cs typeface="Verdana"/>
              </a:rPr>
              <a:t>:</a:t>
            </a:r>
            <a:r>
              <a:rPr dirty="0" sz="4000" spc="-245">
                <a:latin typeface="Verdana"/>
                <a:cs typeface="Verdana"/>
              </a:rPr>
              <a:t> </a:t>
            </a:r>
            <a:r>
              <a:rPr dirty="0" sz="4000" spc="-100">
                <a:latin typeface="Verdana"/>
                <a:cs typeface="Verdana"/>
              </a:rPr>
              <a:t>Self-</a:t>
            </a:r>
            <a:r>
              <a:rPr dirty="0" sz="4000" spc="-10">
                <a:latin typeface="Verdana"/>
                <a:cs typeface="Verdana"/>
              </a:rPr>
              <a:t>Consistency</a:t>
            </a:r>
            <a:endParaRPr sz="4000">
              <a:latin typeface="Verdana"/>
              <a:cs typeface="Verdan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dirty="0" sz="1700" spc="-30">
                <a:latin typeface="Microsoft Sans Serif"/>
                <a:cs typeface="Microsoft Sans Serif"/>
              </a:rPr>
              <a:t>Похоже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на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цепочки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рассуждения</a:t>
            </a:r>
            <a:r>
              <a:rPr dirty="0" sz="1700" spc="-40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здесь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мы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генерируем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5">
                <a:latin typeface="Microsoft Sans Serif"/>
                <a:cs typeface="Microsoft Sans Serif"/>
              </a:rPr>
              <a:t>несколько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вариантов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таких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45">
                <a:latin typeface="Microsoft Sans Serif"/>
                <a:cs typeface="Microsoft Sans Serif"/>
              </a:rPr>
              <a:t>цепочек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и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потом </a:t>
            </a:r>
            <a:r>
              <a:rPr dirty="0" sz="1700" spc="-20">
                <a:latin typeface="Microsoft Sans Serif"/>
                <a:cs typeface="Microsoft Sans Serif"/>
              </a:rPr>
              <a:t>берем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средний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55">
                <a:latin typeface="Tahoma"/>
                <a:cs typeface="Tahoma"/>
              </a:rPr>
              <a:t>(</a:t>
            </a:r>
            <a:r>
              <a:rPr dirty="0" sz="1700" spc="-55">
                <a:latin typeface="Microsoft Sans Serif"/>
                <a:cs typeface="Microsoft Sans Serif"/>
              </a:rPr>
              <a:t>или</a:t>
            </a:r>
            <a:r>
              <a:rPr dirty="0" sz="1700" spc="-4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самый</a:t>
            </a:r>
            <a:r>
              <a:rPr dirty="0" sz="1700" spc="-45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частотный</a:t>
            </a:r>
            <a:r>
              <a:rPr dirty="0" sz="1700" spc="-40">
                <a:latin typeface="Tahoma"/>
                <a:cs typeface="Tahoma"/>
              </a:rPr>
              <a:t>)</a:t>
            </a:r>
            <a:r>
              <a:rPr dirty="0" sz="1700" spc="-135">
                <a:latin typeface="Tahoma"/>
                <a:cs typeface="Tahoma"/>
              </a:rPr>
              <a:t> </a:t>
            </a:r>
            <a:r>
              <a:rPr dirty="0" sz="1700" spc="-50">
                <a:latin typeface="Microsoft Sans Serif"/>
                <a:cs typeface="Microsoft Sans Serif"/>
              </a:rPr>
              <a:t>результат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их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полученных</a:t>
            </a:r>
            <a:r>
              <a:rPr dirty="0" sz="1700" spc="-1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</a:pPr>
            <a:r>
              <a:rPr dirty="0" sz="1700" spc="-10">
                <a:latin typeface="Microsoft Sans Serif"/>
                <a:cs typeface="Microsoft Sans Serif"/>
              </a:rPr>
              <a:t>Плюсы</a:t>
            </a:r>
            <a:r>
              <a:rPr dirty="0" sz="1700" spc="-10">
                <a:latin typeface="Tahoma"/>
                <a:cs typeface="Tahoma"/>
              </a:rPr>
              <a:t>:</a:t>
            </a:r>
            <a:endParaRPr sz="1700">
              <a:latin typeface="Tahoma"/>
              <a:cs typeface="Tahoma"/>
            </a:endParaRPr>
          </a:p>
          <a:p>
            <a:pPr marL="511175" marR="347980" indent="-297815">
              <a:lnSpc>
                <a:spcPct val="100000"/>
              </a:lnSpc>
              <a:buFont typeface="Tahoma"/>
              <a:buChar char="-"/>
              <a:tabLst>
                <a:tab pos="511175" algn="l"/>
              </a:tabLst>
            </a:pPr>
            <a:r>
              <a:rPr dirty="0" sz="1700" spc="-30">
                <a:latin typeface="Microsoft Sans Serif"/>
                <a:cs typeface="Microsoft Sans Serif"/>
              </a:rPr>
              <a:t>Можем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избежать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принятия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галлюцинации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75">
                <a:latin typeface="Microsoft Sans Serif"/>
                <a:cs typeface="Microsoft Sans Serif"/>
              </a:rPr>
              <a:t>как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правильного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65">
                <a:latin typeface="Microsoft Sans Serif"/>
                <a:cs typeface="Microsoft Sans Serif"/>
              </a:rPr>
              <a:t>ответа</a:t>
            </a:r>
            <a:r>
              <a:rPr dirty="0" sz="1700" spc="-65">
                <a:latin typeface="Tahoma"/>
                <a:cs typeface="Tahoma"/>
              </a:rPr>
              <a:t>,</a:t>
            </a:r>
            <a:r>
              <a:rPr dirty="0" sz="1700" spc="-135">
                <a:latin typeface="Tahoma"/>
                <a:cs typeface="Tahoma"/>
              </a:rPr>
              <a:t> </a:t>
            </a:r>
            <a:r>
              <a:rPr dirty="0" sz="1700" spc="-50">
                <a:latin typeface="Microsoft Sans Serif"/>
                <a:cs typeface="Microsoft Sans Serif"/>
              </a:rPr>
              <a:t>так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75">
                <a:latin typeface="Microsoft Sans Serif"/>
                <a:cs typeface="Microsoft Sans Serif"/>
              </a:rPr>
              <a:t>как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она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менее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вероятно повторится</a:t>
            </a:r>
            <a:endParaRPr sz="1700">
              <a:latin typeface="Microsoft Sans Serif"/>
              <a:cs typeface="Microsoft Sans Serif"/>
            </a:endParaRPr>
          </a:p>
          <a:p>
            <a:pPr marL="53975">
              <a:lnSpc>
                <a:spcPct val="100000"/>
              </a:lnSpc>
            </a:pPr>
            <a:r>
              <a:rPr dirty="0" sz="1700" spc="-10">
                <a:latin typeface="Microsoft Sans Serif"/>
                <a:cs typeface="Microsoft Sans Serif"/>
              </a:rPr>
              <a:t>Минусы</a:t>
            </a:r>
            <a:r>
              <a:rPr dirty="0" sz="1700" spc="-10">
                <a:latin typeface="Tahoma"/>
                <a:cs typeface="Tahoma"/>
              </a:rPr>
              <a:t>:</a:t>
            </a:r>
            <a:endParaRPr sz="1700">
              <a:latin typeface="Tahoma"/>
              <a:cs typeface="Tahoma"/>
            </a:endParaRPr>
          </a:p>
          <a:p>
            <a:pPr marL="511175" indent="-297815">
              <a:lnSpc>
                <a:spcPct val="100000"/>
              </a:lnSpc>
              <a:buFont typeface="Tahoma"/>
              <a:buChar char="-"/>
              <a:tabLst>
                <a:tab pos="511175" algn="l"/>
              </a:tabLst>
            </a:pPr>
            <a:r>
              <a:rPr dirty="0" sz="1700">
                <a:latin typeface="Microsoft Sans Serif"/>
                <a:cs typeface="Microsoft Sans Serif"/>
              </a:rPr>
              <a:t>Еще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более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дорого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Tahoma"/>
                <a:cs typeface="Tahoma"/>
              </a:rPr>
              <a:t>(</a:t>
            </a:r>
            <a:r>
              <a:rPr dirty="0" sz="1700" spc="-10">
                <a:latin typeface="Microsoft Sans Serif"/>
                <a:cs typeface="Microsoft Sans Serif"/>
              </a:rPr>
              <a:t>почему</a:t>
            </a:r>
            <a:r>
              <a:rPr dirty="0" sz="1700" spc="-10">
                <a:latin typeface="Tahoma"/>
                <a:cs typeface="Tahoma"/>
              </a:rPr>
              <a:t>?)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69812" y="4035225"/>
            <a:ext cx="6452374" cy="226215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24" y="6295113"/>
            <a:ext cx="52609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5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  <a:hlinkClick r:id="rId2"/>
              </a:rPr>
              <a:t>https://www.promptingguide.ai/research/rag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7237"/>
            <a:ext cx="9838055" cy="38652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30">
                <a:latin typeface="Microsoft Sans Serif"/>
                <a:cs typeface="Microsoft Sans Serif"/>
              </a:rPr>
              <a:t>Промптинг</a:t>
            </a:r>
            <a:r>
              <a:rPr dirty="0" sz="3600" spc="-130">
                <a:latin typeface="Verdana"/>
                <a:cs typeface="Verdana"/>
              </a:rPr>
              <a:t>:</a:t>
            </a:r>
            <a:r>
              <a:rPr dirty="0" sz="3600" spc="-215">
                <a:latin typeface="Verdana"/>
                <a:cs typeface="Verdana"/>
              </a:rPr>
              <a:t> </a:t>
            </a:r>
            <a:r>
              <a:rPr dirty="0" sz="3600" spc="-50">
                <a:latin typeface="Verdana"/>
                <a:cs typeface="Verdana"/>
              </a:rPr>
              <a:t>Retrieval</a:t>
            </a:r>
            <a:r>
              <a:rPr dirty="0" sz="3600" spc="-215">
                <a:latin typeface="Verdana"/>
                <a:cs typeface="Verdana"/>
              </a:rPr>
              <a:t> </a:t>
            </a:r>
            <a:r>
              <a:rPr dirty="0" sz="3600" spc="-60">
                <a:latin typeface="Verdana"/>
                <a:cs typeface="Verdana"/>
              </a:rPr>
              <a:t>Augmented</a:t>
            </a:r>
            <a:r>
              <a:rPr dirty="0" sz="3600" spc="-215">
                <a:latin typeface="Verdana"/>
                <a:cs typeface="Verdana"/>
              </a:rPr>
              <a:t> </a:t>
            </a:r>
            <a:r>
              <a:rPr dirty="0" sz="3600" spc="-10">
                <a:latin typeface="Verdana"/>
                <a:cs typeface="Verdana"/>
              </a:rPr>
              <a:t>Generation</a:t>
            </a:r>
            <a:endParaRPr sz="3600">
              <a:latin typeface="Verdana"/>
              <a:cs typeface="Verdana"/>
            </a:endParaRPr>
          </a:p>
          <a:p>
            <a:pPr marL="53975" marR="5468620">
              <a:lnSpc>
                <a:spcPct val="100000"/>
              </a:lnSpc>
              <a:spcBef>
                <a:spcPts val="3470"/>
              </a:spcBef>
            </a:pPr>
            <a:r>
              <a:rPr dirty="0" sz="1700" spc="-20">
                <a:latin typeface="Microsoft Sans Serif"/>
                <a:cs typeface="Microsoft Sans Serif"/>
              </a:rPr>
              <a:t>Здесь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мы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улучшаем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генерацию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с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помощью </a:t>
            </a:r>
            <a:r>
              <a:rPr dirty="0" sz="1700" spc="-25">
                <a:latin typeface="Microsoft Sans Serif"/>
                <a:cs typeface="Microsoft Sans Serif"/>
              </a:rPr>
              <a:t>стороннего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источника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знаний</a:t>
            </a:r>
            <a:r>
              <a:rPr dirty="0" sz="1700" spc="-10">
                <a:latin typeface="Tahoma"/>
                <a:cs typeface="Tahoma"/>
              </a:rPr>
              <a:t>.</a:t>
            </a:r>
            <a:endParaRPr sz="1700">
              <a:latin typeface="Tahoma"/>
              <a:cs typeface="Tahoma"/>
            </a:endParaRPr>
          </a:p>
          <a:p>
            <a:pPr marL="53975">
              <a:lnSpc>
                <a:spcPct val="100000"/>
              </a:lnSpc>
              <a:spcBef>
                <a:spcPts val="2039"/>
              </a:spcBef>
            </a:pPr>
            <a:r>
              <a:rPr dirty="0" sz="1700" spc="-100">
                <a:latin typeface="Microsoft Sans Serif"/>
                <a:cs typeface="Microsoft Sans Serif"/>
              </a:rPr>
              <a:t>Как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это</a:t>
            </a:r>
            <a:r>
              <a:rPr dirty="0" sz="1700" spc="-9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работает</a:t>
            </a:r>
            <a:r>
              <a:rPr dirty="0" sz="1700" spc="-10">
                <a:latin typeface="Tahoma"/>
                <a:cs typeface="Tahoma"/>
              </a:rPr>
              <a:t>:</a:t>
            </a:r>
            <a:endParaRPr sz="1700">
              <a:latin typeface="Tahoma"/>
              <a:cs typeface="Tahoma"/>
            </a:endParaRPr>
          </a:p>
          <a:p>
            <a:pPr marL="511175" indent="-297815">
              <a:lnSpc>
                <a:spcPct val="100000"/>
              </a:lnSpc>
              <a:buFont typeface="Tahoma"/>
              <a:buChar char="-"/>
              <a:tabLst>
                <a:tab pos="511175" algn="l"/>
              </a:tabLst>
            </a:pPr>
            <a:r>
              <a:rPr dirty="0" sz="1700" spc="-35">
                <a:latin typeface="Microsoft Sans Serif"/>
                <a:cs typeface="Microsoft Sans Serif"/>
              </a:rPr>
              <a:t>Векторизуем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все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документы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нашей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базе</a:t>
            </a:r>
            <a:endParaRPr sz="1700">
              <a:latin typeface="Microsoft Sans Serif"/>
              <a:cs typeface="Microsoft Sans Serif"/>
            </a:endParaRPr>
          </a:p>
          <a:p>
            <a:pPr marL="511175" marR="5220970" indent="-297815">
              <a:lnSpc>
                <a:spcPct val="100000"/>
              </a:lnSpc>
              <a:buFont typeface="Tahoma"/>
              <a:buChar char="-"/>
              <a:tabLst>
                <a:tab pos="511175" algn="l"/>
              </a:tabLst>
            </a:pPr>
            <a:r>
              <a:rPr dirty="0" sz="1700" spc="-70">
                <a:latin typeface="Microsoft Sans Serif"/>
                <a:cs typeface="Microsoft Sans Serif"/>
              </a:rPr>
              <a:t>Когда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нам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поступаем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55">
                <a:latin typeface="Microsoft Sans Serif"/>
                <a:cs typeface="Microsoft Sans Serif"/>
              </a:rPr>
              <a:t>промпт</a:t>
            </a:r>
            <a:r>
              <a:rPr dirty="0" sz="1700" spc="-55">
                <a:latin typeface="Tahoma"/>
                <a:cs typeface="Tahoma"/>
              </a:rPr>
              <a:t>,</a:t>
            </a:r>
            <a:r>
              <a:rPr dirty="0" sz="1700" spc="-120">
                <a:latin typeface="Tahoma"/>
                <a:cs typeface="Tahoma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ищем</a:t>
            </a:r>
            <a:r>
              <a:rPr dirty="0" sz="1700" spc="-35">
                <a:latin typeface="Microsoft Sans Serif"/>
                <a:cs typeface="Microsoft Sans Serif"/>
              </a:rPr>
              <a:t> топ</a:t>
            </a:r>
            <a:r>
              <a:rPr dirty="0" sz="1700" spc="-35">
                <a:latin typeface="Tahoma"/>
                <a:cs typeface="Tahoma"/>
              </a:rPr>
              <a:t>-</a:t>
            </a:r>
            <a:r>
              <a:rPr dirty="0" sz="1700" spc="-50">
                <a:latin typeface="Tahoma"/>
                <a:cs typeface="Tahoma"/>
              </a:rPr>
              <a:t>n </a:t>
            </a:r>
            <a:r>
              <a:rPr dirty="0" sz="1700" spc="-20">
                <a:latin typeface="Microsoft Sans Serif"/>
                <a:cs typeface="Microsoft Sans Serif"/>
              </a:rPr>
              <a:t>ближайших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документов</a:t>
            </a:r>
            <a:endParaRPr sz="1700">
              <a:latin typeface="Microsoft Sans Serif"/>
              <a:cs typeface="Microsoft Sans Serif"/>
            </a:endParaRPr>
          </a:p>
          <a:p>
            <a:pPr marL="511175" marR="4797425" indent="-297815">
              <a:lnSpc>
                <a:spcPct val="100000"/>
              </a:lnSpc>
              <a:buFont typeface="Tahoma"/>
              <a:buChar char="-"/>
              <a:tabLst>
                <a:tab pos="511175" algn="l"/>
              </a:tabLst>
            </a:pPr>
            <a:r>
              <a:rPr dirty="0" sz="1700">
                <a:latin typeface="Microsoft Sans Serif"/>
                <a:cs typeface="Microsoft Sans Serif"/>
              </a:rPr>
              <a:t>На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вход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Tahoma"/>
                <a:cs typeface="Tahoma"/>
              </a:rPr>
              <a:t>LLM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подаем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промпт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плюс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найденные документы</a:t>
            </a:r>
            <a:endParaRPr sz="17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700">
              <a:latin typeface="Microsoft Sans Serif"/>
              <a:cs typeface="Microsoft Sans Serif"/>
            </a:endParaRPr>
          </a:p>
          <a:p>
            <a:pPr marL="53975">
              <a:lnSpc>
                <a:spcPct val="100000"/>
              </a:lnSpc>
            </a:pPr>
            <a:r>
              <a:rPr dirty="0" sz="1700" spc="-70">
                <a:latin typeface="Microsoft Sans Serif"/>
                <a:cs typeface="Microsoft Sans Serif"/>
              </a:rPr>
              <a:t>Какие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здесь</a:t>
            </a:r>
            <a:r>
              <a:rPr dirty="0" sz="1700" spc="-7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есть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трудности</a:t>
            </a:r>
            <a:r>
              <a:rPr dirty="0" sz="1700" spc="-10">
                <a:latin typeface="Tahoma"/>
                <a:cs typeface="Tahoma"/>
              </a:rPr>
              <a:t>?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25271" y="2628224"/>
            <a:ext cx="5400150" cy="318259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24" y="6295113"/>
            <a:ext cx="526097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25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-45">
                <a:latin typeface="Tahoma"/>
                <a:cs typeface="Tahoma"/>
              </a:rPr>
              <a:t> </a:t>
            </a:r>
            <a:r>
              <a:rPr dirty="0" sz="1400" spc="-50">
                <a:latin typeface="Tahoma"/>
                <a:cs typeface="Tahoma"/>
                <a:hlinkClick r:id="rId2"/>
              </a:rPr>
              <a:t>https://www.promptingguide.ai/research/rag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7237"/>
            <a:ext cx="9838055" cy="38601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30">
                <a:latin typeface="Microsoft Sans Serif"/>
                <a:cs typeface="Microsoft Sans Serif"/>
              </a:rPr>
              <a:t>Промптинг</a:t>
            </a:r>
            <a:r>
              <a:rPr dirty="0" sz="3600" spc="-130">
                <a:latin typeface="Verdana"/>
                <a:cs typeface="Verdana"/>
              </a:rPr>
              <a:t>:</a:t>
            </a:r>
            <a:r>
              <a:rPr dirty="0" sz="3600" spc="-215">
                <a:latin typeface="Verdana"/>
                <a:cs typeface="Verdana"/>
              </a:rPr>
              <a:t> </a:t>
            </a:r>
            <a:r>
              <a:rPr dirty="0" sz="3600" spc="-50">
                <a:latin typeface="Verdana"/>
                <a:cs typeface="Verdana"/>
              </a:rPr>
              <a:t>Retrieval</a:t>
            </a:r>
            <a:r>
              <a:rPr dirty="0" sz="3600" spc="-215">
                <a:latin typeface="Verdana"/>
                <a:cs typeface="Verdana"/>
              </a:rPr>
              <a:t> </a:t>
            </a:r>
            <a:r>
              <a:rPr dirty="0" sz="3600" spc="-60">
                <a:latin typeface="Verdana"/>
                <a:cs typeface="Verdana"/>
              </a:rPr>
              <a:t>Augmented</a:t>
            </a:r>
            <a:r>
              <a:rPr dirty="0" sz="3600" spc="-215">
                <a:latin typeface="Verdana"/>
                <a:cs typeface="Verdana"/>
              </a:rPr>
              <a:t> </a:t>
            </a:r>
            <a:r>
              <a:rPr dirty="0" sz="3600" spc="-10">
                <a:latin typeface="Verdana"/>
                <a:cs typeface="Verdana"/>
              </a:rPr>
              <a:t>Generation</a:t>
            </a:r>
            <a:endParaRPr sz="3600">
              <a:latin typeface="Verdana"/>
              <a:cs typeface="Verdana"/>
            </a:endParaRPr>
          </a:p>
          <a:p>
            <a:pPr marL="53975">
              <a:lnSpc>
                <a:spcPct val="100000"/>
              </a:lnSpc>
              <a:spcBef>
                <a:spcPts val="3470"/>
              </a:spcBef>
            </a:pPr>
            <a:r>
              <a:rPr dirty="0" sz="1700" spc="-10">
                <a:latin typeface="Microsoft Sans Serif"/>
                <a:cs typeface="Microsoft Sans Serif"/>
              </a:rPr>
              <a:t>Хитрости</a:t>
            </a:r>
            <a:r>
              <a:rPr dirty="0" sz="1700" spc="-10">
                <a:latin typeface="Tahoma"/>
                <a:cs typeface="Tahoma"/>
              </a:rPr>
              <a:t>:</a:t>
            </a:r>
            <a:endParaRPr sz="1700">
              <a:latin typeface="Tahoma"/>
              <a:cs typeface="Tahoma"/>
            </a:endParaRPr>
          </a:p>
          <a:p>
            <a:pPr marL="511175" marR="4911090" indent="-297815">
              <a:lnSpc>
                <a:spcPct val="100000"/>
              </a:lnSpc>
              <a:buFont typeface="Tahoma"/>
              <a:buChar char="-"/>
              <a:tabLst>
                <a:tab pos="511175" algn="l"/>
              </a:tabLst>
            </a:pPr>
            <a:r>
              <a:rPr dirty="0" sz="1700" spc="-20">
                <a:latin typeface="Microsoft Sans Serif"/>
                <a:cs typeface="Microsoft Sans Serif"/>
              </a:rPr>
              <a:t>Можно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делить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тексты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на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45">
                <a:latin typeface="Microsoft Sans Serif"/>
                <a:cs typeface="Microsoft Sans Serif"/>
              </a:rPr>
              <a:t>чанки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0">
                <a:latin typeface="Microsoft Sans Serif"/>
                <a:cs typeface="Microsoft Sans Serif"/>
              </a:rPr>
              <a:t>так</a:t>
            </a:r>
            <a:r>
              <a:rPr dirty="0" sz="1700" spc="-100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чтобы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не разрывать</a:t>
            </a:r>
            <a:r>
              <a:rPr dirty="0" sz="1700" spc="-45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информацию</a:t>
            </a:r>
            <a:r>
              <a:rPr dirty="0" sz="1700" spc="-40">
                <a:latin typeface="Tahoma"/>
                <a:cs typeface="Tahoma"/>
              </a:rPr>
              <a:t>,</a:t>
            </a:r>
            <a:r>
              <a:rPr dirty="0" sz="1700" spc="-125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но</a:t>
            </a:r>
            <a:r>
              <a:rPr dirty="0" sz="1700" spc="-4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при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этом </a:t>
            </a:r>
            <a:r>
              <a:rPr dirty="0" sz="1700" spc="-25">
                <a:latin typeface="Microsoft Sans Serif"/>
                <a:cs typeface="Microsoft Sans Serif"/>
              </a:rPr>
              <a:t>сократить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35">
                <a:latin typeface="Microsoft Sans Serif"/>
                <a:cs typeface="Microsoft Sans Serif"/>
              </a:rPr>
              <a:t>размер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промпта</a:t>
            </a:r>
            <a:endParaRPr sz="1700">
              <a:latin typeface="Microsoft Sans Serif"/>
              <a:cs typeface="Microsoft Sans Serif"/>
            </a:endParaRPr>
          </a:p>
          <a:p>
            <a:pPr marL="511175" marR="5027930" indent="-297815">
              <a:lnSpc>
                <a:spcPct val="100000"/>
              </a:lnSpc>
              <a:spcBef>
                <a:spcPts val="1000"/>
              </a:spcBef>
              <a:buFont typeface="Tahoma"/>
              <a:buChar char="-"/>
              <a:tabLst>
                <a:tab pos="511175" algn="l"/>
              </a:tabLst>
            </a:pPr>
            <a:r>
              <a:rPr dirty="0" sz="1700">
                <a:latin typeface="Microsoft Sans Serif"/>
                <a:cs typeface="Microsoft Sans Serif"/>
              </a:rPr>
              <a:t>Если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использовать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для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векторизации</a:t>
            </a:r>
            <a:r>
              <a:rPr dirty="0" sz="1700" spc="-5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саму </a:t>
            </a:r>
            <a:r>
              <a:rPr dirty="0" sz="1700" spc="-70">
                <a:latin typeface="Tahoma"/>
                <a:cs typeface="Tahoma"/>
              </a:rPr>
              <a:t>LLM,</a:t>
            </a:r>
            <a:r>
              <a:rPr dirty="0" sz="1700" spc="-125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то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45">
                <a:latin typeface="Microsoft Sans Serif"/>
                <a:cs typeface="Microsoft Sans Serif"/>
              </a:rPr>
              <a:t>можно </a:t>
            </a:r>
            <a:r>
              <a:rPr dirty="0" sz="1700" spc="-20">
                <a:latin typeface="Microsoft Sans Serif"/>
                <a:cs typeface="Microsoft Sans Serif"/>
              </a:rPr>
              <a:t>попробовать</a:t>
            </a:r>
            <a:r>
              <a:rPr dirty="0" sz="1700" spc="-4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пропустить </a:t>
            </a:r>
            <a:r>
              <a:rPr dirty="0" sz="1700" spc="-55">
                <a:latin typeface="Microsoft Sans Serif"/>
                <a:cs typeface="Microsoft Sans Serif"/>
              </a:rPr>
              <a:t>какое</a:t>
            </a:r>
            <a:r>
              <a:rPr dirty="0" sz="1700" spc="-55">
                <a:latin typeface="Tahoma"/>
                <a:cs typeface="Tahoma"/>
              </a:rPr>
              <a:t>-</a:t>
            </a:r>
            <a:r>
              <a:rPr dirty="0" sz="1700">
                <a:latin typeface="Microsoft Sans Serif"/>
                <a:cs typeface="Microsoft Sans Serif"/>
              </a:rPr>
              <a:t>то</a:t>
            </a:r>
            <a:r>
              <a:rPr dirty="0" sz="1700" spc="-100">
                <a:latin typeface="Microsoft Sans Serif"/>
                <a:cs typeface="Microsoft Sans Serif"/>
              </a:rPr>
              <a:t> </a:t>
            </a:r>
            <a:r>
              <a:rPr dirty="0" sz="1700" spc="-60">
                <a:latin typeface="Microsoft Sans Serif"/>
                <a:cs typeface="Microsoft Sans Serif"/>
              </a:rPr>
              <a:t>кол</a:t>
            </a:r>
            <a:r>
              <a:rPr dirty="0" sz="1700" spc="-60">
                <a:latin typeface="Tahoma"/>
                <a:cs typeface="Tahoma"/>
              </a:rPr>
              <a:t>-</a:t>
            </a:r>
            <a:r>
              <a:rPr dirty="0" sz="1700">
                <a:latin typeface="Microsoft Sans Serif"/>
                <a:cs typeface="Microsoft Sans Serif"/>
              </a:rPr>
              <a:t>во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вычислений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55">
                <a:latin typeface="Tahoma"/>
                <a:cs typeface="Tahoma"/>
              </a:rPr>
              <a:t>(</a:t>
            </a:r>
            <a:r>
              <a:rPr dirty="0" sz="1700" spc="-55">
                <a:latin typeface="Microsoft Sans Serif"/>
                <a:cs typeface="Microsoft Sans Serif"/>
              </a:rPr>
              <a:t>почему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это</a:t>
            </a:r>
            <a:r>
              <a:rPr dirty="0" sz="1700" spc="-80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на </a:t>
            </a:r>
            <a:r>
              <a:rPr dirty="0" sz="1700" spc="-35">
                <a:latin typeface="Microsoft Sans Serif"/>
                <a:cs typeface="Microsoft Sans Serif"/>
              </a:rPr>
              <a:t>практике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сложно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реализовать</a:t>
            </a:r>
            <a:r>
              <a:rPr dirty="0" sz="1700" spc="-10">
                <a:latin typeface="Tahoma"/>
                <a:cs typeface="Tahoma"/>
              </a:rPr>
              <a:t>?)</a:t>
            </a:r>
            <a:endParaRPr sz="1700">
              <a:latin typeface="Tahoma"/>
              <a:cs typeface="Tahoma"/>
            </a:endParaRPr>
          </a:p>
          <a:p>
            <a:pPr marL="511175" marR="5108575" indent="-297815">
              <a:lnSpc>
                <a:spcPct val="100000"/>
              </a:lnSpc>
              <a:spcBef>
                <a:spcPts val="1000"/>
              </a:spcBef>
              <a:buFont typeface="Tahoma"/>
              <a:buChar char="-"/>
              <a:tabLst>
                <a:tab pos="511175" algn="l"/>
              </a:tabLst>
            </a:pPr>
            <a:r>
              <a:rPr dirty="0" sz="1700" spc="-30">
                <a:latin typeface="Microsoft Sans Serif"/>
                <a:cs typeface="Microsoft Sans Serif"/>
              </a:rPr>
              <a:t>Иногда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 spc="-45">
                <a:latin typeface="Microsoft Sans Serif"/>
                <a:cs typeface="Microsoft Sans Serif"/>
              </a:rPr>
              <a:t>можно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давать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не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все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параграфы</a:t>
            </a:r>
            <a:r>
              <a:rPr dirty="0" sz="1700" spc="-40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50">
                <a:latin typeface="Microsoft Sans Serif"/>
                <a:cs typeface="Microsoft Sans Serif"/>
              </a:rPr>
              <a:t>а </a:t>
            </a:r>
            <a:r>
              <a:rPr dirty="0" sz="1700" spc="-40">
                <a:latin typeface="Microsoft Sans Serif"/>
                <a:cs typeface="Microsoft Sans Serif"/>
              </a:rPr>
              <a:t>заголовки</a:t>
            </a:r>
            <a:r>
              <a:rPr dirty="0" sz="1700" spc="-40">
                <a:latin typeface="Tahoma"/>
                <a:cs typeface="Tahoma"/>
              </a:rPr>
              <a:t>/</a:t>
            </a:r>
            <a:r>
              <a:rPr dirty="0" sz="1700" spc="-40">
                <a:latin typeface="Microsoft Sans Serif"/>
                <a:cs typeface="Microsoft Sans Serif"/>
              </a:rPr>
              <a:t>результаты</a:t>
            </a:r>
            <a:r>
              <a:rPr dirty="0" sz="1700" spc="3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суммаризации</a:t>
            </a:r>
            <a:endParaRPr sz="1700">
              <a:latin typeface="Microsoft Sans Serif"/>
              <a:cs typeface="Microsoft Sans Serif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62075" y="2588662"/>
            <a:ext cx="5861973" cy="344439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-7372" y="5668374"/>
            <a:ext cx="238760" cy="1091565"/>
          </a:xfrm>
          <a:prstGeom prst="rect">
            <a:avLst/>
          </a:prstGeom>
        </p:spPr>
        <p:txBody>
          <a:bodyPr wrap="square" lIns="0" tIns="12700" rIns="0" bIns="0" rtlCol="0" vert="ver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0">
                <a:latin typeface="Tahoma"/>
                <a:cs typeface="Tahoma"/>
              </a:rPr>
              <a:t>SLIDESMANIA.COM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97052" y="138603"/>
            <a:ext cx="50355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Home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88546" y="135881"/>
            <a:ext cx="99695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Recent</a:t>
            </a:r>
            <a:r>
              <a:rPr dirty="0" sz="1400" spc="-2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FFFFFF"/>
                </a:solidFill>
                <a:latin typeface="Roboto"/>
                <a:cs typeface="Roboto"/>
              </a:rPr>
              <a:t>Tabs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6394452" y="137387"/>
            <a:ext cx="105346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>
                <a:latin typeface="Roboto"/>
                <a:cs typeface="Roboto"/>
              </a:rPr>
              <a:t>Current Page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472286" y="640083"/>
            <a:ext cx="24282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5">
                <a:solidFill>
                  <a:srgbClr val="595959"/>
                </a:solidFill>
                <a:latin typeface="Roboto"/>
                <a:cs typeface="Roboto"/>
              </a:rPr>
              <a:t>You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>
                <a:solidFill>
                  <a:srgbClr val="595959"/>
                </a:solidFill>
                <a:latin typeface="Roboto"/>
                <a:cs typeface="Roboto"/>
              </a:rPr>
              <a:t>can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type</a:t>
            </a:r>
            <a:r>
              <a:rPr dirty="0" sz="1400" spc="-55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10">
                <a:solidFill>
                  <a:srgbClr val="595959"/>
                </a:solidFill>
                <a:latin typeface="Roboto"/>
                <a:cs typeface="Roboto"/>
              </a:rPr>
              <a:t>something</a:t>
            </a:r>
            <a:r>
              <a:rPr dirty="0" sz="1400" spc="-50">
                <a:solidFill>
                  <a:srgbClr val="595959"/>
                </a:solidFill>
                <a:latin typeface="Roboto"/>
                <a:cs typeface="Roboto"/>
              </a:rPr>
              <a:t> </a:t>
            </a:r>
            <a:r>
              <a:rPr dirty="0" sz="1400" spc="-20">
                <a:solidFill>
                  <a:srgbClr val="595959"/>
                </a:solidFill>
                <a:latin typeface="Roboto"/>
                <a:cs typeface="Roboto"/>
              </a:rPr>
              <a:t>here…</a:t>
            </a:r>
            <a:endParaRPr sz="14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381024" y="6295113"/>
            <a:ext cx="560832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30">
                <a:latin typeface="Microsoft Sans Serif"/>
                <a:cs typeface="Microsoft Sans Serif"/>
              </a:rPr>
              <a:t>Источник</a:t>
            </a:r>
            <a:r>
              <a:rPr dirty="0" sz="1400" spc="155">
                <a:latin typeface="Microsoft Sans Serif"/>
                <a:cs typeface="Microsoft Sans Serif"/>
              </a:rPr>
              <a:t> </a:t>
            </a:r>
            <a:r>
              <a:rPr dirty="0" sz="1400" spc="-50">
                <a:latin typeface="Microsoft Sans Serif"/>
                <a:cs typeface="Microsoft Sans Serif"/>
              </a:rPr>
              <a:t>изображения</a:t>
            </a:r>
            <a:r>
              <a:rPr dirty="0" sz="1400" spc="-50">
                <a:latin typeface="Tahoma"/>
                <a:cs typeface="Tahoma"/>
              </a:rPr>
              <a:t>:</a:t>
            </a:r>
            <a:r>
              <a:rPr dirty="0" sz="1400" spc="95">
                <a:latin typeface="Tahoma"/>
                <a:cs typeface="Tahoma"/>
              </a:rPr>
              <a:t> </a:t>
            </a:r>
            <a:r>
              <a:rPr dirty="0" sz="1400" spc="-45">
                <a:latin typeface="Tahoma"/>
                <a:cs typeface="Tahoma"/>
              </a:rPr>
              <a:t>https://huggingface.co/tasks/question-</a:t>
            </a:r>
            <a:r>
              <a:rPr dirty="0" sz="1400" spc="-25">
                <a:latin typeface="Tahoma"/>
                <a:cs typeface="Tahoma"/>
              </a:rPr>
              <a:t>answering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803299" y="1465205"/>
            <a:ext cx="10405745" cy="20535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0">
                <a:latin typeface="Microsoft Sans Serif"/>
                <a:cs typeface="Microsoft Sans Serif"/>
              </a:rPr>
              <a:t>Если</a:t>
            </a:r>
            <a:r>
              <a:rPr dirty="0" sz="4000" spc="-75">
                <a:latin typeface="Microsoft Sans Serif"/>
                <a:cs typeface="Microsoft Sans Serif"/>
              </a:rPr>
              <a:t> </a:t>
            </a:r>
            <a:r>
              <a:rPr dirty="0" sz="4000">
                <a:latin typeface="Microsoft Sans Serif"/>
                <a:cs typeface="Microsoft Sans Serif"/>
              </a:rPr>
              <a:t>нет</a:t>
            </a:r>
            <a:r>
              <a:rPr dirty="0" sz="4000" spc="-75">
                <a:latin typeface="Microsoft Sans Serif"/>
                <a:cs typeface="Microsoft Sans Serif"/>
              </a:rPr>
              <a:t> </a:t>
            </a:r>
            <a:r>
              <a:rPr dirty="0" sz="4000" spc="105">
                <a:latin typeface="Verdana"/>
                <a:cs typeface="Verdana"/>
              </a:rPr>
              <a:t>LLM</a:t>
            </a:r>
            <a:endParaRPr sz="4000">
              <a:latin typeface="Verdana"/>
              <a:cs typeface="Verdana"/>
            </a:endParaRPr>
          </a:p>
          <a:p>
            <a:pPr marL="53975" marR="5080">
              <a:lnSpc>
                <a:spcPct val="100000"/>
              </a:lnSpc>
              <a:spcBef>
                <a:spcPts val="3005"/>
              </a:spcBef>
            </a:pPr>
            <a:r>
              <a:rPr dirty="0" sz="1700">
                <a:latin typeface="Microsoft Sans Serif"/>
                <a:cs typeface="Microsoft Sans Serif"/>
              </a:rPr>
              <a:t>В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55">
                <a:latin typeface="Microsoft Sans Serif"/>
                <a:cs typeface="Microsoft Sans Serif"/>
              </a:rPr>
              <a:t>чем</a:t>
            </a:r>
            <a:r>
              <a:rPr dirty="0" sz="1700" spc="-55">
                <a:latin typeface="Tahoma"/>
                <a:cs typeface="Tahoma"/>
              </a:rPr>
              <a:t>-</a:t>
            </a:r>
            <a:r>
              <a:rPr dirty="0" sz="1700">
                <a:latin typeface="Microsoft Sans Serif"/>
                <a:cs typeface="Microsoft Sans Serif"/>
              </a:rPr>
              <a:t>то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все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описанное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5">
                <a:latin typeface="Microsoft Sans Serif"/>
                <a:cs typeface="Microsoft Sans Serif"/>
              </a:rPr>
              <a:t>похоже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на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5">
                <a:latin typeface="Microsoft Sans Serif"/>
                <a:cs typeface="Microsoft Sans Serif"/>
              </a:rPr>
              <a:t>задачу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70">
                <a:latin typeface="Tahoma"/>
                <a:cs typeface="Tahoma"/>
              </a:rPr>
              <a:t>QA,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просто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используется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большая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и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тяжелая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70">
                <a:latin typeface="Microsoft Sans Serif"/>
                <a:cs typeface="Microsoft Sans Serif"/>
              </a:rPr>
              <a:t>модель</a:t>
            </a:r>
            <a:r>
              <a:rPr dirty="0" sz="1700" spc="-70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которую </a:t>
            </a:r>
            <a:r>
              <a:rPr dirty="0" sz="1700">
                <a:latin typeface="Microsoft Sans Serif"/>
                <a:cs typeface="Microsoft Sans Serif"/>
              </a:rPr>
              <a:t>не</a:t>
            </a:r>
            <a:r>
              <a:rPr dirty="0" sz="1700" spc="-85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надо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50">
                <a:latin typeface="Microsoft Sans Serif"/>
                <a:cs typeface="Microsoft Sans Serif"/>
              </a:rPr>
              <a:t>дообучать</a:t>
            </a:r>
            <a:r>
              <a:rPr dirty="0" sz="1700" spc="-50">
                <a:latin typeface="Tahoma"/>
                <a:cs typeface="Tahoma"/>
              </a:rPr>
              <a:t>.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если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у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вас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есть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время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и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50">
                <a:latin typeface="Microsoft Sans Serif"/>
                <a:cs typeface="Microsoft Sans Serif"/>
              </a:rPr>
              <a:t>данные</a:t>
            </a:r>
            <a:r>
              <a:rPr dirty="0" sz="1700" spc="-50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но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нет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70">
                <a:latin typeface="Tahoma"/>
                <a:cs typeface="Tahoma"/>
              </a:rPr>
              <a:t>LLM,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то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45">
                <a:latin typeface="Microsoft Sans Serif"/>
                <a:cs typeface="Microsoft Sans Serif"/>
              </a:rPr>
              <a:t>можно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обучить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генеративную </a:t>
            </a:r>
            <a:r>
              <a:rPr dirty="0" sz="1700" spc="-30">
                <a:latin typeface="Microsoft Sans Serif"/>
                <a:cs typeface="Microsoft Sans Serif"/>
              </a:rPr>
              <a:t>модель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вроде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120">
                <a:latin typeface="Tahoma"/>
                <a:cs typeface="Tahoma"/>
              </a:rPr>
              <a:t>T5,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чтобы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она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генерировала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Microsoft Sans Serif"/>
                <a:cs typeface="Microsoft Sans Serif"/>
              </a:rPr>
              <a:t>вам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ответы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по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40">
                <a:latin typeface="Microsoft Sans Serif"/>
                <a:cs typeface="Microsoft Sans Serif"/>
              </a:rPr>
              <a:t>нескольким</a:t>
            </a:r>
            <a:r>
              <a:rPr dirty="0" sz="1700" spc="-55">
                <a:latin typeface="Microsoft Sans Serif"/>
                <a:cs typeface="Microsoft Sans Serif"/>
              </a:rPr>
              <a:t> </a:t>
            </a:r>
            <a:r>
              <a:rPr dirty="0" sz="1700" spc="-65">
                <a:latin typeface="Microsoft Sans Serif"/>
                <a:cs typeface="Microsoft Sans Serif"/>
              </a:rPr>
              <a:t>абзацам</a:t>
            </a:r>
            <a:r>
              <a:rPr dirty="0" sz="1700" spc="-65">
                <a:latin typeface="Tahoma"/>
                <a:cs typeface="Tahoma"/>
              </a:rPr>
              <a:t>,</a:t>
            </a:r>
            <a:r>
              <a:rPr dirty="0" sz="1700" spc="-140">
                <a:latin typeface="Tahoma"/>
                <a:cs typeface="Tahoma"/>
              </a:rPr>
              <a:t> </a:t>
            </a:r>
            <a:r>
              <a:rPr dirty="0" sz="1700" spc="-30">
                <a:latin typeface="Microsoft Sans Serif"/>
                <a:cs typeface="Microsoft Sans Serif"/>
              </a:rPr>
              <a:t>которые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вы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10">
                <a:latin typeface="Microsoft Sans Serif"/>
                <a:cs typeface="Microsoft Sans Serif"/>
              </a:rPr>
              <a:t>будете </a:t>
            </a:r>
            <a:r>
              <a:rPr dirty="0" sz="1700" spc="-25">
                <a:latin typeface="Microsoft Sans Serif"/>
                <a:cs typeface="Microsoft Sans Serif"/>
              </a:rPr>
              <a:t>подбирать</a:t>
            </a:r>
            <a:r>
              <a:rPr dirty="0" sz="1700" spc="-70">
                <a:latin typeface="Microsoft Sans Serif"/>
                <a:cs typeface="Microsoft Sans Serif"/>
              </a:rPr>
              <a:t> </a:t>
            </a:r>
            <a:r>
              <a:rPr dirty="0" sz="1700">
                <a:latin typeface="Microsoft Sans Serif"/>
                <a:cs typeface="Microsoft Sans Serif"/>
              </a:rPr>
              <a:t>по</a:t>
            </a:r>
            <a:r>
              <a:rPr dirty="0" sz="1700" spc="-65">
                <a:latin typeface="Microsoft Sans Serif"/>
                <a:cs typeface="Microsoft Sans Serif"/>
              </a:rPr>
              <a:t> </a:t>
            </a:r>
            <a:r>
              <a:rPr dirty="0" sz="1700" spc="-25">
                <a:latin typeface="Microsoft Sans Serif"/>
                <a:cs typeface="Microsoft Sans Serif"/>
              </a:rPr>
              <a:t>логике</a:t>
            </a:r>
            <a:r>
              <a:rPr dirty="0" sz="1700" spc="-60">
                <a:latin typeface="Microsoft Sans Serif"/>
                <a:cs typeface="Microsoft Sans Serif"/>
              </a:rPr>
              <a:t> </a:t>
            </a:r>
            <a:r>
              <a:rPr dirty="0" sz="1700" spc="-20">
                <a:latin typeface="Tahoma"/>
                <a:cs typeface="Tahoma"/>
              </a:rPr>
              <a:t>RAG.</a:t>
            </a:r>
            <a:endParaRPr sz="1700">
              <a:latin typeface="Tahoma"/>
              <a:cs typeface="Tahoma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83412" y="3915975"/>
            <a:ext cx="6025173" cy="23132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RAG_infopoisk_2024</dc:title>
  <dcterms:created xsi:type="dcterms:W3CDTF">2026-02-24T17:23:28Z</dcterms:created>
  <dcterms:modified xsi:type="dcterms:W3CDTF">2026-02-24T17:23:28Z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2026-02-24T00:00:00Z</vt:filetime>
  </property>
  <property fmtid="{D5CDD505-2E9C-101B-9397-08002B2CF9AE}" pid="3" name="Creator">
    <vt:lpwstr>Google</vt:lpwstr>
  </property>
  <property fmtid="{D5CDD505-2E9C-101B-9397-08002B2CF9AE}" pid="4" name="LastSaved">
    <vt:filetime>2026-02-24T00:00:00Z</vt:filetime>
  </property>
</Properties>
</file>
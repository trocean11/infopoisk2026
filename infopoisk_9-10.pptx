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2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EA4335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EA4335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89535"/>
            <a:ext cx="12192000" cy="6768465"/>
          </a:xfrm>
          <a:custGeom>
            <a:avLst/>
            <a:gdLst/>
            <a:ahLst/>
            <a:cxnLst/>
            <a:rect l="l" t="t" r="r" b="b"/>
            <a:pathLst>
              <a:path w="12192000" h="6768465">
                <a:moveTo>
                  <a:pt x="12191999" y="6768464"/>
                </a:moveTo>
                <a:lnTo>
                  <a:pt x="0" y="6768464"/>
                </a:lnTo>
                <a:lnTo>
                  <a:pt x="1901" y="382904"/>
                </a:lnTo>
                <a:lnTo>
                  <a:pt x="765806" y="381951"/>
                </a:lnTo>
                <a:lnTo>
                  <a:pt x="817122" y="375656"/>
                </a:lnTo>
                <a:lnTo>
                  <a:pt x="852008" y="355877"/>
                </a:lnTo>
                <a:lnTo>
                  <a:pt x="871891" y="321274"/>
                </a:lnTo>
                <a:lnTo>
                  <a:pt x="878201" y="270509"/>
                </a:lnTo>
                <a:lnTo>
                  <a:pt x="878201" y="99059"/>
                </a:lnTo>
                <a:lnTo>
                  <a:pt x="884943" y="57462"/>
                </a:lnTo>
                <a:lnTo>
                  <a:pt x="904276" y="26312"/>
                </a:lnTo>
                <a:lnTo>
                  <a:pt x="934861" y="6771"/>
                </a:lnTo>
                <a:lnTo>
                  <a:pt x="975356" y="0"/>
                </a:lnTo>
                <a:lnTo>
                  <a:pt x="3478526" y="0"/>
                </a:lnTo>
                <a:lnTo>
                  <a:pt x="3517936" y="6875"/>
                </a:lnTo>
                <a:lnTo>
                  <a:pt x="3548059" y="26431"/>
                </a:lnTo>
                <a:lnTo>
                  <a:pt x="3567466" y="57060"/>
                </a:lnTo>
                <a:lnTo>
                  <a:pt x="3574729" y="97154"/>
                </a:lnTo>
                <a:lnTo>
                  <a:pt x="3574729" y="274319"/>
                </a:lnTo>
                <a:lnTo>
                  <a:pt x="3581099" y="323031"/>
                </a:lnTo>
                <a:lnTo>
                  <a:pt x="3600685" y="356830"/>
                </a:lnTo>
                <a:lnTo>
                  <a:pt x="3634201" y="376520"/>
                </a:lnTo>
                <a:lnTo>
                  <a:pt x="3682361" y="382904"/>
                </a:lnTo>
                <a:lnTo>
                  <a:pt x="9047794" y="382904"/>
                </a:lnTo>
                <a:lnTo>
                  <a:pt x="9055816" y="383053"/>
                </a:lnTo>
                <a:lnTo>
                  <a:pt x="9064106" y="383380"/>
                </a:lnTo>
                <a:lnTo>
                  <a:pt x="9072574" y="383708"/>
                </a:lnTo>
                <a:lnTo>
                  <a:pt x="9081131" y="383856"/>
                </a:lnTo>
                <a:lnTo>
                  <a:pt x="9081131" y="382101"/>
                </a:lnTo>
                <a:lnTo>
                  <a:pt x="12191996" y="382101"/>
                </a:lnTo>
                <a:lnTo>
                  <a:pt x="12191999" y="676846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30054" y="209438"/>
            <a:ext cx="110045" cy="11004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0264" y="202172"/>
            <a:ext cx="144582" cy="14566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973" y="203258"/>
            <a:ext cx="140234" cy="14023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0079" y="203258"/>
            <a:ext cx="140233" cy="14023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29196" y="182589"/>
            <a:ext cx="157039" cy="156977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0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FFFFFF">
              <a:alpha val="2625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21548" y="206716"/>
            <a:ext cx="110045" cy="110045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0" y="69803"/>
            <a:ext cx="12192000" cy="6788784"/>
          </a:xfrm>
          <a:custGeom>
            <a:avLst/>
            <a:gdLst/>
            <a:ahLst/>
            <a:cxnLst/>
            <a:rect l="l" t="t" r="r" b="b"/>
            <a:pathLst>
              <a:path w="12192000" h="6788784">
                <a:moveTo>
                  <a:pt x="0" y="6788196"/>
                </a:moveTo>
                <a:lnTo>
                  <a:pt x="0" y="397488"/>
                </a:lnTo>
                <a:lnTo>
                  <a:pt x="6151430" y="382634"/>
                </a:lnTo>
                <a:lnTo>
                  <a:pt x="6202746" y="376328"/>
                </a:lnTo>
                <a:lnTo>
                  <a:pt x="6237632" y="356513"/>
                </a:lnTo>
                <a:lnTo>
                  <a:pt x="6257515" y="321849"/>
                </a:lnTo>
                <a:lnTo>
                  <a:pt x="6263826" y="270993"/>
                </a:lnTo>
                <a:lnTo>
                  <a:pt x="6263826" y="99236"/>
                </a:lnTo>
                <a:lnTo>
                  <a:pt x="6270568" y="57565"/>
                </a:lnTo>
                <a:lnTo>
                  <a:pt x="6289901" y="26359"/>
                </a:lnTo>
                <a:lnTo>
                  <a:pt x="6320485" y="6783"/>
                </a:lnTo>
                <a:lnTo>
                  <a:pt x="6360981" y="0"/>
                </a:lnTo>
                <a:lnTo>
                  <a:pt x="8864150" y="0"/>
                </a:lnTo>
                <a:lnTo>
                  <a:pt x="8903560" y="6888"/>
                </a:lnTo>
                <a:lnTo>
                  <a:pt x="8933683" y="26479"/>
                </a:lnTo>
                <a:lnTo>
                  <a:pt x="8953090" y="57162"/>
                </a:lnTo>
                <a:lnTo>
                  <a:pt x="8960353" y="97329"/>
                </a:lnTo>
                <a:lnTo>
                  <a:pt x="8960353" y="274810"/>
                </a:lnTo>
                <a:lnTo>
                  <a:pt x="8966723" y="323608"/>
                </a:lnTo>
                <a:lnTo>
                  <a:pt x="8986309" y="357468"/>
                </a:lnTo>
                <a:lnTo>
                  <a:pt x="9019825" y="377193"/>
                </a:lnTo>
                <a:lnTo>
                  <a:pt x="9067985" y="383589"/>
                </a:lnTo>
                <a:lnTo>
                  <a:pt x="12191999" y="383157"/>
                </a:lnTo>
                <a:lnTo>
                  <a:pt x="12191999" y="6782251"/>
                </a:lnTo>
                <a:lnTo>
                  <a:pt x="0" y="6788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275346" y="582328"/>
            <a:ext cx="10152380" cy="360045"/>
          </a:xfrm>
          <a:custGeom>
            <a:avLst/>
            <a:gdLst/>
            <a:ahLst/>
            <a:cxnLst/>
            <a:rect l="l" t="t" r="r" b="b"/>
            <a:pathLst>
              <a:path w="10152380" h="360044">
                <a:moveTo>
                  <a:pt x="9971999" y="359999"/>
                </a:moveTo>
                <a:lnTo>
                  <a:pt x="179999" y="359999"/>
                </a:lnTo>
                <a:lnTo>
                  <a:pt x="132148" y="353570"/>
                </a:lnTo>
                <a:lnTo>
                  <a:pt x="89150" y="335424"/>
                </a:lnTo>
                <a:lnTo>
                  <a:pt x="52720" y="307279"/>
                </a:lnTo>
                <a:lnTo>
                  <a:pt x="24575" y="270849"/>
                </a:lnTo>
                <a:lnTo>
                  <a:pt x="6429" y="227851"/>
                </a:lnTo>
                <a:lnTo>
                  <a:pt x="0" y="179999"/>
                </a:lnTo>
                <a:lnTo>
                  <a:pt x="6429" y="132148"/>
                </a:lnTo>
                <a:lnTo>
                  <a:pt x="24575" y="89150"/>
                </a:lnTo>
                <a:lnTo>
                  <a:pt x="52720" y="52720"/>
                </a:lnTo>
                <a:lnTo>
                  <a:pt x="89150" y="24575"/>
                </a:lnTo>
                <a:lnTo>
                  <a:pt x="132148" y="6429"/>
                </a:lnTo>
                <a:lnTo>
                  <a:pt x="179999" y="0"/>
                </a:lnTo>
                <a:lnTo>
                  <a:pt x="9971999" y="0"/>
                </a:lnTo>
                <a:lnTo>
                  <a:pt x="10040882" y="13701"/>
                </a:lnTo>
                <a:lnTo>
                  <a:pt x="10099279" y="52720"/>
                </a:lnTo>
                <a:lnTo>
                  <a:pt x="10138298" y="111116"/>
                </a:lnTo>
                <a:lnTo>
                  <a:pt x="10151999" y="179999"/>
                </a:lnTo>
                <a:lnTo>
                  <a:pt x="10145570" y="227851"/>
                </a:lnTo>
                <a:lnTo>
                  <a:pt x="10127424" y="270849"/>
                </a:lnTo>
                <a:lnTo>
                  <a:pt x="10099279" y="307279"/>
                </a:lnTo>
                <a:lnTo>
                  <a:pt x="10062849" y="335424"/>
                </a:lnTo>
                <a:lnTo>
                  <a:pt x="10019851" y="353570"/>
                </a:lnTo>
                <a:lnTo>
                  <a:pt x="9971999" y="3599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0" y="582328"/>
            <a:ext cx="12192000" cy="454025"/>
          </a:xfrm>
          <a:custGeom>
            <a:avLst/>
            <a:gdLst/>
            <a:ahLst/>
            <a:cxnLst/>
            <a:rect l="l" t="t" r="r" b="b"/>
            <a:pathLst>
              <a:path w="12192000" h="454025">
                <a:moveTo>
                  <a:pt x="1275346" y="179999"/>
                </a:moveTo>
                <a:lnTo>
                  <a:pt x="1281776" y="132148"/>
                </a:lnTo>
                <a:lnTo>
                  <a:pt x="1299922" y="89150"/>
                </a:lnTo>
                <a:lnTo>
                  <a:pt x="1328067" y="52720"/>
                </a:lnTo>
                <a:lnTo>
                  <a:pt x="1364497" y="24575"/>
                </a:lnTo>
                <a:lnTo>
                  <a:pt x="1407495" y="6429"/>
                </a:lnTo>
                <a:lnTo>
                  <a:pt x="1455346" y="0"/>
                </a:lnTo>
                <a:lnTo>
                  <a:pt x="11247346" y="0"/>
                </a:lnTo>
                <a:lnTo>
                  <a:pt x="11316229" y="13701"/>
                </a:lnTo>
                <a:lnTo>
                  <a:pt x="11374626" y="52720"/>
                </a:lnTo>
                <a:lnTo>
                  <a:pt x="11413645" y="111116"/>
                </a:lnTo>
                <a:lnTo>
                  <a:pt x="11427346" y="179999"/>
                </a:lnTo>
                <a:lnTo>
                  <a:pt x="11420917" y="227851"/>
                </a:lnTo>
                <a:lnTo>
                  <a:pt x="11402771" y="270849"/>
                </a:lnTo>
                <a:lnTo>
                  <a:pt x="11374626" y="307279"/>
                </a:lnTo>
                <a:lnTo>
                  <a:pt x="11338196" y="335424"/>
                </a:lnTo>
                <a:lnTo>
                  <a:pt x="11295198" y="353570"/>
                </a:lnTo>
                <a:lnTo>
                  <a:pt x="11247346" y="359999"/>
                </a:lnTo>
                <a:lnTo>
                  <a:pt x="1455346" y="359999"/>
                </a:lnTo>
                <a:lnTo>
                  <a:pt x="1407495" y="353570"/>
                </a:lnTo>
                <a:lnTo>
                  <a:pt x="1364497" y="335424"/>
                </a:lnTo>
                <a:lnTo>
                  <a:pt x="1328067" y="307279"/>
                </a:lnTo>
                <a:lnTo>
                  <a:pt x="1299922" y="270849"/>
                </a:lnTo>
                <a:lnTo>
                  <a:pt x="1281776" y="227851"/>
                </a:lnTo>
                <a:lnTo>
                  <a:pt x="1275346" y="179999"/>
                </a:lnTo>
                <a:close/>
              </a:path>
              <a:path w="12192000" h="454025">
                <a:moveTo>
                  <a:pt x="0" y="453991"/>
                </a:moveTo>
                <a:lnTo>
                  <a:pt x="12191999" y="453991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9117" y="666656"/>
            <a:ext cx="208279" cy="200971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1978390" y="641507"/>
            <a:ext cx="52705" cy="41275"/>
          </a:xfrm>
          <a:custGeom>
            <a:avLst/>
            <a:gdLst/>
            <a:ahLst/>
            <a:cxnLst/>
            <a:rect l="l" t="t" r="r" b="b"/>
            <a:pathLst>
              <a:path w="52704" h="41275">
                <a:moveTo>
                  <a:pt x="20421" y="40843"/>
                </a:moveTo>
                <a:lnTo>
                  <a:pt x="14897" y="37991"/>
                </a:lnTo>
                <a:lnTo>
                  <a:pt x="9732" y="32387"/>
                </a:lnTo>
                <a:lnTo>
                  <a:pt x="4806" y="25587"/>
                </a:lnTo>
                <a:lnTo>
                  <a:pt x="0" y="19145"/>
                </a:lnTo>
                <a:lnTo>
                  <a:pt x="5743" y="13461"/>
                </a:lnTo>
                <a:lnTo>
                  <a:pt x="11487" y="7179"/>
                </a:lnTo>
                <a:lnTo>
                  <a:pt x="17230" y="2094"/>
                </a:lnTo>
                <a:lnTo>
                  <a:pt x="22974" y="0"/>
                </a:lnTo>
                <a:lnTo>
                  <a:pt x="28279" y="1954"/>
                </a:lnTo>
                <a:lnTo>
                  <a:pt x="34781" y="7020"/>
                </a:lnTo>
                <a:lnTo>
                  <a:pt x="42718" y="13999"/>
                </a:lnTo>
                <a:lnTo>
                  <a:pt x="52331" y="21697"/>
                </a:lnTo>
                <a:lnTo>
                  <a:pt x="41960" y="29176"/>
                </a:lnTo>
                <a:lnTo>
                  <a:pt x="33504" y="35578"/>
                </a:lnTo>
                <a:lnTo>
                  <a:pt x="26484" y="39826"/>
                </a:lnTo>
                <a:lnTo>
                  <a:pt x="20421" y="40843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0540" y="690773"/>
            <a:ext cx="199479" cy="17869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4852" y="689158"/>
            <a:ext cx="199479" cy="178698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12004357" y="1037271"/>
            <a:ext cx="12700" cy="5793740"/>
          </a:xfrm>
          <a:custGeom>
            <a:avLst/>
            <a:gdLst/>
            <a:ahLst/>
            <a:cxnLst/>
            <a:rect l="l" t="t" r="r" b="b"/>
            <a:pathLst>
              <a:path w="12700" h="5793740">
                <a:moveTo>
                  <a:pt x="8572" y="5793371"/>
                </a:moveTo>
                <a:lnTo>
                  <a:pt x="3810" y="5791934"/>
                </a:lnTo>
                <a:lnTo>
                  <a:pt x="0" y="5791934"/>
                </a:lnTo>
                <a:lnTo>
                  <a:pt x="148" y="5774899"/>
                </a:lnTo>
                <a:lnTo>
                  <a:pt x="804" y="5741368"/>
                </a:lnTo>
                <a:lnTo>
                  <a:pt x="952" y="5724334"/>
                </a:lnTo>
                <a:lnTo>
                  <a:pt x="952" y="63284"/>
                </a:lnTo>
                <a:lnTo>
                  <a:pt x="804" y="47328"/>
                </a:lnTo>
                <a:lnTo>
                  <a:pt x="148" y="15956"/>
                </a:lnTo>
                <a:lnTo>
                  <a:pt x="0" y="0"/>
                </a:lnTo>
                <a:lnTo>
                  <a:pt x="3810" y="5753"/>
                </a:lnTo>
                <a:lnTo>
                  <a:pt x="10477" y="10068"/>
                </a:lnTo>
                <a:lnTo>
                  <a:pt x="11429" y="15821"/>
                </a:lnTo>
                <a:lnTo>
                  <a:pt x="12382" y="28743"/>
                </a:lnTo>
                <a:lnTo>
                  <a:pt x="12621" y="41530"/>
                </a:lnTo>
                <a:lnTo>
                  <a:pt x="12502" y="54048"/>
                </a:lnTo>
                <a:lnTo>
                  <a:pt x="12382" y="66160"/>
                </a:lnTo>
                <a:lnTo>
                  <a:pt x="12382" y="5791934"/>
                </a:lnTo>
                <a:lnTo>
                  <a:pt x="8572" y="5793371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978386" y="716813"/>
            <a:ext cx="52705" cy="116205"/>
          </a:xfrm>
          <a:custGeom>
            <a:avLst/>
            <a:gdLst/>
            <a:ahLst/>
            <a:cxnLst/>
            <a:rect l="l" t="t" r="r" b="b"/>
            <a:pathLst>
              <a:path w="52704" h="116205">
                <a:moveTo>
                  <a:pt x="52324" y="97015"/>
                </a:moveTo>
                <a:lnTo>
                  <a:pt x="42722" y="89331"/>
                </a:lnTo>
                <a:lnTo>
                  <a:pt x="34785" y="82486"/>
                </a:lnTo>
                <a:lnTo>
                  <a:pt x="28282" y="77800"/>
                </a:lnTo>
                <a:lnTo>
                  <a:pt x="22974" y="76593"/>
                </a:lnTo>
                <a:lnTo>
                  <a:pt x="16687" y="78676"/>
                </a:lnTo>
                <a:lnTo>
                  <a:pt x="11010" y="83769"/>
                </a:lnTo>
                <a:lnTo>
                  <a:pt x="5562" y="90043"/>
                </a:lnTo>
                <a:lnTo>
                  <a:pt x="0" y="95732"/>
                </a:lnTo>
                <a:lnTo>
                  <a:pt x="4800" y="101434"/>
                </a:lnTo>
                <a:lnTo>
                  <a:pt x="9728" y="107861"/>
                </a:lnTo>
                <a:lnTo>
                  <a:pt x="14897" y="113322"/>
                </a:lnTo>
                <a:lnTo>
                  <a:pt x="20421" y="116154"/>
                </a:lnTo>
                <a:lnTo>
                  <a:pt x="26657" y="114960"/>
                </a:lnTo>
                <a:lnTo>
                  <a:pt x="33985" y="110413"/>
                </a:lnTo>
                <a:lnTo>
                  <a:pt x="42494" y="103949"/>
                </a:lnTo>
                <a:lnTo>
                  <a:pt x="52324" y="97015"/>
                </a:lnTo>
                <a:close/>
              </a:path>
              <a:path w="52704" h="116205">
                <a:moveTo>
                  <a:pt x="52324" y="21704"/>
                </a:moveTo>
                <a:lnTo>
                  <a:pt x="42722" y="14008"/>
                </a:lnTo>
                <a:lnTo>
                  <a:pt x="34785" y="7023"/>
                </a:lnTo>
                <a:lnTo>
                  <a:pt x="28282" y="1955"/>
                </a:lnTo>
                <a:lnTo>
                  <a:pt x="22974" y="0"/>
                </a:lnTo>
                <a:lnTo>
                  <a:pt x="17233" y="2641"/>
                </a:lnTo>
                <a:lnTo>
                  <a:pt x="11480" y="7658"/>
                </a:lnTo>
                <a:lnTo>
                  <a:pt x="5740" y="13652"/>
                </a:lnTo>
                <a:lnTo>
                  <a:pt x="0" y="19151"/>
                </a:lnTo>
                <a:lnTo>
                  <a:pt x="4800" y="24853"/>
                </a:lnTo>
                <a:lnTo>
                  <a:pt x="9728" y="31280"/>
                </a:lnTo>
                <a:lnTo>
                  <a:pt x="14897" y="36741"/>
                </a:lnTo>
                <a:lnTo>
                  <a:pt x="20421" y="39573"/>
                </a:lnTo>
                <a:lnTo>
                  <a:pt x="26479" y="38569"/>
                </a:lnTo>
                <a:lnTo>
                  <a:pt x="33502" y="34467"/>
                </a:lnTo>
                <a:lnTo>
                  <a:pt x="41960" y="28448"/>
                </a:lnTo>
                <a:lnTo>
                  <a:pt x="52324" y="21704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727454" y="208222"/>
            <a:ext cx="110044" cy="110045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12031981" y="1086731"/>
            <a:ext cx="133350" cy="2268220"/>
          </a:xfrm>
          <a:custGeom>
            <a:avLst/>
            <a:gdLst/>
            <a:ahLst/>
            <a:cxnLst/>
            <a:rect l="l" t="t" r="r" b="b"/>
            <a:pathLst>
              <a:path w="133350" h="2268220">
                <a:moveTo>
                  <a:pt x="66408" y="2267755"/>
                </a:moveTo>
                <a:lnTo>
                  <a:pt x="23173" y="2257464"/>
                </a:lnTo>
                <a:lnTo>
                  <a:pt x="1383" y="2220310"/>
                </a:lnTo>
                <a:lnTo>
                  <a:pt x="1037" y="2211755"/>
                </a:lnTo>
                <a:lnTo>
                  <a:pt x="1209" y="2203199"/>
                </a:lnTo>
                <a:lnTo>
                  <a:pt x="1382" y="2195003"/>
                </a:lnTo>
                <a:lnTo>
                  <a:pt x="1194" y="2144541"/>
                </a:lnTo>
                <a:lnTo>
                  <a:pt x="1024" y="2094079"/>
                </a:lnTo>
                <a:lnTo>
                  <a:pt x="870" y="2043616"/>
                </a:lnTo>
                <a:lnTo>
                  <a:pt x="733" y="1993151"/>
                </a:lnTo>
                <a:lnTo>
                  <a:pt x="611" y="1942683"/>
                </a:lnTo>
                <a:lnTo>
                  <a:pt x="503" y="1892212"/>
                </a:lnTo>
                <a:lnTo>
                  <a:pt x="409" y="1841737"/>
                </a:lnTo>
                <a:lnTo>
                  <a:pt x="328" y="1791259"/>
                </a:lnTo>
                <a:lnTo>
                  <a:pt x="258" y="1740775"/>
                </a:lnTo>
                <a:lnTo>
                  <a:pt x="198" y="1690285"/>
                </a:lnTo>
                <a:lnTo>
                  <a:pt x="149" y="1639790"/>
                </a:lnTo>
                <a:lnTo>
                  <a:pt x="108" y="1589287"/>
                </a:lnTo>
                <a:lnTo>
                  <a:pt x="76" y="1538777"/>
                </a:lnTo>
                <a:lnTo>
                  <a:pt x="51" y="1488259"/>
                </a:lnTo>
                <a:lnTo>
                  <a:pt x="32" y="1437733"/>
                </a:lnTo>
                <a:lnTo>
                  <a:pt x="18" y="1387197"/>
                </a:lnTo>
                <a:lnTo>
                  <a:pt x="9" y="1336651"/>
                </a:lnTo>
                <a:lnTo>
                  <a:pt x="4" y="1286095"/>
                </a:lnTo>
                <a:lnTo>
                  <a:pt x="1" y="1235527"/>
                </a:lnTo>
                <a:lnTo>
                  <a:pt x="0" y="1184948"/>
                </a:lnTo>
                <a:lnTo>
                  <a:pt x="0" y="1134356"/>
                </a:lnTo>
                <a:lnTo>
                  <a:pt x="0" y="67966"/>
                </a:lnTo>
                <a:lnTo>
                  <a:pt x="3934" y="37961"/>
                </a:lnTo>
                <a:lnTo>
                  <a:pt x="15910" y="16752"/>
                </a:lnTo>
                <a:lnTo>
                  <a:pt x="36188" y="4158"/>
                </a:lnTo>
                <a:lnTo>
                  <a:pt x="65025" y="0"/>
                </a:lnTo>
                <a:lnTo>
                  <a:pt x="94079" y="4023"/>
                </a:lnTo>
                <a:lnTo>
                  <a:pt x="114831" y="16393"/>
                </a:lnTo>
                <a:lnTo>
                  <a:pt x="127283" y="37557"/>
                </a:lnTo>
                <a:lnTo>
                  <a:pt x="131433" y="67966"/>
                </a:lnTo>
                <a:lnTo>
                  <a:pt x="131433" y="2212234"/>
                </a:lnTo>
                <a:lnTo>
                  <a:pt x="132816" y="2220848"/>
                </a:lnTo>
                <a:lnTo>
                  <a:pt x="130049" y="2228506"/>
                </a:lnTo>
                <a:lnTo>
                  <a:pt x="122829" y="2245139"/>
                </a:lnTo>
                <a:lnTo>
                  <a:pt x="109643" y="2257464"/>
                </a:lnTo>
                <a:lnTo>
                  <a:pt x="90749" y="2265122"/>
                </a:lnTo>
                <a:lnTo>
                  <a:pt x="66408" y="226775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67159" y="612648"/>
            <a:ext cx="266065" cy="266065"/>
          </a:xfrm>
          <a:custGeom>
            <a:avLst/>
            <a:gdLst/>
            <a:ahLst/>
            <a:cxnLst/>
            <a:rect l="l" t="t" r="r" b="b"/>
            <a:pathLst>
              <a:path w="266065" h="266065">
                <a:moveTo>
                  <a:pt x="132986" y="265973"/>
                </a:moveTo>
                <a:lnTo>
                  <a:pt x="90952" y="259193"/>
                </a:lnTo>
                <a:lnTo>
                  <a:pt x="54446" y="240314"/>
                </a:lnTo>
                <a:lnTo>
                  <a:pt x="25658" y="211526"/>
                </a:lnTo>
                <a:lnTo>
                  <a:pt x="6779" y="175020"/>
                </a:lnTo>
                <a:lnTo>
                  <a:pt x="0" y="132986"/>
                </a:lnTo>
                <a:lnTo>
                  <a:pt x="6779" y="90952"/>
                </a:lnTo>
                <a:lnTo>
                  <a:pt x="25658" y="54446"/>
                </a:lnTo>
                <a:lnTo>
                  <a:pt x="54446" y="25658"/>
                </a:lnTo>
                <a:lnTo>
                  <a:pt x="90952" y="6779"/>
                </a:lnTo>
                <a:lnTo>
                  <a:pt x="132986" y="0"/>
                </a:lnTo>
                <a:lnTo>
                  <a:pt x="159052" y="2578"/>
                </a:lnTo>
                <a:lnTo>
                  <a:pt x="206768" y="22343"/>
                </a:lnTo>
                <a:lnTo>
                  <a:pt x="243630" y="59205"/>
                </a:lnTo>
                <a:lnTo>
                  <a:pt x="263394" y="106921"/>
                </a:lnTo>
                <a:lnTo>
                  <a:pt x="265973" y="132986"/>
                </a:lnTo>
                <a:lnTo>
                  <a:pt x="259193" y="175020"/>
                </a:lnTo>
                <a:lnTo>
                  <a:pt x="240314" y="211526"/>
                </a:lnTo>
                <a:lnTo>
                  <a:pt x="211526" y="240314"/>
                </a:lnTo>
                <a:lnTo>
                  <a:pt x="175020" y="259193"/>
                </a:lnTo>
                <a:lnTo>
                  <a:pt x="132986" y="265973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624270" y="669524"/>
            <a:ext cx="152699" cy="162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96158" y="1739051"/>
            <a:ext cx="7599683" cy="2528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EA4335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89535"/>
            <a:ext cx="12201525" cy="6768465"/>
            <a:chOff x="-4762" y="89535"/>
            <a:chExt cx="12201525" cy="6768465"/>
          </a:xfrm>
        </p:grpSpPr>
        <p:sp>
          <p:nvSpPr>
            <p:cNvPr id="4" name="object 4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Home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2646680" marR="5080" indent="-2633980">
              <a:lnSpc>
                <a:spcPts val="6750"/>
              </a:lnSpc>
              <a:spcBef>
                <a:spcPts val="1700"/>
              </a:spcBef>
            </a:pPr>
            <a:r>
              <a:rPr spc="-30" dirty="0">
                <a:solidFill>
                  <a:srgbClr val="4285F4"/>
                </a:solidFill>
              </a:rPr>
              <a:t>И</a:t>
            </a:r>
            <a:r>
              <a:rPr spc="-30" dirty="0"/>
              <a:t>н</a:t>
            </a:r>
            <a:r>
              <a:rPr spc="-30" dirty="0">
                <a:solidFill>
                  <a:srgbClr val="FABB05"/>
                </a:solidFill>
              </a:rPr>
              <a:t>ф</a:t>
            </a:r>
            <a:r>
              <a:rPr spc="-30" dirty="0">
                <a:solidFill>
                  <a:srgbClr val="34A853"/>
                </a:solidFill>
              </a:rPr>
              <a:t>о</a:t>
            </a:r>
            <a:r>
              <a:rPr spc="-30" dirty="0">
                <a:solidFill>
                  <a:srgbClr val="4285F4"/>
                </a:solidFill>
              </a:rPr>
              <a:t>р</a:t>
            </a:r>
            <a:r>
              <a:rPr spc="-30" dirty="0"/>
              <a:t>м</a:t>
            </a:r>
            <a:r>
              <a:rPr spc="-30" dirty="0">
                <a:solidFill>
                  <a:srgbClr val="FABB05"/>
                </a:solidFill>
              </a:rPr>
              <a:t>а</a:t>
            </a:r>
            <a:r>
              <a:rPr spc="-30" dirty="0">
                <a:solidFill>
                  <a:srgbClr val="34A853"/>
                </a:solidFill>
              </a:rPr>
              <a:t>ц</a:t>
            </a:r>
            <a:r>
              <a:rPr spc="-30" dirty="0">
                <a:solidFill>
                  <a:srgbClr val="4285F4"/>
                </a:solidFill>
              </a:rPr>
              <a:t>и</a:t>
            </a:r>
            <a:r>
              <a:rPr spc="-30" dirty="0"/>
              <a:t>о</a:t>
            </a:r>
            <a:r>
              <a:rPr spc="-30" dirty="0">
                <a:solidFill>
                  <a:srgbClr val="FABB05"/>
                </a:solidFill>
              </a:rPr>
              <a:t>н</a:t>
            </a:r>
            <a:r>
              <a:rPr spc="-30" dirty="0">
                <a:solidFill>
                  <a:srgbClr val="34A853"/>
                </a:solidFill>
              </a:rPr>
              <a:t>н</a:t>
            </a:r>
            <a:r>
              <a:rPr spc="-30" dirty="0">
                <a:solidFill>
                  <a:srgbClr val="4285F4"/>
                </a:solidFill>
              </a:rPr>
              <a:t>ы</a:t>
            </a:r>
            <a:r>
              <a:rPr spc="-30" dirty="0"/>
              <a:t>й </a:t>
            </a:r>
            <a:r>
              <a:rPr spc="-10" dirty="0">
                <a:solidFill>
                  <a:srgbClr val="FABB05"/>
                </a:solidFill>
              </a:rPr>
              <a:t>п</a:t>
            </a:r>
            <a:r>
              <a:rPr spc="-10" dirty="0">
                <a:solidFill>
                  <a:srgbClr val="34A853"/>
                </a:solidFill>
              </a:rPr>
              <a:t>о</a:t>
            </a:r>
            <a:r>
              <a:rPr spc="-10" dirty="0">
                <a:solidFill>
                  <a:srgbClr val="4285F4"/>
                </a:solidFill>
              </a:rPr>
              <a:t>и</a:t>
            </a:r>
            <a:r>
              <a:rPr spc="-10" dirty="0"/>
              <a:t>с</a:t>
            </a:r>
            <a:r>
              <a:rPr spc="-10" dirty="0">
                <a:solidFill>
                  <a:srgbClr val="FABB05"/>
                </a:solidFill>
              </a:rPr>
              <a:t>к</a:t>
            </a:r>
          </a:p>
          <a:p>
            <a:pPr marL="929005">
              <a:lnSpc>
                <a:spcPct val="100000"/>
              </a:lnSpc>
              <a:spcBef>
                <a:spcPts val="2925"/>
              </a:spcBef>
            </a:pPr>
            <a:r>
              <a:rPr sz="1400" spc="-20" dirty="0" err="1">
                <a:solidFill>
                  <a:srgbClr val="595959"/>
                </a:solidFill>
                <a:latin typeface="Roboto"/>
                <a:cs typeface="Roboto"/>
              </a:rPr>
              <a:t>Теория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графов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(и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немного</a:t>
            </a:r>
            <a:r>
              <a:rPr sz="1400" spc="-3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knowledge</a:t>
            </a:r>
            <a:r>
              <a:rPr sz="1400" spc="-2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retrieval)</a:t>
            </a:r>
            <a:endParaRPr sz="14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45586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latin typeface="Microsoft Sans Serif"/>
                <a:cs typeface="Microsoft Sans Serif"/>
              </a:rPr>
              <a:t>Постановка</a:t>
            </a:r>
            <a:r>
              <a:rPr sz="4000" spc="-160" dirty="0">
                <a:latin typeface="Microsoft Sans Serif"/>
                <a:cs typeface="Microsoft Sans Serif"/>
              </a:rPr>
              <a:t> </a:t>
            </a:r>
            <a:r>
              <a:rPr sz="4000" spc="-25" dirty="0">
                <a:latin typeface="Microsoft Sans Serif"/>
                <a:cs typeface="Microsoft Sans Serif"/>
              </a:rPr>
              <a:t>задачи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2584556"/>
            <a:ext cx="4704080" cy="2199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В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рамках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задачи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knowledge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retrieval необходимо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извлечь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текста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(в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нашем </a:t>
            </a:r>
            <a:r>
              <a:rPr sz="1800" dirty="0">
                <a:latin typeface="Roboto"/>
                <a:cs typeface="Roboto"/>
              </a:rPr>
              <a:t>случае)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структурированную </a:t>
            </a:r>
            <a:r>
              <a:rPr sz="1800" spc="-35" dirty="0">
                <a:latin typeface="Roboto"/>
                <a:cs typeface="Roboto"/>
              </a:rPr>
              <a:t>информацию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в </a:t>
            </a:r>
            <a:r>
              <a:rPr sz="1800" b="1" spc="-35" dirty="0">
                <a:latin typeface="Roboto"/>
                <a:cs typeface="Roboto"/>
              </a:rPr>
              <a:t>форме,</a:t>
            </a:r>
            <a:r>
              <a:rPr sz="1800" b="1" spc="-55" dirty="0">
                <a:latin typeface="Roboto"/>
                <a:cs typeface="Roboto"/>
              </a:rPr>
              <a:t> </a:t>
            </a:r>
            <a:r>
              <a:rPr sz="1800" b="1" spc="-20" dirty="0">
                <a:latin typeface="Roboto"/>
                <a:cs typeface="Roboto"/>
              </a:rPr>
              <a:t>удобной</a:t>
            </a:r>
            <a:r>
              <a:rPr sz="1800" b="1" spc="-5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для</a:t>
            </a:r>
            <a:r>
              <a:rPr sz="1800" b="1" spc="-55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усвоения</a:t>
            </a:r>
            <a:r>
              <a:rPr sz="1800" b="1" spc="-50" dirty="0">
                <a:latin typeface="Roboto"/>
                <a:cs typeface="Roboto"/>
              </a:rPr>
              <a:t> </a:t>
            </a:r>
            <a:r>
              <a:rPr sz="1800" b="1" spc="-10" dirty="0">
                <a:latin typeface="Roboto"/>
                <a:cs typeface="Roboto"/>
              </a:rPr>
              <a:t>человеком</a:t>
            </a:r>
            <a:r>
              <a:rPr sz="1800" spc="-10" dirty="0"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Список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документов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это </a:t>
            </a:r>
            <a:r>
              <a:rPr sz="1800" spc="-25" dirty="0">
                <a:latin typeface="Roboto"/>
                <a:cs typeface="Roboto"/>
              </a:rPr>
              <a:t>неудобная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форма!</a:t>
            </a:r>
            <a:endParaRPr sz="1800">
              <a:latin typeface="Roboto"/>
              <a:cs typeface="Roboto"/>
            </a:endParaRPr>
          </a:p>
          <a:p>
            <a:pPr marL="12700" marR="139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Насколько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быстрее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вы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учитесь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по учебнику,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чем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списку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страниц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гугла?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2062" y="2311524"/>
            <a:ext cx="6025174" cy="28701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40773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Отличия</a:t>
            </a:r>
            <a:r>
              <a:rPr sz="4000" spc="-65" dirty="0">
                <a:latin typeface="Microsoft Sans Serif"/>
                <a:cs typeface="Microsoft Sans Serif"/>
              </a:rPr>
              <a:t> </a:t>
            </a:r>
            <a:r>
              <a:rPr sz="4000" spc="85" dirty="0">
                <a:latin typeface="Verdana"/>
                <a:cs typeface="Verdana"/>
              </a:rPr>
              <a:t>IR</a:t>
            </a:r>
            <a:r>
              <a:rPr sz="4000" spc="-355" dirty="0">
                <a:latin typeface="Verdana"/>
                <a:cs typeface="Verdana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и</a:t>
            </a:r>
            <a:r>
              <a:rPr sz="4000" spc="-35" dirty="0">
                <a:latin typeface="Microsoft Sans Serif"/>
                <a:cs typeface="Microsoft Sans Serif"/>
              </a:rPr>
              <a:t> </a:t>
            </a:r>
            <a:r>
              <a:rPr sz="4000" spc="30" dirty="0">
                <a:latin typeface="Verdana"/>
                <a:cs typeface="Verdana"/>
              </a:rPr>
              <a:t>KR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47737" y="2662237"/>
          <a:ext cx="10287000" cy="2649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b="1" dirty="0">
                          <a:latin typeface="Roboto"/>
                          <a:cs typeface="Roboto"/>
                        </a:rPr>
                        <a:t>Information</a:t>
                      </a:r>
                      <a:r>
                        <a:rPr sz="1800" b="1" spc="-5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b="1" spc="-10" dirty="0">
                          <a:latin typeface="Roboto"/>
                          <a:cs typeface="Roboto"/>
                        </a:rPr>
                        <a:t>retrieval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b="1" dirty="0">
                          <a:latin typeface="Roboto"/>
                          <a:cs typeface="Roboto"/>
                        </a:rPr>
                        <a:t>Knowledge</a:t>
                      </a:r>
                      <a:r>
                        <a:rPr sz="1800" b="1" spc="-4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b="1" spc="-10" dirty="0">
                          <a:latin typeface="Roboto"/>
                          <a:cs typeface="Roboto"/>
                        </a:rPr>
                        <a:t>retrieval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35" dirty="0">
                          <a:latin typeface="Roboto"/>
                          <a:cs typeface="Roboto"/>
                        </a:rPr>
                        <a:t>Информацию</a:t>
                      </a:r>
                      <a:r>
                        <a:rPr sz="1800" spc="-1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нужно</a:t>
                      </a:r>
                      <a:r>
                        <a:rPr sz="1800" spc="-1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найти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7378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Roboto"/>
                          <a:cs typeface="Roboto"/>
                        </a:rPr>
                        <a:t>Из</a:t>
                      </a:r>
                      <a:r>
                        <a:rPr sz="1800" spc="-4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найденной</a:t>
                      </a:r>
                      <a:r>
                        <a:rPr sz="1800" spc="-4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35" dirty="0">
                          <a:latin typeface="Roboto"/>
                          <a:cs typeface="Roboto"/>
                        </a:rPr>
                        <a:t>информации</a:t>
                      </a:r>
                      <a:r>
                        <a:rPr sz="1800" spc="-4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необходимо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извлечь</a:t>
                      </a:r>
                      <a:r>
                        <a:rPr sz="1800" spc="-5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5" dirty="0">
                          <a:latin typeface="Roboto"/>
                          <a:cs typeface="Roboto"/>
                        </a:rPr>
                        <a:t>структурированную</a:t>
                      </a:r>
                      <a:r>
                        <a:rPr sz="1800" spc="-5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форму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 marR="92075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20" dirty="0">
                          <a:latin typeface="Roboto"/>
                          <a:cs typeface="Roboto"/>
                        </a:rPr>
                        <a:t>Четкая</a:t>
                      </a:r>
                      <a:r>
                        <a:rPr sz="1800" spc="-7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постановка</a:t>
                      </a:r>
                      <a:r>
                        <a:rPr sz="1800" spc="-7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5" dirty="0">
                          <a:latin typeface="Roboto"/>
                          <a:cs typeface="Roboto"/>
                        </a:rPr>
                        <a:t>задачи,</a:t>
                      </a:r>
                      <a:r>
                        <a:rPr sz="1800" spc="-7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latin typeface="Roboto"/>
                          <a:cs typeface="Roboto"/>
                        </a:rPr>
                        <a:t>общая</a:t>
                      </a:r>
                      <a:r>
                        <a:rPr sz="1800" spc="-6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5" dirty="0">
                          <a:latin typeface="Roboto"/>
                          <a:cs typeface="Roboto"/>
                        </a:rPr>
                        <a:t>для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большинства</a:t>
                      </a:r>
                      <a:r>
                        <a:rPr sz="1800" spc="-9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решений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41275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spc="-10" dirty="0">
                          <a:latin typeface="Roboto"/>
                          <a:cs typeface="Roboto"/>
                        </a:rPr>
                        <a:t>Различные</a:t>
                      </a:r>
                      <a:r>
                        <a:rPr sz="1800" spc="-7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постановки</a:t>
                      </a:r>
                      <a:r>
                        <a:rPr sz="1800" spc="-7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5" dirty="0">
                          <a:latin typeface="Roboto"/>
                          <a:cs typeface="Roboto"/>
                        </a:rPr>
                        <a:t>задачи</a:t>
                      </a:r>
                      <a:r>
                        <a:rPr sz="1800" spc="-7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под</a:t>
                      </a:r>
                      <a:r>
                        <a:rPr sz="1800" spc="-7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разные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цели</a:t>
                      </a:r>
                      <a:r>
                        <a:rPr sz="1800" spc="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и</a:t>
                      </a:r>
                      <a:r>
                        <a:rPr sz="1800" spc="1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ситуации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Roboto"/>
                          <a:cs typeface="Roboto"/>
                        </a:rPr>
                        <a:t>Легкая</a:t>
                      </a:r>
                      <a:r>
                        <a:rPr sz="1800" spc="-9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формализация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65976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Roboto"/>
                          <a:cs typeface="Roboto"/>
                        </a:rPr>
                        <a:t>Нужен</a:t>
                      </a:r>
                      <a:r>
                        <a:rPr sz="1800" spc="-2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свой</a:t>
                      </a:r>
                      <a:r>
                        <a:rPr sz="1800" spc="-2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способ</a:t>
                      </a:r>
                      <a:r>
                        <a:rPr sz="1800" spc="-2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оценки</a:t>
                      </a:r>
                      <a:r>
                        <a:rPr sz="1800" spc="-20" dirty="0">
                          <a:latin typeface="Roboto"/>
                          <a:cs typeface="Roboto"/>
                        </a:rPr>
                        <a:t> качества </a:t>
                      </a:r>
                      <a:r>
                        <a:rPr sz="1800" spc="-25" dirty="0">
                          <a:latin typeface="Roboto"/>
                          <a:cs typeface="Roboto"/>
                        </a:rPr>
                        <a:t>под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каждую</a:t>
                      </a:r>
                      <a:r>
                        <a:rPr sz="1800" spc="-10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задачу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5330825" cy="3319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Что</a:t>
            </a:r>
            <a:r>
              <a:rPr sz="4000" spc="-165" dirty="0">
                <a:latin typeface="Microsoft Sans Serif"/>
                <a:cs typeface="Microsoft Sans Serif"/>
              </a:rPr>
              <a:t> </a:t>
            </a:r>
            <a:r>
              <a:rPr sz="4000" spc="-20" dirty="0">
                <a:latin typeface="Microsoft Sans Serif"/>
                <a:cs typeface="Microsoft Sans Serif"/>
              </a:rPr>
              <a:t>можно</a:t>
            </a:r>
            <a:r>
              <a:rPr sz="4000" spc="-165" dirty="0">
                <a:latin typeface="Microsoft Sans Serif"/>
                <a:cs typeface="Microsoft Sans Serif"/>
              </a:rPr>
              <a:t> </a:t>
            </a:r>
            <a:r>
              <a:rPr sz="4000" spc="-55" dirty="0">
                <a:latin typeface="Microsoft Sans Serif"/>
                <a:cs typeface="Microsoft Sans Serif"/>
              </a:rPr>
              <a:t>извлекать</a:t>
            </a:r>
            <a:r>
              <a:rPr sz="4000" spc="-55" dirty="0">
                <a:latin typeface="Verdana"/>
                <a:cs typeface="Verdana"/>
              </a:rPr>
              <a:t>?</a:t>
            </a:r>
            <a:endParaRPr sz="40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401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10" dirty="0">
                <a:latin typeface="Roboto"/>
                <a:cs typeface="Roboto"/>
              </a:rPr>
              <a:t>Таблицы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spc="-10" dirty="0">
                <a:latin typeface="Roboto"/>
                <a:cs typeface="Roboto"/>
              </a:rPr>
              <a:t>Таксономии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spc="-35" dirty="0">
                <a:latin typeface="Roboto"/>
                <a:cs typeface="Roboto"/>
              </a:rPr>
              <a:t>Онтологии/графы</a:t>
            </a:r>
            <a:r>
              <a:rPr sz="180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знаний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buFont typeface="MS PGothic"/>
              <a:buChar char="❖"/>
              <a:tabLst>
                <a:tab pos="469265" algn="l"/>
              </a:tabLst>
            </a:pPr>
            <a:r>
              <a:rPr sz="1800" spc="-120" dirty="0">
                <a:latin typeface="Roboto"/>
                <a:cs typeface="Roboto"/>
              </a:rPr>
              <a:t>Графы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социальных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отношений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1800">
              <a:latin typeface="Roboto"/>
              <a:cs typeface="Roboto"/>
            </a:endParaRPr>
          </a:p>
          <a:p>
            <a:pPr marL="12700" marR="1796414">
              <a:lnSpc>
                <a:spcPct val="100000"/>
              </a:lnSpc>
            </a:pPr>
            <a:r>
              <a:rPr sz="1800" spc="-20" dirty="0">
                <a:latin typeface="Roboto"/>
                <a:cs typeface="Roboto"/>
              </a:rPr>
              <a:t>Три</a:t>
            </a:r>
            <a:r>
              <a:rPr sz="1800" spc="-9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четырех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70" dirty="0">
                <a:latin typeface="Roboto"/>
                <a:cs typeface="Roboto"/>
              </a:rPr>
              <a:t>графы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своей структуре!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5475" y="1792925"/>
            <a:ext cx="7114772" cy="4616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351345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>
                <a:latin typeface="Microsoft Sans Serif"/>
                <a:cs typeface="Microsoft Sans Serif"/>
              </a:rPr>
              <a:t>Граф</a:t>
            </a:r>
            <a:r>
              <a:rPr sz="4000" spc="-100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и</a:t>
            </a:r>
            <a:r>
              <a:rPr sz="4000" spc="-10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дерево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2584556"/>
            <a:ext cx="6938645" cy="975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545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latin typeface="Roboto"/>
                <a:cs typeface="Roboto"/>
              </a:rPr>
              <a:t>Граф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это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совокупность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непустого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множества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набора </a:t>
            </a:r>
            <a:r>
              <a:rPr sz="1800" spc="-25" dirty="0">
                <a:latin typeface="Roboto"/>
                <a:cs typeface="Roboto"/>
              </a:rPr>
              <a:t>упорядоченных/неупорядоченных</a:t>
            </a:r>
            <a:r>
              <a:rPr sz="1800" spc="-1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пар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множества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вершин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Дерево</a:t>
            </a:r>
            <a:r>
              <a:rPr sz="1800" spc="-114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связный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ациклический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95" dirty="0">
                <a:latin typeface="Roboto"/>
                <a:cs typeface="Roboto"/>
              </a:rPr>
              <a:t>граф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(часто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ориентированный)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78399" y="3784325"/>
            <a:ext cx="7776209" cy="2888615"/>
            <a:chOff x="2378399" y="3784325"/>
            <a:chExt cx="7776209" cy="288861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8399" y="3784325"/>
              <a:ext cx="4293456" cy="28883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6607" y="3874024"/>
              <a:ext cx="2857499" cy="23812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7646034" cy="4101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220" dirty="0">
                <a:latin typeface="Microsoft Sans Serif"/>
                <a:cs typeface="Microsoft Sans Serif"/>
              </a:rPr>
              <a:t>Графы</a:t>
            </a:r>
            <a:r>
              <a:rPr sz="4000" spc="-220" dirty="0">
                <a:latin typeface="Verdana"/>
                <a:cs typeface="Verdana"/>
              </a:rPr>
              <a:t>: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где</a:t>
            </a:r>
            <a:r>
              <a:rPr sz="4000" spc="-20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используются</a:t>
            </a:r>
            <a:endParaRPr sz="4000">
              <a:latin typeface="Microsoft Sans Serif"/>
              <a:cs typeface="Microsoft Sans Serif"/>
            </a:endParaRPr>
          </a:p>
          <a:p>
            <a:pPr marL="469265" indent="-456565">
              <a:lnSpc>
                <a:spcPct val="100000"/>
              </a:lnSpc>
              <a:spcBef>
                <a:spcPts val="401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10" dirty="0">
                <a:latin typeface="Roboto"/>
                <a:cs typeface="Roboto"/>
              </a:rPr>
              <a:t>Представление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молекулярной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структуры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биологии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120" dirty="0">
                <a:latin typeface="Roboto"/>
                <a:cs typeface="Roboto"/>
              </a:rPr>
              <a:t>Графы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вычислений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автоматы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информатике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135" dirty="0">
                <a:latin typeface="Roboto"/>
                <a:cs typeface="Roboto"/>
              </a:rPr>
              <a:t>Граф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основе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географии</a:t>
            </a:r>
            <a:r>
              <a:rPr sz="1800" dirty="0">
                <a:latin typeface="Roboto"/>
                <a:cs typeface="Roboto"/>
              </a:rPr>
              <a:t> в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онлайн-</a:t>
            </a:r>
            <a:r>
              <a:rPr sz="1800" spc="-10" dirty="0">
                <a:latin typeface="Roboto"/>
                <a:cs typeface="Roboto"/>
              </a:rPr>
              <a:t>картах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Онтологии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таксономии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120" dirty="0">
                <a:latin typeface="Roboto"/>
                <a:cs typeface="Roboto"/>
              </a:rPr>
              <a:t>Графы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социальных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отношений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В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целом,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помощью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75" dirty="0">
                <a:latin typeface="Roboto"/>
                <a:cs typeface="Roboto"/>
              </a:rPr>
              <a:t>графа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можно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представить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любую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45" dirty="0">
                <a:latin typeface="Roboto"/>
                <a:cs typeface="Roboto"/>
              </a:rPr>
              <a:t>структуру,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если </a:t>
            </a:r>
            <a:r>
              <a:rPr sz="1800" dirty="0">
                <a:latin typeface="Roboto"/>
                <a:cs typeface="Roboto"/>
              </a:rPr>
              <a:t>ее</a:t>
            </a:r>
            <a:r>
              <a:rPr sz="1800" spc="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можно</a:t>
            </a:r>
            <a:r>
              <a:rPr sz="1800" spc="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перевести</a:t>
            </a:r>
            <a:r>
              <a:rPr sz="1800" spc="1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5" dirty="0">
                <a:latin typeface="Roboto"/>
                <a:cs typeface="Roboto"/>
              </a:rPr>
              <a:t> </a:t>
            </a:r>
            <a:r>
              <a:rPr sz="1800" spc="-75" dirty="0">
                <a:latin typeface="Roboto"/>
                <a:cs typeface="Roboto"/>
              </a:rPr>
              <a:t>формат</a:t>
            </a:r>
            <a:r>
              <a:rPr sz="1800" spc="5" dirty="0">
                <a:latin typeface="Roboto"/>
                <a:cs typeface="Roboto"/>
              </a:rPr>
              <a:t> </a:t>
            </a:r>
            <a:r>
              <a:rPr sz="1800" spc="-55" dirty="0">
                <a:latin typeface="Roboto"/>
                <a:cs typeface="Roboto"/>
              </a:rPr>
              <a:t>сущности-</a:t>
            </a:r>
            <a:r>
              <a:rPr sz="1800" spc="-10" dirty="0">
                <a:latin typeface="Roboto"/>
                <a:cs typeface="Roboto"/>
              </a:rPr>
              <a:t>связи!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57943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0" dirty="0">
                <a:latin typeface="Microsoft Sans Serif"/>
                <a:cs typeface="Microsoft Sans Serif"/>
              </a:rPr>
              <a:t>Таксономия</a:t>
            </a:r>
            <a:r>
              <a:rPr sz="4000" spc="-70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и</a:t>
            </a:r>
            <a:r>
              <a:rPr sz="4000" spc="-8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онтология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47737" y="2662237"/>
          <a:ext cx="10287000" cy="3105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b="1" spc="-10" dirty="0">
                          <a:latin typeface="Roboto"/>
                          <a:cs typeface="Roboto"/>
                        </a:rPr>
                        <a:t>Таксономия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b="1" spc="-10" dirty="0">
                          <a:latin typeface="Roboto"/>
                          <a:cs typeface="Roboto"/>
                        </a:rPr>
                        <a:t>Онтология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Roboto"/>
                          <a:cs typeface="Roboto"/>
                        </a:rPr>
                        <a:t>В</a:t>
                      </a:r>
                      <a:r>
                        <a:rPr sz="1800" spc="-8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большинстве</a:t>
                      </a:r>
                      <a:r>
                        <a:rPr sz="1800" spc="-7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случаев</a:t>
                      </a:r>
                      <a:r>
                        <a:rPr sz="1800" spc="-7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иерархия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Roboto"/>
                          <a:cs typeface="Roboto"/>
                        </a:rPr>
                        <a:t>Модель</a:t>
                      </a:r>
                      <a:r>
                        <a:rPr sz="1800" spc="-6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произвольных</a:t>
                      </a:r>
                      <a:r>
                        <a:rPr sz="1800" spc="-5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отношений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Roboto"/>
                          <a:cs typeface="Roboto"/>
                        </a:rPr>
                        <a:t>Чаще</a:t>
                      </a:r>
                      <a:r>
                        <a:rPr sz="1800" spc="-4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всего</a:t>
                      </a:r>
                      <a:r>
                        <a:rPr sz="1800" spc="-4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дерево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23189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Roboto"/>
                          <a:cs typeface="Roboto"/>
                        </a:rPr>
                        <a:t>Чаще</a:t>
                      </a:r>
                      <a:r>
                        <a:rPr sz="1800" spc="-6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всего</a:t>
                      </a:r>
                      <a:r>
                        <a:rPr sz="1800" spc="-4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95" dirty="0">
                          <a:latin typeface="Roboto"/>
                          <a:cs typeface="Roboto"/>
                        </a:rPr>
                        <a:t>граф</a:t>
                      </a:r>
                      <a:r>
                        <a:rPr sz="1800" spc="-1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(могут</a:t>
                      </a:r>
                      <a:r>
                        <a:rPr sz="1800" spc="-4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latin typeface="Roboto"/>
                          <a:cs typeface="Roboto"/>
                        </a:rPr>
                        <a:t>быть</a:t>
                      </a:r>
                      <a:r>
                        <a:rPr sz="1800" spc="-4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циклы,</a:t>
                      </a:r>
                      <a:r>
                        <a:rPr sz="1800" spc="-4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кратные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ребра</a:t>
                      </a:r>
                      <a:r>
                        <a:rPr sz="1800" spc="-5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и</a:t>
                      </a:r>
                      <a:r>
                        <a:rPr sz="1800" spc="-5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т.д.)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 marR="95885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Roboto"/>
                          <a:cs typeface="Roboto"/>
                        </a:rPr>
                        <a:t>Один</a:t>
                      </a:r>
                      <a:r>
                        <a:rPr sz="1800" spc="-7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тип</a:t>
                      </a:r>
                      <a:r>
                        <a:rPr sz="1800" spc="-7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связи:</a:t>
                      </a:r>
                      <a:r>
                        <a:rPr sz="1800" spc="-6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отношения</a:t>
                      </a:r>
                      <a:r>
                        <a:rPr sz="1800" spc="-7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45" dirty="0">
                          <a:latin typeface="Roboto"/>
                          <a:cs typeface="Roboto"/>
                        </a:rPr>
                        <a:t>родитель- </a:t>
                      </a:r>
                      <a:r>
                        <a:rPr sz="1800" spc="-20" dirty="0">
                          <a:latin typeface="Roboto"/>
                          <a:cs typeface="Roboto"/>
                        </a:rPr>
                        <a:t>потомок,</a:t>
                      </a:r>
                      <a:r>
                        <a:rPr sz="1800" spc="-2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40" dirty="0">
                          <a:latin typeface="Roboto"/>
                          <a:cs typeface="Roboto"/>
                        </a:rPr>
                        <a:t>общее-</a:t>
                      </a:r>
                      <a:r>
                        <a:rPr sz="1800" spc="-35" dirty="0">
                          <a:latin typeface="Roboto"/>
                          <a:cs typeface="Roboto"/>
                        </a:rPr>
                        <a:t>частное</a:t>
                      </a:r>
                      <a:r>
                        <a:rPr sz="1800" spc="-2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и</a:t>
                      </a:r>
                      <a:r>
                        <a:rPr sz="1800" spc="-20" dirty="0">
                          <a:latin typeface="Roboto"/>
                          <a:cs typeface="Roboto"/>
                        </a:rPr>
                        <a:t> т.д.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03568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Roboto"/>
                          <a:cs typeface="Roboto"/>
                        </a:rPr>
                        <a:t>Множество</a:t>
                      </a:r>
                      <a:r>
                        <a:rPr sz="1800" spc="-5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вариантов</a:t>
                      </a:r>
                      <a:r>
                        <a:rPr sz="1800" spc="-4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связи</a:t>
                      </a:r>
                      <a:r>
                        <a:rPr sz="1800" spc="-4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в</a:t>
                      </a:r>
                      <a:r>
                        <a:rPr sz="1800" spc="-5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одной структуре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Roboto"/>
                          <a:cs typeface="Roboto"/>
                        </a:rPr>
                        <a:t>Одна</a:t>
                      </a:r>
                      <a:r>
                        <a:rPr sz="1800" spc="-5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latin typeface="Roboto"/>
                          <a:cs typeface="Roboto"/>
                        </a:rPr>
                        <a:t>предметная</a:t>
                      </a:r>
                      <a:r>
                        <a:rPr sz="1800" spc="-5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область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2362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latin typeface="Roboto"/>
                          <a:cs typeface="Roboto"/>
                        </a:rPr>
                        <a:t>Любой</a:t>
                      </a:r>
                      <a:r>
                        <a:rPr sz="1800" spc="-5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latin typeface="Roboto"/>
                          <a:cs typeface="Roboto"/>
                        </a:rPr>
                        <a:t>вариант</a:t>
                      </a:r>
                      <a:r>
                        <a:rPr sz="1800" spc="-5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20" dirty="0">
                          <a:latin typeface="Roboto"/>
                          <a:cs typeface="Roboto"/>
                        </a:rPr>
                        <a:t>масштаба</a:t>
                      </a:r>
                      <a:r>
                        <a:rPr sz="1800" spc="-5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(метапредметные </a:t>
                      </a:r>
                      <a:r>
                        <a:rPr sz="1800" spc="-70" dirty="0">
                          <a:latin typeface="Roboto"/>
                          <a:cs typeface="Roboto"/>
                        </a:rPr>
                        <a:t>графы</a:t>
                      </a:r>
                      <a:r>
                        <a:rPr sz="1800" spc="-2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latin typeface="Roboto"/>
                          <a:cs typeface="Roboto"/>
                        </a:rPr>
                        <a:t>знаний)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76200" marB="0">
                    <a:lnL w="9525">
                      <a:solidFill>
                        <a:srgbClr val="252525"/>
                      </a:solidFill>
                      <a:prstDash val="solid"/>
                    </a:lnL>
                    <a:lnR w="9525">
                      <a:solidFill>
                        <a:srgbClr val="252525"/>
                      </a:solidFill>
                      <a:prstDash val="solid"/>
                    </a:lnR>
                    <a:lnT w="9525">
                      <a:solidFill>
                        <a:srgbClr val="252525"/>
                      </a:solidFill>
                      <a:prstDash val="solid"/>
                    </a:lnT>
                    <a:lnB w="952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7002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35" dirty="0">
                <a:latin typeface="Microsoft Sans Serif"/>
                <a:cs typeface="Microsoft Sans Serif"/>
              </a:rPr>
              <a:t>Граф</a:t>
            </a:r>
            <a:r>
              <a:rPr sz="4000" spc="-70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социальных</a:t>
            </a:r>
            <a:r>
              <a:rPr sz="4000" spc="-7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отношений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2584556"/>
            <a:ext cx="4872355" cy="2199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469900" algn="l"/>
              </a:tabLst>
            </a:pPr>
            <a:r>
              <a:rPr sz="1800" spc="-10" dirty="0">
                <a:latin typeface="Roboto"/>
                <a:cs typeface="Roboto"/>
              </a:rPr>
              <a:t>Вершины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сущности,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способные </a:t>
            </a:r>
            <a:r>
              <a:rPr sz="1800" spc="-25" dirty="0">
                <a:latin typeface="Roboto"/>
                <a:cs typeface="Roboto"/>
              </a:rPr>
              <a:t>взаимодействовать </a:t>
            </a:r>
            <a:r>
              <a:rPr sz="1800" dirty="0">
                <a:latin typeface="Roboto"/>
                <a:cs typeface="Roboto"/>
              </a:rPr>
              <a:t>между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собой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(люди, организации,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персонажи </a:t>
            </a:r>
            <a:r>
              <a:rPr sz="1800" spc="-10" dirty="0">
                <a:latin typeface="Roboto"/>
                <a:cs typeface="Roboto"/>
              </a:rPr>
              <a:t>книг)</a:t>
            </a:r>
            <a:endParaRPr sz="1800">
              <a:latin typeface="Roboto"/>
              <a:cs typeface="Roboto"/>
            </a:endParaRPr>
          </a:p>
          <a:p>
            <a:pPr marL="469900" marR="417195" indent="-457200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900" algn="l"/>
              </a:tabLst>
            </a:pPr>
            <a:r>
              <a:rPr sz="1800" spc="-10" dirty="0">
                <a:latin typeface="Roboto"/>
                <a:cs typeface="Roboto"/>
              </a:rPr>
              <a:t>Ребра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типы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сила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взаимодействия </a:t>
            </a:r>
            <a:r>
              <a:rPr sz="1800" dirty="0">
                <a:latin typeface="Roboto"/>
                <a:cs typeface="Roboto"/>
              </a:rPr>
              <a:t>между</a:t>
            </a:r>
            <a:r>
              <a:rPr sz="1800" spc="-8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сущностями</a:t>
            </a:r>
            <a:endParaRPr sz="1800">
              <a:latin typeface="Roboto"/>
              <a:cs typeface="Roboto"/>
            </a:endParaRPr>
          </a:p>
          <a:p>
            <a:pPr marL="469900" marR="114300" indent="-457200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900" algn="l"/>
              </a:tabLst>
            </a:pPr>
            <a:r>
              <a:rPr sz="1800" dirty="0">
                <a:latin typeface="Roboto"/>
                <a:cs typeface="Roboto"/>
              </a:rPr>
              <a:t>Чаще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всего</a:t>
            </a:r>
            <a:r>
              <a:rPr sz="1800" spc="-25" dirty="0">
                <a:latin typeface="Roboto"/>
                <a:cs typeface="Roboto"/>
              </a:rPr>
              <a:t> используются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65" dirty="0">
                <a:latin typeface="Roboto"/>
                <a:cs typeface="Roboto"/>
              </a:rPr>
              <a:t>сфере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DH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и </a:t>
            </a:r>
            <a:r>
              <a:rPr sz="1800" dirty="0">
                <a:latin typeface="Roboto"/>
                <a:cs typeface="Roboto"/>
              </a:rPr>
              <a:t>социального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анализа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0475" y="2311524"/>
            <a:ext cx="5049748" cy="40771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26422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latin typeface="Microsoft Sans Serif"/>
                <a:cs typeface="Microsoft Sans Serif"/>
              </a:rPr>
              <a:t>Сложности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2457556"/>
            <a:ext cx="7742555" cy="28549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Не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только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найти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информацию,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но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30" dirty="0">
                <a:latin typeface="Roboto"/>
                <a:cs typeface="Roboto"/>
              </a:rPr>
              <a:t> структурировать</a:t>
            </a:r>
            <a:r>
              <a:rPr sz="1800" spc="-25" dirty="0">
                <a:latin typeface="Roboto"/>
                <a:cs typeface="Roboto"/>
              </a:rPr>
              <a:t> ее</a:t>
            </a:r>
            <a:endParaRPr sz="1800">
              <a:latin typeface="Roboto"/>
              <a:cs typeface="Roboto"/>
            </a:endParaRPr>
          </a:p>
          <a:p>
            <a:pPr marL="469900" marR="5080" indent="-457200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900" algn="l"/>
              </a:tabLst>
            </a:pPr>
            <a:r>
              <a:rPr sz="1800" dirty="0">
                <a:latin typeface="Roboto"/>
                <a:cs typeface="Roboto"/>
              </a:rPr>
              <a:t>Попытка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автоматизировать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творческую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деятельность: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нет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четкого алгоритма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систематизации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произвольной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информации</a:t>
            </a:r>
            <a:endParaRPr sz="1800">
              <a:latin typeface="Roboto"/>
              <a:cs typeface="Roboto"/>
            </a:endParaRPr>
          </a:p>
          <a:p>
            <a:pPr marL="469900" marR="137795" indent="-457200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900" algn="l"/>
              </a:tabLst>
            </a:pPr>
            <a:r>
              <a:rPr sz="1800" spc="-10" dirty="0">
                <a:latin typeface="Roboto"/>
                <a:cs typeface="Roboto"/>
              </a:rPr>
              <a:t>Часто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построение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такой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структуры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требует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знаний,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выходящих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за </a:t>
            </a:r>
            <a:r>
              <a:rPr sz="1800" dirty="0">
                <a:latin typeface="Roboto"/>
                <a:cs typeface="Roboto"/>
              </a:rPr>
              <a:t>рамки</a:t>
            </a:r>
            <a:r>
              <a:rPr sz="1800" spc="-8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области</a:t>
            </a:r>
            <a:endParaRPr sz="1800">
              <a:latin typeface="Roboto"/>
              <a:cs typeface="Roboto"/>
            </a:endParaRPr>
          </a:p>
          <a:p>
            <a:pPr marL="469900" marR="597535" indent="-457200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900" algn="l"/>
              </a:tabLst>
            </a:pPr>
            <a:r>
              <a:rPr sz="1800" spc="-35" dirty="0">
                <a:latin typeface="Roboto"/>
                <a:cs typeface="Roboto"/>
              </a:rPr>
              <a:t>Задача,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где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может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быть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правильного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решения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(особенно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в </a:t>
            </a:r>
            <a:r>
              <a:rPr sz="1800" spc="-10" dirty="0">
                <a:latin typeface="Roboto"/>
                <a:cs typeface="Roboto"/>
              </a:rPr>
              <a:t>графах)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35" dirty="0">
                <a:latin typeface="Roboto"/>
                <a:cs typeface="Roboto"/>
              </a:rPr>
              <a:t>Задача,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сложная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решения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человеком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7860665" cy="386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А</a:t>
            </a:r>
            <a:r>
              <a:rPr sz="4000" spc="5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зачем</a:t>
            </a:r>
            <a:r>
              <a:rPr sz="4000" spc="-10" dirty="0">
                <a:latin typeface="Verdana"/>
                <a:cs typeface="Verdana"/>
              </a:rPr>
              <a:t>?</a:t>
            </a:r>
            <a:endParaRPr sz="4000">
              <a:latin typeface="Verdana"/>
              <a:cs typeface="Verdana"/>
            </a:endParaRPr>
          </a:p>
          <a:p>
            <a:pPr marL="12700" marR="234950">
              <a:lnSpc>
                <a:spcPct val="100000"/>
              </a:lnSpc>
              <a:spcBef>
                <a:spcPts val="4010"/>
              </a:spcBef>
            </a:pPr>
            <a:r>
              <a:rPr sz="1800" spc="-135" dirty="0">
                <a:latin typeface="Roboto"/>
                <a:cs typeface="Roboto"/>
              </a:rPr>
              <a:t>Граф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математический</a:t>
            </a:r>
            <a:r>
              <a:rPr sz="1800" spc="-9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объект,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это </a:t>
            </a:r>
            <a:r>
              <a:rPr sz="1800" spc="-20" dirty="0">
                <a:latin typeface="Roboto"/>
                <a:cs typeface="Roboto"/>
              </a:rPr>
              <a:t>дает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возможность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применять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весь разработанный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него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математический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аппарат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конкретных задачах.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Что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есть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графов:</a:t>
            </a:r>
            <a:endParaRPr sz="1800">
              <a:latin typeface="Roboto"/>
              <a:cs typeface="Roboto"/>
            </a:endParaRPr>
          </a:p>
          <a:p>
            <a:pPr marL="469900" marR="277495" indent="-292100">
              <a:lnSpc>
                <a:spcPct val="100000"/>
              </a:lnSpc>
              <a:spcBef>
                <a:spcPts val="1000"/>
              </a:spcBef>
              <a:buChar char="-"/>
              <a:tabLst>
                <a:tab pos="469900" algn="l"/>
              </a:tabLst>
            </a:pPr>
            <a:r>
              <a:rPr sz="1800" dirty="0">
                <a:latin typeface="Roboto"/>
                <a:cs typeface="Roboto"/>
              </a:rPr>
              <a:t>Алгоритмы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обхода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поиска,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оптимальные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конкретных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типов </a:t>
            </a:r>
            <a:r>
              <a:rPr sz="1800" spc="-75" dirty="0">
                <a:latin typeface="Roboto"/>
                <a:cs typeface="Roboto"/>
              </a:rPr>
              <a:t>графа</a:t>
            </a:r>
            <a:r>
              <a:rPr sz="1800" spc="-1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10" dirty="0">
                <a:latin typeface="Roboto"/>
                <a:cs typeface="Roboto"/>
              </a:rPr>
              <a:t> задач</a:t>
            </a:r>
            <a:endParaRPr sz="1800">
              <a:latin typeface="Roboto"/>
              <a:cs typeface="Roboto"/>
            </a:endParaRPr>
          </a:p>
          <a:p>
            <a:pPr marL="469265" indent="-2914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Алгоритмы</a:t>
            </a:r>
            <a:r>
              <a:rPr sz="1800" spc="-114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выделения</a:t>
            </a:r>
            <a:r>
              <a:rPr sz="1800" spc="-9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плотных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групп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кластеров,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сообществ</a:t>
            </a:r>
            <a:endParaRPr sz="1800">
              <a:latin typeface="Roboto"/>
              <a:cs typeface="Roboto"/>
            </a:endParaRPr>
          </a:p>
          <a:p>
            <a:pPr marL="469265" indent="-2914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Множество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метрик,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позволяющих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оценить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структуру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целом</a:t>
            </a:r>
            <a:endParaRPr sz="1800">
              <a:latin typeface="Roboto"/>
              <a:cs typeface="Roboto"/>
            </a:endParaRPr>
          </a:p>
          <a:p>
            <a:pPr marL="469265" indent="-2914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800" spc="-25" dirty="0">
                <a:latin typeface="Roboto"/>
                <a:cs typeface="Roboto"/>
              </a:rPr>
              <a:t>Богатая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типология,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выделенными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каждой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группы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свойствами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7910195" cy="169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160" dirty="0">
                <a:latin typeface="Microsoft Sans Serif"/>
                <a:cs typeface="Microsoft Sans Serif"/>
              </a:rPr>
              <a:t>Как</a:t>
            </a:r>
            <a:r>
              <a:rPr sz="4000" spc="-110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хранить</a:t>
            </a:r>
            <a:r>
              <a:rPr sz="4000" spc="-45" dirty="0">
                <a:latin typeface="Microsoft Sans Serif"/>
                <a:cs typeface="Microsoft Sans Serif"/>
              </a:rPr>
              <a:t> </a:t>
            </a:r>
            <a:r>
              <a:rPr sz="4000" spc="-180" dirty="0">
                <a:latin typeface="Microsoft Sans Serif"/>
                <a:cs typeface="Microsoft Sans Serif"/>
              </a:rPr>
              <a:t>графы</a:t>
            </a:r>
            <a:r>
              <a:rPr sz="4000" spc="-180" dirty="0">
                <a:latin typeface="Verdana"/>
                <a:cs typeface="Verdana"/>
              </a:rPr>
              <a:t>: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определение</a:t>
            </a:r>
            <a:endParaRPr sz="4000">
              <a:latin typeface="Microsoft Sans Serif"/>
              <a:cs typeface="Microsoft Sans Serif"/>
            </a:endParaRPr>
          </a:p>
          <a:p>
            <a:pPr marL="12700" marR="220979">
              <a:lnSpc>
                <a:spcPct val="100000"/>
              </a:lnSpc>
              <a:spcBef>
                <a:spcPts val="4010"/>
              </a:spcBef>
            </a:pPr>
            <a:r>
              <a:rPr sz="1800" dirty="0">
                <a:latin typeface="Roboto"/>
                <a:cs typeface="Roboto"/>
              </a:rPr>
              <a:t>Мы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можем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хранить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95" dirty="0">
                <a:latin typeface="Roboto"/>
                <a:cs typeface="Roboto"/>
              </a:rPr>
              <a:t>граф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так,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как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предписывает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определение: </a:t>
            </a:r>
            <a:r>
              <a:rPr sz="1800" dirty="0">
                <a:latin typeface="Roboto"/>
                <a:cs typeface="Roboto"/>
              </a:rPr>
              <a:t>множество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(список)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множество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(упорядоченных)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пар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них.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3534516"/>
            <a:ext cx="2209165" cy="82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300"/>
              </a:lnSpc>
              <a:spcBef>
                <a:spcPts val="100"/>
              </a:spcBef>
            </a:pPr>
            <a:r>
              <a:rPr sz="1800" dirty="0">
                <a:latin typeface="Roboto"/>
                <a:cs typeface="Roboto"/>
              </a:rPr>
              <a:t>Множество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вершин: </a:t>
            </a:r>
            <a:r>
              <a:rPr sz="1800" dirty="0">
                <a:latin typeface="Roboto"/>
                <a:cs typeface="Roboto"/>
              </a:rPr>
              <a:t>Множество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ребер: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40249" y="3534516"/>
            <a:ext cx="3162300" cy="8280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dirty="0">
                <a:latin typeface="Roboto"/>
                <a:cs typeface="Roboto"/>
              </a:rPr>
              <a:t>{1,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2,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3,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4,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5}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{(1,</a:t>
            </a:r>
            <a:r>
              <a:rPr sz="1800" spc="-1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3),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(2,</a:t>
            </a:r>
            <a:r>
              <a:rPr sz="1800" spc="-1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5),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(4,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3),</a:t>
            </a:r>
            <a:r>
              <a:rPr sz="1800" spc="-1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(1,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5),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(2,</a:t>
            </a:r>
            <a:r>
              <a:rPr sz="1800" spc="-1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3)}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7050" y="4865475"/>
            <a:ext cx="7753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Roboto"/>
                <a:cs typeface="Roboto"/>
              </a:rPr>
              <a:t>Иногда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можно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хранить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отдельно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множество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вершин.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Когда?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А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когда нельзя?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9497695" cy="2643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160" dirty="0">
                <a:latin typeface="Microsoft Sans Serif"/>
                <a:cs typeface="Microsoft Sans Serif"/>
              </a:rPr>
              <a:t>Как</a:t>
            </a:r>
            <a:r>
              <a:rPr sz="4000" spc="-110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хранить</a:t>
            </a:r>
            <a:r>
              <a:rPr sz="4000" spc="-215" dirty="0">
                <a:latin typeface="Microsoft Sans Serif"/>
                <a:cs typeface="Microsoft Sans Serif"/>
              </a:rPr>
              <a:t> </a:t>
            </a:r>
            <a:r>
              <a:rPr sz="4000" spc="-180" dirty="0">
                <a:latin typeface="Microsoft Sans Serif"/>
                <a:cs typeface="Microsoft Sans Serif"/>
              </a:rPr>
              <a:t>графы</a:t>
            </a:r>
            <a:r>
              <a:rPr sz="4000" spc="-180" dirty="0">
                <a:latin typeface="Verdana"/>
                <a:cs typeface="Verdana"/>
              </a:rPr>
              <a:t>: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матрица</a:t>
            </a:r>
            <a:r>
              <a:rPr sz="4000" spc="-9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смежности</a:t>
            </a:r>
            <a:endParaRPr sz="4000">
              <a:latin typeface="Microsoft Sans Serif"/>
              <a:cs typeface="Microsoft Sans Serif"/>
            </a:endParaRPr>
          </a:p>
          <a:p>
            <a:pPr marL="12700" marR="1706245">
              <a:lnSpc>
                <a:spcPct val="100000"/>
              </a:lnSpc>
              <a:spcBef>
                <a:spcPts val="4010"/>
              </a:spcBef>
            </a:pPr>
            <a:r>
              <a:rPr sz="1800" spc="-10" dirty="0">
                <a:latin typeface="Roboto"/>
                <a:cs typeface="Roboto"/>
              </a:rPr>
              <a:t>Матрица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смежности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75" dirty="0">
                <a:latin typeface="Roboto"/>
                <a:cs typeface="Roboto"/>
              </a:rPr>
              <a:t>графа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числом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n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—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это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квадратная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матрица </a:t>
            </a:r>
            <a:r>
              <a:rPr sz="1800" spc="-20" dirty="0">
                <a:latin typeface="Roboto"/>
                <a:cs typeface="Roboto"/>
              </a:rPr>
              <a:t>размера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n,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где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столбцам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строкам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расположены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вершины,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в </a:t>
            </a:r>
            <a:r>
              <a:rPr sz="1800" dirty="0">
                <a:latin typeface="Roboto"/>
                <a:cs typeface="Roboto"/>
              </a:rPr>
              <a:t>ячейках</a:t>
            </a:r>
            <a:r>
              <a:rPr sz="1800" spc="-8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числовые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характеристики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ребер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(есть|нет,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кол-</a:t>
            </a:r>
            <a:r>
              <a:rPr sz="1800" spc="-65" dirty="0">
                <a:latin typeface="Roboto"/>
                <a:cs typeface="Roboto"/>
              </a:rPr>
              <a:t>во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ребер,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вес </a:t>
            </a:r>
            <a:r>
              <a:rPr sz="1800" spc="-10" dirty="0">
                <a:latin typeface="Roboto"/>
                <a:cs typeface="Roboto"/>
              </a:rPr>
              <a:t>ребра)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Матрица:</a:t>
            </a:r>
            <a:endParaRPr sz="1800">
              <a:latin typeface="Roboto"/>
              <a:cs typeface="Roboto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738462" y="3836812"/>
          <a:ext cx="2297429" cy="2373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643562" y="3836812"/>
          <a:ext cx="2297429" cy="2373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10477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10477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10477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10477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477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10477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R="10477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477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5586839" y="4827930"/>
            <a:ext cx="514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Roboto"/>
                <a:cs typeface="Roboto"/>
              </a:rPr>
              <a:t>ИЛИ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7334250" cy="4817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algn="just">
              <a:lnSpc>
                <a:spcPct val="100000"/>
              </a:lnSpc>
              <a:spcBef>
                <a:spcPts val="100"/>
              </a:spcBef>
            </a:pPr>
            <a:r>
              <a:rPr sz="4000" spc="-160" dirty="0">
                <a:latin typeface="Microsoft Sans Serif"/>
                <a:cs typeface="Microsoft Sans Serif"/>
              </a:rPr>
              <a:t>Как</a:t>
            </a:r>
            <a:r>
              <a:rPr sz="4000" spc="-110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хранить</a:t>
            </a:r>
            <a:r>
              <a:rPr sz="4000" spc="-45" dirty="0">
                <a:latin typeface="Microsoft Sans Serif"/>
                <a:cs typeface="Microsoft Sans Serif"/>
              </a:rPr>
              <a:t> </a:t>
            </a:r>
            <a:r>
              <a:rPr sz="4000" spc="-180" dirty="0">
                <a:latin typeface="Microsoft Sans Serif"/>
                <a:cs typeface="Microsoft Sans Serif"/>
              </a:rPr>
              <a:t>графы</a:t>
            </a:r>
            <a:r>
              <a:rPr sz="4000" spc="-180" dirty="0">
                <a:latin typeface="Verdana"/>
                <a:cs typeface="Verdana"/>
              </a:rPr>
              <a:t>: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словарь</a:t>
            </a:r>
            <a:endParaRPr sz="40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00000"/>
              </a:lnSpc>
              <a:spcBef>
                <a:spcPts val="4010"/>
              </a:spcBef>
            </a:pPr>
            <a:r>
              <a:rPr sz="1800" dirty="0">
                <a:latin typeface="Roboto"/>
                <a:cs typeface="Roboto"/>
              </a:rPr>
              <a:t>У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матрицы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смежности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те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же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проблемы,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что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у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частотного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индекса: </a:t>
            </a:r>
            <a:r>
              <a:rPr sz="1800" dirty="0">
                <a:latin typeface="Roboto"/>
                <a:cs typeface="Roboto"/>
              </a:rPr>
              <a:t>множество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нулей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зря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занимают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память.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Способ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решения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такой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же: </a:t>
            </a:r>
            <a:r>
              <a:rPr sz="1800" dirty="0">
                <a:latin typeface="Roboto"/>
                <a:cs typeface="Roboto"/>
              </a:rPr>
              <a:t>храним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данные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виде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словаря.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Словарь:</a:t>
            </a:r>
            <a:endParaRPr sz="1800">
              <a:latin typeface="Roboto"/>
              <a:cs typeface="Roboto"/>
            </a:endParaRPr>
          </a:p>
          <a:p>
            <a:pPr marL="1384300">
              <a:lnSpc>
                <a:spcPct val="100000"/>
              </a:lnSpc>
              <a:spcBef>
                <a:spcPts val="1000"/>
              </a:spcBef>
            </a:pPr>
            <a:r>
              <a:rPr sz="1800" spc="-50" dirty="0">
                <a:latin typeface="Roboto"/>
                <a:cs typeface="Roboto"/>
              </a:rPr>
              <a:t>{</a:t>
            </a:r>
            <a:endParaRPr sz="1800">
              <a:latin typeface="Roboto"/>
              <a:cs typeface="Roboto"/>
            </a:endParaRPr>
          </a:p>
          <a:p>
            <a:pPr marL="184150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1: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{3: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1,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5: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1},</a:t>
            </a:r>
            <a:endParaRPr sz="1800">
              <a:latin typeface="Roboto"/>
              <a:cs typeface="Roboto"/>
            </a:endParaRPr>
          </a:p>
          <a:p>
            <a:pPr marL="184150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2: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{5: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1,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3: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1},</a:t>
            </a:r>
            <a:endParaRPr sz="1800">
              <a:latin typeface="Roboto"/>
              <a:cs typeface="Roboto"/>
            </a:endParaRPr>
          </a:p>
          <a:p>
            <a:pPr marL="184150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3: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{},</a:t>
            </a:r>
            <a:endParaRPr sz="1800">
              <a:latin typeface="Roboto"/>
              <a:cs typeface="Roboto"/>
            </a:endParaRPr>
          </a:p>
          <a:p>
            <a:pPr marL="184150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4: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{3: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1},</a:t>
            </a:r>
            <a:endParaRPr sz="1800">
              <a:latin typeface="Roboto"/>
              <a:cs typeface="Roboto"/>
            </a:endParaRPr>
          </a:p>
          <a:p>
            <a:pPr marL="184150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5: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{}</a:t>
            </a:r>
            <a:endParaRPr sz="1800">
              <a:latin typeface="Roboto"/>
              <a:cs typeface="Roboto"/>
            </a:endParaRPr>
          </a:p>
          <a:p>
            <a:pPr marL="1384300">
              <a:lnSpc>
                <a:spcPct val="100000"/>
              </a:lnSpc>
            </a:pPr>
            <a:r>
              <a:rPr sz="1800" spc="-50" dirty="0">
                <a:latin typeface="Roboto"/>
                <a:cs typeface="Roboto"/>
              </a:rPr>
              <a:t>}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есть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еще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множество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других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способов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хранения.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2074805"/>
            <a:ext cx="16154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0" dirty="0">
                <a:latin typeface="Microsoft Sans Serif"/>
                <a:cs typeface="Microsoft Sans Serif"/>
              </a:rPr>
              <a:t>запись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1465205"/>
            <a:ext cx="9258300" cy="5051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160" dirty="0">
                <a:latin typeface="Microsoft Sans Serif"/>
                <a:cs typeface="Microsoft Sans Serif"/>
              </a:rPr>
              <a:t>Как</a:t>
            </a:r>
            <a:r>
              <a:rPr sz="4000" spc="-110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хранить</a:t>
            </a:r>
            <a:r>
              <a:rPr sz="4000" spc="-130" dirty="0">
                <a:latin typeface="Microsoft Sans Serif"/>
                <a:cs typeface="Microsoft Sans Serif"/>
              </a:rPr>
              <a:t> </a:t>
            </a:r>
            <a:r>
              <a:rPr sz="4000" spc="-145" dirty="0">
                <a:latin typeface="Microsoft Sans Serif"/>
                <a:cs typeface="Microsoft Sans Serif"/>
              </a:rPr>
              <a:t>деревья</a:t>
            </a:r>
            <a:r>
              <a:rPr sz="4000" spc="-145" dirty="0">
                <a:latin typeface="Verdana"/>
                <a:cs typeface="Verdana"/>
              </a:rPr>
              <a:t>: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прямая</a:t>
            </a:r>
            <a:r>
              <a:rPr sz="4000" spc="-6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польская</a:t>
            </a:r>
            <a:endParaRPr sz="4000">
              <a:latin typeface="Microsoft Sans Serif"/>
              <a:cs typeface="Microsoft Sans Serif"/>
            </a:endParaRPr>
          </a:p>
          <a:p>
            <a:pPr marL="12700" marR="2023745">
              <a:lnSpc>
                <a:spcPct val="100000"/>
              </a:lnSpc>
              <a:spcBef>
                <a:spcPts val="4010"/>
              </a:spcBef>
            </a:pPr>
            <a:r>
              <a:rPr sz="1800" spc="-20" dirty="0">
                <a:latin typeface="Roboto"/>
                <a:cs typeface="Roboto"/>
              </a:rPr>
              <a:t>Теоретически,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деревьев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применимы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способы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хранения, </a:t>
            </a:r>
            <a:r>
              <a:rPr sz="1800" spc="-20" dirty="0">
                <a:latin typeface="Roboto"/>
                <a:cs typeface="Roboto"/>
              </a:rPr>
              <a:t>существующие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45" dirty="0">
                <a:latin typeface="Roboto"/>
                <a:cs typeface="Roboto"/>
              </a:rPr>
              <a:t>графов,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однако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они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часто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избыточны.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Почему?</a:t>
            </a:r>
            <a:endParaRPr sz="1800">
              <a:latin typeface="Roboto"/>
              <a:cs typeface="Roboto"/>
            </a:endParaRPr>
          </a:p>
          <a:p>
            <a:pPr marL="12700" marR="148209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Для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деревьев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разработаны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свои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способы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хранения.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Первый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них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370" dirty="0">
                <a:latin typeface="Roboto"/>
                <a:cs typeface="Roboto"/>
              </a:rPr>
              <a:t>-</a:t>
            </a:r>
            <a:r>
              <a:rPr sz="1800" spc="-10" dirty="0">
                <a:latin typeface="Roboto"/>
                <a:cs typeface="Roboto"/>
              </a:rPr>
              <a:t> прямая</a:t>
            </a:r>
            <a:r>
              <a:rPr sz="1800" spc="-9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польская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запись: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запись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форме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списка,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где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каждый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элемент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370" dirty="0">
                <a:latin typeface="Roboto"/>
                <a:cs typeface="Roboto"/>
              </a:rPr>
              <a:t>-</a:t>
            </a:r>
            <a:r>
              <a:rPr sz="1800" dirty="0">
                <a:latin typeface="Roboto"/>
                <a:cs typeface="Roboto"/>
              </a:rPr>
              <a:t> список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вершины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списка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ее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дочерних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вершин.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Пример:</a:t>
            </a:r>
            <a:endParaRPr sz="1800">
              <a:latin typeface="Roboto"/>
              <a:cs typeface="Roboto"/>
            </a:endParaRPr>
          </a:p>
          <a:p>
            <a:pPr marL="9271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[ROOT,</a:t>
            </a:r>
            <a:endParaRPr sz="1800">
              <a:latin typeface="Roboto"/>
              <a:cs typeface="Roboto"/>
            </a:endParaRPr>
          </a:p>
          <a:p>
            <a:pPr marL="13843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[root,</a:t>
            </a:r>
            <a:endParaRPr sz="1800">
              <a:latin typeface="Roboto"/>
              <a:cs typeface="Roboto"/>
            </a:endParaRPr>
          </a:p>
          <a:p>
            <a:pPr marL="18415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[VERB,</a:t>
            </a:r>
            <a:endParaRPr sz="1800">
              <a:latin typeface="Roboto"/>
              <a:cs typeface="Roboto"/>
            </a:endParaRPr>
          </a:p>
          <a:p>
            <a:pPr marL="2298700" marR="4247515">
              <a:lnSpc>
                <a:spcPct val="146300"/>
              </a:lnSpc>
            </a:pPr>
            <a:r>
              <a:rPr sz="1800" dirty="0">
                <a:latin typeface="Roboto"/>
                <a:cs typeface="Roboto"/>
              </a:rPr>
              <a:t>[obl,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[NOUN,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[case,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[ADP]]]], </a:t>
            </a:r>
            <a:r>
              <a:rPr sz="1800" spc="-20" dirty="0">
                <a:latin typeface="Roboto"/>
                <a:cs typeface="Roboto"/>
              </a:rPr>
              <a:t>[nsubj,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[NOUN]]]]]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2074805"/>
            <a:ext cx="16154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0" dirty="0">
                <a:latin typeface="Microsoft Sans Serif"/>
                <a:cs typeface="Microsoft Sans Serif"/>
              </a:rPr>
              <a:t>запись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1465205"/>
            <a:ext cx="9722485" cy="4650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160" dirty="0">
                <a:latin typeface="Microsoft Sans Serif"/>
                <a:cs typeface="Microsoft Sans Serif"/>
              </a:rPr>
              <a:t>Как</a:t>
            </a:r>
            <a:r>
              <a:rPr sz="4000" spc="-110" dirty="0">
                <a:latin typeface="Microsoft Sans Serif"/>
                <a:cs typeface="Microsoft Sans Serif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хранить</a:t>
            </a:r>
            <a:r>
              <a:rPr sz="4000" spc="-95" dirty="0">
                <a:latin typeface="Microsoft Sans Serif"/>
                <a:cs typeface="Microsoft Sans Serif"/>
              </a:rPr>
              <a:t> </a:t>
            </a:r>
            <a:r>
              <a:rPr sz="4000" spc="-145" dirty="0">
                <a:latin typeface="Microsoft Sans Serif"/>
                <a:cs typeface="Microsoft Sans Serif"/>
              </a:rPr>
              <a:t>деревья</a:t>
            </a:r>
            <a:r>
              <a:rPr sz="4000" spc="-145" dirty="0">
                <a:latin typeface="Verdana"/>
                <a:cs typeface="Verdana"/>
              </a:rPr>
              <a:t>: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обратная</a:t>
            </a:r>
            <a:r>
              <a:rPr sz="4000" spc="-5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польская</a:t>
            </a:r>
            <a:endParaRPr sz="4000">
              <a:latin typeface="Microsoft Sans Serif"/>
              <a:cs typeface="Microsoft Sans Serif"/>
            </a:endParaRPr>
          </a:p>
          <a:p>
            <a:pPr marL="12700" marR="2326005">
              <a:lnSpc>
                <a:spcPct val="100000"/>
              </a:lnSpc>
              <a:spcBef>
                <a:spcPts val="4010"/>
              </a:spcBef>
            </a:pPr>
            <a:r>
              <a:rPr sz="1800" dirty="0">
                <a:latin typeface="Roboto"/>
                <a:cs typeface="Roboto"/>
              </a:rPr>
              <a:t>Еще</a:t>
            </a:r>
            <a:r>
              <a:rPr sz="1800" spc="-10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есть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обратная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польская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запись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сначала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выводятся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потомки,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а </a:t>
            </a:r>
            <a:r>
              <a:rPr sz="1800" spc="-20" dirty="0">
                <a:latin typeface="Roboto"/>
                <a:cs typeface="Roboto"/>
              </a:rPr>
              <a:t>потом</a:t>
            </a:r>
            <a:r>
              <a:rPr sz="1800" spc="-9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сама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вершина.</a:t>
            </a:r>
            <a:r>
              <a:rPr sz="1800" spc="-9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Такой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75" dirty="0">
                <a:latin typeface="Roboto"/>
                <a:cs typeface="Roboto"/>
              </a:rPr>
              <a:t>формат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записи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чуть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менее человекочитаемый,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но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за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пределами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деревьев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зависимостей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очень распространен.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Пример:</a:t>
            </a:r>
            <a:endParaRPr sz="1800">
              <a:latin typeface="Roboto"/>
              <a:cs typeface="Roboto"/>
            </a:endParaRPr>
          </a:p>
          <a:p>
            <a:pPr marL="13843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[[[[[[[ADP],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case],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NOUN],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obl],</a:t>
            </a:r>
            <a:endParaRPr sz="1800">
              <a:latin typeface="Roboto"/>
              <a:cs typeface="Roboto"/>
            </a:endParaRPr>
          </a:p>
          <a:p>
            <a:pPr marL="2298700" marR="6301105" indent="-457200">
              <a:lnSpc>
                <a:spcPct val="146300"/>
              </a:lnSpc>
            </a:pPr>
            <a:r>
              <a:rPr sz="1800" dirty="0">
                <a:latin typeface="Roboto"/>
                <a:cs typeface="Roboto"/>
              </a:rPr>
              <a:t>[[NOUN],</a:t>
            </a:r>
            <a:r>
              <a:rPr sz="1800" spc="-11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nsubj], </a:t>
            </a:r>
            <a:r>
              <a:rPr sz="1800" spc="-10" dirty="0">
                <a:latin typeface="Roboto"/>
                <a:cs typeface="Roboto"/>
              </a:rPr>
              <a:t>VERB],</a:t>
            </a:r>
            <a:endParaRPr sz="1800">
              <a:latin typeface="Roboto"/>
              <a:cs typeface="Roboto"/>
            </a:endParaRPr>
          </a:p>
          <a:p>
            <a:pPr marL="27559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root],</a:t>
            </a:r>
            <a:endParaRPr sz="1800">
              <a:latin typeface="Roboto"/>
              <a:cs typeface="Roboto"/>
            </a:endParaRPr>
          </a:p>
          <a:p>
            <a:pPr marL="32131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ROOT]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7068820" cy="426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Алгоритмы</a:t>
            </a:r>
            <a:r>
              <a:rPr sz="4000" spc="-110" dirty="0">
                <a:latin typeface="Microsoft Sans Serif"/>
                <a:cs typeface="Microsoft Sans Serif"/>
              </a:rPr>
              <a:t> </a:t>
            </a:r>
            <a:r>
              <a:rPr sz="4000" spc="-190" dirty="0">
                <a:latin typeface="Microsoft Sans Serif"/>
                <a:cs typeface="Microsoft Sans Serif"/>
              </a:rPr>
              <a:t>обхода</a:t>
            </a:r>
            <a:r>
              <a:rPr sz="4000" spc="-190" dirty="0">
                <a:latin typeface="Verdana"/>
                <a:cs typeface="Verdana"/>
              </a:rPr>
              <a:t>: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в</a:t>
            </a:r>
            <a:r>
              <a:rPr sz="4000" spc="-3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глубину</a:t>
            </a:r>
            <a:endParaRPr sz="40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4010"/>
              </a:spcBef>
            </a:pPr>
            <a:r>
              <a:rPr sz="1800" spc="-10" dirty="0">
                <a:latin typeface="Roboto"/>
                <a:cs typeface="Roboto"/>
              </a:rPr>
              <a:t>Часто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требуется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перебрать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вершины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графа: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например,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чтобы </a:t>
            </a:r>
            <a:r>
              <a:rPr sz="1800" dirty="0">
                <a:latin typeface="Roboto"/>
                <a:cs typeface="Roboto"/>
              </a:rPr>
              <a:t>найти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конкретный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элемент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или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совершить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операцию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всеми </a:t>
            </a:r>
            <a:r>
              <a:rPr sz="1800" spc="-10" dirty="0">
                <a:latin typeface="Roboto"/>
                <a:cs typeface="Roboto"/>
              </a:rPr>
              <a:t>вершинами.</a:t>
            </a:r>
            <a:endParaRPr sz="1800">
              <a:latin typeface="Roboto"/>
              <a:cs typeface="Roboto"/>
            </a:endParaRPr>
          </a:p>
          <a:p>
            <a:pPr marL="12700" marR="172085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Первый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способ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обход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25" dirty="0">
                <a:latin typeface="Roboto"/>
                <a:cs typeface="Roboto"/>
              </a:rPr>
              <a:t> глубину. </a:t>
            </a:r>
            <a:r>
              <a:rPr sz="1800" dirty="0">
                <a:latin typeface="Roboto"/>
                <a:cs typeface="Roboto"/>
              </a:rPr>
              <a:t>Он</a:t>
            </a:r>
            <a:r>
              <a:rPr sz="1800" spc="-25" dirty="0">
                <a:latin typeface="Roboto"/>
                <a:cs typeface="Roboto"/>
              </a:rPr>
              <a:t> заключается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следующей </a:t>
            </a:r>
            <a:r>
              <a:rPr sz="1800" dirty="0">
                <a:latin typeface="Roboto"/>
                <a:cs typeface="Roboto"/>
              </a:rPr>
              <a:t>логике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шагов:</a:t>
            </a:r>
            <a:endParaRPr sz="1800">
              <a:latin typeface="Roboto"/>
              <a:cs typeface="Roboto"/>
            </a:endParaRPr>
          </a:p>
          <a:p>
            <a:pPr marL="469265" indent="-416559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69265" algn="l"/>
              </a:tabLst>
            </a:pPr>
            <a:r>
              <a:rPr sz="1800" spc="-20" dirty="0">
                <a:latin typeface="Roboto"/>
                <a:cs typeface="Roboto"/>
              </a:rPr>
              <a:t>Обрабатываем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текущую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вершину</a:t>
            </a:r>
            <a:endParaRPr sz="1800">
              <a:latin typeface="Roboto"/>
              <a:cs typeface="Roboto"/>
            </a:endParaRPr>
          </a:p>
          <a:p>
            <a:pPr marL="469900" marR="405765" indent="-417195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800" dirty="0">
                <a:latin typeface="Roboto"/>
                <a:cs typeface="Roboto"/>
              </a:rPr>
              <a:t>Если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у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есть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потомки,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то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поочередно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выбираем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их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как </a:t>
            </a:r>
            <a:r>
              <a:rPr sz="1800" spc="-35" dirty="0">
                <a:latin typeface="Roboto"/>
                <a:cs typeface="Roboto"/>
              </a:rPr>
              <a:t>текущую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вершину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повторяем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пункты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20" dirty="0">
                <a:latin typeface="Roboto"/>
                <a:cs typeface="Roboto"/>
              </a:rPr>
              <a:t>1-</a:t>
            </a:r>
            <a:r>
              <a:rPr sz="1800" spc="-50" dirty="0">
                <a:latin typeface="Roboto"/>
                <a:cs typeface="Roboto"/>
              </a:rPr>
              <a:t>2</a:t>
            </a:r>
            <a:endParaRPr sz="1800">
              <a:latin typeface="Roboto"/>
              <a:cs typeface="Roboto"/>
            </a:endParaRPr>
          </a:p>
          <a:p>
            <a:pPr marL="469265" indent="-416559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Если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потомков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нет,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то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поднимаемся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уровень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выше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Как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называются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такие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алгоритмы?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5150" y="2520675"/>
            <a:ext cx="2409824" cy="28384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7181850" cy="3593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Алгоритмы</a:t>
            </a:r>
            <a:r>
              <a:rPr sz="4000" spc="-110" dirty="0">
                <a:latin typeface="Microsoft Sans Serif"/>
                <a:cs typeface="Microsoft Sans Serif"/>
              </a:rPr>
              <a:t> </a:t>
            </a:r>
            <a:r>
              <a:rPr sz="4000" spc="-190" dirty="0">
                <a:latin typeface="Microsoft Sans Serif"/>
                <a:cs typeface="Microsoft Sans Serif"/>
              </a:rPr>
              <a:t>обхода</a:t>
            </a:r>
            <a:r>
              <a:rPr sz="4000" spc="-190" dirty="0">
                <a:latin typeface="Verdana"/>
                <a:cs typeface="Verdana"/>
              </a:rPr>
              <a:t>:</a:t>
            </a:r>
            <a:r>
              <a:rPr sz="4000" spc="-290" dirty="0">
                <a:latin typeface="Verdana"/>
                <a:cs typeface="Verdana"/>
              </a:rPr>
              <a:t> </a:t>
            </a:r>
            <a:r>
              <a:rPr sz="4000" dirty="0">
                <a:latin typeface="Microsoft Sans Serif"/>
                <a:cs typeface="Microsoft Sans Serif"/>
              </a:rPr>
              <a:t>в</a:t>
            </a:r>
            <a:r>
              <a:rPr sz="4000" spc="-35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ширину</a:t>
            </a:r>
            <a:endParaRPr sz="4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010"/>
              </a:spcBef>
            </a:pPr>
            <a:r>
              <a:rPr sz="1800" spc="-20" dirty="0">
                <a:latin typeface="Roboto"/>
                <a:cs typeface="Roboto"/>
              </a:rPr>
              <a:t>Второй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способ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обход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ширину.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Логика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шагов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следующая:</a:t>
            </a:r>
            <a:endParaRPr sz="1800">
              <a:latin typeface="Roboto"/>
              <a:cs typeface="Roboto"/>
            </a:endParaRPr>
          </a:p>
          <a:p>
            <a:pPr marL="469265" indent="-416559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69265" algn="l"/>
              </a:tabLst>
            </a:pPr>
            <a:r>
              <a:rPr sz="1800" spc="-20" dirty="0">
                <a:latin typeface="Roboto"/>
                <a:cs typeface="Roboto"/>
              </a:rPr>
              <a:t>Обрабатываем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текущую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вершину</a:t>
            </a:r>
            <a:endParaRPr sz="1800">
              <a:latin typeface="Roboto"/>
              <a:cs typeface="Roboto"/>
            </a:endParaRPr>
          </a:p>
          <a:p>
            <a:pPr marL="469900" marR="1212215" indent="-417195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800" dirty="0">
                <a:latin typeface="Roboto"/>
                <a:cs typeface="Roboto"/>
              </a:rPr>
              <a:t>Если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у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текущем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уровне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есть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другие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вершины,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то </a:t>
            </a:r>
            <a:r>
              <a:rPr sz="1800" spc="-20" dirty="0">
                <a:latin typeface="Roboto"/>
                <a:cs typeface="Roboto"/>
              </a:rPr>
              <a:t>обрабатываем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их</a:t>
            </a:r>
            <a:endParaRPr sz="1800">
              <a:latin typeface="Roboto"/>
              <a:cs typeface="Roboto"/>
            </a:endParaRPr>
          </a:p>
          <a:p>
            <a:pPr marL="469900" marR="5080" indent="-417195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800" dirty="0">
                <a:latin typeface="Roboto"/>
                <a:cs typeface="Roboto"/>
              </a:rPr>
              <a:t>Если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уровне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больше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нет,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то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спускаемся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уровень </a:t>
            </a:r>
            <a:r>
              <a:rPr sz="1800" dirty="0">
                <a:latin typeface="Roboto"/>
                <a:cs typeface="Roboto"/>
              </a:rPr>
              <a:t>ниже</a:t>
            </a:r>
            <a:r>
              <a:rPr sz="1800" spc="-1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повторяем</a:t>
            </a:r>
            <a:r>
              <a:rPr sz="1800" spc="-10" dirty="0">
                <a:latin typeface="Roboto"/>
                <a:cs typeface="Roboto"/>
              </a:rPr>
              <a:t> пункты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20" dirty="0">
                <a:latin typeface="Roboto"/>
                <a:cs typeface="Roboto"/>
              </a:rPr>
              <a:t>1-</a:t>
            </a:r>
            <a:r>
              <a:rPr sz="1800" spc="-50" dirty="0">
                <a:latin typeface="Roboto"/>
                <a:cs typeface="Roboto"/>
              </a:rPr>
              <a:t>3</a:t>
            </a:r>
            <a:endParaRPr sz="1800">
              <a:latin typeface="Roboto"/>
              <a:cs typeface="Roboto"/>
            </a:endParaRPr>
          </a:p>
          <a:p>
            <a:pPr marL="12700" marR="89535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Какая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здесь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может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быть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сложность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точки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зрения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реализации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в </a:t>
            </a:r>
            <a:r>
              <a:rPr sz="1800" spc="-10" dirty="0">
                <a:latin typeface="Roboto"/>
                <a:cs typeface="Roboto"/>
              </a:rPr>
              <a:t>коде?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5150" y="2520675"/>
            <a:ext cx="2276474" cy="28384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89535"/>
            <a:ext cx="12192000" cy="6768465"/>
            <a:chOff x="0" y="89535"/>
            <a:chExt cx="12192000" cy="6768465"/>
          </a:xfrm>
        </p:grpSpPr>
        <p:sp>
          <p:nvSpPr>
            <p:cNvPr id="5" name="object 5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12825" y="4008521"/>
            <a:ext cx="48685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Когда</a:t>
            </a:r>
            <a:r>
              <a:rPr sz="16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и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какой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алгоритм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25" dirty="0">
                <a:solidFill>
                  <a:srgbClr val="595959"/>
                </a:solidFill>
                <a:latin typeface="Roboto"/>
                <a:cs typeface="Roboto"/>
              </a:rPr>
              <a:t>обхода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лучше</a:t>
            </a:r>
            <a:r>
              <a:rPr sz="16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применять?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5625" y="1465205"/>
            <a:ext cx="3887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5" dirty="0">
                <a:latin typeface="Microsoft Sans Serif"/>
                <a:cs typeface="Microsoft Sans Serif"/>
              </a:rPr>
              <a:t>Метрики</a:t>
            </a:r>
            <a:r>
              <a:rPr sz="4000" spc="-22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графов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7122" y="2457556"/>
            <a:ext cx="6656705" cy="243332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29259" indent="-416559">
              <a:lnSpc>
                <a:spcPct val="100000"/>
              </a:lnSpc>
              <a:spcBef>
                <a:spcPts val="1100"/>
              </a:spcBef>
              <a:buAutoNum type="arabicPeriod"/>
              <a:tabLst>
                <a:tab pos="429259" algn="l"/>
              </a:tabLst>
            </a:pPr>
            <a:r>
              <a:rPr sz="1800" spc="-55" dirty="0">
                <a:latin typeface="Roboto"/>
                <a:cs typeface="Roboto"/>
              </a:rPr>
              <a:t>Кол-</a:t>
            </a:r>
            <a:r>
              <a:rPr sz="1800" spc="-65" dirty="0">
                <a:latin typeface="Roboto"/>
                <a:cs typeface="Roboto"/>
              </a:rPr>
              <a:t>во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ребер</a:t>
            </a:r>
            <a:endParaRPr sz="1800">
              <a:latin typeface="Roboto"/>
              <a:cs typeface="Roboto"/>
            </a:endParaRPr>
          </a:p>
          <a:p>
            <a:pPr marL="429259" indent="-416559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29259" algn="l"/>
              </a:tabLst>
            </a:pPr>
            <a:r>
              <a:rPr sz="1800" dirty="0">
                <a:latin typeface="Roboto"/>
                <a:cs typeface="Roboto"/>
              </a:rPr>
              <a:t>Степень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вершин: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максимальная,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средняя,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распределение</a:t>
            </a:r>
            <a:endParaRPr sz="1800">
              <a:latin typeface="Roboto"/>
              <a:cs typeface="Roboto"/>
            </a:endParaRPr>
          </a:p>
          <a:p>
            <a:pPr marL="429259" indent="-416559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29259" algn="l"/>
              </a:tabLst>
            </a:pPr>
            <a:r>
              <a:rPr sz="1800" spc="-10" dirty="0">
                <a:latin typeface="Roboto"/>
                <a:cs typeface="Roboto"/>
              </a:rPr>
              <a:t>Ребра: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распределение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весов</a:t>
            </a:r>
            <a:endParaRPr sz="1800">
              <a:latin typeface="Roboto"/>
              <a:cs typeface="Roboto"/>
            </a:endParaRPr>
          </a:p>
          <a:p>
            <a:pPr marL="429259" indent="-416559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29259" algn="l"/>
              </a:tabLst>
            </a:pPr>
            <a:r>
              <a:rPr sz="1800" spc="-10" dirty="0">
                <a:latin typeface="Roboto"/>
                <a:cs typeface="Roboto"/>
              </a:rPr>
              <a:t>Пути: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распределение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длин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стоимостей</a:t>
            </a:r>
            <a:endParaRPr sz="1800">
              <a:latin typeface="Roboto"/>
              <a:cs typeface="Roboto"/>
            </a:endParaRPr>
          </a:p>
          <a:p>
            <a:pPr marL="429259" indent="-416559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29259" algn="l"/>
              </a:tabLst>
            </a:pPr>
            <a:r>
              <a:rPr sz="1800" dirty="0">
                <a:latin typeface="Roboto"/>
                <a:cs typeface="Roboto"/>
              </a:rPr>
              <a:t>Degree,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closeness,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betweenness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centrality</a:t>
            </a:r>
            <a:endParaRPr sz="1800">
              <a:latin typeface="Roboto"/>
              <a:cs typeface="Roboto"/>
            </a:endParaRPr>
          </a:p>
          <a:p>
            <a:pPr marL="429259" indent="-416559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29259" algn="l"/>
              </a:tabLst>
            </a:pPr>
            <a:r>
              <a:rPr sz="1800" spc="-10" dirty="0">
                <a:latin typeface="Roboto"/>
                <a:cs typeface="Roboto"/>
              </a:rPr>
              <a:t>Кластерность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7118984" cy="370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70" dirty="0">
                <a:latin typeface="Verdana"/>
                <a:cs typeface="Verdana"/>
              </a:rPr>
              <a:t>Degree</a:t>
            </a:r>
            <a:r>
              <a:rPr sz="4000" spc="-240" dirty="0">
                <a:latin typeface="Verdana"/>
                <a:cs typeface="Verdana"/>
              </a:rPr>
              <a:t> </a:t>
            </a:r>
            <a:r>
              <a:rPr sz="4000" spc="-10" dirty="0">
                <a:latin typeface="Verdana"/>
                <a:cs typeface="Verdana"/>
              </a:rPr>
              <a:t>centrality</a:t>
            </a:r>
            <a:endParaRPr sz="4000">
              <a:latin typeface="Verdana"/>
              <a:cs typeface="Verdana"/>
            </a:endParaRPr>
          </a:p>
          <a:p>
            <a:pPr marL="12700" marR="2073275">
              <a:lnSpc>
                <a:spcPct val="146300"/>
              </a:lnSpc>
              <a:spcBef>
                <a:spcPts val="3010"/>
              </a:spcBef>
            </a:pPr>
            <a:r>
              <a:rPr sz="1800" dirty="0">
                <a:latin typeface="Roboto"/>
                <a:cs typeface="Roboto"/>
              </a:rPr>
              <a:t>Доля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которыми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соединена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текущая. </a:t>
            </a:r>
            <a:r>
              <a:rPr sz="1800" dirty="0">
                <a:latin typeface="Roboto"/>
                <a:cs typeface="Roboto"/>
              </a:rPr>
              <a:t>Можно</a:t>
            </a:r>
            <a:r>
              <a:rPr sz="1800" spc="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считать:</a:t>
            </a:r>
            <a:endParaRPr sz="1800">
              <a:latin typeface="Roboto"/>
              <a:cs typeface="Roboto"/>
            </a:endParaRPr>
          </a:p>
          <a:p>
            <a:pPr marL="469265" indent="-291465">
              <a:lnSpc>
                <a:spcPct val="100000"/>
              </a:lnSpc>
              <a:spcBef>
                <a:spcPts val="1000"/>
              </a:spcBef>
              <a:buChar char="-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Для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конкретной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вершины</a:t>
            </a:r>
            <a:endParaRPr sz="1800">
              <a:latin typeface="Roboto"/>
              <a:cs typeface="Roboto"/>
            </a:endParaRPr>
          </a:p>
          <a:p>
            <a:pPr marL="469265" indent="-291465">
              <a:lnSpc>
                <a:spcPct val="100000"/>
              </a:lnSpc>
              <a:spcBef>
                <a:spcPts val="1000"/>
              </a:spcBef>
              <a:buChar char="-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Среднее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медианное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значение</a:t>
            </a:r>
            <a:endParaRPr sz="1800">
              <a:latin typeface="Roboto"/>
              <a:cs typeface="Roboto"/>
            </a:endParaRPr>
          </a:p>
          <a:p>
            <a:pPr marL="469265" indent="-291465">
              <a:lnSpc>
                <a:spcPct val="100000"/>
              </a:lnSpc>
              <a:spcBef>
                <a:spcPts val="1000"/>
              </a:spcBef>
              <a:buChar char="-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Распределение</a:t>
            </a:r>
            <a:r>
              <a:rPr sz="1800" spc="-10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значений</a:t>
            </a:r>
            <a:endParaRPr sz="1800">
              <a:latin typeface="Roboto"/>
              <a:cs typeface="Roboto"/>
            </a:endParaRPr>
          </a:p>
          <a:p>
            <a:pPr marL="469900" marR="5080" indent="-292100">
              <a:lnSpc>
                <a:spcPct val="100000"/>
              </a:lnSpc>
              <a:spcBef>
                <a:spcPts val="1000"/>
              </a:spcBef>
              <a:buChar char="-"/>
              <a:tabLst>
                <a:tab pos="469900" algn="l"/>
              </a:tabLst>
            </a:pPr>
            <a:r>
              <a:rPr sz="1800" spc="-25" dirty="0">
                <a:latin typeface="Roboto"/>
                <a:cs typeface="Roboto"/>
              </a:rPr>
              <a:t>Зависимость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от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остальных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метрик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65" dirty="0">
                <a:latin typeface="Roboto"/>
                <a:cs typeface="Roboto"/>
              </a:rPr>
              <a:t>графе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(или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внешних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для </a:t>
            </a:r>
            <a:r>
              <a:rPr sz="1800" spc="-75" dirty="0">
                <a:latin typeface="Roboto"/>
                <a:cs typeface="Roboto"/>
              </a:rPr>
              <a:t>графа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метрик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метаинформации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ребер)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7237"/>
            <a:ext cx="7806055" cy="148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3600" spc="-95" dirty="0">
                <a:latin typeface="Verdana"/>
                <a:cs typeface="Verdana"/>
              </a:rPr>
              <a:t>Betweenness</a:t>
            </a:r>
            <a:r>
              <a:rPr sz="3600" spc="-235" dirty="0">
                <a:latin typeface="Verdana"/>
                <a:cs typeface="Verdana"/>
              </a:rPr>
              <a:t> </a:t>
            </a:r>
            <a:r>
              <a:rPr sz="3600" spc="-10" dirty="0">
                <a:latin typeface="Verdana"/>
                <a:cs typeface="Verdana"/>
              </a:rPr>
              <a:t>centrality</a:t>
            </a:r>
            <a:endParaRPr sz="36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830"/>
              </a:spcBef>
            </a:pPr>
            <a:r>
              <a:rPr sz="1800" spc="-20" dirty="0">
                <a:latin typeface="Roboto"/>
                <a:cs typeface="Roboto"/>
              </a:rPr>
              <a:t>Показывает,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какую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долю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от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всех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кратчайших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путей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65" dirty="0">
                <a:latin typeface="Roboto"/>
                <a:cs typeface="Roboto"/>
              </a:rPr>
              <a:t>графе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составляют кратчайшие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пути,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проходящие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через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текущую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вершину.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4128006"/>
            <a:ext cx="6831330" cy="20320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spc="-25" dirty="0">
                <a:latin typeface="Roboto"/>
                <a:cs typeface="Roboto"/>
              </a:rPr>
              <a:t>где</a:t>
            </a:r>
            <a:endParaRPr sz="1800">
              <a:latin typeface="Roboto"/>
              <a:cs typeface="Roboto"/>
            </a:endParaRPr>
          </a:p>
          <a:p>
            <a:pPr marL="12700" marR="3381375">
              <a:lnSpc>
                <a:spcPct val="146300"/>
              </a:lnSpc>
            </a:pPr>
            <a:r>
              <a:rPr sz="1800" dirty="0">
                <a:latin typeface="Roboto"/>
                <a:cs typeface="Roboto"/>
              </a:rPr>
              <a:t>V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мноджество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графе </a:t>
            </a:r>
            <a:r>
              <a:rPr sz="1800" dirty="0">
                <a:latin typeface="Roboto"/>
                <a:cs typeface="Roboto"/>
              </a:rPr>
              <a:t>s,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70" dirty="0">
                <a:latin typeface="Roboto"/>
                <a:cs typeface="Roboto"/>
              </a:rPr>
              <a:t>какие-</a:t>
            </a:r>
            <a:r>
              <a:rPr sz="1800" dirty="0">
                <a:latin typeface="Roboto"/>
                <a:cs typeface="Roboto"/>
              </a:rPr>
              <a:t>то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вершины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σ(s,</a:t>
            </a:r>
            <a:r>
              <a:rPr sz="1800" spc="-8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t)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кол-</a:t>
            </a:r>
            <a:r>
              <a:rPr sz="1800" spc="-65" dirty="0">
                <a:latin typeface="Roboto"/>
                <a:cs typeface="Roboto"/>
              </a:rPr>
              <a:t>во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кратчайших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путей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от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s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t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σ(s,</a:t>
            </a:r>
            <a:r>
              <a:rPr sz="1800" spc="-9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t|v)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кол-</a:t>
            </a:r>
            <a:r>
              <a:rPr sz="1800" spc="-65" dirty="0">
                <a:latin typeface="Roboto"/>
                <a:cs typeface="Roboto"/>
              </a:rPr>
              <a:t>во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кратчайших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путей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от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s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проходящих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через</a:t>
            </a:r>
            <a:r>
              <a:rPr sz="1800" spc="-50" dirty="0">
                <a:latin typeface="Roboto"/>
                <a:cs typeface="Roboto"/>
              </a:rPr>
              <a:t> v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2250" y="3213875"/>
            <a:ext cx="3507487" cy="9275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7237"/>
            <a:ext cx="7519670" cy="148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3600" spc="-105" dirty="0">
                <a:latin typeface="Verdana"/>
                <a:cs typeface="Verdana"/>
              </a:rPr>
              <a:t>Closeness</a:t>
            </a:r>
            <a:r>
              <a:rPr sz="3600" spc="-245" dirty="0">
                <a:latin typeface="Verdana"/>
                <a:cs typeface="Verdana"/>
              </a:rPr>
              <a:t> </a:t>
            </a:r>
            <a:r>
              <a:rPr sz="3600" spc="-10" dirty="0">
                <a:latin typeface="Verdana"/>
                <a:cs typeface="Verdana"/>
              </a:rPr>
              <a:t>centrality</a:t>
            </a:r>
            <a:endParaRPr sz="36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830"/>
              </a:spcBef>
            </a:pPr>
            <a:r>
              <a:rPr sz="1800" dirty="0">
                <a:latin typeface="Roboto"/>
                <a:cs typeface="Roboto"/>
              </a:rPr>
              <a:t>Величина,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обратная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среднему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кратчайшему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пути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от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вершины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до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всех </a:t>
            </a:r>
            <a:r>
              <a:rPr sz="1800" spc="-10" dirty="0">
                <a:latin typeface="Roboto"/>
                <a:cs typeface="Roboto"/>
              </a:rPr>
              <a:t>достижимых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вершин.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050" y="4128006"/>
            <a:ext cx="5760085" cy="163068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spc="-25" dirty="0">
                <a:latin typeface="Roboto"/>
                <a:cs typeface="Roboto"/>
              </a:rPr>
              <a:t>где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u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45" dirty="0">
                <a:latin typeface="Roboto"/>
                <a:cs typeface="Roboto"/>
              </a:rPr>
              <a:t>текущая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вершина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46300"/>
              </a:lnSpc>
            </a:pPr>
            <a:r>
              <a:rPr sz="1800" dirty="0">
                <a:latin typeface="Roboto"/>
                <a:cs typeface="Roboto"/>
              </a:rPr>
              <a:t>d(u,</a:t>
            </a:r>
            <a:r>
              <a:rPr sz="1800" spc="-10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v)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кратчайший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путь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от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вершины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u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до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вершины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v </a:t>
            </a:r>
            <a:r>
              <a:rPr sz="1800" dirty="0">
                <a:latin typeface="Roboto"/>
                <a:cs typeface="Roboto"/>
              </a:rPr>
              <a:t>n</a:t>
            </a:r>
            <a:r>
              <a:rPr sz="1800" spc="-85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1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320" dirty="0">
                <a:latin typeface="Roboto"/>
                <a:cs typeface="Roboto"/>
              </a:rPr>
              <a:t>-</a:t>
            </a:r>
            <a:r>
              <a:rPr sz="1800" spc="-5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кол-</a:t>
            </a:r>
            <a:r>
              <a:rPr sz="1800" spc="-65" dirty="0">
                <a:latin typeface="Roboto"/>
                <a:cs typeface="Roboto"/>
              </a:rPr>
              <a:t>во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вершин,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достижимых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u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6037" y="3050425"/>
            <a:ext cx="3084574" cy="11810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89535"/>
            <a:ext cx="12192000" cy="6768465"/>
            <a:chOff x="0" y="89535"/>
            <a:chExt cx="12192000" cy="6768465"/>
          </a:xfrm>
        </p:grpSpPr>
        <p:sp>
          <p:nvSpPr>
            <p:cNvPr id="5" name="object 5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12825" y="4008521"/>
            <a:ext cx="2876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В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чем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смысл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данных</a:t>
            </a:r>
            <a:r>
              <a:rPr sz="1600" spc="-4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метрик?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7237"/>
            <a:ext cx="7372984" cy="403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Microsoft Sans Serif"/>
                <a:cs typeface="Microsoft Sans Serif"/>
              </a:rPr>
              <a:t>Кластеризация</a:t>
            </a:r>
            <a:endParaRPr sz="3600">
              <a:latin typeface="Microsoft Sans Serif"/>
              <a:cs typeface="Microsoft Sans Serif"/>
            </a:endParaRPr>
          </a:p>
          <a:p>
            <a:pPr marL="12700" marR="313690">
              <a:lnSpc>
                <a:spcPct val="100000"/>
              </a:lnSpc>
              <a:spcBef>
                <a:spcPts val="2830"/>
              </a:spcBef>
            </a:pPr>
            <a:r>
              <a:rPr sz="1800" spc="-10" dirty="0">
                <a:latin typeface="Roboto"/>
                <a:cs typeface="Roboto"/>
              </a:rPr>
              <a:t>Вообще,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40" dirty="0">
                <a:latin typeface="Roboto"/>
                <a:cs typeface="Roboto"/>
              </a:rPr>
              <a:t>это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одна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задач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обучения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без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учителя,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где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необходимо выделить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данных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группы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похожих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признакам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объектов.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Однако,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часто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кластеризация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воспринимается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как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задача,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как </a:t>
            </a:r>
            <a:r>
              <a:rPr sz="1800" spc="-20" dirty="0">
                <a:latin typeface="Roboto"/>
                <a:cs typeface="Roboto"/>
              </a:rPr>
              <a:t>инструмент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исследования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данных.</a:t>
            </a:r>
            <a:r>
              <a:rPr sz="1800" spc="-7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Тогда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используются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хорошо зарекомендовавшие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себя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алгоритмы.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Например: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75" dirty="0">
                <a:latin typeface="Roboto"/>
                <a:cs typeface="Roboto"/>
              </a:rPr>
              <a:t>K-</a:t>
            </a:r>
            <a:r>
              <a:rPr sz="1800" spc="-10" dirty="0">
                <a:latin typeface="Roboto"/>
                <a:cs typeface="Roboto"/>
              </a:rPr>
              <a:t>means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10" dirty="0">
                <a:latin typeface="Roboto"/>
                <a:cs typeface="Roboto"/>
              </a:rPr>
              <a:t>DBscan</a:t>
            </a:r>
            <a:endParaRPr sz="1800">
              <a:latin typeface="Roboto"/>
              <a:cs typeface="Roboto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800" spc="-20" dirty="0">
                <a:latin typeface="Roboto"/>
                <a:cs typeface="Roboto"/>
              </a:rPr>
              <a:t>Louvain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Method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7237"/>
            <a:ext cx="7661909" cy="4586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3600" spc="-220" dirty="0">
                <a:latin typeface="Verdana"/>
                <a:cs typeface="Verdana"/>
              </a:rPr>
              <a:t>K-</a:t>
            </a:r>
            <a:r>
              <a:rPr sz="3600" spc="-10" dirty="0">
                <a:latin typeface="Verdana"/>
                <a:cs typeface="Verdana"/>
              </a:rPr>
              <a:t>means</a:t>
            </a:r>
            <a:endParaRPr sz="3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830"/>
              </a:spcBef>
            </a:pPr>
            <a:r>
              <a:rPr sz="1800" dirty="0">
                <a:latin typeface="Roboto"/>
                <a:cs typeface="Roboto"/>
              </a:rPr>
              <a:t>Самый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алгоритмически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простой,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довольно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неточный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метод.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Roboto"/>
                <a:cs typeface="Roboto"/>
              </a:rPr>
              <a:t>Идея: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(случайно)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разбрасываем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пространству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k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центров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кластеров, стараемся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итеративно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минимизировать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расстояние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от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элементов </a:t>
            </a:r>
            <a:r>
              <a:rPr sz="1800" spc="-20" dirty="0">
                <a:latin typeface="Roboto"/>
                <a:cs typeface="Roboto"/>
              </a:rPr>
              <a:t>кластера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его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центра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Плюсы:</a:t>
            </a:r>
            <a:endParaRPr sz="1800">
              <a:latin typeface="Roboto"/>
              <a:cs typeface="Roboto"/>
            </a:endParaRPr>
          </a:p>
          <a:p>
            <a:pPr marL="469265" indent="-291465">
              <a:lnSpc>
                <a:spcPct val="100000"/>
              </a:lnSpc>
              <a:spcBef>
                <a:spcPts val="1000"/>
              </a:spcBef>
              <a:buChar char="-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Легкий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реализации</a:t>
            </a:r>
            <a:endParaRPr sz="1800">
              <a:latin typeface="Roboto"/>
              <a:cs typeface="Roboto"/>
            </a:endParaRPr>
          </a:p>
          <a:p>
            <a:pPr marL="469265" indent="-2914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Чаще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всего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быстро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обучается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Минусы:</a:t>
            </a:r>
            <a:endParaRPr sz="1800">
              <a:latin typeface="Roboto"/>
              <a:cs typeface="Roboto"/>
            </a:endParaRPr>
          </a:p>
          <a:p>
            <a:pPr marL="469265" indent="-291465">
              <a:lnSpc>
                <a:spcPct val="100000"/>
              </a:lnSpc>
              <a:spcBef>
                <a:spcPts val="1000"/>
              </a:spcBef>
              <a:buChar char="-"/>
              <a:tabLst>
                <a:tab pos="469265" algn="l"/>
              </a:tabLst>
            </a:pPr>
            <a:r>
              <a:rPr sz="1800" spc="-40" dirty="0">
                <a:latin typeface="Roboto"/>
                <a:cs typeface="Roboto"/>
              </a:rPr>
              <a:t>Требуется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вручную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задать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60" dirty="0">
                <a:latin typeface="Roboto"/>
                <a:cs typeface="Roboto"/>
              </a:rPr>
              <a:t>кол-</a:t>
            </a:r>
            <a:r>
              <a:rPr sz="1800" spc="-65" dirty="0">
                <a:latin typeface="Roboto"/>
                <a:cs typeface="Roboto"/>
              </a:rPr>
              <a:t>во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кластеров</a:t>
            </a:r>
            <a:endParaRPr sz="1800">
              <a:latin typeface="Roboto"/>
              <a:cs typeface="Roboto"/>
            </a:endParaRPr>
          </a:p>
          <a:p>
            <a:pPr marL="469265" indent="-2914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Очень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чувствителен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изначальному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расположению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центров</a:t>
            </a:r>
            <a:endParaRPr sz="1800">
              <a:latin typeface="Roboto"/>
              <a:cs typeface="Roboto"/>
            </a:endParaRPr>
          </a:p>
          <a:p>
            <a:pPr marL="469265" indent="-2914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Не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умеет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отсеивать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шум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промежуточные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положения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7237"/>
            <a:ext cx="7773670" cy="473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Verdana"/>
                <a:cs typeface="Verdana"/>
              </a:rPr>
              <a:t>DBscan</a:t>
            </a:r>
            <a:endParaRPr sz="36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830"/>
              </a:spcBef>
            </a:pPr>
            <a:r>
              <a:rPr sz="1800" dirty="0">
                <a:latin typeface="Roboto"/>
                <a:cs typeface="Roboto"/>
              </a:rPr>
              <a:t>Идея: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если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между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двумя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точками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протянулась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плотная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группа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(тут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есть параметр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плотности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размера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группы)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то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мы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считаем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их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одной группой;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точки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краях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или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между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присоединяем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к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ближайшей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группе; </a:t>
            </a:r>
            <a:r>
              <a:rPr sz="1800" dirty="0">
                <a:latin typeface="Roboto"/>
                <a:cs typeface="Roboto"/>
              </a:rPr>
              <a:t>если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точка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совсем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далеко,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то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она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выброс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Плюсы:</a:t>
            </a:r>
            <a:endParaRPr sz="1800">
              <a:latin typeface="Roboto"/>
              <a:cs typeface="Roboto"/>
            </a:endParaRPr>
          </a:p>
          <a:p>
            <a:pPr marL="469265" indent="-291465">
              <a:lnSpc>
                <a:spcPct val="100000"/>
              </a:lnSpc>
              <a:spcBef>
                <a:spcPts val="1000"/>
              </a:spcBef>
              <a:buChar char="-"/>
              <a:tabLst>
                <a:tab pos="469265" algn="l"/>
              </a:tabLst>
            </a:pPr>
            <a:r>
              <a:rPr sz="1800" spc="-55" dirty="0">
                <a:latin typeface="Roboto"/>
                <a:cs typeface="Roboto"/>
              </a:rPr>
              <a:t>Кол-</a:t>
            </a:r>
            <a:r>
              <a:rPr sz="1800" spc="-65" dirty="0">
                <a:latin typeface="Roboto"/>
                <a:cs typeface="Roboto"/>
              </a:rPr>
              <a:t>во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кластеров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определяется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само</a:t>
            </a:r>
            <a:endParaRPr sz="1800">
              <a:latin typeface="Roboto"/>
              <a:cs typeface="Roboto"/>
            </a:endParaRPr>
          </a:p>
          <a:p>
            <a:pPr marL="469900" marR="151130" indent="-2921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1800" dirty="0">
                <a:latin typeface="Roboto"/>
                <a:cs typeface="Roboto"/>
              </a:rPr>
              <a:t>Есть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гиперпараметры,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которые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можно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30" dirty="0">
                <a:latin typeface="Roboto"/>
                <a:cs typeface="Roboto"/>
              </a:rPr>
              <a:t>подбирать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под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конкретную задачу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Roboto"/>
                <a:cs typeface="Roboto"/>
              </a:rPr>
              <a:t>Минусы:</a:t>
            </a:r>
            <a:endParaRPr sz="1800">
              <a:latin typeface="Roboto"/>
              <a:cs typeface="Roboto"/>
            </a:endParaRPr>
          </a:p>
          <a:p>
            <a:pPr marL="469900" marR="627380" indent="-292100">
              <a:lnSpc>
                <a:spcPct val="100000"/>
              </a:lnSpc>
              <a:spcBef>
                <a:spcPts val="1000"/>
              </a:spcBef>
              <a:buChar char="-"/>
              <a:tabLst>
                <a:tab pos="469900" algn="l"/>
              </a:tabLst>
            </a:pPr>
            <a:r>
              <a:rPr sz="1800" dirty="0">
                <a:latin typeface="Roboto"/>
                <a:cs typeface="Roboto"/>
              </a:rPr>
              <a:t>Плохо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работает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нечеткими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границами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не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очень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плотными кластерами</a:t>
            </a:r>
            <a:endParaRPr sz="1800">
              <a:latin typeface="Roboto"/>
              <a:cs typeface="Roboto"/>
            </a:endParaRPr>
          </a:p>
          <a:p>
            <a:pPr marL="469265" indent="-2914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800" dirty="0">
                <a:latin typeface="Roboto"/>
                <a:cs typeface="Roboto"/>
              </a:rPr>
              <a:t>Может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быть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излишне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сложным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простых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случаев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7237"/>
            <a:ext cx="4043045" cy="4078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3600" spc="-35" dirty="0">
                <a:latin typeface="Verdana"/>
                <a:cs typeface="Verdana"/>
              </a:rPr>
              <a:t>Louvain</a:t>
            </a:r>
            <a:r>
              <a:rPr sz="3600" spc="-260" dirty="0">
                <a:latin typeface="Verdana"/>
                <a:cs typeface="Verdana"/>
              </a:rPr>
              <a:t> </a:t>
            </a:r>
            <a:r>
              <a:rPr sz="3600" spc="-10" dirty="0">
                <a:latin typeface="Verdana"/>
                <a:cs typeface="Verdana"/>
              </a:rPr>
              <a:t>Method</a:t>
            </a:r>
            <a:endParaRPr sz="3600">
              <a:latin typeface="Verdana"/>
              <a:cs typeface="Verdana"/>
            </a:endParaRPr>
          </a:p>
          <a:p>
            <a:pPr marL="12700" marR="414020">
              <a:lnSpc>
                <a:spcPct val="100000"/>
              </a:lnSpc>
              <a:spcBef>
                <a:spcPts val="2830"/>
              </a:spcBef>
            </a:pPr>
            <a:r>
              <a:rPr sz="1800" dirty="0">
                <a:latin typeface="Roboto"/>
                <a:cs typeface="Roboto"/>
              </a:rPr>
              <a:t>Идея: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изначально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все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вершины</a:t>
            </a:r>
            <a:r>
              <a:rPr sz="1800" spc="-50" dirty="0">
                <a:latin typeface="Roboto"/>
                <a:cs typeface="Roboto"/>
              </a:rPr>
              <a:t> в </a:t>
            </a:r>
            <a:r>
              <a:rPr sz="1800" spc="-25" dirty="0">
                <a:latin typeface="Roboto"/>
                <a:cs typeface="Roboto"/>
              </a:rPr>
              <a:t>отдельных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кластерах;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потом, </a:t>
            </a:r>
            <a:r>
              <a:rPr sz="1800" spc="-20" dirty="0">
                <a:latin typeface="Roboto"/>
                <a:cs typeface="Roboto"/>
              </a:rPr>
              <a:t>максимизируя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функцию </a:t>
            </a:r>
            <a:r>
              <a:rPr sz="1800" spc="-25" dirty="0">
                <a:latin typeface="Roboto"/>
                <a:cs typeface="Roboto"/>
              </a:rPr>
              <a:t>модулярности,</a:t>
            </a:r>
            <a:r>
              <a:rPr sz="1800" spc="-4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перемещаем </a:t>
            </a:r>
            <a:r>
              <a:rPr sz="1800" dirty="0">
                <a:latin typeface="Roboto"/>
                <a:cs typeface="Roboto"/>
              </a:rPr>
              <a:t>вершины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кластеры;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сжимаем </a:t>
            </a:r>
            <a:r>
              <a:rPr sz="1800" spc="-20" dirty="0">
                <a:latin typeface="Roboto"/>
                <a:cs typeface="Roboto"/>
              </a:rPr>
              <a:t>кластера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одну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вершину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и </a:t>
            </a:r>
            <a:r>
              <a:rPr sz="1800" spc="-20" dirty="0">
                <a:latin typeface="Roboto"/>
                <a:cs typeface="Roboto"/>
              </a:rPr>
              <a:t>повторяем</a:t>
            </a:r>
            <a:r>
              <a:rPr sz="1800" spc="-2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процесс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800" spc="-25" dirty="0">
                <a:latin typeface="Roboto"/>
                <a:cs typeface="Roboto"/>
              </a:rPr>
              <a:t>Модулярность</a:t>
            </a:r>
            <a:r>
              <a:rPr sz="1800" spc="-3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сравнивает</a:t>
            </a:r>
            <a:r>
              <a:rPr sz="1800" spc="-3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число </a:t>
            </a:r>
            <a:r>
              <a:rPr sz="1800" dirty="0">
                <a:latin typeface="Roboto"/>
                <a:cs typeface="Roboto"/>
              </a:rPr>
              <a:t>рёбер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внутри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кластера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</a:t>
            </a:r>
            <a:r>
              <a:rPr sz="1800" spc="-5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ожидаемым </a:t>
            </a:r>
            <a:r>
              <a:rPr sz="1800" dirty="0">
                <a:latin typeface="Roboto"/>
                <a:cs typeface="Roboto"/>
              </a:rPr>
              <a:t>числом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рёбер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для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случайного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графа </a:t>
            </a:r>
            <a:r>
              <a:rPr sz="1800" dirty="0">
                <a:latin typeface="Roboto"/>
                <a:cs typeface="Roboto"/>
              </a:rPr>
              <a:t>с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тем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же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50" dirty="0">
                <a:latin typeface="Roboto"/>
                <a:cs typeface="Roboto"/>
              </a:rPr>
              <a:t>кол-</a:t>
            </a:r>
            <a:r>
              <a:rPr sz="1800" spc="-55" dirty="0">
                <a:latin typeface="Roboto"/>
                <a:cs typeface="Roboto"/>
              </a:rPr>
              <a:t>вом</a:t>
            </a:r>
            <a:r>
              <a:rPr sz="1800" spc="-1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вершин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5500" y="2532012"/>
            <a:ext cx="6547125" cy="31968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89535"/>
            <a:ext cx="12192000" cy="6768465"/>
            <a:chOff x="0" y="89535"/>
            <a:chExt cx="12192000" cy="6768465"/>
          </a:xfrm>
        </p:grpSpPr>
        <p:sp>
          <p:nvSpPr>
            <p:cNvPr id="5" name="object 5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12825" y="4008521"/>
            <a:ext cx="50692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В</a:t>
            </a:r>
            <a:r>
              <a:rPr sz="1600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чем</a:t>
            </a:r>
            <a:r>
              <a:rPr sz="16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отличие</a:t>
            </a:r>
            <a:r>
              <a:rPr sz="16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первых</a:t>
            </a:r>
            <a:r>
              <a:rPr sz="1600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boto"/>
                <a:cs typeface="Roboto"/>
              </a:rPr>
              <a:t>двух</a:t>
            </a:r>
            <a:r>
              <a:rPr sz="16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алгоритмов</a:t>
            </a:r>
            <a:r>
              <a:rPr sz="160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595959"/>
                </a:solidFill>
                <a:latin typeface="Roboto"/>
                <a:cs typeface="Roboto"/>
              </a:rPr>
              <a:t>от</a:t>
            </a:r>
            <a:r>
              <a:rPr sz="1600" spc="-6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boto"/>
                <a:cs typeface="Roboto"/>
              </a:rPr>
              <a:t>третьего?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1752</Words>
  <Application>Microsoft Office PowerPoint</Application>
  <PresentationFormat>Широкоэкранный</PresentationFormat>
  <Paragraphs>334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5" baseType="lpstr">
      <vt:lpstr>MS PGothic</vt:lpstr>
      <vt:lpstr>Microsoft Sans Serif</vt:lpstr>
      <vt:lpstr>Roboto</vt:lpstr>
      <vt:lpstr>Tahoma</vt:lpstr>
      <vt:lpstr>Times New Roman</vt:lpstr>
      <vt:lpstr>Verdana</vt:lpstr>
      <vt:lpstr>Office Theme</vt:lpstr>
      <vt:lpstr>Home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infopoisk_7</dc:title>
  <cp:lastModifiedBy>Даниил Трошин</cp:lastModifiedBy>
  <cp:revision>1</cp:revision>
  <dcterms:created xsi:type="dcterms:W3CDTF">2026-02-24T17:39:19Z</dcterms:created>
  <dcterms:modified xsi:type="dcterms:W3CDTF">2026-02-24T17:40:20Z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2026-02-24T00:00:00Z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2026-02-24T00:00:00Z</vt:filetime>
  </property>
</Properties>
</file>